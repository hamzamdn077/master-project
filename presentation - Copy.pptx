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42"/>
  </p:notesMasterIdLst>
  <p:sldIdLst>
    <p:sldId id="298" r:id="rId2"/>
    <p:sldId id="297" r:id="rId3"/>
    <p:sldId id="299" r:id="rId4"/>
    <p:sldId id="300" r:id="rId5"/>
    <p:sldId id="301" r:id="rId6"/>
    <p:sldId id="302" r:id="rId7"/>
    <p:sldId id="335" r:id="rId8"/>
    <p:sldId id="257" r:id="rId9"/>
    <p:sldId id="332" r:id="rId10"/>
    <p:sldId id="333" r:id="rId11"/>
    <p:sldId id="303" r:id="rId12"/>
    <p:sldId id="304" r:id="rId13"/>
    <p:sldId id="305" r:id="rId14"/>
    <p:sldId id="334" r:id="rId15"/>
    <p:sldId id="306" r:id="rId16"/>
    <p:sldId id="307" r:id="rId17"/>
    <p:sldId id="308" r:id="rId18"/>
    <p:sldId id="309" r:id="rId19"/>
    <p:sldId id="310" r:id="rId20"/>
    <p:sldId id="311" r:id="rId21"/>
    <p:sldId id="313" r:id="rId22"/>
    <p:sldId id="312" r:id="rId23"/>
    <p:sldId id="314" r:id="rId24"/>
    <p:sldId id="318" r:id="rId25"/>
    <p:sldId id="316" r:id="rId26"/>
    <p:sldId id="319" r:id="rId27"/>
    <p:sldId id="320" r:id="rId28"/>
    <p:sldId id="321" r:id="rId29"/>
    <p:sldId id="322" r:id="rId30"/>
    <p:sldId id="323" r:id="rId31"/>
    <p:sldId id="325" r:id="rId32"/>
    <p:sldId id="324" r:id="rId33"/>
    <p:sldId id="326" r:id="rId34"/>
    <p:sldId id="327" r:id="rId35"/>
    <p:sldId id="328" r:id="rId36"/>
    <p:sldId id="329" r:id="rId37"/>
    <p:sldId id="260" r:id="rId38"/>
    <p:sldId id="330" r:id="rId39"/>
    <p:sldId id="331" r:id="rId40"/>
    <p:sldId id="336" r:id="rId41"/>
  </p:sldIdLst>
  <p:sldSz cx="9144000" cy="5143500" type="screen16x9"/>
  <p:notesSz cx="6858000" cy="9144000"/>
  <p:embeddedFontLst>
    <p:embeddedFont>
      <p:font typeface="Albert Sans" panose="020B0604020202020204" charset="0"/>
      <p:regular r:id="rId43"/>
      <p:bold r:id="rId44"/>
      <p:italic r:id="rId45"/>
      <p:boldItalic r:id="rId46"/>
    </p:embeddedFont>
    <p:embeddedFont>
      <p:font typeface="Anaheim" panose="020B0604020202020204" charset="0"/>
      <p:regular r:id="rId47"/>
      <p:bold r:id="rId48"/>
    </p:embeddedFont>
    <p:embeddedFont>
      <p:font typeface="Cambria Math" panose="02040503050406030204" pitchFamily="18" charset="0"/>
      <p:regular r:id="rId49"/>
    </p:embeddedFont>
    <p:embeddedFont>
      <p:font typeface="DM Sans" pitchFamily="2" charset="0"/>
      <p:regular r:id="rId50"/>
      <p:bold r:id="rId51"/>
      <p:italic r:id="rId52"/>
      <p:boldItalic r:id="rId53"/>
    </p:embeddedFont>
    <p:embeddedFont>
      <p:font typeface="Lato" panose="020F0502020204030203" pitchFamily="34" charset="0"/>
      <p:regular r:id="rId54"/>
      <p:bold r:id="rId55"/>
      <p:italic r:id="rId56"/>
      <p:boldItalic r:id="rId57"/>
    </p:embeddedFont>
    <p:embeddedFont>
      <p:font typeface="Mulish" panose="020B060402020202020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00A097-0C75-493B-BA82-CAC8FEF640B5}">
  <a:tblStyle styleId="{AE00A097-0C75-493B-BA82-CAC8FEF640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6F588F0-DA45-466C-91A0-1F1EBF44E2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996" autoAdjust="0"/>
  </p:normalViewPr>
  <p:slideViewPr>
    <p:cSldViewPr snapToGrid="0">
      <p:cViewPr varScale="1">
        <p:scale>
          <a:sx n="74" d="100"/>
          <a:sy n="74" d="100"/>
        </p:scale>
        <p:origin x="12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font" Target="fonts/font1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8">
          <a:extLst>
            <a:ext uri="{FF2B5EF4-FFF2-40B4-BE49-F238E27FC236}">
              <a16:creationId xmlns:a16="http://schemas.microsoft.com/office/drawing/2014/main" id="{45B905F5-F714-446B-B518-4A07DC46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1e71a4a866a_0_12:notes">
            <a:extLst>
              <a:ext uri="{FF2B5EF4-FFF2-40B4-BE49-F238E27FC236}">
                <a16:creationId xmlns:a16="http://schemas.microsoft.com/office/drawing/2014/main" id="{A0E2B628-7B45-EC9E-9B23-9D5573B74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60" name="Google Shape;1760;g1e71a4a866a_0_12:notes">
            <a:extLst>
              <a:ext uri="{FF2B5EF4-FFF2-40B4-BE49-F238E27FC236}">
                <a16:creationId xmlns:a16="http://schemas.microsoft.com/office/drawing/2014/main" id="{3234F645-EB06-4496-22CE-EF9746F3F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9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>
          <a:extLst>
            <a:ext uri="{FF2B5EF4-FFF2-40B4-BE49-F238E27FC236}">
              <a16:creationId xmlns:a16="http://schemas.microsoft.com/office/drawing/2014/main" id="{E9DC1C4B-E59E-A48A-C933-A38EFFCB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d431007ba2_0_215:notes">
            <a:extLst>
              <a:ext uri="{FF2B5EF4-FFF2-40B4-BE49-F238E27FC236}">
                <a16:creationId xmlns:a16="http://schemas.microsoft.com/office/drawing/2014/main" id="{6A42FEB4-386D-CA29-9EBF-D0A47B945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78" name="Google Shape;1478;gd431007ba2_0_215:notes">
            <a:extLst>
              <a:ext uri="{FF2B5EF4-FFF2-40B4-BE49-F238E27FC236}">
                <a16:creationId xmlns:a16="http://schemas.microsoft.com/office/drawing/2014/main" id="{691A4304-8D87-62F9-AE9F-8B46AED06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363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D7C3CF2-5EAD-1061-C4E3-3146F3AE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F85B0FA1-1C99-212E-2812-3FEE170C6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4B996221-55AF-C4D0-1F29-D720A576F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907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0B5F510-6561-CA8D-CFCD-539C7B2EA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4B12656E-E2D1-58A7-467B-610FDBB83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1CC45689-1CCD-69C3-DBB9-DA4E0470D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728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E8D0344-71FF-B146-6D52-01A712ED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8CE587F4-8464-C358-C80A-0CC851F4D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0846A8DA-43F8-3733-6B1E-2A7377D27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828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D80507E-0699-16CB-ECFF-2E4D9C0A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>
            <a:extLst>
              <a:ext uri="{FF2B5EF4-FFF2-40B4-BE49-F238E27FC236}">
                <a16:creationId xmlns:a16="http://schemas.microsoft.com/office/drawing/2014/main" id="{9C3C1A71-AA0A-7253-4F86-61D2E018A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99" name="Google Shape;1699;g54dda1946d_4_2689:notes">
            <a:extLst>
              <a:ext uri="{FF2B5EF4-FFF2-40B4-BE49-F238E27FC236}">
                <a16:creationId xmlns:a16="http://schemas.microsoft.com/office/drawing/2014/main" id="{640E47B5-8E42-CE3E-B809-36BB6A9AA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774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0352F52E-EC91-96D1-5A23-98AA57F2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68ACDD40-A875-D0DB-3A46-67F8AD89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535FBD3F-6480-E399-020C-092D0A7C9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4626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9E50ED15-F276-57CF-C3AC-9BC47305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42E8D247-8F5A-66AB-44FF-338017744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FCBD28BC-D1BD-2975-D548-E639C21F8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560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0E6747C0-A67E-D0BF-C38E-DC03F5B6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41BD9B1D-E3BF-7678-90E2-C208E3847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FE932054-93CD-74BB-AA90-2FB37EF9D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0769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22D5DDE8-46A0-F41A-2E2A-17DD12ED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53CE2D27-B0AF-9C4F-223A-6D983271D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A11C19B9-9F80-315F-D2C7-F1F05F7B7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72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15EB777B-020B-30A1-8B86-06A2570B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A67A30DF-E9FD-A0B9-753A-F2CBD03DF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1A10037D-7EB4-29E4-4907-1DD6E8606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429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584567BC-281E-084A-EE01-67CED498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B657BA4A-514E-C1CB-9E85-C62CFB3D8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5A4A1550-4EB8-6BC6-C3E8-934938998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526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A3E96CC0-4FD8-6E51-B6C2-829744FD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F7BDA137-61F3-E56F-D5D7-5290A3CA5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EE6D5056-831F-E932-F974-4C0F1987D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47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AA29571C-81DA-06B5-DC93-4952E77D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46AA5F9F-4944-FEBF-C61A-CF51C04A3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D59FE6C9-80A7-53CC-064C-413D2887C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9449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6B7503C7-3186-F207-9B65-9569C556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78432F40-4912-0A87-4566-2C77ECF81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98F19A89-3C92-1A2E-F7D7-EF311851D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193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69CA9E87-7E16-7094-4746-7BBDD928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43217890-F1A9-3F48-DCCB-F70E0CFAF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F5869FAB-2480-DAAB-C670-ED6BA3699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453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95D98F0E-CC2C-47FD-DAC7-F9FEAFDC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1EC83955-5018-2187-F4AE-1FEAD61C7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318839A-5654-9EDE-FE0D-179289CB4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054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2360C95C-F250-9564-0032-A3AEE1E7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E22B9E5F-9490-7AA0-696A-1BB8BB80B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B671A9C6-EA30-F8BA-6F37-F36FB90B4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7912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0D6C2766-E02C-1695-732A-B7025E05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31DE47D1-6633-645E-F936-0FB5B988B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5F5CBA8-5CB1-2D70-2A85-D9020C0E2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439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1F4A6230-6AF9-0E8D-A4ED-D0B9F4B5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893D469C-1E93-9B5F-3AFE-20610D255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586E8AE4-BFA7-CEDC-A4AE-5C1FB729F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5823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839C09F6-0205-8C1D-16B8-C59D9C09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74FBB44E-4939-D3FA-445D-2E2D4B256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E5F5EB4B-AFD4-2257-C6D0-B7CB4F44A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2306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637D0A42-34CA-1CCE-1D72-D57C73DE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EA87B306-2E74-8F3C-0AB9-DF4E4703E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996D9F47-32D1-06E3-4D2C-D68DE52EF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45388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D0AD48DC-B3F7-4A72-D09A-3E8F1EFB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F41B0AF2-69D2-3374-F76D-9E5E2F6D6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CD46180-35D1-7527-8394-CB9D71073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714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A05ABE65-2A79-0987-C443-A0E6E678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FEBA67A7-2889-242E-7558-BDC9CF21B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E11C04D2-BA20-211D-ACE2-356CE1315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447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E1E04D67-71AE-D1E3-6315-64ED3600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A2E89A44-D693-8001-6C09-8FCD429AE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60741902-1203-7889-62F8-3937F4110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3991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827D412F-C5A5-6DD3-E16D-213F76F95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82BD16DE-F025-0F43-1926-ABB8B78B5E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3348356D-EED3-90C4-7DB5-36794FE05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42860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5DA0E6EB-CE88-3E17-524D-FE01A943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0165CC07-5E75-57A6-6A4C-3E619B4C9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BD1C86AD-A9A8-3939-EA91-7BD7450F1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9505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6DB5B7D1-4B86-5BF7-C04C-62A3E771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A67E0920-02E3-28E0-AF5F-B04F7990CA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5FDC1A06-E431-7496-4C6D-7FB65014B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9835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28559CF4-622F-31DF-A6F0-A0D57FF8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10246228-C7BF-8548-3B7E-248FF539A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BA8C9CCA-7A84-B101-4538-B7D6B2BBD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458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7AA4D23F-EF66-0823-168E-0C1E0989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272DDC15-0A7C-94D5-473B-5DB571D23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C81F72E-950A-A536-D351-32D1B527B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70892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424754DB-2432-CF24-6064-17285EE2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A466B3B7-C8F8-D900-DAA8-C237FA3E8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07FC917F-54D3-C8AF-633A-AF30FD943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45865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020B11AC-E9F6-6D9A-2AD3-052EB78B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5B37AFF2-EE67-B839-8B49-411FB0AD3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32CCA73-8E0F-5FE7-72B7-C8FB30A27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8662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283A4538-796E-4DF7-ECD8-403E735EE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DA4216EC-FCF2-DB15-83B3-46D755B25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9613F887-500E-DCD5-F793-4C30638ACE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9863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FCF6BD75-31C0-292B-1185-01ED5E98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56A087EB-52C1-59EA-FCBD-1B599CDAD2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37577173-B9B7-DC07-E0DB-2E6E91D2F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60446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08984B35-E1CC-34C6-896D-1441236D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BD67B7B6-A23B-D9CC-E421-D3FB76E36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3DE13C0B-380F-9454-ED05-03295DA51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3905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20E8FD6F-8521-D1D8-29BB-1EFD815BC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022C031E-AE89-8020-8C1B-5CDD05730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5BB7FDB2-BEE1-80AF-AEE8-BE2CDD105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309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4051386D-F05C-15B4-F536-132702A9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32C7E284-4A0B-7A16-AAE0-318D308CD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2594675-2134-97F9-AFBE-D10214883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32003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AC4C05D1-103D-2F53-843B-48DE4A12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>
            <a:extLst>
              <a:ext uri="{FF2B5EF4-FFF2-40B4-BE49-F238E27FC236}">
                <a16:creationId xmlns:a16="http://schemas.microsoft.com/office/drawing/2014/main" id="{152A83E6-6B6C-559E-AD87-06543E807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9" name="Google Shape;1469;gd431007ba2_0_208:notes">
            <a:extLst>
              <a:ext uri="{FF2B5EF4-FFF2-40B4-BE49-F238E27FC236}">
                <a16:creationId xmlns:a16="http://schemas.microsoft.com/office/drawing/2014/main" id="{7C11040C-5D80-C349-1E54-799BBAC9E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4207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rot="10800000" flipH="1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rot="10800000" flipH="1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10800000" flipH="1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rot="10800000" flipH="1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rot="10800000" flipH="1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rot="10800000" flipH="1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rot="10800000" flipH="1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rot="10800000" flipH="1">
                <a:off x="8977929" y="6021808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rot="10800000" flipH="1">
                <a:off x="7154690" y="4207177"/>
                <a:ext cx="823500" cy="63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rot="10800000" flipH="1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rot="10800000" flipH="1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rot="10800000" flipH="1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rot="10800000" flipH="1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rot="10800000" flipH="1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rot="10800000" flipH="1">
                <a:off x="7183159" y="4777208"/>
                <a:ext cx="790800" cy="13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rot="10800000" flipH="1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rot="10800000" flipH="1">
                <a:off x="8426122" y="2474926"/>
                <a:ext cx="384900" cy="34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rot="10800000" flipH="1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rot="10800000" flipH="1">
            <a:off x="193201" y="280868"/>
            <a:ext cx="388800" cy="11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rot="10800000" flipH="1">
                <a:off x="936740" y="3228"/>
                <a:ext cx="518100" cy="24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rot="10800000" flipH="1">
                <a:off x="138575" y="443626"/>
                <a:ext cx="209100" cy="4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rot="10800000" flipH="1">
                <a:off x="411626" y="348287"/>
                <a:ext cx="420600" cy="70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rot="10800000" flipH="1">
                <a:off x="8830026" y="4351769"/>
                <a:ext cx="49500" cy="49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rot="10800000" flipH="1">
                <a:off x="7833175" y="4929600"/>
                <a:ext cx="918000" cy="33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rot="10800000" flipH="1">
                <a:off x="7418926" y="4722269"/>
                <a:ext cx="817500" cy="13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rot="10800000" flipH="1">
                <a:off x="7820478" y="4770847"/>
                <a:ext cx="435900" cy="4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rot="10800000" flipH="1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rot="10800000" flipH="1">
                <a:off x="8925402" y="3603217"/>
                <a:ext cx="309300" cy="6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80" name="Google Shape;780;p1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781" name="Google Shape;781;p1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82" name="Google Shape;782;p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86" name="Google Shape;786;p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0" name="Google Shape;790;p1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791" name="Google Shape;791;p1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92" name="Google Shape;792;p15"/>
              <p:cNvCxnSpPr>
                <a:stCxn id="793" idx="7"/>
                <a:endCxn id="794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4" name="Google Shape;794;p1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1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1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" name="Google Shape;800;p15"/>
              <p:cNvCxnSpPr>
                <a:stCxn id="799" idx="4"/>
                <a:endCxn id="796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1" name="Google Shape;801;p15"/>
              <p:cNvCxnSpPr>
                <a:stCxn id="798" idx="4"/>
                <a:endCxn id="796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2" name="Google Shape;802;p15"/>
              <p:cNvCxnSpPr>
                <a:stCxn id="798" idx="5"/>
                <a:endCxn id="799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3" name="Google Shape;803;p15"/>
              <p:cNvCxnSpPr>
                <a:stCxn id="798" idx="0"/>
                <a:endCxn id="795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4" name="Google Shape;804;p15"/>
              <p:cNvCxnSpPr>
                <a:stCxn id="798" idx="7"/>
                <a:endCxn id="793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5" name="Google Shape;805;p15"/>
              <p:cNvCxnSpPr>
                <a:stCxn id="795" idx="5"/>
                <a:endCxn id="793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6" name="Google Shape;806;p15"/>
              <p:cNvCxnSpPr>
                <a:stCxn id="795" idx="6"/>
                <a:endCxn id="794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7" name="Google Shape;807;p15"/>
              <p:cNvCxnSpPr>
                <a:stCxn id="797" idx="2"/>
                <a:endCxn id="795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15"/>
              <p:cNvCxnSpPr>
                <a:stCxn id="799" idx="0"/>
                <a:endCxn id="793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15"/>
              <p:cNvCxnSpPr>
                <a:stCxn id="799" idx="0"/>
                <a:endCxn id="797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3" name="Google Shape;793;p1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0" name="Google Shape;810;p1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11" name="Google Shape;811;p1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" name="Google Shape;813;p1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4" name="Google Shape;814;p1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9" name="Google Shape;819;p15"/>
              <p:cNvCxnSpPr>
                <a:stCxn id="815" idx="5"/>
                <a:endCxn id="814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15"/>
              <p:cNvCxnSpPr>
                <a:stCxn id="816" idx="4"/>
                <a:endCxn id="814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15"/>
              <p:cNvCxnSpPr>
                <a:stCxn id="811" idx="6"/>
                <a:endCxn id="814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2" name="Google Shape;822;p15"/>
              <p:cNvCxnSpPr>
                <a:stCxn id="811" idx="0"/>
                <a:endCxn id="815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3" name="Google Shape;823;p15"/>
              <p:cNvCxnSpPr>
                <a:stCxn id="815" idx="7"/>
                <a:endCxn id="816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4" name="Google Shape;824;p15"/>
              <p:cNvCxnSpPr>
                <a:stCxn id="816" idx="6"/>
                <a:endCxn id="812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5" name="Google Shape;825;p15"/>
              <p:cNvCxnSpPr>
                <a:stCxn id="814" idx="7"/>
                <a:endCxn id="812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15"/>
              <p:cNvCxnSpPr>
                <a:stCxn id="811" idx="5"/>
                <a:endCxn id="817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15"/>
              <p:cNvCxnSpPr>
                <a:stCxn id="817" idx="7"/>
                <a:endCxn id="814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15"/>
              <p:cNvCxnSpPr>
                <a:stCxn id="817" idx="5"/>
                <a:endCxn id="813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9" name="Google Shape;829;p15"/>
              <p:cNvCxnSpPr>
                <a:stCxn id="813" idx="0"/>
                <a:endCxn id="814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15"/>
              <p:cNvCxnSpPr>
                <a:stCxn id="813" idx="7"/>
                <a:endCxn id="818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15"/>
              <p:cNvCxnSpPr>
                <a:stCxn id="814" idx="6"/>
                <a:endCxn id="818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15"/>
              <p:cNvCxnSpPr>
                <a:stCxn id="818" idx="0"/>
                <a:endCxn id="812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3" name="Google Shape;833;p15"/>
              <p:cNvCxnSpPr>
                <a:stCxn id="815" idx="4"/>
                <a:endCxn id="813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4" name="Google Shape;834;p15"/>
              <p:cNvCxnSpPr>
                <a:stCxn id="812" idx="4"/>
                <a:endCxn id="813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5" name="Google Shape;835;p15"/>
              <p:cNvCxnSpPr>
                <a:stCxn id="811" idx="5"/>
                <a:endCxn id="813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36" name="Google Shape;836;p1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" name="Google Shape;837;p15"/>
              <p:cNvCxnSpPr>
                <a:stCxn id="818" idx="4"/>
                <a:endCxn id="836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15"/>
              <p:cNvCxnSpPr>
                <a:stCxn id="836" idx="2"/>
                <a:endCxn id="813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9" name="Google Shape;839;p15"/>
              <p:cNvCxnSpPr>
                <a:stCxn id="836" idx="0"/>
                <a:endCxn id="812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0" name="Google Shape;840;p15"/>
              <p:cNvCxnSpPr>
                <a:stCxn id="836" idx="1"/>
                <a:endCxn id="814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41" name="Google Shape;841;p1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" name="Google Shape;842;p15"/>
              <p:cNvCxnSpPr>
                <a:stCxn id="836" idx="2"/>
                <a:endCxn id="841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3" name="Google Shape;843;p15"/>
              <p:cNvCxnSpPr>
                <a:stCxn id="841" idx="1"/>
                <a:endCxn id="817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9"/>
          <p:cNvSpPr txBox="1">
            <a:spLocks noGrp="1"/>
          </p:cNvSpPr>
          <p:nvPr>
            <p:ph type="subTitle" idx="1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19"/>
          <p:cNvSpPr txBox="1">
            <a:spLocks noGrp="1"/>
          </p:cNvSpPr>
          <p:nvPr>
            <p:ph type="subTitle" idx="2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19"/>
          <p:cNvSpPr txBox="1">
            <a:spLocks noGrp="1"/>
          </p:cNvSpPr>
          <p:nvPr>
            <p:ph type="subTitle" idx="3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19"/>
          <p:cNvSpPr txBox="1">
            <a:spLocks noGrp="1"/>
          </p:cNvSpPr>
          <p:nvPr>
            <p:ph type="subTitle" idx="4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9"/>
          <p:cNvSpPr txBox="1">
            <a:spLocks noGrp="1"/>
          </p:cNvSpPr>
          <p:nvPr>
            <p:ph type="title" idx="5" hasCustomPrompt="1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>
            <a:spLocks noGrp="1"/>
          </p:cNvSpPr>
          <p:nvPr>
            <p:ph type="title" idx="6" hasCustomPrompt="1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>
            <a:spLocks noGrp="1"/>
          </p:cNvSpPr>
          <p:nvPr>
            <p:ph type="title" idx="7" hasCustomPrompt="1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>
            <a:spLocks noGrp="1"/>
          </p:cNvSpPr>
          <p:nvPr>
            <p:ph type="title" idx="8" hasCustomPrompt="1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>
            <a:spLocks noGrp="1"/>
          </p:cNvSpPr>
          <p:nvPr>
            <p:ph type="subTitle" idx="9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2" name="Google Shape;1082;p19"/>
          <p:cNvSpPr txBox="1">
            <a:spLocks noGrp="1"/>
          </p:cNvSpPr>
          <p:nvPr>
            <p:ph type="subTitle" idx="13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3" name="Google Shape;1083;p19"/>
          <p:cNvSpPr txBox="1">
            <a:spLocks noGrp="1"/>
          </p:cNvSpPr>
          <p:nvPr>
            <p:ph type="subTitle" idx="14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4" name="Google Shape;1084;p19"/>
          <p:cNvSpPr txBox="1">
            <a:spLocks noGrp="1"/>
          </p:cNvSpPr>
          <p:nvPr>
            <p:ph type="subTitle" idx="15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rot="10460763" flipH="1">
                <a:off x="1865029" y="6113097"/>
                <a:ext cx="1087089" cy="934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rot="-339783" flipH="1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rot="10462833" flipH="1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rot="-339569" flipH="1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rot="-339665" flipH="1">
                <a:off x="3259894" y="4748265"/>
                <a:ext cx="483558" cy="1631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rot="-341652" flipH="1">
                <a:off x="2929081" y="5115280"/>
                <a:ext cx="208629" cy="8799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rot="-340645" flipH="1">
                <a:off x="1841473" y="4754364"/>
                <a:ext cx="154659" cy="1799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rot="10459800" flipH="1">
                <a:off x="3266347" y="5001756"/>
                <a:ext cx="674098" cy="153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rot="10459592" flipH="1">
                <a:off x="4052806" y="4814404"/>
                <a:ext cx="506782" cy="81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rot="10460266" flipH="1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8" r:id="rId3"/>
    <p:sldLayoutId id="2147483661" r:id="rId4"/>
    <p:sldLayoutId id="2147483665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1">
          <a:extLst>
            <a:ext uri="{FF2B5EF4-FFF2-40B4-BE49-F238E27FC236}">
              <a16:creationId xmlns:a16="http://schemas.microsoft.com/office/drawing/2014/main" id="{6B4A3713-A82B-6040-3F01-EA3B7DD3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414E1-AB91-B871-9043-14E6768A65F9}"/>
              </a:ext>
            </a:extLst>
          </p:cNvPr>
          <p:cNvSpPr txBox="1"/>
          <p:nvPr/>
        </p:nvSpPr>
        <p:spPr>
          <a:xfrm>
            <a:off x="2732926" y="188652"/>
            <a:ext cx="3678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Moulay Ismail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8E895-8DCA-F48D-435A-1BB28913C616}"/>
              </a:ext>
            </a:extLst>
          </p:cNvPr>
          <p:cNvSpPr txBox="1"/>
          <p:nvPr/>
        </p:nvSpPr>
        <p:spPr>
          <a:xfrm>
            <a:off x="3223518" y="527206"/>
            <a:ext cx="498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National School of Arts and Crafts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A16B4-CB27-C5A5-1AF5-44DDAF18A837}"/>
              </a:ext>
            </a:extLst>
          </p:cNvPr>
          <p:cNvSpPr txBox="1"/>
          <p:nvPr/>
        </p:nvSpPr>
        <p:spPr>
          <a:xfrm>
            <a:off x="2077949" y="767657"/>
            <a:ext cx="4988102" cy="40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Department of Industrial Engineering and Production</a:t>
            </a:r>
            <a:endParaRPr lang="en-GB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5CEAF-F872-A67E-7765-ADB17D3AFBCE}"/>
              </a:ext>
            </a:extLst>
          </p:cNvPr>
          <p:cNvSpPr txBox="1"/>
          <p:nvPr/>
        </p:nvSpPr>
        <p:spPr>
          <a:xfrm>
            <a:off x="2077949" y="1173537"/>
            <a:ext cx="498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Master’s Thesis </a:t>
            </a:r>
            <a:r>
              <a:rPr lang="en-GB" dirty="0" err="1"/>
              <a:t>Defense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7AB34D-E37C-CB1F-86D3-041E548E8655}"/>
              </a:ext>
            </a:extLst>
          </p:cNvPr>
          <p:cNvCxnSpPr/>
          <p:nvPr/>
        </p:nvCxnSpPr>
        <p:spPr>
          <a:xfrm>
            <a:off x="1767156" y="1842300"/>
            <a:ext cx="560969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BD203B-42F5-EA58-5361-E9C6BDF9F204}"/>
              </a:ext>
            </a:extLst>
          </p:cNvPr>
          <p:cNvCxnSpPr/>
          <p:nvPr/>
        </p:nvCxnSpPr>
        <p:spPr>
          <a:xfrm>
            <a:off x="1767156" y="3042664"/>
            <a:ext cx="560969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Google Shape;1455;p27">
            <a:extLst>
              <a:ext uri="{FF2B5EF4-FFF2-40B4-BE49-F238E27FC236}">
                <a16:creationId xmlns:a16="http://schemas.microsoft.com/office/drawing/2014/main" id="{7EA4FF0B-F2A4-E231-3C78-E5B9F7110C02}"/>
              </a:ext>
            </a:extLst>
          </p:cNvPr>
          <p:cNvSpPr txBox="1">
            <a:spLocks/>
          </p:cNvSpPr>
          <p:nvPr/>
        </p:nvSpPr>
        <p:spPr>
          <a:xfrm>
            <a:off x="1201255" y="2281660"/>
            <a:ext cx="6741492" cy="55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en-GB" sz="1400" dirty="0"/>
              <a:t>Community Detection in Social Networks for Targeted Marketing and Recommender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0C925-79CE-76C6-4082-1106D55A4BA8}"/>
              </a:ext>
            </a:extLst>
          </p:cNvPr>
          <p:cNvSpPr txBox="1"/>
          <p:nvPr/>
        </p:nvSpPr>
        <p:spPr>
          <a:xfrm>
            <a:off x="1767156" y="3185439"/>
            <a:ext cx="17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Presented by:</a:t>
            </a:r>
          </a:p>
          <a:p>
            <a:r>
              <a:rPr lang="en-GB" dirty="0"/>
              <a:t>MOUDDEN Hamza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2E3CE-FD4A-A4D4-C93D-3B64B5608D8B}"/>
              </a:ext>
            </a:extLst>
          </p:cNvPr>
          <p:cNvSpPr txBox="1"/>
          <p:nvPr/>
        </p:nvSpPr>
        <p:spPr>
          <a:xfrm>
            <a:off x="5476128" y="3185439"/>
            <a:ext cx="1900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Supervised by:</a:t>
            </a:r>
          </a:p>
          <a:p>
            <a:r>
              <a:rPr lang="en-GB" dirty="0" err="1"/>
              <a:t>Pr.ELYAZID</a:t>
            </a:r>
            <a:r>
              <a:rPr lang="en-GB" dirty="0"/>
              <a:t> </a:t>
            </a:r>
            <a:r>
              <a:rPr lang="en-GB" dirty="0" err="1"/>
              <a:t>Akachar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93B06D-FDF8-7FFE-81E1-D7C1E5DF9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1" y="64799"/>
            <a:ext cx="2228088" cy="735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0A8ED3-3676-127E-5742-58F4B72EDAB9}"/>
              </a:ext>
            </a:extLst>
          </p:cNvPr>
          <p:cNvSpPr txBox="1"/>
          <p:nvPr/>
        </p:nvSpPr>
        <p:spPr>
          <a:xfrm>
            <a:off x="2077949" y="4374654"/>
            <a:ext cx="4988102" cy="30777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GB" b="1" dirty="0">
                <a:ln/>
                <a:solidFill>
                  <a:schemeClr val="accent3"/>
                </a:solidFill>
              </a:rPr>
              <a:t>Academic Year: 2025 - 2026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886C2-5A3C-FFE3-239A-6FFBD9C267E5}"/>
              </a:ext>
            </a:extLst>
          </p:cNvPr>
          <p:cNvSpPr txBox="1"/>
          <p:nvPr/>
        </p:nvSpPr>
        <p:spPr>
          <a:xfrm>
            <a:off x="1687919" y="1918650"/>
            <a:ext cx="5768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n/>
                <a:solidFill>
                  <a:schemeClr val="accent3"/>
                </a:solidFill>
              </a:rPr>
              <a:t>Project Title : </a:t>
            </a:r>
          </a:p>
        </p:txBody>
      </p:sp>
    </p:spTree>
    <p:extLst>
      <p:ext uri="{BB962C8B-B14F-4D97-AF65-F5344CB8AC3E}">
        <p14:creationId xmlns:p14="http://schemas.microsoft.com/office/powerpoint/2010/main" val="257683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>
          <a:extLst>
            <a:ext uri="{FF2B5EF4-FFF2-40B4-BE49-F238E27FC236}">
              <a16:creationId xmlns:a16="http://schemas.microsoft.com/office/drawing/2014/main" id="{488AA2A6-3D42-032D-4AAA-5BF1A362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29">
            <a:extLst>
              <a:ext uri="{FF2B5EF4-FFF2-40B4-BE49-F238E27FC236}">
                <a16:creationId xmlns:a16="http://schemas.microsoft.com/office/drawing/2014/main" id="{D0399217-5624-66A9-A9C2-A1A07959CDBE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20000" y="1289204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01</a:t>
            </a:r>
            <a:endParaRPr sz="2000" dirty="0"/>
          </a:p>
        </p:txBody>
      </p:sp>
      <p:sp>
        <p:nvSpPr>
          <p:cNvPr id="1482" name="Google Shape;1482;p29">
            <a:extLst>
              <a:ext uri="{FF2B5EF4-FFF2-40B4-BE49-F238E27FC236}">
                <a16:creationId xmlns:a16="http://schemas.microsoft.com/office/drawing/2014/main" id="{7EBE8760-54D3-D44A-335C-8446F696571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574175" y="1607275"/>
            <a:ext cx="3125415" cy="2869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1400" dirty="0"/>
              <a:t>Introduction &amp; Problem Statement</a:t>
            </a:r>
            <a:endParaRPr sz="1400" dirty="0"/>
          </a:p>
        </p:txBody>
      </p:sp>
      <p:sp>
        <p:nvSpPr>
          <p:cNvPr id="1484" name="Google Shape;1484;p29">
            <a:extLst>
              <a:ext uri="{FF2B5EF4-FFF2-40B4-BE49-F238E27FC236}">
                <a16:creationId xmlns:a16="http://schemas.microsoft.com/office/drawing/2014/main" id="{ECDC569C-426F-1191-691A-5CDCDE1CE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Presentation Outline</a:t>
            </a:r>
            <a:endParaRPr dirty="0"/>
          </a:p>
        </p:txBody>
      </p:sp>
      <p:sp>
        <p:nvSpPr>
          <p:cNvPr id="24" name="Google Shape;1481;p29">
            <a:extLst>
              <a:ext uri="{FF2B5EF4-FFF2-40B4-BE49-F238E27FC236}">
                <a16:creationId xmlns:a16="http://schemas.microsoft.com/office/drawing/2014/main" id="{988FDED6-5882-41CD-A1C8-F8A717BA8308}"/>
              </a:ext>
            </a:extLst>
          </p:cNvPr>
          <p:cNvSpPr txBox="1">
            <a:spLocks/>
          </p:cNvSpPr>
          <p:nvPr/>
        </p:nvSpPr>
        <p:spPr>
          <a:xfrm>
            <a:off x="758225" y="1751132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02</a:t>
            </a:r>
          </a:p>
        </p:txBody>
      </p:sp>
      <p:sp>
        <p:nvSpPr>
          <p:cNvPr id="25" name="Google Shape;1482;p29">
            <a:extLst>
              <a:ext uri="{FF2B5EF4-FFF2-40B4-BE49-F238E27FC236}">
                <a16:creationId xmlns:a16="http://schemas.microsoft.com/office/drawing/2014/main" id="{C8C89414-67F3-37DE-13C5-870285B8F4C6}"/>
              </a:ext>
            </a:extLst>
          </p:cNvPr>
          <p:cNvSpPr txBox="1">
            <a:spLocks/>
          </p:cNvSpPr>
          <p:nvPr/>
        </p:nvSpPr>
        <p:spPr>
          <a:xfrm>
            <a:off x="1574176" y="2081182"/>
            <a:ext cx="2884800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Background &amp; Key Concepts</a:t>
            </a:r>
          </a:p>
        </p:txBody>
      </p:sp>
      <p:sp>
        <p:nvSpPr>
          <p:cNvPr id="27" name="Google Shape;1481;p29">
            <a:extLst>
              <a:ext uri="{FF2B5EF4-FFF2-40B4-BE49-F238E27FC236}">
                <a16:creationId xmlns:a16="http://schemas.microsoft.com/office/drawing/2014/main" id="{4BB97521-C704-EF58-9790-10D4F51EC960}"/>
              </a:ext>
            </a:extLst>
          </p:cNvPr>
          <p:cNvSpPr txBox="1">
            <a:spLocks/>
          </p:cNvSpPr>
          <p:nvPr/>
        </p:nvSpPr>
        <p:spPr>
          <a:xfrm>
            <a:off x="758225" y="2225039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03</a:t>
            </a:r>
          </a:p>
        </p:txBody>
      </p:sp>
      <p:sp>
        <p:nvSpPr>
          <p:cNvPr id="29" name="Google Shape;1482;p29">
            <a:extLst>
              <a:ext uri="{FF2B5EF4-FFF2-40B4-BE49-F238E27FC236}">
                <a16:creationId xmlns:a16="http://schemas.microsoft.com/office/drawing/2014/main" id="{2A6BFD9C-AC1C-FDE0-2E04-264F614CD2D3}"/>
              </a:ext>
            </a:extLst>
          </p:cNvPr>
          <p:cNvSpPr txBox="1">
            <a:spLocks/>
          </p:cNvSpPr>
          <p:nvPr/>
        </p:nvSpPr>
        <p:spPr>
          <a:xfrm>
            <a:off x="1574176" y="2555089"/>
            <a:ext cx="2884800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Literature Review</a:t>
            </a:r>
          </a:p>
        </p:txBody>
      </p:sp>
      <p:sp>
        <p:nvSpPr>
          <p:cNvPr id="31" name="Google Shape;1481;p29">
            <a:extLst>
              <a:ext uri="{FF2B5EF4-FFF2-40B4-BE49-F238E27FC236}">
                <a16:creationId xmlns:a16="http://schemas.microsoft.com/office/drawing/2014/main" id="{1F04A791-46AA-99B2-3462-C73E8833BB7B}"/>
              </a:ext>
            </a:extLst>
          </p:cNvPr>
          <p:cNvSpPr txBox="1">
            <a:spLocks/>
          </p:cNvSpPr>
          <p:nvPr/>
        </p:nvSpPr>
        <p:spPr>
          <a:xfrm>
            <a:off x="758225" y="2674989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04</a:t>
            </a:r>
          </a:p>
        </p:txBody>
      </p:sp>
      <p:sp>
        <p:nvSpPr>
          <p:cNvPr id="33" name="Google Shape;1482;p29">
            <a:extLst>
              <a:ext uri="{FF2B5EF4-FFF2-40B4-BE49-F238E27FC236}">
                <a16:creationId xmlns:a16="http://schemas.microsoft.com/office/drawing/2014/main" id="{1FD32997-A7BA-CD8D-469B-6801F802CF56}"/>
              </a:ext>
            </a:extLst>
          </p:cNvPr>
          <p:cNvSpPr txBox="1">
            <a:spLocks/>
          </p:cNvSpPr>
          <p:nvPr/>
        </p:nvSpPr>
        <p:spPr>
          <a:xfrm>
            <a:off x="1574176" y="3005039"/>
            <a:ext cx="2884800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Methodology</a:t>
            </a:r>
          </a:p>
        </p:txBody>
      </p:sp>
      <p:sp>
        <p:nvSpPr>
          <p:cNvPr id="34" name="Google Shape;1481;p29">
            <a:extLst>
              <a:ext uri="{FF2B5EF4-FFF2-40B4-BE49-F238E27FC236}">
                <a16:creationId xmlns:a16="http://schemas.microsoft.com/office/drawing/2014/main" id="{E811344D-A009-0A81-88CC-D673654F46EB}"/>
              </a:ext>
            </a:extLst>
          </p:cNvPr>
          <p:cNvSpPr txBox="1">
            <a:spLocks/>
          </p:cNvSpPr>
          <p:nvPr/>
        </p:nvSpPr>
        <p:spPr>
          <a:xfrm>
            <a:off x="4458976" y="1277225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05</a:t>
            </a:r>
          </a:p>
        </p:txBody>
      </p:sp>
      <p:sp>
        <p:nvSpPr>
          <p:cNvPr id="35" name="Google Shape;1482;p29">
            <a:extLst>
              <a:ext uri="{FF2B5EF4-FFF2-40B4-BE49-F238E27FC236}">
                <a16:creationId xmlns:a16="http://schemas.microsoft.com/office/drawing/2014/main" id="{31369977-4133-CF1D-2475-396511934D01}"/>
              </a:ext>
            </a:extLst>
          </p:cNvPr>
          <p:cNvSpPr txBox="1">
            <a:spLocks/>
          </p:cNvSpPr>
          <p:nvPr/>
        </p:nvSpPr>
        <p:spPr>
          <a:xfrm>
            <a:off x="5274927" y="1607275"/>
            <a:ext cx="2884800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Experimental Results</a:t>
            </a:r>
          </a:p>
        </p:txBody>
      </p:sp>
      <p:sp>
        <p:nvSpPr>
          <p:cNvPr id="36" name="Google Shape;1481;p29">
            <a:extLst>
              <a:ext uri="{FF2B5EF4-FFF2-40B4-BE49-F238E27FC236}">
                <a16:creationId xmlns:a16="http://schemas.microsoft.com/office/drawing/2014/main" id="{0CFFF65C-6A90-9C37-6482-917AD8CE41EA}"/>
              </a:ext>
            </a:extLst>
          </p:cNvPr>
          <p:cNvSpPr txBox="1">
            <a:spLocks/>
          </p:cNvSpPr>
          <p:nvPr/>
        </p:nvSpPr>
        <p:spPr>
          <a:xfrm>
            <a:off x="4458976" y="1751132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06</a:t>
            </a:r>
          </a:p>
        </p:txBody>
      </p:sp>
      <p:sp>
        <p:nvSpPr>
          <p:cNvPr id="37" name="Google Shape;1482;p29">
            <a:extLst>
              <a:ext uri="{FF2B5EF4-FFF2-40B4-BE49-F238E27FC236}">
                <a16:creationId xmlns:a16="http://schemas.microsoft.com/office/drawing/2014/main" id="{9F96197A-0229-6BB2-4A77-30F0738C76BD}"/>
              </a:ext>
            </a:extLst>
          </p:cNvPr>
          <p:cNvSpPr txBox="1">
            <a:spLocks/>
          </p:cNvSpPr>
          <p:nvPr/>
        </p:nvSpPr>
        <p:spPr>
          <a:xfrm>
            <a:off x="5274927" y="2081182"/>
            <a:ext cx="3018468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Recommender System Integration</a:t>
            </a:r>
          </a:p>
        </p:txBody>
      </p:sp>
      <p:sp>
        <p:nvSpPr>
          <p:cNvPr id="38" name="Google Shape;1481;p29">
            <a:extLst>
              <a:ext uri="{FF2B5EF4-FFF2-40B4-BE49-F238E27FC236}">
                <a16:creationId xmlns:a16="http://schemas.microsoft.com/office/drawing/2014/main" id="{3A38F007-DAC9-E914-AD5D-1A46D65D29C6}"/>
              </a:ext>
            </a:extLst>
          </p:cNvPr>
          <p:cNvSpPr txBox="1">
            <a:spLocks/>
          </p:cNvSpPr>
          <p:nvPr/>
        </p:nvSpPr>
        <p:spPr>
          <a:xfrm>
            <a:off x="4458976" y="2225039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07</a:t>
            </a:r>
          </a:p>
        </p:txBody>
      </p:sp>
      <p:sp>
        <p:nvSpPr>
          <p:cNvPr id="39" name="Google Shape;1482;p29">
            <a:extLst>
              <a:ext uri="{FF2B5EF4-FFF2-40B4-BE49-F238E27FC236}">
                <a16:creationId xmlns:a16="http://schemas.microsoft.com/office/drawing/2014/main" id="{4686D4AA-789B-A04A-C3E9-EEAB7847368D}"/>
              </a:ext>
            </a:extLst>
          </p:cNvPr>
          <p:cNvSpPr txBox="1">
            <a:spLocks/>
          </p:cNvSpPr>
          <p:nvPr/>
        </p:nvSpPr>
        <p:spPr>
          <a:xfrm>
            <a:off x="5274927" y="2555089"/>
            <a:ext cx="2884800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Web Application</a:t>
            </a:r>
          </a:p>
        </p:txBody>
      </p:sp>
      <p:sp>
        <p:nvSpPr>
          <p:cNvPr id="40" name="Google Shape;1481;p29">
            <a:extLst>
              <a:ext uri="{FF2B5EF4-FFF2-40B4-BE49-F238E27FC236}">
                <a16:creationId xmlns:a16="http://schemas.microsoft.com/office/drawing/2014/main" id="{0E45F8DC-A7BE-E247-7A67-6E39311739EC}"/>
              </a:ext>
            </a:extLst>
          </p:cNvPr>
          <p:cNvSpPr txBox="1">
            <a:spLocks/>
          </p:cNvSpPr>
          <p:nvPr/>
        </p:nvSpPr>
        <p:spPr>
          <a:xfrm>
            <a:off x="4458976" y="2674989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000" dirty="0"/>
              <a:t>08</a:t>
            </a:r>
          </a:p>
        </p:txBody>
      </p:sp>
      <p:sp>
        <p:nvSpPr>
          <p:cNvPr id="41" name="Google Shape;1482;p29">
            <a:extLst>
              <a:ext uri="{FF2B5EF4-FFF2-40B4-BE49-F238E27FC236}">
                <a16:creationId xmlns:a16="http://schemas.microsoft.com/office/drawing/2014/main" id="{D061BCF3-0ED9-E919-7EAE-06239767B257}"/>
              </a:ext>
            </a:extLst>
          </p:cNvPr>
          <p:cNvSpPr txBox="1">
            <a:spLocks/>
          </p:cNvSpPr>
          <p:nvPr/>
        </p:nvSpPr>
        <p:spPr>
          <a:xfrm>
            <a:off x="5274927" y="3005039"/>
            <a:ext cx="3018468" cy="28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sz="1400" dirty="0"/>
              <a:t>Conclusion &amp; Future Perspectives</a:t>
            </a:r>
          </a:p>
        </p:txBody>
      </p:sp>
    </p:spTree>
    <p:extLst>
      <p:ext uri="{BB962C8B-B14F-4D97-AF65-F5344CB8AC3E}">
        <p14:creationId xmlns:p14="http://schemas.microsoft.com/office/powerpoint/2010/main" val="260336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5A7006D-8088-74F4-AB9B-481106A5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B428FCD0-1194-BCB0-9535-8D49D4A7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193482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Introduction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B589E-1016-9728-B9BB-533B0D6E596F}"/>
              </a:ext>
            </a:extLst>
          </p:cNvPr>
          <p:cNvSpPr txBox="1"/>
          <p:nvPr/>
        </p:nvSpPr>
        <p:spPr>
          <a:xfrm>
            <a:off x="1114306" y="1767683"/>
            <a:ext cx="6915388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Social media platforms generate massive networks of user interactions.</a:t>
            </a:r>
          </a:p>
          <a:p>
            <a:pPr lvl="2">
              <a:spcBef>
                <a:spcPts val="450"/>
              </a:spcBef>
              <a:spcAft>
                <a:spcPts val="1200"/>
              </a:spcAft>
            </a:pPr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Facebook: 2+ billion active users.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Interactions include likes, shares, comments, follows.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These interactions form intricate networks revealing patterns of human connection.</a:t>
            </a:r>
          </a:p>
        </p:txBody>
      </p:sp>
    </p:spTree>
    <p:extLst>
      <p:ext uri="{BB962C8B-B14F-4D97-AF65-F5344CB8AC3E}">
        <p14:creationId xmlns:p14="http://schemas.microsoft.com/office/powerpoint/2010/main" val="44507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45A3E56-0AC0-8DD9-0BC2-747C9DF8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98E2DE43-A4D5-B42B-6923-21C77FF92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35" y="447255"/>
            <a:ext cx="29581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2400" dirty="0"/>
              <a:t>Problem Statement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3B5B6-82A1-1313-5EA0-F3E10613E338}"/>
              </a:ext>
            </a:extLst>
          </p:cNvPr>
          <p:cNvSpPr txBox="1"/>
          <p:nvPr/>
        </p:nvSpPr>
        <p:spPr>
          <a:xfrm>
            <a:off x="973474" y="1252895"/>
            <a:ext cx="7645733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Despite numerous community detection algorithms available, selecting the right one remains challenging: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Algorithmic Diversity</a:t>
            </a:r>
            <a:r>
              <a:rPr lang="en-GB" dirty="0"/>
              <a:t> Different principles (modularity optimization, random walks, deep learning).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Evaluation Gap</a:t>
            </a:r>
            <a:r>
              <a:rPr lang="en-GB" dirty="0"/>
              <a:t> Most studies use modularity that don't predict practical usefulness.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Limited Comparison</a:t>
            </a:r>
            <a:r>
              <a:rPr lang="en-GB" dirty="0"/>
              <a:t> Modern vs. classical methods not systematically compared, especially at scale.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Practical Utility</a:t>
            </a:r>
            <a:r>
              <a:rPr lang="en-GB" dirty="0"/>
              <a:t> Lack of unified evaluation framework for real-world applications.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985F7-6C10-146A-879E-E8C2EB00EA28}"/>
              </a:ext>
            </a:extLst>
          </p:cNvPr>
          <p:cNvSpPr txBox="1"/>
          <p:nvPr/>
        </p:nvSpPr>
        <p:spPr>
          <a:xfrm>
            <a:off x="1474576" y="4041351"/>
            <a:ext cx="6643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solidFill>
                  <a:srgbClr val="C00000"/>
                </a:solidFill>
              </a:rPr>
              <a:t>Research Question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i="1" dirty="0"/>
              <a:t>How do different community detection approaches compare in effectiveness and practical utility for recommender systems?</a:t>
            </a:r>
            <a:br>
              <a:rPr lang="en-GB" dirty="0"/>
            </a:br>
            <a:endParaRPr lang="en-GB" dirty="0">
              <a:solidFill>
                <a:schemeClr val="tx1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4384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B28FECB-DAF0-1C82-BD81-12DB4D45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72904A96-6AC3-87F8-A678-8125B4FF2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1" y="401540"/>
            <a:ext cx="31540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2400" dirty="0"/>
              <a:t>Research Objectives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58FB-F8DB-66F7-D9CA-06F91DE6029C}"/>
              </a:ext>
            </a:extLst>
          </p:cNvPr>
          <p:cNvSpPr txBox="1"/>
          <p:nvPr/>
        </p:nvSpPr>
        <p:spPr>
          <a:xfrm>
            <a:off x="749133" y="1252895"/>
            <a:ext cx="7645733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Study and categorize community detection approaches (classical &amp; modern)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Implement representative algorithms from different categories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Apply algorithms to real-world and synthetic network datasets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Evaluate using structural metrics (modularity, NMI, ARI)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Assess practical usefulness for targeted marketing &amp; recommendation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Compare performance and identify strengths/limitations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Provide insights on trade-offs between simplicity, scalability, and effectiveness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Build an interactive web application for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26883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003B4643-9056-0A3C-B41B-4BB79A1D1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>
            <a:extLst>
              <a:ext uri="{FF2B5EF4-FFF2-40B4-BE49-F238E27FC236}">
                <a16:creationId xmlns:a16="http://schemas.microsoft.com/office/drawing/2014/main" id="{2431BEC2-B4B8-36E3-9FA2-23069FA65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Background - Community Detection</a:t>
            </a:r>
            <a:br>
              <a:rPr lang="en-GB" sz="2400" dirty="0"/>
            </a:br>
            <a:br>
              <a:rPr lang="en-GB" sz="2400" dirty="0"/>
            </a:b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6BDDB-5D0C-CBEA-216D-F7A682E9DA9B}"/>
              </a:ext>
            </a:extLst>
          </p:cNvPr>
          <p:cNvSpPr txBox="1"/>
          <p:nvPr/>
        </p:nvSpPr>
        <p:spPr>
          <a:xfrm>
            <a:off x="524792" y="861225"/>
            <a:ext cx="7645733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What is a Community?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Definition:</a:t>
            </a:r>
            <a:r>
              <a:rPr lang="en-GB" dirty="0"/>
              <a:t> Groups of nodes with denser internal connections than external connections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Community Types: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Disjoint:</a:t>
            </a:r>
            <a:r>
              <a:rPr lang="en-GB" dirty="0"/>
              <a:t> Each node belongs to exactly one community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Overlapping:</a:t>
            </a:r>
            <a:r>
              <a:rPr lang="en-GB" dirty="0"/>
              <a:t> Nodes can belong to multiple communities (clique percolation)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Modularity (Q):</a:t>
            </a:r>
            <a:r>
              <a:rPr lang="en-GB" dirty="0"/>
              <a:t> Compares internal edges vs expected in random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FE95AA-FE66-B809-A377-7561AA774DCC}"/>
                  </a:ext>
                </a:extLst>
              </p:cNvPr>
              <p:cNvSpPr txBox="1"/>
              <p:nvPr/>
            </p:nvSpPr>
            <p:spPr>
              <a:xfrm>
                <a:off x="1983722" y="2852604"/>
                <a:ext cx="3718435" cy="814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sepChr m:val=",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FE95AA-FE66-B809-A377-7561AA774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22" y="2852604"/>
                <a:ext cx="3718435" cy="8148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F35513C-3C0B-D891-EA43-2E31877131A1}"/>
              </a:ext>
            </a:extLst>
          </p:cNvPr>
          <p:cNvSpPr txBox="1"/>
          <p:nvPr/>
        </p:nvSpPr>
        <p:spPr>
          <a:xfrm>
            <a:off x="524792" y="3554426"/>
            <a:ext cx="5670525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solidFill>
                  <a:schemeClr val="tx1"/>
                </a:solidFill>
                <a:latin typeface="+mn-lt"/>
              </a:rPr>
              <a:t>Interpretation</a:t>
            </a:r>
            <a:r>
              <a:rPr lang="en-GB" dirty="0">
                <a:solidFill>
                  <a:schemeClr val="tx1"/>
                </a:solidFill>
                <a:latin typeface="+mn-lt"/>
              </a:rPr>
              <a:t>: High Q = strong community structure </a:t>
            </a:r>
            <a:r>
              <a:rPr lang="en-GB" b="1" dirty="0">
                <a:solidFill>
                  <a:schemeClr val="tx1"/>
                </a:solidFill>
                <a:latin typeface="+mn-lt"/>
              </a:rPr>
              <a:t>Limitation</a:t>
            </a:r>
            <a:r>
              <a:rPr lang="en-GB" dirty="0">
                <a:solidFill>
                  <a:schemeClr val="tx1"/>
                </a:solidFill>
                <a:latin typeface="+mn-lt"/>
              </a:rPr>
              <a:t>: Resolution limit for small communities (Fortunato, 2010)</a:t>
            </a:r>
            <a:endParaRPr lang="en-GB" i="0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964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176EA3C9-469A-AFFC-AAA1-2A0E66A9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1B724BAE-DB96-A7FF-C6FA-58EF2E918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Methodology</a:t>
            </a:r>
            <a:br>
              <a:rPr lang="en-GB" sz="2400" dirty="0"/>
            </a:b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AB975-3B2A-588C-5DA1-7BE1A9C64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548" y="1158759"/>
            <a:ext cx="5934903" cy="36962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74FEA-9FC2-CE3C-0D6F-AD60ED2AF186}"/>
              </a:ext>
            </a:extLst>
          </p:cNvPr>
          <p:cNvSpPr txBox="1"/>
          <p:nvPr/>
        </p:nvSpPr>
        <p:spPr>
          <a:xfrm>
            <a:off x="671794" y="856104"/>
            <a:ext cx="286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Prisma flow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79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2" name="Google Shape;1472;p28"/>
          <p:cNvGraphicFramePr/>
          <p:nvPr>
            <p:extLst>
              <p:ext uri="{D42A27DB-BD31-4B8C-83A1-F6EECF244321}">
                <p14:modId xmlns:p14="http://schemas.microsoft.com/office/powerpoint/2010/main" val="2973811506"/>
              </p:ext>
            </p:extLst>
          </p:nvPr>
        </p:nvGraphicFramePr>
        <p:xfrm>
          <a:off x="913221" y="1233348"/>
          <a:ext cx="7317558" cy="1069812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86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Algorithm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What It Does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Limitation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Louvain (Blondel et al.)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Greedy modularity optimization.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Traag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 et al.: up to 25% communities poorly connected.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Leiden (Traag et al., 2019)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Guarantees well-connected communities.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-FR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Sliwa et al.: </a:t>
                      </a:r>
                      <a:r>
                        <a:rPr lang="fr-FR" sz="1000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detected</a:t>
                      </a:r>
                      <a:r>
                        <a:rPr lang="fr-FR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 97 vs. 41 </a:t>
                      </a:r>
                      <a:r>
                        <a:rPr lang="fr-FR" sz="1000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communities</a:t>
                      </a:r>
                      <a:r>
                        <a:rPr lang="fr-FR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 vs. Louvain.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BD3E0B57-7F68-281F-1507-BA52FEE08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Classical Algorithms</a:t>
            </a:r>
            <a:br>
              <a:rPr lang="en-GB" sz="2400" dirty="0"/>
            </a:br>
            <a:endParaRPr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85DD0-6898-3824-BD4C-53B5949C011D}"/>
              </a:ext>
            </a:extLst>
          </p:cNvPr>
          <p:cNvSpPr txBox="1"/>
          <p:nvPr/>
        </p:nvSpPr>
        <p:spPr>
          <a:xfrm>
            <a:off x="671794" y="893398"/>
            <a:ext cx="286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Modularity-Based Approaches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09253B-042A-6AE6-2D8B-A19691409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817" y="2367170"/>
            <a:ext cx="4455324" cy="2606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3805BDF5-D1DD-F794-A5EB-33BD27D9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0EFBFF3F-4C50-2D80-3904-980189C190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Classical Algorithms</a:t>
            </a:r>
            <a:br>
              <a:rPr lang="en-GB" sz="2400" dirty="0"/>
            </a:br>
            <a:endParaRPr sz="2400" dirty="0"/>
          </a:p>
        </p:txBody>
      </p:sp>
      <p:graphicFrame>
        <p:nvGraphicFramePr>
          <p:cNvPr id="11" name="Google Shape;1472;p28">
            <a:extLst>
              <a:ext uri="{FF2B5EF4-FFF2-40B4-BE49-F238E27FC236}">
                <a16:creationId xmlns:a16="http://schemas.microsoft.com/office/drawing/2014/main" id="{F46754E3-F0B4-649D-7508-75D75C7DCB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68512"/>
              </p:ext>
            </p:extLst>
          </p:nvPr>
        </p:nvGraphicFramePr>
        <p:xfrm>
          <a:off x="778095" y="1169002"/>
          <a:ext cx="7317558" cy="1431337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2045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Algorithm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What It Does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Limitation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Walktrap</a:t>
                      </a:r>
                      <a:r>
                        <a:rPr lang="en-GB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 (Pons &amp; </a:t>
                      </a:r>
                      <a:r>
                        <a:rPr lang="en-GB" sz="1000" b="0" u="none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Latapy</a:t>
                      </a:r>
                      <a:r>
                        <a:rPr lang="en-GB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)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Random walks trapped in dense regions.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Gates et al.: strong on flow-based networks.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Infomap (Rosvall &amp; Bergstrom).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Minimizes map equation.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-FR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Yang et al.: </a:t>
                      </a:r>
                      <a:r>
                        <a:rPr lang="fr-FR" sz="1000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linear</a:t>
                      </a:r>
                      <a:r>
                        <a:rPr lang="fr-FR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 time, top performer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MCL (van Dongen)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Expansion + inflation operators.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Papadopoulos et al.: pre-weighting improves NMI 0.4→0.8.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347304266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47CEE1C-7656-5609-7272-F6923827B03F}"/>
              </a:ext>
            </a:extLst>
          </p:cNvPr>
          <p:cNvSpPr txBox="1"/>
          <p:nvPr/>
        </p:nvSpPr>
        <p:spPr>
          <a:xfrm>
            <a:off x="524792" y="861225"/>
            <a:ext cx="3078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Random Walk-Based Approaches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A9883-5D6A-894D-4A04-967E7E2B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33" y="2694297"/>
            <a:ext cx="4502882" cy="244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9DFF8426-63B0-3D83-DED8-CBA8408B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1C370206-5166-4842-8E33-13E09557B7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Classical Algorithms</a:t>
            </a:r>
            <a:br>
              <a:rPr lang="en-GB" sz="2400" dirty="0"/>
            </a:br>
            <a:endParaRPr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47D21B-C707-D99F-61B6-AB34744BE045}"/>
              </a:ext>
            </a:extLst>
          </p:cNvPr>
          <p:cNvSpPr txBox="1"/>
          <p:nvPr/>
        </p:nvSpPr>
        <p:spPr>
          <a:xfrm>
            <a:off x="524792" y="861225"/>
            <a:ext cx="454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Statistical Physics-Based Algorithms - </a:t>
            </a:r>
            <a:r>
              <a:rPr lang="en-GB" b="1" dirty="0" err="1"/>
              <a:t>SpinGlass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BE8B0-2773-B145-CD8A-95D5A07F7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35"/>
          <a:stretch>
            <a:fillRect/>
          </a:stretch>
        </p:blipFill>
        <p:spPr>
          <a:xfrm>
            <a:off x="1454995" y="1310562"/>
            <a:ext cx="6234010" cy="297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66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7355CC03-C1CF-513F-EF10-26EFE26F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2" name="Google Shape;1472;p28">
            <a:extLst>
              <a:ext uri="{FF2B5EF4-FFF2-40B4-BE49-F238E27FC236}">
                <a16:creationId xmlns:a16="http://schemas.microsoft.com/office/drawing/2014/main" id="{4A9CD5DB-D007-FC01-E469-8590087134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0528615"/>
              </p:ext>
            </p:extLst>
          </p:nvPr>
        </p:nvGraphicFramePr>
        <p:xfrm>
          <a:off x="913221" y="1125272"/>
          <a:ext cx="7317558" cy="1069812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86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Algorithm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What It Does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Limitation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Girvan-Newman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Removes highest betweenness edges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Gates et al.: O(n³), impractical beyond few thousand nodes.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000" b="0" u="none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Kernighan-Lin (1970)</a:t>
                      </a:r>
                      <a:endParaRPr sz="1000" b="0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Greedy bisection with local search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Li et al.: requires equal-sized partitions.</a:t>
                      </a:r>
                      <a:endParaRPr sz="1000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D628E8A3-496B-B1B3-C0AE-5C7D68E63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Classical Algorithms</a:t>
            </a:r>
            <a:br>
              <a:rPr lang="en-GB" sz="2400" dirty="0"/>
            </a:br>
            <a:endParaRPr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27129-0C87-EE60-9272-CBE33BF3ED6F}"/>
              </a:ext>
            </a:extLst>
          </p:cNvPr>
          <p:cNvSpPr txBox="1"/>
          <p:nvPr/>
        </p:nvSpPr>
        <p:spPr>
          <a:xfrm>
            <a:off x="683669" y="817495"/>
            <a:ext cx="286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Divisive Approaches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A124EA-069D-95F9-80C6-5E99B537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1" y="2283225"/>
            <a:ext cx="2304231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0FD011-152C-876D-2536-82FAA1BAA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023" y="2331021"/>
            <a:ext cx="4885873" cy="239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55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999D75F7-4D68-6F76-C466-A0B03EDC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2" name="Google Shape;1472;p28">
            <a:extLst>
              <a:ext uri="{FF2B5EF4-FFF2-40B4-BE49-F238E27FC236}">
                <a16:creationId xmlns:a16="http://schemas.microsoft.com/office/drawing/2014/main" id="{1CDC9EAE-47F6-EEB7-E9B8-75DBBE645F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4992116"/>
              </p:ext>
            </p:extLst>
          </p:nvPr>
        </p:nvGraphicFramePr>
        <p:xfrm>
          <a:off x="913221" y="1389320"/>
          <a:ext cx="7317558" cy="2436700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86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Algorithm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>
                          <a:solidFill>
                            <a:schemeClr val="dk1"/>
                          </a:solidFill>
                          <a:sym typeface="Mulish"/>
                        </a:rPr>
                        <a:t>What It Does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>
                          <a:solidFill>
                            <a:schemeClr val="dk1"/>
                          </a:solidFill>
                          <a:sym typeface="Mulish"/>
                        </a:rPr>
                        <a:t>Limitation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 dirty="0">
                          <a:effectLst/>
                          <a:latin typeface="Mulish" panose="020B0604020202020204" charset="0"/>
                        </a:rPr>
                        <a:t>LPA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 (Raghavan et al.)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Nodes adopt most frequent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neighbor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 label.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Gates et al.: fundamentally unstable.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 dirty="0">
                          <a:effectLst/>
                          <a:latin typeface="Mulish" panose="020B0604020202020204" charset="0"/>
                        </a:rPr>
                        <a:t>FLPA</a:t>
                      </a:r>
                      <a:endParaRPr lang="en-GB" sz="1000" b="0" dirty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Asynchronous updates +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memor.y</a:t>
                      </a:r>
                      <a:endParaRPr lang="en-GB" sz="1000" b="0" dirty="0">
                        <a:effectLst/>
                        <a:latin typeface="Mulish" panose="020B060402020202020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Yang et al.: outperforms LPA for μ ∈ [0.5, 0.7].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LPA-MNI</a:t>
                      </a: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 (Li et al.)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Modularity + node importance.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Enhanced accuracy and robustness.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39010347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CLPA</a:t>
                      </a: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 (Li et al.)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Constrained optimization.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Versatile for different network types.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9863565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FluidC</a:t>
                      </a: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 (Parés et al.)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Communities as expanding fluids.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Anuar et al.: ARI ~0.9 on 500K nodes.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77022067"/>
                  </a:ext>
                </a:extLst>
              </a:tr>
            </a:tbl>
          </a:graphicData>
        </a:graphic>
      </p:graphicFrame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405869BD-2B68-DE3B-6A10-905B4A7E7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Classical Algorithms</a:t>
            </a:r>
            <a:br>
              <a:rPr lang="en-GB" sz="2400" dirty="0"/>
            </a:br>
            <a:endParaRPr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AA51E-0519-4406-6B43-DA66EAED4FA5}"/>
              </a:ext>
            </a:extLst>
          </p:cNvPr>
          <p:cNvSpPr txBox="1"/>
          <p:nvPr/>
        </p:nvSpPr>
        <p:spPr>
          <a:xfrm>
            <a:off x="671794" y="893398"/>
            <a:ext cx="286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Label Propagation Approaches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99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5B1AB9D8-2D16-45D5-1233-0047DFB0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A3B62CD1-C4F4-BEC6-D102-391375AC6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Modern Approaches</a:t>
            </a:r>
            <a:br>
              <a:rPr lang="en-GB" sz="2400" dirty="0"/>
            </a:br>
            <a:endParaRPr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565EC-0757-F80A-5996-698844F8CC4B}"/>
              </a:ext>
            </a:extLst>
          </p:cNvPr>
          <p:cNvSpPr txBox="1"/>
          <p:nvPr/>
        </p:nvSpPr>
        <p:spPr>
          <a:xfrm>
            <a:off x="671793" y="893398"/>
            <a:ext cx="4737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Graph Neural Networks (GCN – </a:t>
            </a:r>
            <a:r>
              <a:rPr lang="en-GB" b="1" dirty="0" err="1"/>
              <a:t>GraphSage</a:t>
            </a:r>
            <a:r>
              <a:rPr lang="en-GB" b="1" dirty="0"/>
              <a:t> – GAT)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A412D-9887-EDC0-30C5-3C8A1134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67" b="17632"/>
          <a:stretch>
            <a:fillRect/>
          </a:stretch>
        </p:blipFill>
        <p:spPr>
          <a:xfrm>
            <a:off x="847821" y="1676742"/>
            <a:ext cx="7448357" cy="257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8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BA49D597-0C1A-8555-AE43-76238F69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0BDAAB81-132D-F65F-F2F8-A3993E81F5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Modern Approaches</a:t>
            </a:r>
            <a:br>
              <a:rPr lang="en-GB" sz="2400" dirty="0"/>
            </a:br>
            <a:endParaRPr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48E72-1DA0-F384-0061-1E07517B3EF0}"/>
              </a:ext>
            </a:extLst>
          </p:cNvPr>
          <p:cNvSpPr txBox="1"/>
          <p:nvPr/>
        </p:nvSpPr>
        <p:spPr>
          <a:xfrm>
            <a:off x="671794" y="893398"/>
            <a:ext cx="3668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Graph Neural Networks (AE – VGAE)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E6166-421F-6D26-A6FE-BA4A61445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83" y="1355722"/>
            <a:ext cx="7261591" cy="309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1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4C29FA8F-2B00-DC49-7318-2724978D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9EA9B289-4368-38DE-4F32-4F821BE70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Recommender Systems</a:t>
            </a:r>
            <a:br>
              <a:rPr lang="en-GB" sz="2400" dirty="0"/>
            </a:br>
            <a:endParaRPr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5C853-01D7-7C02-8227-240CCBB06FFA}"/>
              </a:ext>
            </a:extLst>
          </p:cNvPr>
          <p:cNvSpPr txBox="1"/>
          <p:nvPr/>
        </p:nvSpPr>
        <p:spPr>
          <a:xfrm>
            <a:off x="671794" y="893398"/>
            <a:ext cx="2862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Three Classical Approaches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099FE-4D7F-D206-F23E-BC1F11CACF13}"/>
              </a:ext>
            </a:extLst>
          </p:cNvPr>
          <p:cNvSpPr txBox="1"/>
          <p:nvPr/>
        </p:nvSpPr>
        <p:spPr>
          <a:xfrm>
            <a:off x="671794" y="4250102"/>
            <a:ext cx="6217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Challenges</a:t>
            </a:r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 : Data Sparsity – Cold Start – Scalability – Interpretability.</a:t>
            </a:r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67992-3FFD-4263-3A50-B45893F7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296" y="1275911"/>
            <a:ext cx="4751408" cy="259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4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E792794C-9EAC-CD5C-F5F9-8CDF425C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2" name="Google Shape;1472;p28">
            <a:extLst>
              <a:ext uri="{FF2B5EF4-FFF2-40B4-BE49-F238E27FC236}">
                <a16:creationId xmlns:a16="http://schemas.microsoft.com/office/drawing/2014/main" id="{6E51CED6-F678-B7E7-226E-1C99A2057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1498288"/>
              </p:ext>
            </p:extLst>
          </p:nvPr>
        </p:nvGraphicFramePr>
        <p:xfrm>
          <a:off x="913221" y="1426295"/>
          <a:ext cx="7317558" cy="2290909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86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u="sng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S</a:t>
                      </a:r>
                      <a:r>
                        <a:rPr lang="en-GB" sz="1000" b="1" u="sng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tudy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Application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Results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Paul et al. (2025)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Commerce Graph.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Customers with high centrality enable personalized promotions.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Nasirzonouzi (2025)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Customer segmentation.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Reveals complex interrelations K-means fails to capture.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Kanavos et al. (2024)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Twitter community analysis.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Community structures influence information dissemination.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33966776"/>
                  </a:ext>
                </a:extLst>
              </a:tr>
            </a:tbl>
          </a:graphicData>
        </a:graphic>
      </p:graphicFrame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B3D6EE7B-1F9E-1D7A-7365-1EC151579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Applications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21839-EDDC-40D0-C3D8-BFC558406C9C}"/>
              </a:ext>
            </a:extLst>
          </p:cNvPr>
          <p:cNvSpPr txBox="1"/>
          <p:nvPr/>
        </p:nvSpPr>
        <p:spPr>
          <a:xfrm>
            <a:off x="671794" y="893398"/>
            <a:ext cx="338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Targeted Marketing and E-Commerce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759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E841C70D-CAC3-611F-31FD-071F37DC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2" name="Google Shape;1472;p28">
            <a:extLst>
              <a:ext uri="{FF2B5EF4-FFF2-40B4-BE49-F238E27FC236}">
                <a16:creationId xmlns:a16="http://schemas.microsoft.com/office/drawing/2014/main" id="{63B76AB1-D317-48C3-A446-A8C3487A1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1244963"/>
              </p:ext>
            </p:extLst>
          </p:nvPr>
        </p:nvGraphicFramePr>
        <p:xfrm>
          <a:off x="913221" y="1426295"/>
          <a:ext cx="7317558" cy="2049609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865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256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u="sng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S</a:t>
                      </a:r>
                      <a:r>
                        <a:rPr lang="en-GB" sz="1000" b="1" u="sng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tudy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Application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sym typeface="Mulish"/>
                        </a:rPr>
                        <a:t>Results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 dirty="0" err="1">
                          <a:effectLst/>
                          <a:latin typeface="Mulish" panose="020B0604020202020204" charset="0"/>
                        </a:rPr>
                        <a:t>Saikalyan</a:t>
                      </a:r>
                      <a:r>
                        <a:rPr lang="en-GB" sz="1000" b="1" dirty="0">
                          <a:effectLst/>
                          <a:latin typeface="Mulish" panose="020B0604020202020204" charset="0"/>
                        </a:rPr>
                        <a:t> et al. (2024)</a:t>
                      </a:r>
                      <a:endParaRPr lang="en-GB" sz="1000" b="0" dirty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Local community detection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Effective cold-start on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MovieLens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 and Facebook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Hu et al. (2024)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GGCRF framework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Addresses long-tail effect in recommendation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S.K.S. et al. (2025)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Textual semantics + GNNs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Improves community detection accuracy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33966776"/>
                  </a:ext>
                </a:extLst>
              </a:tr>
            </a:tbl>
          </a:graphicData>
        </a:graphic>
      </p:graphicFrame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6151BA92-BA3F-85D3-B764-A87237BE7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Applications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1FB6F-23E0-C08D-708A-A9C1DB938399}"/>
              </a:ext>
            </a:extLst>
          </p:cNvPr>
          <p:cNvSpPr txBox="1"/>
          <p:nvPr/>
        </p:nvSpPr>
        <p:spPr>
          <a:xfrm>
            <a:off x="671794" y="893398"/>
            <a:ext cx="338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Recommender Systems Applications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3143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8FCCA93F-0DE8-6884-2B21-05D2B91D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2" name="Google Shape;1472;p28">
            <a:extLst>
              <a:ext uri="{FF2B5EF4-FFF2-40B4-BE49-F238E27FC236}">
                <a16:creationId xmlns:a16="http://schemas.microsoft.com/office/drawing/2014/main" id="{CCD05246-A013-581D-FA47-E619BB523F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4752124"/>
              </p:ext>
            </p:extLst>
          </p:nvPr>
        </p:nvGraphicFramePr>
        <p:xfrm>
          <a:off x="1263132" y="1233348"/>
          <a:ext cx="6350607" cy="3274017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320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785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  <a:gridCol w="1175255">
                  <a:extLst>
                    <a:ext uri="{9D8B030D-6E8A-4147-A177-3AD203B41FA5}">
                      <a16:colId xmlns:a16="http://schemas.microsoft.com/office/drawing/2014/main" val="2421998841"/>
                    </a:ext>
                  </a:extLst>
                </a:gridCol>
              </a:tblGrid>
              <a:tr h="3452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u="sng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Dataset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u="sng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N</a:t>
                      </a:r>
                      <a:r>
                        <a:rPr lang="en-GB" sz="1000" b="1" u="sng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odes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1" u="sng" dirty="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E</a:t>
                      </a:r>
                      <a:r>
                        <a:rPr lang="en-GB" sz="1000" b="1" u="sng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dges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1" u="sng" dirty="0" err="1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Communities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 dirty="0">
                          <a:effectLst/>
                          <a:latin typeface="quote-cjk-patch"/>
                        </a:rPr>
                        <a:t>Karate Club</a:t>
                      </a:r>
                      <a:r>
                        <a:rPr lang="en-GB" b="0" dirty="0">
                          <a:effectLst/>
                          <a:latin typeface="quote-cjk-patch"/>
                        </a:rPr>
                        <a:t> (Zachary, 1977)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34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78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>
                          <a:effectLst/>
                          <a:latin typeface="quote-cjk-patch"/>
                        </a:rPr>
                        <a:t>Dolphins</a:t>
                      </a:r>
                      <a:r>
                        <a:rPr lang="en-GB" b="0">
                          <a:effectLst/>
                          <a:latin typeface="quote-cjk-patch"/>
                        </a:rPr>
                        <a:t> (Lusseau et al.)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62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159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>
                          <a:effectLst/>
                          <a:latin typeface="quote-cjk-patch"/>
                        </a:rPr>
                        <a:t>Football</a:t>
                      </a:r>
                      <a:r>
                        <a:rPr lang="en-GB" b="0">
                          <a:effectLst/>
                          <a:latin typeface="quote-cjk-patch"/>
                        </a:rPr>
                        <a:t> (Girvan &amp; Newman)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115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613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12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33966776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>
                          <a:effectLst/>
                          <a:latin typeface="quote-cjk-patch"/>
                        </a:rPr>
                        <a:t>Polbooks</a:t>
                      </a:r>
                      <a:r>
                        <a:rPr lang="en-GB" b="0">
                          <a:effectLst/>
                          <a:latin typeface="quote-cjk-patch"/>
                        </a:rPr>
                        <a:t> (Krebs, 2004)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105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441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96037473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>
                          <a:effectLst/>
                          <a:latin typeface="quote-cjk-patch"/>
                        </a:rPr>
                        <a:t>Primary School</a:t>
                      </a:r>
                      <a:r>
                        <a:rPr lang="en-GB" b="0">
                          <a:effectLst/>
                          <a:latin typeface="quote-cjk-patch"/>
                        </a:rPr>
                        <a:t> (Stehle et al., 2011)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236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125,000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725647390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>
                          <a:effectLst/>
                          <a:latin typeface="quote-cjk-patch"/>
                        </a:rPr>
                        <a:t>Facebook</a:t>
                      </a:r>
                      <a:r>
                        <a:rPr lang="en-GB" b="0">
                          <a:effectLst/>
                          <a:latin typeface="quote-cjk-patch"/>
                        </a:rPr>
                        <a:t> (McAuley &amp; Leskovec, 2012)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4,039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88,234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34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52294065"/>
                  </a:ext>
                </a:extLst>
              </a:tr>
              <a:tr h="3995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1">
                          <a:effectLst/>
                          <a:latin typeface="quote-cjk-patch"/>
                        </a:rPr>
                        <a:t>LastFM</a:t>
                      </a:r>
                      <a:r>
                        <a:rPr lang="en-GB" b="0">
                          <a:effectLst/>
                          <a:latin typeface="quote-cjk-patch"/>
                        </a:rPr>
                        <a:t> (McAuley &amp; Leskovec, 2012)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28,281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92,752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18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90391245"/>
                  </a:ext>
                </a:extLst>
              </a:tr>
            </a:tbl>
          </a:graphicData>
        </a:graphic>
      </p:graphicFrame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6A989203-B51F-9867-3BA5-47E5C93C3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Applications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5AC34-D077-06A8-DAA8-D7A4373BAF1A}"/>
              </a:ext>
            </a:extLst>
          </p:cNvPr>
          <p:cNvSpPr txBox="1"/>
          <p:nvPr/>
        </p:nvSpPr>
        <p:spPr>
          <a:xfrm>
            <a:off x="671794" y="893398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Standard Benchmark Datasets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A7D020-4702-BA89-526A-510D6AC9EA23}"/>
              </a:ext>
            </a:extLst>
          </p:cNvPr>
          <p:cNvSpPr txBox="1"/>
          <p:nvPr/>
        </p:nvSpPr>
        <p:spPr>
          <a:xfrm>
            <a:off x="1944384" y="4571711"/>
            <a:ext cx="498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i="0" u="sng" dirty="0">
                <a:solidFill>
                  <a:schemeClr val="tx1"/>
                </a:solidFill>
                <a:effectLst/>
                <a:latin typeface="+mn-lt"/>
              </a:rPr>
              <a:t>LFR Synthetic Benchmark</a:t>
            </a:r>
            <a:r>
              <a:rPr lang="en-GB" b="0" i="0" u="sng" dirty="0">
                <a:solidFill>
                  <a:schemeClr val="tx1"/>
                </a:solidFill>
                <a:effectLst/>
                <a:latin typeface="+mn-lt"/>
              </a:rPr>
              <a:t> (</a:t>
            </a:r>
            <a:r>
              <a:rPr lang="en-GB" b="0" i="0" u="sng" dirty="0" err="1">
                <a:solidFill>
                  <a:schemeClr val="tx1"/>
                </a:solidFill>
                <a:effectLst/>
                <a:latin typeface="+mn-lt"/>
              </a:rPr>
              <a:t>Lancichinetti</a:t>
            </a:r>
            <a:r>
              <a:rPr lang="en-GB" b="0" i="0" u="sng" dirty="0">
                <a:solidFill>
                  <a:schemeClr val="tx1"/>
                </a:solidFill>
                <a:effectLst/>
                <a:latin typeface="+mn-lt"/>
              </a:rPr>
              <a:t> et al., 2008)</a:t>
            </a:r>
          </a:p>
        </p:txBody>
      </p:sp>
    </p:spTree>
    <p:extLst>
      <p:ext uri="{BB962C8B-B14F-4D97-AF65-F5344CB8AC3E}">
        <p14:creationId xmlns:p14="http://schemas.microsoft.com/office/powerpoint/2010/main" val="428206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954278D2-840C-CA9C-AD64-252B6385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8DBA8AFA-74B4-6BE2-48A2-CA7329CA0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Literature Review - Applications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39706-B2FF-6372-F8FB-FFB8F672684D}"/>
              </a:ext>
            </a:extLst>
          </p:cNvPr>
          <p:cNvSpPr txBox="1"/>
          <p:nvPr/>
        </p:nvSpPr>
        <p:spPr>
          <a:xfrm>
            <a:off x="671794" y="893398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Proposed Hybrid Approaches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BC919-22EF-EBF4-8E50-0FC5A9A2F718}"/>
              </a:ext>
            </a:extLst>
          </p:cNvPr>
          <p:cNvSpPr txBox="1"/>
          <p:nvPr/>
        </p:nvSpPr>
        <p:spPr>
          <a:xfrm>
            <a:off x="671794" y="1233348"/>
            <a:ext cx="4988102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i="0" dirty="0">
                <a:solidFill>
                  <a:schemeClr val="tx1"/>
                </a:solidFill>
                <a:effectLst/>
                <a:latin typeface="+mj-lt"/>
              </a:rPr>
              <a:t>User-Based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+mj-lt"/>
              </a:rPr>
              <a:t>Item-Based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+mj-lt"/>
              </a:rPr>
              <a:t>SVD + Community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+mj-lt"/>
              </a:rPr>
              <a:t>ALS + Community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+mj-lt"/>
              </a:rPr>
              <a:t>BM25 + Community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72506-3E5E-5429-3095-C1A56459F803}"/>
              </a:ext>
            </a:extLst>
          </p:cNvPr>
          <p:cNvSpPr txBox="1"/>
          <p:nvPr/>
        </p:nvSpPr>
        <p:spPr>
          <a:xfrm>
            <a:off x="671794" y="2933735"/>
            <a:ext cx="4988102" cy="2099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They work </a:t>
            </a:r>
          </a:p>
          <a:p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Community structure → Constrains candidate space, reduces sparsity.</a:t>
            </a:r>
          </a:p>
          <a:p>
            <a:pPr>
              <a:lnSpc>
                <a:spcPct val="150000"/>
              </a:lnSpc>
            </a:pPr>
            <a:r>
              <a:rPr lang="en-GB" dirty="0"/>
              <a:t>Latent factors (SVD/ALS) → Captures fine-grained preferences.</a:t>
            </a:r>
          </a:p>
          <a:p>
            <a:pPr>
              <a:lnSpc>
                <a:spcPct val="150000"/>
              </a:lnSpc>
            </a:pPr>
            <a:r>
              <a:rPr lang="en-GB" dirty="0"/>
              <a:t>BM25 → Leverages statistical co-purchasing patterns.</a:t>
            </a:r>
          </a:p>
        </p:txBody>
      </p:sp>
    </p:spTree>
    <p:extLst>
      <p:ext uri="{BB962C8B-B14F-4D97-AF65-F5344CB8AC3E}">
        <p14:creationId xmlns:p14="http://schemas.microsoft.com/office/powerpoint/2010/main" val="198770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0509D351-6F44-8E02-3863-FA2D6859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DCE0D523-9353-13A6-6E4A-A50E6CE88C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Methodology Overview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7DFAE-27AF-C953-3F85-D8BFF5039A8F}"/>
              </a:ext>
            </a:extLst>
          </p:cNvPr>
          <p:cNvSpPr txBox="1"/>
          <p:nvPr/>
        </p:nvSpPr>
        <p:spPr>
          <a:xfrm>
            <a:off x="524792" y="800931"/>
            <a:ext cx="37666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Phase 1: Community Detection Evaluation</a:t>
            </a:r>
            <a:endParaRPr lang="en-GB" dirty="0"/>
          </a:p>
          <a:p>
            <a:br>
              <a:rPr lang="en-GB" dirty="0"/>
            </a:br>
            <a:endParaRPr lang="en-GB" b="1" dirty="0"/>
          </a:p>
        </p:txBody>
      </p:sp>
      <p:graphicFrame>
        <p:nvGraphicFramePr>
          <p:cNvPr id="3" name="Google Shape;1472;p28">
            <a:extLst>
              <a:ext uri="{FF2B5EF4-FFF2-40B4-BE49-F238E27FC236}">
                <a16:creationId xmlns:a16="http://schemas.microsoft.com/office/drawing/2014/main" id="{66749852-8379-C3E0-57CC-AD1161444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9347903"/>
              </p:ext>
            </p:extLst>
          </p:nvPr>
        </p:nvGraphicFramePr>
        <p:xfrm>
          <a:off x="580288" y="1170263"/>
          <a:ext cx="8100381" cy="1889081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35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404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  <a:gridCol w="2119643">
                  <a:extLst>
                    <a:ext uri="{9D8B030D-6E8A-4147-A177-3AD203B41FA5}">
                      <a16:colId xmlns:a16="http://schemas.microsoft.com/office/drawing/2014/main" val="1122031089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u="sng" dirty="0" err="1">
                          <a:solidFill>
                            <a:schemeClr val="dk1"/>
                          </a:solidFill>
                          <a:latin typeface="Mulish" panose="020B0604020202020204" charset="0"/>
                          <a:ea typeface="Mulish"/>
                          <a:cs typeface="Mulish"/>
                          <a:sym typeface="Mulish"/>
                        </a:rPr>
                        <a:t>Category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latin typeface="Mulish" panose="020B0604020202020204" charset="0"/>
                          <a:sym typeface="Mulish"/>
                        </a:rPr>
                        <a:t>Algorithms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latin typeface="Mulish" panose="020B0604020202020204" charset="0"/>
                          <a:sym typeface="Mulish"/>
                        </a:rPr>
                        <a:t>Datasets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1" u="sng" dirty="0" err="1">
                          <a:solidFill>
                            <a:schemeClr val="dk1"/>
                          </a:solidFill>
                          <a:latin typeface="Mulish" panose="020B0604020202020204" charset="0"/>
                          <a:ea typeface="Mulish"/>
                          <a:cs typeface="Mulish"/>
                          <a:sym typeface="Mulish"/>
                        </a:rPr>
                        <a:t>Metrics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Classical (13)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Louvain, Leiden,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Walktrap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,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Infomap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, LPA, FLPA, LPA-MNI, CLPA,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FluidC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, Girvan-Newman, Kernighan-Lin, </a:t>
                      </a: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SpinGlass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, MCL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9 real-world + LFR synthetic (6 sizes)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NMI, ARI, Modularity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Deep Learning (4)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GCN, GAT, VGAE, Autoencoder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9 real-world + LFR synthetic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NMI, ARI, Modularity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47289AC-93AF-40FE-1B08-9F08F906AC3F}"/>
              </a:ext>
            </a:extLst>
          </p:cNvPr>
          <p:cNvSpPr txBox="1"/>
          <p:nvPr/>
        </p:nvSpPr>
        <p:spPr>
          <a:xfrm>
            <a:off x="524792" y="3121637"/>
            <a:ext cx="404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Phase 2: Recommender System Integration</a:t>
            </a:r>
            <a:br>
              <a:rPr lang="en-GB" dirty="0"/>
            </a:b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9A1B7-C887-8263-D14E-BE22405031FF}"/>
              </a:ext>
            </a:extLst>
          </p:cNvPr>
          <p:cNvSpPr txBox="1"/>
          <p:nvPr/>
        </p:nvSpPr>
        <p:spPr>
          <a:xfrm>
            <a:off x="580287" y="3469980"/>
            <a:ext cx="80389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Recommendation Approaches: User-Based, Item-Based, </a:t>
            </a:r>
            <a:r>
              <a:rPr lang="en-GB" dirty="0" err="1"/>
              <a:t>SVD+Community</a:t>
            </a:r>
            <a:r>
              <a:rPr lang="en-GB" dirty="0"/>
              <a:t>, </a:t>
            </a:r>
            <a:r>
              <a:rPr lang="en-GB" dirty="0" err="1"/>
              <a:t>ALS+Community</a:t>
            </a:r>
            <a:r>
              <a:rPr lang="en-GB" dirty="0"/>
              <a:t>, BM25+Community.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Dataset: UCI Online Retail (541,909 transactions)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Primary Metric: F1@5</a:t>
            </a:r>
            <a:br>
              <a:rPr lang="en-GB" dirty="0"/>
            </a:b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83DD7C-9085-CBE8-E8C7-C1BBAD9DD5BB}"/>
              </a:ext>
            </a:extLst>
          </p:cNvPr>
          <p:cNvSpPr txBox="1"/>
          <p:nvPr/>
        </p:nvSpPr>
        <p:spPr>
          <a:xfrm>
            <a:off x="583270" y="4476518"/>
            <a:ext cx="404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Phase 3: Web Application</a:t>
            </a:r>
            <a:br>
              <a:rPr lang="en-GB" dirty="0"/>
            </a:b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2254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9D1E95A5-2D11-8AEC-B51D-89FC164B6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7844B5E0-0524-B578-AF66-DD11CF273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Methodology Overview – Datasets Used</a:t>
            </a:r>
            <a:endParaRPr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14DDEC-7ABA-7F21-783A-D0BC87358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248702"/>
              </p:ext>
            </p:extLst>
          </p:nvPr>
        </p:nvGraphicFramePr>
        <p:xfrm>
          <a:off x="1066800" y="1309641"/>
          <a:ext cx="7010400" cy="636270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83988454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302590154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8008431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5950995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2368024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8930143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3471772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241167648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Dataset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Karate Club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Dolphins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Football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Polbooks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Primary School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Facebook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 err="1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LastFM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61014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u="none" strike="noStrike" dirty="0">
                          <a:solidFill>
                            <a:schemeClr val="tx1"/>
                          </a:solidFill>
                          <a:effectLst/>
                          <a:latin typeface="Mulish" panose="020B0604020202020204" charset="0"/>
                        </a:rPr>
                        <a:t> Nodes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34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62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115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105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236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4,039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u="none" strike="noStrike" dirty="0">
                          <a:solidFill>
                            <a:srgbClr val="333333"/>
                          </a:solidFill>
                          <a:effectLst/>
                          <a:latin typeface="Mulish" panose="020B0604020202020204" charset="0"/>
                        </a:rPr>
                        <a:t>28,281</a:t>
                      </a:r>
                      <a:endParaRPr lang="en-GB" sz="1100" b="0" i="0" u="none" strike="noStrike" dirty="0">
                        <a:solidFill>
                          <a:srgbClr val="333333"/>
                        </a:solidFill>
                        <a:effectLst/>
                        <a:latin typeface="Mulish" panose="020B060402020202020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86225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97A939-13F5-3BA5-765E-9AA6206CBA52}"/>
              </a:ext>
            </a:extLst>
          </p:cNvPr>
          <p:cNvSpPr txBox="1"/>
          <p:nvPr/>
        </p:nvSpPr>
        <p:spPr>
          <a:xfrm>
            <a:off x="524792" y="849147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Datasets Summary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BC31F-6A6D-E3C7-C920-C0739D01CCD6}"/>
              </a:ext>
            </a:extLst>
          </p:cNvPr>
          <p:cNvSpPr txBox="1"/>
          <p:nvPr/>
        </p:nvSpPr>
        <p:spPr>
          <a:xfrm>
            <a:off x="524792" y="2098628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LFR Synthetic Networks</a:t>
            </a:r>
            <a:endParaRPr lang="en-GB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3A0F4AC-F3BA-2C1F-FAC5-66D26559C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220262"/>
              </p:ext>
            </p:extLst>
          </p:nvPr>
        </p:nvGraphicFramePr>
        <p:xfrm>
          <a:off x="914400" y="2584500"/>
          <a:ext cx="7162800" cy="1214628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3019148236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423108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dirty="0">
                          <a:effectLst/>
                          <a:latin typeface="Mulish" panose="020B0604020202020204" charset="0"/>
                        </a:rPr>
                        <a:t>Parameter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>
                          <a:effectLst/>
                          <a:latin typeface="Mulish" panose="020B0604020202020204" charset="0"/>
                        </a:rPr>
                        <a:t>Values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315215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100" b="0" dirty="0">
                          <a:effectLst/>
                          <a:latin typeface="Mulish" panose="020B0604020202020204" charset="0"/>
                        </a:rPr>
                        <a:t>Network Size (n)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100" b="0" dirty="0">
                          <a:effectLst/>
                          <a:latin typeface="Mulish" panose="020B0604020202020204" charset="0"/>
                        </a:rPr>
                        <a:t>500, 1,000, 5,000, 10,000, 50,000, 100,000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1052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100" b="0" dirty="0">
                          <a:effectLst/>
                          <a:latin typeface="Mulish" panose="020B0604020202020204" charset="0"/>
                        </a:rPr>
                        <a:t>Mixing Parameter (μ)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100" b="0" dirty="0">
                          <a:effectLst/>
                          <a:latin typeface="Mulish" panose="020B0604020202020204" charset="0"/>
                        </a:rPr>
                        <a:t>0.3, 0.5, 0.7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43515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215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44D39BA6-11D7-32DA-FB06-463415BA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0DF7DA1D-E7F5-8082-6D85-8D7E185FF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Methodology Overview - Evaluation Metrics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FF8D9-3F32-57E3-3950-CD475CAA63E7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</a:t>
            </a:r>
          </a:p>
        </p:txBody>
      </p:sp>
      <p:graphicFrame>
        <p:nvGraphicFramePr>
          <p:cNvPr id="3" name="Google Shape;1472;p28">
            <a:extLst>
              <a:ext uri="{FF2B5EF4-FFF2-40B4-BE49-F238E27FC236}">
                <a16:creationId xmlns:a16="http://schemas.microsoft.com/office/drawing/2014/main" id="{0E41DD02-7A2B-B2D4-E2BC-BBED12D498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0637111"/>
              </p:ext>
            </p:extLst>
          </p:nvPr>
        </p:nvGraphicFramePr>
        <p:xfrm>
          <a:off x="580287" y="1170263"/>
          <a:ext cx="7834247" cy="1567009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779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402">
                  <a:extLst>
                    <a:ext uri="{9D8B030D-6E8A-4147-A177-3AD203B41FA5}">
                      <a16:colId xmlns:a16="http://schemas.microsoft.com/office/drawing/2014/main" val="41523287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u="sng" dirty="0" err="1">
                          <a:solidFill>
                            <a:schemeClr val="dk1"/>
                          </a:solidFill>
                          <a:latin typeface="Mulish" panose="020B0604020202020204" charset="0"/>
                          <a:ea typeface="Mulish"/>
                          <a:cs typeface="Mulish"/>
                          <a:sym typeface="Mulish"/>
                        </a:rPr>
                        <a:t>Metric</a:t>
                      </a:r>
                      <a:endParaRPr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latin typeface="Mulish" panose="020B0604020202020204" charset="0"/>
                          <a:sym typeface="Mulish"/>
                        </a:rPr>
                        <a:t>Purpose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sng" dirty="0">
                          <a:solidFill>
                            <a:schemeClr val="dk1"/>
                          </a:solidFill>
                          <a:latin typeface="Mulish" panose="020B0604020202020204" charset="0"/>
                          <a:sym typeface="Mulish"/>
                        </a:rPr>
                        <a:t>Range</a:t>
                      </a:r>
                      <a:endParaRPr lang="en-GB" sz="1000" b="1" u="sng" dirty="0">
                        <a:solidFill>
                          <a:schemeClr val="dk1"/>
                        </a:solidFill>
                        <a:latin typeface="Mulish" panose="020B0604020202020204" charset="0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 dirty="0">
                          <a:effectLst/>
                          <a:latin typeface="Mulish" panose="020B0604020202020204" charset="0"/>
                        </a:rPr>
                        <a:t>Modularity (Q)</a:t>
                      </a:r>
                      <a:endParaRPr lang="en-GB" sz="1000" b="0" dirty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Quality without ground truth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[-0.5, 1.0]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NMI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Similarity to ground truth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[0, 1]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ARI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Similarity adjusted for chance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[-1, 1]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615509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A6B56E7-8B26-F34A-A5A3-0AE6D85D763D}"/>
              </a:ext>
            </a:extLst>
          </p:cNvPr>
          <p:cNvSpPr txBox="1"/>
          <p:nvPr/>
        </p:nvSpPr>
        <p:spPr>
          <a:xfrm>
            <a:off x="524792" y="2842016"/>
            <a:ext cx="4047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Recommender System Metrics (@K)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FE5D3-ED74-7020-B375-059D44063BF1}"/>
              </a:ext>
            </a:extLst>
          </p:cNvPr>
          <p:cNvSpPr txBox="1"/>
          <p:nvPr/>
        </p:nvSpPr>
        <p:spPr>
          <a:xfrm>
            <a:off x="524792" y="3083033"/>
            <a:ext cx="8038921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Precision@K</a:t>
            </a:r>
            <a:r>
              <a:rPr lang="en-GB" dirty="0"/>
              <a:t> : Relevant items in top-K / 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Recall@K</a:t>
            </a:r>
            <a:r>
              <a:rPr lang="en-GB" dirty="0"/>
              <a:t> : Relevant in top-K / Total relevant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F1@K : 2 × (Precision × Recall) / (Precision + Recall)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95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D6964F16-FACE-A775-7FD5-8641F7B3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7D66ABEB-E8C2-021D-73C4-437069066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Classical Algorithms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544C1-4CFF-F9F4-6BF6-7610D052D28E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Modularity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9DD9E5-45E5-B966-6062-348A3E8BF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943965"/>
              </p:ext>
            </p:extLst>
          </p:nvPr>
        </p:nvGraphicFramePr>
        <p:xfrm>
          <a:off x="659921" y="1239722"/>
          <a:ext cx="7941115" cy="3102847"/>
        </p:xfrm>
        <a:graphic>
          <a:graphicData uri="http://schemas.openxmlformats.org/drawingml/2006/table">
            <a:tbl>
              <a:tblPr firstRow="1" firstCol="1" bandRow="1">
                <a:tableStyleId>{AE00A097-0C75-493B-BA82-CAC8FEF640B5}</a:tableStyleId>
              </a:tblPr>
              <a:tblGrid>
                <a:gridCol w="983065">
                  <a:extLst>
                    <a:ext uri="{9D8B030D-6E8A-4147-A177-3AD203B41FA5}">
                      <a16:colId xmlns:a16="http://schemas.microsoft.com/office/drawing/2014/main" val="3616488025"/>
                    </a:ext>
                  </a:extLst>
                </a:gridCol>
                <a:gridCol w="669434">
                  <a:extLst>
                    <a:ext uri="{9D8B030D-6E8A-4147-A177-3AD203B41FA5}">
                      <a16:colId xmlns:a16="http://schemas.microsoft.com/office/drawing/2014/main" val="3155446673"/>
                    </a:ext>
                  </a:extLst>
                </a:gridCol>
                <a:gridCol w="730291">
                  <a:extLst>
                    <a:ext uri="{9D8B030D-6E8A-4147-A177-3AD203B41FA5}">
                      <a16:colId xmlns:a16="http://schemas.microsoft.com/office/drawing/2014/main" val="4058151891"/>
                    </a:ext>
                  </a:extLst>
                </a:gridCol>
                <a:gridCol w="842953">
                  <a:extLst>
                    <a:ext uri="{9D8B030D-6E8A-4147-A177-3AD203B41FA5}">
                      <a16:colId xmlns:a16="http://schemas.microsoft.com/office/drawing/2014/main" val="944134335"/>
                    </a:ext>
                  </a:extLst>
                </a:gridCol>
                <a:gridCol w="868057">
                  <a:extLst>
                    <a:ext uri="{9D8B030D-6E8A-4147-A177-3AD203B41FA5}">
                      <a16:colId xmlns:a16="http://schemas.microsoft.com/office/drawing/2014/main" val="4026360934"/>
                    </a:ext>
                  </a:extLst>
                </a:gridCol>
                <a:gridCol w="677775">
                  <a:extLst>
                    <a:ext uri="{9D8B030D-6E8A-4147-A177-3AD203B41FA5}">
                      <a16:colId xmlns:a16="http://schemas.microsoft.com/office/drawing/2014/main" val="168671064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581253123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68733438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2782099018"/>
                    </a:ext>
                  </a:extLst>
                </a:gridCol>
                <a:gridCol w="956113">
                  <a:extLst>
                    <a:ext uri="{9D8B030D-6E8A-4147-A177-3AD203B41FA5}">
                      <a16:colId xmlns:a16="http://schemas.microsoft.com/office/drawing/2014/main" val="2635150379"/>
                    </a:ext>
                  </a:extLst>
                </a:gridCol>
              </a:tblGrid>
              <a:tr h="424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Algorithm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Karate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Dolphins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Football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Polbooks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FB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LastFM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840606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Louvain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0.4151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0.5233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0.5272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0.3708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0.3857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0.3415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0.8154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4496182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Leiden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0.4198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0.5269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0.3758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0.3857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0.3417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0.8179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0.8179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764320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Walktrap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0.3532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0.6029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0.3375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0.3794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0.3188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0.7519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0.7727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2663933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Infomap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0.402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0.5247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0.6005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0.5268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0.3758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0.3857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0.2849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0.7349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7773064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0.4033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0.5205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0.6032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0.5154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0.2687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0.3718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0.2654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0.7607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0.7976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1819025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0.4151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0.5194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0.5262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0.3589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0.3742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0.2654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0.7411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0.7584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675693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LPA-MNI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0.5248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0.3631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0.3741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0.2932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0.7494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0.767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1541669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CLPA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0.4174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0.5177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0.3754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0.3857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0.3415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0.8141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0.8147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537866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FluidC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0.4583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0.5671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0.4108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0.2519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0.2207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0.6733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0.5651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928684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G-Newman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0.3488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0.3815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0.4549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0.4831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0.0008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0.0001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046834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K-Lin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0.384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0.4197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0.5319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0.4297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0.2825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0.2594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0.2587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0.7174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0.7263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863871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 err="1">
                          <a:effectLst/>
                        </a:rPr>
                        <a:t>SpinGlass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0.4158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0.5285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0.5259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0.3758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0.3855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0.3416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6771370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MCL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0.6005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0.5138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0.2819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0.1311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0.2659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0.637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0.4126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4494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193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3B114360-2622-11DD-DEF4-AAA9D6FC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957DA193-A11C-2583-CA58-3C56995DB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Classical Algorithms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0FCA-BA52-2AD0-298B-DCAAE4E48131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AB737A-EF7E-4EED-3951-E130A4575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933966"/>
              </p:ext>
            </p:extLst>
          </p:nvPr>
        </p:nvGraphicFramePr>
        <p:xfrm>
          <a:off x="659921" y="1239722"/>
          <a:ext cx="7941115" cy="3153387"/>
        </p:xfrm>
        <a:graphic>
          <a:graphicData uri="http://schemas.openxmlformats.org/drawingml/2006/table">
            <a:tbl>
              <a:tblPr firstRow="1" firstCol="1" bandRow="1">
                <a:tableStyleId>{AE00A097-0C75-493B-BA82-CAC8FEF640B5}</a:tableStyleId>
              </a:tblPr>
              <a:tblGrid>
                <a:gridCol w="983065">
                  <a:extLst>
                    <a:ext uri="{9D8B030D-6E8A-4147-A177-3AD203B41FA5}">
                      <a16:colId xmlns:a16="http://schemas.microsoft.com/office/drawing/2014/main" val="3616488025"/>
                    </a:ext>
                  </a:extLst>
                </a:gridCol>
                <a:gridCol w="669434">
                  <a:extLst>
                    <a:ext uri="{9D8B030D-6E8A-4147-A177-3AD203B41FA5}">
                      <a16:colId xmlns:a16="http://schemas.microsoft.com/office/drawing/2014/main" val="3155446673"/>
                    </a:ext>
                  </a:extLst>
                </a:gridCol>
                <a:gridCol w="730291">
                  <a:extLst>
                    <a:ext uri="{9D8B030D-6E8A-4147-A177-3AD203B41FA5}">
                      <a16:colId xmlns:a16="http://schemas.microsoft.com/office/drawing/2014/main" val="4058151891"/>
                    </a:ext>
                  </a:extLst>
                </a:gridCol>
                <a:gridCol w="842953">
                  <a:extLst>
                    <a:ext uri="{9D8B030D-6E8A-4147-A177-3AD203B41FA5}">
                      <a16:colId xmlns:a16="http://schemas.microsoft.com/office/drawing/2014/main" val="944134335"/>
                    </a:ext>
                  </a:extLst>
                </a:gridCol>
                <a:gridCol w="868057">
                  <a:extLst>
                    <a:ext uri="{9D8B030D-6E8A-4147-A177-3AD203B41FA5}">
                      <a16:colId xmlns:a16="http://schemas.microsoft.com/office/drawing/2014/main" val="4026360934"/>
                    </a:ext>
                  </a:extLst>
                </a:gridCol>
                <a:gridCol w="677775">
                  <a:extLst>
                    <a:ext uri="{9D8B030D-6E8A-4147-A177-3AD203B41FA5}">
                      <a16:colId xmlns:a16="http://schemas.microsoft.com/office/drawing/2014/main" val="168671064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581253123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68733438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2782099018"/>
                    </a:ext>
                  </a:extLst>
                </a:gridCol>
                <a:gridCol w="956113">
                  <a:extLst>
                    <a:ext uri="{9D8B030D-6E8A-4147-A177-3AD203B41FA5}">
                      <a16:colId xmlns:a16="http://schemas.microsoft.com/office/drawing/2014/main" val="2635150379"/>
                    </a:ext>
                  </a:extLst>
                </a:gridCol>
              </a:tblGrid>
              <a:tr h="4240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Algorithm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Karate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Dolphins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Football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Polbooks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FB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LastFM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840606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Louvain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0.4843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0.8903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0.5603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0.7805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0.8749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0.6329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0.2473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0.6278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2834496182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Leiden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0.5878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0.5524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0.8903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0.5737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0.8475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0.8749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0.6408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0.2479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0.6254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977764320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Walktrap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0.4899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0.5816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0.8874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0.5427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0.6238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0.8662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0.5718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0.2967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0.583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1212663933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Infomap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0.5684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0.5373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highlight>
                            <a:srgbClr val="FFFF00"/>
                          </a:highlight>
                        </a:rPr>
                        <a:t>0.9242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0.5369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0.8475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0.8749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0.598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0.2976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0.5277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2077773064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0.5056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0.6596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0.8866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0.5497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0.4169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0.8345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0.4284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0.2748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0.6294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1481819025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0.6256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0.8903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0.5537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0.6307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0.8665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0.4284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0.5791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3473675693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LPA-MNI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0.5111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0.588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0.9269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0.5259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highlight>
                            <a:srgbClr val="FFFF00"/>
                          </a:highlight>
                        </a:rPr>
                        <a:t>0.9281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0.8662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0.5703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0.2733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0.583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821541669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CLPA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0.5925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0.5345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0.8903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0.5427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0.8072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highlight>
                            <a:srgbClr val="FFFF00"/>
                          </a:highlight>
                        </a:rPr>
                        <a:t>0.8749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0.6329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0.2467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0.6307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4083537866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FluidC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0.4639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0.4807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0.8443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0.4003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0.8993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0.696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0.6848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0.2238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1408928684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G-Newman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0.6804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0.9085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0.4872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0.5754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0.0339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0.0435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0.0298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Slow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Slow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3092046834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K-Lin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0.493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0.3819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0.7791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0.395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0.8071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0.6862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0.6169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0.068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1523863871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 err="1">
                          <a:effectLst/>
                        </a:rPr>
                        <a:t>SpinGlass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0.5622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0.5565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0.9065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0.4781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0.8475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0.8784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0.6448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Slow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Slow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4236771370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MCL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0.7324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0.4386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0.9242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0.5209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0.4237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0.4425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0.4385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0.2885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0.4616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100" marR="58100" marT="0" marB="0"/>
                </a:tc>
                <a:extLst>
                  <a:ext uri="{0D108BD9-81ED-4DB2-BD59-A6C34878D82A}">
                    <a16:rowId xmlns:a16="http://schemas.microsoft.com/office/drawing/2014/main" val="484494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674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A4C2648B-CB7D-A974-9821-08E33F08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151A81F8-9DE8-1B84-B1FD-3A824D41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Classical Algorithms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8BC2F-227A-7B45-82CD-9F3617B6CBEE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ARI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9F51D0-12B4-56DD-0697-0B58C5015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33708"/>
              </p:ext>
            </p:extLst>
          </p:nvPr>
        </p:nvGraphicFramePr>
        <p:xfrm>
          <a:off x="524792" y="1202076"/>
          <a:ext cx="7951388" cy="3359646"/>
        </p:xfrm>
        <a:graphic>
          <a:graphicData uri="http://schemas.openxmlformats.org/drawingml/2006/table">
            <a:tbl>
              <a:tblPr firstRow="1" firstCol="1" bandRow="1">
                <a:tableStyleId>{AE00A097-0C75-493B-BA82-CAC8FEF640B5}</a:tableStyleId>
              </a:tblPr>
              <a:tblGrid>
                <a:gridCol w="1104401">
                  <a:extLst>
                    <a:ext uri="{9D8B030D-6E8A-4147-A177-3AD203B41FA5}">
                      <a16:colId xmlns:a16="http://schemas.microsoft.com/office/drawing/2014/main" val="3648916400"/>
                    </a:ext>
                  </a:extLst>
                </a:gridCol>
                <a:gridCol w="738763">
                  <a:extLst>
                    <a:ext uri="{9D8B030D-6E8A-4147-A177-3AD203B41FA5}">
                      <a16:colId xmlns:a16="http://schemas.microsoft.com/office/drawing/2014/main" val="2064007851"/>
                    </a:ext>
                  </a:extLst>
                </a:gridCol>
                <a:gridCol w="738763">
                  <a:extLst>
                    <a:ext uri="{9D8B030D-6E8A-4147-A177-3AD203B41FA5}">
                      <a16:colId xmlns:a16="http://schemas.microsoft.com/office/drawing/2014/main" val="52530227"/>
                    </a:ext>
                  </a:extLst>
                </a:gridCol>
                <a:gridCol w="738763">
                  <a:extLst>
                    <a:ext uri="{9D8B030D-6E8A-4147-A177-3AD203B41FA5}">
                      <a16:colId xmlns:a16="http://schemas.microsoft.com/office/drawing/2014/main" val="1388719126"/>
                    </a:ext>
                  </a:extLst>
                </a:gridCol>
                <a:gridCol w="952549">
                  <a:extLst>
                    <a:ext uri="{9D8B030D-6E8A-4147-A177-3AD203B41FA5}">
                      <a16:colId xmlns:a16="http://schemas.microsoft.com/office/drawing/2014/main" val="2938711106"/>
                    </a:ext>
                  </a:extLst>
                </a:gridCol>
                <a:gridCol w="647272">
                  <a:extLst>
                    <a:ext uri="{9D8B030D-6E8A-4147-A177-3AD203B41FA5}">
                      <a16:colId xmlns:a16="http://schemas.microsoft.com/office/drawing/2014/main" val="1608959517"/>
                    </a:ext>
                  </a:extLst>
                </a:gridCol>
                <a:gridCol w="750014">
                  <a:extLst>
                    <a:ext uri="{9D8B030D-6E8A-4147-A177-3AD203B41FA5}">
                      <a16:colId xmlns:a16="http://schemas.microsoft.com/office/drawing/2014/main" val="3336117374"/>
                    </a:ext>
                  </a:extLst>
                </a:gridCol>
                <a:gridCol w="657546">
                  <a:extLst>
                    <a:ext uri="{9D8B030D-6E8A-4147-A177-3AD203B41FA5}">
                      <a16:colId xmlns:a16="http://schemas.microsoft.com/office/drawing/2014/main" val="1399160797"/>
                    </a:ext>
                  </a:extLst>
                </a:gridCol>
                <a:gridCol w="760288">
                  <a:extLst>
                    <a:ext uri="{9D8B030D-6E8A-4147-A177-3AD203B41FA5}">
                      <a16:colId xmlns:a16="http://schemas.microsoft.com/office/drawing/2014/main" val="3685562710"/>
                    </a:ext>
                  </a:extLst>
                </a:gridCol>
                <a:gridCol w="863029">
                  <a:extLst>
                    <a:ext uri="{9D8B030D-6E8A-4147-A177-3AD203B41FA5}">
                      <a16:colId xmlns:a16="http://schemas.microsoft.com/office/drawing/2014/main" val="4071983806"/>
                    </a:ext>
                  </a:extLst>
                </a:gridCol>
              </a:tblGrid>
              <a:tr h="4561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Algorithm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Karate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Dolphins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Football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 err="1">
                          <a:effectLst/>
                        </a:rPr>
                        <a:t>Polbooks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VS13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FB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LastFM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686481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Louvain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0.5089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0.3472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0.8069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0.6567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0.5032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0.8986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0.5292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0.1003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0.573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4564275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Leiden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0.4646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0.3809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0.8069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0.6752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0.6061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0.8986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0.5355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0.0973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0.5452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7748021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Walktrap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0.3207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0.4662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0.8154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0.6534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0.309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0.8722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0.4426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0.1134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0904481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Infomap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0.5906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0.3659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0.8967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0.6463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0.6061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0.8986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0.3606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0.0277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0.2334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8399939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0.7913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0.6667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0.1666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0.8427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0.252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0.0355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0.5527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670813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FLPA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0.5089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0.4505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0.8069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0.6649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0.3396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0.8611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0.252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0.0414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0.4449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52021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LPA-MNI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0.4809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0.4293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0.8893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0.6116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0.7994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0.8605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0.3389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0.037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0.4591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5607969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CLPA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0.4831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0.3821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0.8069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0.6487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0.5581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0.8986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0.5292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0.1068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0.5639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938551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FluidC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0.3285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0.2799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0.6938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0.185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0.8267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0.4569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0.4626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0.0209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0.1026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3276448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G-Newman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0.7212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0.9175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0.2045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0.6795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0.0007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0.005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0.0037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3686793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K-Lin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0.3693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0.1515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0.6163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0.202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0.7011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0.4808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0.052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0.2994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4621095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SpinGlass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0.4313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0.3792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0.8558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0.4534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0.6061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0.8986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0.5403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Slow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3360398"/>
                  </a:ext>
                </a:extLst>
              </a:tr>
              <a:tr h="223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MCL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0.7717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0.211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  <a:highlight>
                            <a:srgbClr val="FFFF00"/>
                          </a:highlight>
                        </a:rPr>
                        <a:t>0.8967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0.5936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0.1718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0.202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0.2575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0.0182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0.0407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9814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401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308824CA-FEBF-35C9-3B3F-5752FF2E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D11988D8-74BB-7B64-EEBD-514E50605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Deep Learning Methods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B1EFA-F5BA-2B41-E81D-C2A6249F1234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Results - Deep Learning Methods - NMI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6C6707-85C2-A7E0-4F4C-D83B2BB40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944259"/>
              </p:ext>
            </p:extLst>
          </p:nvPr>
        </p:nvGraphicFramePr>
        <p:xfrm>
          <a:off x="601442" y="1108708"/>
          <a:ext cx="7941115" cy="1409830"/>
        </p:xfrm>
        <a:graphic>
          <a:graphicData uri="http://schemas.openxmlformats.org/drawingml/2006/table">
            <a:tbl>
              <a:tblPr firstRow="1" firstCol="1" bandRow="1">
                <a:tableStyleId>{AE00A097-0C75-493B-BA82-CAC8FEF640B5}</a:tableStyleId>
              </a:tblPr>
              <a:tblGrid>
                <a:gridCol w="983065">
                  <a:extLst>
                    <a:ext uri="{9D8B030D-6E8A-4147-A177-3AD203B41FA5}">
                      <a16:colId xmlns:a16="http://schemas.microsoft.com/office/drawing/2014/main" val="3616488025"/>
                    </a:ext>
                  </a:extLst>
                </a:gridCol>
                <a:gridCol w="669434">
                  <a:extLst>
                    <a:ext uri="{9D8B030D-6E8A-4147-A177-3AD203B41FA5}">
                      <a16:colId xmlns:a16="http://schemas.microsoft.com/office/drawing/2014/main" val="3155446673"/>
                    </a:ext>
                  </a:extLst>
                </a:gridCol>
                <a:gridCol w="730291">
                  <a:extLst>
                    <a:ext uri="{9D8B030D-6E8A-4147-A177-3AD203B41FA5}">
                      <a16:colId xmlns:a16="http://schemas.microsoft.com/office/drawing/2014/main" val="4058151891"/>
                    </a:ext>
                  </a:extLst>
                </a:gridCol>
                <a:gridCol w="842953">
                  <a:extLst>
                    <a:ext uri="{9D8B030D-6E8A-4147-A177-3AD203B41FA5}">
                      <a16:colId xmlns:a16="http://schemas.microsoft.com/office/drawing/2014/main" val="944134335"/>
                    </a:ext>
                  </a:extLst>
                </a:gridCol>
                <a:gridCol w="868057">
                  <a:extLst>
                    <a:ext uri="{9D8B030D-6E8A-4147-A177-3AD203B41FA5}">
                      <a16:colId xmlns:a16="http://schemas.microsoft.com/office/drawing/2014/main" val="4026360934"/>
                    </a:ext>
                  </a:extLst>
                </a:gridCol>
                <a:gridCol w="677775">
                  <a:extLst>
                    <a:ext uri="{9D8B030D-6E8A-4147-A177-3AD203B41FA5}">
                      <a16:colId xmlns:a16="http://schemas.microsoft.com/office/drawing/2014/main" val="168671064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581253123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68733438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2782099018"/>
                    </a:ext>
                  </a:extLst>
                </a:gridCol>
                <a:gridCol w="956113">
                  <a:extLst>
                    <a:ext uri="{9D8B030D-6E8A-4147-A177-3AD203B41FA5}">
                      <a16:colId xmlns:a16="http://schemas.microsoft.com/office/drawing/2014/main" val="2635150379"/>
                    </a:ext>
                  </a:extLst>
                </a:gridCol>
              </a:tblGrid>
              <a:tr h="424054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Algorithm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Karate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Dolphins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Football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Polbooks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FB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 err="1">
                          <a:effectLst/>
                        </a:rPr>
                        <a:t>LastFM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840606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GCN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0.8372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0.8888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0.925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0.5745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0.1421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0.7871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0.6342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0.0486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0.0313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4496182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GAT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0.5756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0.8165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0.9195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0.4592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0.1119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0.8214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0.6343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0.0441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0.0295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764320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GB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GAE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0.7324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0.9231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0.445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0.1263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0.7886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0.6095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0.0348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0.0258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2663933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Autoencoder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0.093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0.0279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0.8973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0.1635</a:t>
                      </a:r>
                      <a:endParaRPr lang="en-GB" sz="11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0.1177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0.6207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0.567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0.0525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0.0296</a:t>
                      </a:r>
                      <a:endParaRPr lang="en-GB" sz="11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83407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BFD431-AB48-8A36-9430-3C02E563AF4B}"/>
              </a:ext>
            </a:extLst>
          </p:cNvPr>
          <p:cNvSpPr txBox="1"/>
          <p:nvPr/>
        </p:nvSpPr>
        <p:spPr>
          <a:xfrm>
            <a:off x="524792" y="2624963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Results - Deep Learning Methods - ARI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21F5E6-8AF6-29A1-2793-BD2A83488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62846"/>
              </p:ext>
            </p:extLst>
          </p:nvPr>
        </p:nvGraphicFramePr>
        <p:xfrm>
          <a:off x="601442" y="2932740"/>
          <a:ext cx="7941115" cy="1409830"/>
        </p:xfrm>
        <a:graphic>
          <a:graphicData uri="http://schemas.openxmlformats.org/drawingml/2006/table">
            <a:tbl>
              <a:tblPr firstRow="1" firstCol="1" bandRow="1">
                <a:tableStyleId>{AE00A097-0C75-493B-BA82-CAC8FEF640B5}</a:tableStyleId>
              </a:tblPr>
              <a:tblGrid>
                <a:gridCol w="983065">
                  <a:extLst>
                    <a:ext uri="{9D8B030D-6E8A-4147-A177-3AD203B41FA5}">
                      <a16:colId xmlns:a16="http://schemas.microsoft.com/office/drawing/2014/main" val="3616488025"/>
                    </a:ext>
                  </a:extLst>
                </a:gridCol>
                <a:gridCol w="669434">
                  <a:extLst>
                    <a:ext uri="{9D8B030D-6E8A-4147-A177-3AD203B41FA5}">
                      <a16:colId xmlns:a16="http://schemas.microsoft.com/office/drawing/2014/main" val="3155446673"/>
                    </a:ext>
                  </a:extLst>
                </a:gridCol>
                <a:gridCol w="730291">
                  <a:extLst>
                    <a:ext uri="{9D8B030D-6E8A-4147-A177-3AD203B41FA5}">
                      <a16:colId xmlns:a16="http://schemas.microsoft.com/office/drawing/2014/main" val="4058151891"/>
                    </a:ext>
                  </a:extLst>
                </a:gridCol>
                <a:gridCol w="842953">
                  <a:extLst>
                    <a:ext uri="{9D8B030D-6E8A-4147-A177-3AD203B41FA5}">
                      <a16:colId xmlns:a16="http://schemas.microsoft.com/office/drawing/2014/main" val="944134335"/>
                    </a:ext>
                  </a:extLst>
                </a:gridCol>
                <a:gridCol w="868057">
                  <a:extLst>
                    <a:ext uri="{9D8B030D-6E8A-4147-A177-3AD203B41FA5}">
                      <a16:colId xmlns:a16="http://schemas.microsoft.com/office/drawing/2014/main" val="4026360934"/>
                    </a:ext>
                  </a:extLst>
                </a:gridCol>
                <a:gridCol w="677775">
                  <a:extLst>
                    <a:ext uri="{9D8B030D-6E8A-4147-A177-3AD203B41FA5}">
                      <a16:colId xmlns:a16="http://schemas.microsoft.com/office/drawing/2014/main" val="168671064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581253123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3687334382"/>
                    </a:ext>
                  </a:extLst>
                </a:gridCol>
                <a:gridCol w="737809">
                  <a:extLst>
                    <a:ext uri="{9D8B030D-6E8A-4147-A177-3AD203B41FA5}">
                      <a16:colId xmlns:a16="http://schemas.microsoft.com/office/drawing/2014/main" val="2782099018"/>
                    </a:ext>
                  </a:extLst>
                </a:gridCol>
                <a:gridCol w="956113">
                  <a:extLst>
                    <a:ext uri="{9D8B030D-6E8A-4147-A177-3AD203B41FA5}">
                      <a16:colId xmlns:a16="http://schemas.microsoft.com/office/drawing/2014/main" val="2635150379"/>
                    </a:ext>
                  </a:extLst>
                </a:gridCol>
              </a:tblGrid>
              <a:tr h="424054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Algorithm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Karate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Dolphins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Football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Polbooks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PS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VS13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VS15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FB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 err="1">
                          <a:effectLst/>
                        </a:rPr>
                        <a:t>LastFM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840606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GCN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0.8823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0.9348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0.8995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0.6745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0.0272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0.6808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0.4339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0.0614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0.0073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4496182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GAT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0.6682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0.8725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0.8955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0.4903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0.0129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0.7574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0.4490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0.0528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0.0064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764320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GB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GAE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0.7717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1.0000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0.8905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0.4953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0.0234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0.7252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0.4248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0.0278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0.0049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2663933"/>
                  </a:ext>
                </a:extLst>
              </a:tr>
              <a:tr h="206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Autoencoder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0.0072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0.0578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0.8358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0.0181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0.0144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0.3707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0.3719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0.0622</a:t>
                      </a:r>
                      <a:endParaRPr lang="en-GB" sz="11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0.0061</a:t>
                      </a:r>
                      <a:endParaRPr lang="en-GB" sz="11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8340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251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8327B04E-79B5-C049-5F22-B134E4F7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5DAF056F-62F1-9C93-6EB9-0333A0E380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LFR Benchmark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72371-51B4-26B1-7F21-B2B069E6C5DB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13707-9392-34F2-65D1-BAE1621161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1" b="1"/>
          <a:stretch>
            <a:fillRect/>
          </a:stretch>
        </p:blipFill>
        <p:spPr>
          <a:xfrm>
            <a:off x="761468" y="1108708"/>
            <a:ext cx="7621064" cy="30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55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88C7DA92-9964-93D6-9994-76795842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710A62A4-4281-31CA-387D-D52818B887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LFR Benchmark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C6963-A7BC-CF33-F1F2-5AA6D1D527C0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08B460-0CDF-2591-D8D9-B521B7B0B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3" y="1108708"/>
            <a:ext cx="7697274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21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67113C64-DD84-EDF1-5F59-99C59192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0815C798-64A9-314A-93D9-40013F881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LFR Benchmark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798D0-DC89-E461-4640-8ADBE0DDCDF8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40C0A-5E0C-29FD-A158-DB51965E5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3" y="1108708"/>
            <a:ext cx="7697274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04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21802BD4-9551-7B7A-B7E8-81C88511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BDD69420-6A88-6680-71E3-4EBC180A7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LFR Benchmark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4707E-8759-0568-817F-67B0CD0ABDDB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C7C7C-32EB-F405-94B3-5A2805925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560" y="1108708"/>
            <a:ext cx="6734879" cy="338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28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F1ED6611-B925-2646-B0E0-722FBB3A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DE573BBD-D3FA-130C-93D3-9F7F2B8FC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LFR Benchmark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D73F3-AA8B-E668-E161-674D1360A699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0B2DF-5426-4913-2428-6338B2F03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92" y="1108708"/>
            <a:ext cx="6735949" cy="374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29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C13386E3-C290-85D0-B3C4-B3FA7C8D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1EDB7142-792A-767E-721F-C034A10C1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LFR Benchmark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9C1A0-A184-A35E-BB21-7B903BB3094A}"/>
              </a:ext>
            </a:extLst>
          </p:cNvPr>
          <p:cNvSpPr txBox="1"/>
          <p:nvPr/>
        </p:nvSpPr>
        <p:spPr>
          <a:xfrm>
            <a:off x="524792" y="800931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Community Detection Metrics - NMI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5173C9-DD53-9391-B41E-2A328757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2" y="1276169"/>
            <a:ext cx="6315956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34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7267403B-BCC4-13CC-98E2-69BD5E31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8FC45F93-D7AF-915A-3A14-4F422A01B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Recommender System Integration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A60D3-B908-DF68-2B50-5415AA525A43}"/>
              </a:ext>
            </a:extLst>
          </p:cNvPr>
          <p:cNvSpPr txBox="1"/>
          <p:nvPr/>
        </p:nvSpPr>
        <p:spPr>
          <a:xfrm>
            <a:off x="524792" y="1012597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Hyperparameter Tuning Results</a:t>
            </a:r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8CCB06-D633-E3C8-C56D-E4E0355C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531302"/>
              </p:ext>
            </p:extLst>
          </p:nvPr>
        </p:nvGraphicFramePr>
        <p:xfrm>
          <a:off x="618788" y="1779524"/>
          <a:ext cx="7906423" cy="1432052"/>
        </p:xfrm>
        <a:graphic>
          <a:graphicData uri="http://schemas.openxmlformats.org/drawingml/2006/table">
            <a:tbl>
              <a:tblPr>
                <a:tableStyleId>{B6F588F0-DA45-466C-91A0-1F1EBF44E27B}</a:tableStyleId>
              </a:tblPr>
              <a:tblGrid>
                <a:gridCol w="1338787">
                  <a:extLst>
                    <a:ext uri="{9D8B030D-6E8A-4147-A177-3AD203B41FA5}">
                      <a16:colId xmlns:a16="http://schemas.microsoft.com/office/drawing/2014/main" val="1829000799"/>
                    </a:ext>
                  </a:extLst>
                </a:gridCol>
                <a:gridCol w="1889024">
                  <a:extLst>
                    <a:ext uri="{9D8B030D-6E8A-4147-A177-3AD203B41FA5}">
                      <a16:colId xmlns:a16="http://schemas.microsoft.com/office/drawing/2014/main" val="1143085909"/>
                    </a:ext>
                  </a:extLst>
                </a:gridCol>
                <a:gridCol w="1253435">
                  <a:extLst>
                    <a:ext uri="{9D8B030D-6E8A-4147-A177-3AD203B41FA5}">
                      <a16:colId xmlns:a16="http://schemas.microsoft.com/office/drawing/2014/main" val="1394736056"/>
                    </a:ext>
                  </a:extLst>
                </a:gridCol>
                <a:gridCol w="1957589">
                  <a:extLst>
                    <a:ext uri="{9D8B030D-6E8A-4147-A177-3AD203B41FA5}">
                      <a16:colId xmlns:a16="http://schemas.microsoft.com/office/drawing/2014/main" val="2202461204"/>
                    </a:ext>
                  </a:extLst>
                </a:gridCol>
                <a:gridCol w="1467588">
                  <a:extLst>
                    <a:ext uri="{9D8B030D-6E8A-4147-A177-3AD203B41FA5}">
                      <a16:colId xmlns:a16="http://schemas.microsoft.com/office/drawing/2014/main" val="3244480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050" b="0" u="sng" dirty="0">
                          <a:effectLst/>
                          <a:latin typeface="Mulish" panose="020B0604020202020204" charset="0"/>
                        </a:rPr>
                        <a:t>Model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050" b="0" u="sng" dirty="0">
                          <a:effectLst/>
                          <a:latin typeface="Mulish" panose="020B0604020202020204" charset="0"/>
                        </a:rPr>
                        <a:t>Default Config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050" b="0" u="sng" dirty="0">
                          <a:effectLst/>
                          <a:latin typeface="Mulish" panose="020B0604020202020204" charset="0"/>
                        </a:rPr>
                        <a:t>Default F1@5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050" b="0" u="sng" dirty="0">
                          <a:effectLst/>
                          <a:latin typeface="Mulish" panose="020B0604020202020204" charset="0"/>
                        </a:rPr>
                        <a:t>Tuned Config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050" b="0" u="sng" dirty="0">
                          <a:effectLst/>
                          <a:latin typeface="Mulish" panose="020B0604020202020204" charset="0"/>
                        </a:rPr>
                        <a:t>Tuned F1@5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28300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 dirty="0">
                          <a:effectLst/>
                          <a:latin typeface="Mulish" panose="020B0604020202020204" charset="0"/>
                        </a:rPr>
                        <a:t>ALS</a:t>
                      </a:r>
                      <a:endParaRPr lang="en-GB" sz="1000" b="0" dirty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factors=20, reg=0.1, α=40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0.149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factors=100, reg=0.1, α=10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0.371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330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 dirty="0">
                          <a:effectLst/>
                          <a:latin typeface="Mulish" panose="020B0604020202020204" charset="0"/>
                        </a:rPr>
                        <a:t>BM25</a:t>
                      </a:r>
                      <a:endParaRPr lang="en-GB" sz="1000" b="0" dirty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k1=1.5, b=0.75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0.178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k1=3.0, b=1.0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>
                          <a:effectLst/>
                          <a:latin typeface="Mulish" panose="020B0604020202020204" charset="0"/>
                        </a:rPr>
                        <a:t>0.211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17509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1">
                          <a:effectLst/>
                          <a:latin typeface="Mulish" panose="020B0604020202020204" charset="0"/>
                        </a:rPr>
                        <a:t>SVD</a:t>
                      </a:r>
                      <a:endParaRPr lang="en-GB" sz="1000" b="0">
                        <a:effectLst/>
                        <a:latin typeface="Mulish" panose="020B060402020202020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n_components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=50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0.277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 err="1">
                          <a:effectLst/>
                          <a:latin typeface="Mulish" panose="020B0604020202020204" charset="0"/>
                        </a:rPr>
                        <a:t>n_components</a:t>
                      </a: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=50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000" b="0" dirty="0">
                          <a:effectLst/>
                          <a:latin typeface="Mulish" panose="020B0604020202020204" charset="0"/>
                        </a:rPr>
                        <a:t>0.277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51261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228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D0FAB910-C4A6-2019-E12E-D3ED11546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1D16B56B-D5AE-6A6F-1AC3-5CAFBF6AF5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Recommender System Integration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222C1-58D5-13D6-B6C1-B0DADF2E59BA}"/>
              </a:ext>
            </a:extLst>
          </p:cNvPr>
          <p:cNvSpPr txBox="1"/>
          <p:nvPr/>
        </p:nvSpPr>
        <p:spPr>
          <a:xfrm>
            <a:off x="524792" y="1012597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Performance Summary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AB4A3-F046-F278-6EB6-73E3ACEC1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884" y="1320374"/>
            <a:ext cx="6935190" cy="326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13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11800066-4746-D599-F7CE-0E8254D3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480ABE3F-3FE6-D9DF-EB30-0F710EF45F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Recommender System Integration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7CE4A-0949-E367-6B5D-E0944E081ED7}"/>
              </a:ext>
            </a:extLst>
          </p:cNvPr>
          <p:cNvSpPr txBox="1"/>
          <p:nvPr/>
        </p:nvSpPr>
        <p:spPr>
          <a:xfrm>
            <a:off x="524792" y="1012597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Performance Summary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DBB62-8747-B4B1-BD71-725D31ECE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28" y="1320374"/>
            <a:ext cx="7246502" cy="325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85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09BFE3BD-AAAC-77ED-FF08-109F87A6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D0A7E519-280B-DDB1-F8BB-396EC2CE3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Results - Recommender System Integration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FFFC0-B17B-673E-CABE-DAC7344906CC}"/>
              </a:ext>
            </a:extLst>
          </p:cNvPr>
          <p:cNvSpPr txBox="1"/>
          <p:nvPr/>
        </p:nvSpPr>
        <p:spPr>
          <a:xfrm>
            <a:off x="524792" y="1012597"/>
            <a:ext cx="3766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Performance Summary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1EF5B-618F-454F-DEA1-4C2DB3B23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29" y="1320374"/>
            <a:ext cx="7604542" cy="34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09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17335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</a:t>
            </a:r>
            <a:br>
              <a:rPr lang="en" dirty="0"/>
            </a:br>
            <a:r>
              <a:rPr lang="en" dirty="0"/>
              <a:t>APPLICATION</a:t>
            </a:r>
            <a:endParaRPr dirty="0"/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3E0F71EF-2C0D-C19C-0855-9AB6EC08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FBECB050-3114-BDE7-1FA5-4715E7380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92" y="288525"/>
            <a:ext cx="82113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/>
              <a:t>Discussion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64650-AF4C-113E-474E-6FA8A96E7E1D}"/>
              </a:ext>
            </a:extLst>
          </p:cNvPr>
          <p:cNvSpPr txBox="1"/>
          <p:nvPr/>
        </p:nvSpPr>
        <p:spPr>
          <a:xfrm>
            <a:off x="1250236" y="1054350"/>
            <a:ext cx="66435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solidFill>
                  <a:srgbClr val="C00000"/>
                </a:solidFill>
              </a:rPr>
              <a:t>Research Question</a:t>
            </a:r>
            <a:r>
              <a:rPr lang="en-GB" b="1" dirty="0"/>
              <a:t>:</a:t>
            </a:r>
            <a:r>
              <a:rPr lang="en-GB" dirty="0"/>
              <a:t> </a:t>
            </a:r>
            <a:r>
              <a:rPr lang="en-GB" i="1" dirty="0"/>
              <a:t>How do different community detection approaches compare in effectiveness and practical utility for recommender systems?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dirty="0"/>
              <a:t>Classical algorithms (Louvain, Leiden, </a:t>
            </a:r>
            <a:r>
              <a:rPr lang="en-GB" dirty="0" err="1"/>
              <a:t>Infomap</a:t>
            </a:r>
            <a:r>
              <a:rPr lang="en-GB" dirty="0"/>
              <a:t>) remain the most effective and practical choice</a:t>
            </a:r>
            <a:br>
              <a:rPr lang="en-GB" dirty="0"/>
            </a:br>
            <a:endParaRPr lang="en-GB" dirty="0">
              <a:solidFill>
                <a:schemeClr val="tx1"/>
              </a:solidFill>
              <a:latin typeface="quote-cjk-patch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E895DA-0B80-DE9E-B6C2-8384EF7D9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80005"/>
              </p:ext>
            </p:extLst>
          </p:nvPr>
        </p:nvGraphicFramePr>
        <p:xfrm>
          <a:off x="1049079" y="2736152"/>
          <a:ext cx="7162800" cy="1668020"/>
        </p:xfrm>
        <a:graphic>
          <a:graphicData uri="http://schemas.openxmlformats.org/drawingml/2006/table">
            <a:tbl>
              <a:tblPr>
                <a:tableStyleId>{AE00A097-0C75-493B-BA82-CAC8FEF640B5}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724714989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4692884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</a:rPr>
                        <a:t>Strengths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</a:rPr>
                        <a:t>Details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6073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</a:rPr>
                        <a:t>High structural quality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</a:rPr>
                        <a:t>Q &gt; 0.81 on large networks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7853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</a:rPr>
                        <a:t>Excellent scalability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</a:rPr>
                        <a:t>Near-linear time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1575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</a:rPr>
                        <a:t>Substantial RS improvements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</a:rPr>
                        <a:t>+58% when combined with tuned ALS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22945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31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9BDB21C6-5979-EF22-2953-6748FB09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B43DFE94-5BF8-55E0-F431-B8B88E991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7777" y="1999050"/>
            <a:ext cx="35484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5000" dirty="0"/>
              <a:t>Conclusion</a:t>
            </a:r>
            <a:endParaRPr sz="5000" dirty="0"/>
          </a:p>
        </p:txBody>
      </p:sp>
    </p:spTree>
    <p:extLst>
      <p:ext uri="{BB962C8B-B14F-4D97-AF65-F5344CB8AC3E}">
        <p14:creationId xmlns:p14="http://schemas.microsoft.com/office/powerpoint/2010/main" val="1336391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56053F4E-462E-C3CF-87F8-2E2BE570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4;p38">
            <a:extLst>
              <a:ext uri="{FF2B5EF4-FFF2-40B4-BE49-F238E27FC236}">
                <a16:creationId xmlns:a16="http://schemas.microsoft.com/office/drawing/2014/main" id="{1D68F57F-E34D-E233-2B7B-7F0265246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8888" y="1741473"/>
            <a:ext cx="63462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5000" dirty="0"/>
              <a:t>Thank you for your attention</a:t>
            </a:r>
            <a:endParaRPr sz="5000" dirty="0"/>
          </a:p>
        </p:txBody>
      </p:sp>
    </p:spTree>
    <p:extLst>
      <p:ext uri="{BB962C8B-B14F-4D97-AF65-F5344CB8AC3E}">
        <p14:creationId xmlns:p14="http://schemas.microsoft.com/office/powerpoint/2010/main" val="2304006932"/>
      </p:ext>
    </p:extLst>
  </p:cSld>
  <p:clrMapOvr>
    <a:masterClrMapping/>
  </p:clrMapOvr>
</p:sld>
</file>

<file path=ppt/theme/theme1.xml><?xml version="1.0" encoding="utf-8"?>
<a:theme xmlns:a="http://schemas.openxmlformats.org/drawingml/2006/main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2050</Words>
  <Application>Microsoft Office PowerPoint</Application>
  <PresentationFormat>On-screen Show (16:9)</PresentationFormat>
  <Paragraphs>846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Mulish</vt:lpstr>
      <vt:lpstr>Aptos</vt:lpstr>
      <vt:lpstr>Albert Sans</vt:lpstr>
      <vt:lpstr>quote-cjk-patch</vt:lpstr>
      <vt:lpstr>Courier New</vt:lpstr>
      <vt:lpstr>Times New Roman</vt:lpstr>
      <vt:lpstr>Anaheim</vt:lpstr>
      <vt:lpstr>Cambria Math</vt:lpstr>
      <vt:lpstr>Arial</vt:lpstr>
      <vt:lpstr>DM Sans</vt:lpstr>
      <vt:lpstr>Lato</vt:lpstr>
      <vt:lpstr>Discrete Mathematics: Graph Theory and Networks - 12th Grade by Slidesgo</vt:lpstr>
      <vt:lpstr>PowerPoint Presentation</vt:lpstr>
      <vt:lpstr>01</vt:lpstr>
      <vt:lpstr>Introduction</vt:lpstr>
      <vt:lpstr>Problem Statement</vt:lpstr>
      <vt:lpstr>Research Objectives</vt:lpstr>
      <vt:lpstr>Background - Community Detection  </vt:lpstr>
      <vt:lpstr>Literature Review - Methodology </vt:lpstr>
      <vt:lpstr>Literature Review - Classical Algorithms </vt:lpstr>
      <vt:lpstr>Literature Review - Classical Algorithms </vt:lpstr>
      <vt:lpstr>Literature Review - Classical Algorithms </vt:lpstr>
      <vt:lpstr>Literature Review - Classical Algorithms </vt:lpstr>
      <vt:lpstr>Literature Review - Classical Algorithms </vt:lpstr>
      <vt:lpstr>Literature Review - Modern Approaches </vt:lpstr>
      <vt:lpstr>Literature Review - Modern Approaches </vt:lpstr>
      <vt:lpstr>Literature Review - Recommender Systems </vt:lpstr>
      <vt:lpstr>Literature Review - Applications</vt:lpstr>
      <vt:lpstr>Literature Review - Applications</vt:lpstr>
      <vt:lpstr>Literature Review - Applications</vt:lpstr>
      <vt:lpstr>Literature Review - Applications</vt:lpstr>
      <vt:lpstr>Methodology Overview</vt:lpstr>
      <vt:lpstr>Methodology Overview – Datasets Used</vt:lpstr>
      <vt:lpstr>Methodology Overview - Evaluation Metrics</vt:lpstr>
      <vt:lpstr>Results - Classical Algorithms</vt:lpstr>
      <vt:lpstr>Results - Classical Algorithms</vt:lpstr>
      <vt:lpstr>Results - Classical Algorithms</vt:lpstr>
      <vt:lpstr>Results - Deep Learning Methods</vt:lpstr>
      <vt:lpstr>Results - LFR Benchmark</vt:lpstr>
      <vt:lpstr>Results - LFR Benchmark</vt:lpstr>
      <vt:lpstr>Results - LFR Benchmark</vt:lpstr>
      <vt:lpstr>Results - LFR Benchmark</vt:lpstr>
      <vt:lpstr>Results - LFR Benchmark</vt:lpstr>
      <vt:lpstr>Results - LFR Benchmark</vt:lpstr>
      <vt:lpstr>Results - Recommender System Integration</vt:lpstr>
      <vt:lpstr>Results - Recommender System Integration</vt:lpstr>
      <vt:lpstr>Results - Recommender System Integration</vt:lpstr>
      <vt:lpstr>Results - Recommender System Integration</vt:lpstr>
      <vt:lpstr>WEB  APPLICATION</vt:lpstr>
      <vt:lpstr>Discussion</vt:lpstr>
      <vt:lpstr>Conclusion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moudden hamza</cp:lastModifiedBy>
  <cp:revision>16</cp:revision>
  <dcterms:modified xsi:type="dcterms:W3CDTF">2026-07-03T19:35:03Z</dcterms:modified>
</cp:coreProperties>
</file>
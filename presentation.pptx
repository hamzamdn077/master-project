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2"/>
  </p:notesMasterIdLst>
  <p:sldIdLst>
    <p:sldId id="298" r:id="rId2"/>
    <p:sldId id="297" r:id="rId3"/>
    <p:sldId id="299" r:id="rId4"/>
    <p:sldId id="339" r:id="rId5"/>
    <p:sldId id="340" r:id="rId6"/>
    <p:sldId id="341" r:id="rId7"/>
    <p:sldId id="300" r:id="rId8"/>
    <p:sldId id="338" r:id="rId9"/>
    <p:sldId id="335" r:id="rId10"/>
    <p:sldId id="257" r:id="rId11"/>
    <p:sldId id="303" r:id="rId12"/>
    <p:sldId id="304" r:id="rId13"/>
    <p:sldId id="305" r:id="rId14"/>
    <p:sldId id="307" r:id="rId15"/>
    <p:sldId id="311" r:id="rId16"/>
    <p:sldId id="313" r:id="rId17"/>
    <p:sldId id="312" r:id="rId18"/>
    <p:sldId id="314" r:id="rId19"/>
    <p:sldId id="318" r:id="rId20"/>
    <p:sldId id="316" r:id="rId21"/>
    <p:sldId id="319" r:id="rId22"/>
    <p:sldId id="322" r:id="rId23"/>
    <p:sldId id="325" r:id="rId24"/>
    <p:sldId id="324" r:id="rId25"/>
    <p:sldId id="326" r:id="rId26"/>
    <p:sldId id="337" r:id="rId27"/>
    <p:sldId id="329" r:id="rId28"/>
    <p:sldId id="260" r:id="rId29"/>
    <p:sldId id="330" r:id="rId30"/>
    <p:sldId id="336" r:id="rId31"/>
  </p:sldIdLst>
  <p:sldSz cx="9144000" cy="5143500" type="screen16x9"/>
  <p:notesSz cx="6858000" cy="9144000"/>
  <p:embeddedFontLst>
    <p:embeddedFont>
      <p:font typeface="Albert Sans" panose="020B0604020202020204" charset="0"/>
      <p:regular r:id="rId33"/>
      <p:bold r:id="rId34"/>
      <p:italic r:id="rId35"/>
      <p:boldItalic r:id="rId36"/>
    </p:embeddedFont>
    <p:embeddedFont>
      <p:font typeface="DM Sans" pitchFamily="2"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Mulish" panose="020B060402020202020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00A097-0C75-493B-BA82-CAC8FEF640B5}">
  <a:tblStyle styleId="{AE00A097-0C75-493B-BA82-CAC8FEF640B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6F588F0-DA45-466C-91A0-1F1EBF44E27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74514" autoAdjust="0"/>
  </p:normalViewPr>
  <p:slideViewPr>
    <p:cSldViewPr snapToGrid="0">
      <p:cViewPr>
        <p:scale>
          <a:sx n="75" d="100"/>
          <a:sy n="75" d="100"/>
        </p:scale>
        <p:origin x="1254" y="-20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B"/>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a:extLst>
            <a:ext uri="{FF2B5EF4-FFF2-40B4-BE49-F238E27FC236}">
              <a16:creationId xmlns:a16="http://schemas.microsoft.com/office/drawing/2014/main" id="{45B905F5-F714-446B-B518-4A07DC46B74B}"/>
            </a:ext>
          </a:extLst>
        </p:cNvPr>
        <p:cNvGrpSpPr/>
        <p:nvPr/>
      </p:nvGrpSpPr>
      <p:grpSpPr>
        <a:xfrm>
          <a:off x="0" y="0"/>
          <a:ext cx="0" cy="0"/>
          <a:chOff x="0" y="0"/>
          <a:chExt cx="0" cy="0"/>
        </a:xfrm>
      </p:grpSpPr>
      <p:sp>
        <p:nvSpPr>
          <p:cNvPr id="1759" name="Google Shape;1759;g1e71a4a866a_0_12:notes">
            <a:extLst>
              <a:ext uri="{FF2B5EF4-FFF2-40B4-BE49-F238E27FC236}">
                <a16:creationId xmlns:a16="http://schemas.microsoft.com/office/drawing/2014/main" id="{A0E2B628-7B45-EC9E-9B23-9D5573B74B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760" name="Google Shape;1760;g1e71a4a866a_0_12:notes">
            <a:extLst>
              <a:ext uri="{FF2B5EF4-FFF2-40B4-BE49-F238E27FC236}">
                <a16:creationId xmlns:a16="http://schemas.microsoft.com/office/drawing/2014/main" id="{3234F645-EB06-4496-22CE-EF9746F3F7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Bonjour à tous. Je vous remercie de m'accueillir aujourd'hui pour la soutenance de mon projet de fin d'études, réalisé dans le cadre de mon Master en Sciences des Données.</a:t>
            </a:r>
          </a:p>
          <a:p>
            <a:pPr marL="0" lvl="0" indent="0" algn="l" rtl="0">
              <a:spcBef>
                <a:spcPts val="0"/>
              </a:spcBef>
              <a:spcAft>
                <a:spcPts val="0"/>
              </a:spcAft>
              <a:buNone/>
            </a:pPr>
            <a:r>
              <a:rPr lang="fr-FR" dirty="0"/>
              <a:t>Mon travail porte sur la détection de communautés dans les réseaux sociaux, et son application aux systèmes de recommandation et au marketing ciblé.</a:t>
            </a:r>
          </a:p>
          <a:p>
            <a:pPr marL="0" lvl="0" indent="0" algn="l" rtl="0">
              <a:spcBef>
                <a:spcPts val="0"/>
              </a:spcBef>
              <a:spcAft>
                <a:spcPts val="0"/>
              </a:spcAft>
              <a:buNone/>
            </a:pPr>
            <a:r>
              <a:rPr lang="fr-FR" dirty="0"/>
              <a:t>Je suis encadré par le Professeur </a:t>
            </a:r>
            <a:r>
              <a:rPr lang="fr-FR" dirty="0" err="1"/>
              <a:t>Akachar</a:t>
            </a:r>
            <a:r>
              <a:rPr lang="fr-FR" dirty="0"/>
              <a:t> </a:t>
            </a:r>
            <a:r>
              <a:rPr lang="fr-FR" dirty="0" err="1"/>
              <a:t>Elyazid</a:t>
            </a:r>
            <a:r>
              <a:rPr lang="fr-FR" dirty="0"/>
              <a:t>, que je remercie pour son accompagnement et bienveillant, et je tiens à vous remercier pour l'attention que vous accordez à ce travail.</a:t>
            </a:r>
            <a:endParaRPr dirty="0"/>
          </a:p>
        </p:txBody>
      </p:sp>
    </p:spTree>
    <p:extLst>
      <p:ext uri="{BB962C8B-B14F-4D97-AF65-F5344CB8AC3E}">
        <p14:creationId xmlns:p14="http://schemas.microsoft.com/office/powerpoint/2010/main" val="2051996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a:extLst>
            <a:ext uri="{FF2B5EF4-FFF2-40B4-BE49-F238E27FC236}">
              <a16:creationId xmlns:a16="http://schemas.microsoft.com/office/drawing/2014/main" id="{E9DC1C4B-E59E-A48A-C933-A38EFFCB5A82}"/>
            </a:ext>
          </a:extLst>
        </p:cNvPr>
        <p:cNvGrpSpPr/>
        <p:nvPr/>
      </p:nvGrpSpPr>
      <p:grpSpPr>
        <a:xfrm>
          <a:off x="0" y="0"/>
          <a:ext cx="0" cy="0"/>
          <a:chOff x="0" y="0"/>
          <a:chExt cx="0" cy="0"/>
        </a:xfrm>
      </p:grpSpPr>
      <p:sp>
        <p:nvSpPr>
          <p:cNvPr id="1477" name="Google Shape;1477;gd431007ba2_0_215:notes">
            <a:extLst>
              <a:ext uri="{FF2B5EF4-FFF2-40B4-BE49-F238E27FC236}">
                <a16:creationId xmlns:a16="http://schemas.microsoft.com/office/drawing/2014/main" id="{6A42FEB4-386D-CA29-9EBF-D0A47B9453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78" name="Google Shape;1478;gd431007ba2_0_215:notes">
            <a:extLst>
              <a:ext uri="{FF2B5EF4-FFF2-40B4-BE49-F238E27FC236}">
                <a16:creationId xmlns:a16="http://schemas.microsoft.com/office/drawing/2014/main" id="{691A4304-8D87-62F9-AE9F-8B46AED06E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Ma présentation se déroulera en huit points : l'introduction et le contexte, la problématique et les objectifs, l'état de l'art, la méthodologie, les résultats, l'intégration du système de recommandation, la démonstration de l'application web, et enfin la conclusion.</a:t>
            </a:r>
            <a:endParaRPr dirty="0"/>
          </a:p>
        </p:txBody>
      </p:sp>
    </p:spTree>
    <p:extLst>
      <p:ext uri="{BB962C8B-B14F-4D97-AF65-F5344CB8AC3E}">
        <p14:creationId xmlns:p14="http://schemas.microsoft.com/office/powerpoint/2010/main" val="2650363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a:extLst>
            <a:ext uri="{FF2B5EF4-FFF2-40B4-BE49-F238E27FC236}">
              <a16:creationId xmlns:a16="http://schemas.microsoft.com/office/drawing/2014/main" id="{4D7C3CF2-5EAD-1061-C4E3-3146F3AE618A}"/>
            </a:ext>
          </a:extLst>
        </p:cNvPr>
        <p:cNvGrpSpPr/>
        <p:nvPr/>
      </p:nvGrpSpPr>
      <p:grpSpPr>
        <a:xfrm>
          <a:off x="0" y="0"/>
          <a:ext cx="0" cy="0"/>
          <a:chOff x="0" y="0"/>
          <a:chExt cx="0" cy="0"/>
        </a:xfrm>
      </p:grpSpPr>
      <p:sp>
        <p:nvSpPr>
          <p:cNvPr id="1698" name="Google Shape;1698;g54dda1946d_4_2689:notes">
            <a:extLst>
              <a:ext uri="{FF2B5EF4-FFF2-40B4-BE49-F238E27FC236}">
                <a16:creationId xmlns:a16="http://schemas.microsoft.com/office/drawing/2014/main" id="{F85B0FA1-1C99-212E-2812-3FEE170C6D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699" name="Google Shape;1699;g54dda1946d_4_2689:notes">
            <a:extLst>
              <a:ext uri="{FF2B5EF4-FFF2-40B4-BE49-F238E27FC236}">
                <a16:creationId xmlns:a16="http://schemas.microsoft.com/office/drawing/2014/main" id="{4B996221-55AF-C4D0-1F29-D720A576F3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Nous </a:t>
            </a:r>
            <a:r>
              <a:rPr lang="en-GB" dirty="0" err="1"/>
              <a:t>vivons</a:t>
            </a:r>
            <a:r>
              <a:rPr lang="en-GB" dirty="0"/>
              <a:t> à </a:t>
            </a:r>
            <a:r>
              <a:rPr lang="en-GB" dirty="0" err="1"/>
              <a:t>une</a:t>
            </a:r>
            <a:r>
              <a:rPr lang="en-GB" dirty="0"/>
              <a:t> époque </a:t>
            </a:r>
            <a:r>
              <a:rPr lang="en-GB" dirty="0" err="1"/>
              <a:t>où</a:t>
            </a:r>
            <a:r>
              <a:rPr lang="en-GB" dirty="0"/>
              <a:t> les </a:t>
            </a:r>
            <a:r>
              <a:rPr lang="en-GB" dirty="0" err="1"/>
              <a:t>plateformes</a:t>
            </a:r>
            <a:r>
              <a:rPr lang="en-GB" dirty="0"/>
              <a:t> </a:t>
            </a:r>
            <a:r>
              <a:rPr lang="en-GB" dirty="0" err="1"/>
              <a:t>sociales</a:t>
            </a:r>
            <a:r>
              <a:rPr lang="en-GB" dirty="0"/>
              <a:t> </a:t>
            </a:r>
            <a:r>
              <a:rPr lang="en-GB" dirty="0" err="1"/>
              <a:t>comme</a:t>
            </a:r>
            <a:r>
              <a:rPr lang="en-GB" dirty="0"/>
              <a:t> Facebook — avec plus de 2 milliards </a:t>
            </a:r>
            <a:r>
              <a:rPr lang="en-GB" dirty="0" err="1"/>
              <a:t>d'utilisateurs</a:t>
            </a:r>
            <a:r>
              <a:rPr lang="en-GB" dirty="0"/>
              <a:t> </a:t>
            </a:r>
            <a:r>
              <a:rPr lang="en-GB" dirty="0" err="1"/>
              <a:t>actifs</a:t>
            </a:r>
            <a:r>
              <a:rPr lang="en-GB" dirty="0"/>
              <a:t> — </a:t>
            </a:r>
            <a:r>
              <a:rPr lang="en-GB" dirty="0" err="1"/>
              <a:t>génèrent</a:t>
            </a:r>
            <a:r>
              <a:rPr lang="en-GB" dirty="0"/>
              <a:t> </a:t>
            </a:r>
            <a:r>
              <a:rPr lang="en-GB" dirty="0" err="1"/>
              <a:t>chaque</a:t>
            </a:r>
            <a:r>
              <a:rPr lang="en-GB" dirty="0"/>
              <a:t> jour des milliards </a:t>
            </a:r>
            <a:r>
              <a:rPr lang="en-GB" dirty="0" err="1"/>
              <a:t>d'interactions</a:t>
            </a:r>
            <a:r>
              <a:rPr lang="en-GB" dirty="0"/>
              <a:t> : likes, partages, </a:t>
            </a:r>
            <a:r>
              <a:rPr lang="en-GB" dirty="0" err="1"/>
              <a:t>commentaires</a:t>
            </a:r>
            <a:r>
              <a:rPr lang="en-GB" dirty="0"/>
              <a:t>, abonnements. </a:t>
            </a:r>
            <a:r>
              <a:rPr lang="en-GB" dirty="0" err="1"/>
              <a:t>Ces</a:t>
            </a:r>
            <a:r>
              <a:rPr lang="en-GB" dirty="0"/>
              <a:t> interactions ne </a:t>
            </a:r>
            <a:r>
              <a:rPr lang="en-GB" dirty="0" err="1"/>
              <a:t>sont</a:t>
            </a:r>
            <a:r>
              <a:rPr lang="en-GB" dirty="0"/>
              <a:t> pas </a:t>
            </a:r>
            <a:r>
              <a:rPr lang="en-GB" dirty="0" err="1"/>
              <a:t>aléatoires</a:t>
            </a:r>
            <a:r>
              <a:rPr lang="en-GB" dirty="0"/>
              <a:t>. Elles </a:t>
            </a:r>
            <a:r>
              <a:rPr lang="en-GB" dirty="0" err="1"/>
              <a:t>forment</a:t>
            </a:r>
            <a:r>
              <a:rPr lang="en-GB" dirty="0"/>
              <a:t> des </a:t>
            </a:r>
            <a:r>
              <a:rPr lang="en-GB" b="1" dirty="0"/>
              <a:t>réseaux complexes</a:t>
            </a:r>
            <a:r>
              <a:rPr lang="en-GB" dirty="0"/>
              <a:t>, </a:t>
            </a:r>
            <a:r>
              <a:rPr lang="en-GB" dirty="0" err="1"/>
              <a:t>que</a:t>
            </a:r>
            <a:r>
              <a:rPr lang="en-GB" dirty="0"/>
              <a:t> </a:t>
            </a:r>
            <a:r>
              <a:rPr lang="en-GB" dirty="0" err="1"/>
              <a:t>l'on</a:t>
            </a:r>
            <a:r>
              <a:rPr lang="en-GB" dirty="0"/>
              <a:t> </a:t>
            </a:r>
            <a:r>
              <a:rPr lang="en-GB" dirty="0" err="1"/>
              <a:t>peut</a:t>
            </a:r>
            <a:r>
              <a:rPr lang="en-GB" dirty="0"/>
              <a:t> </a:t>
            </a:r>
            <a:r>
              <a:rPr lang="en-GB" dirty="0" err="1"/>
              <a:t>modéliser</a:t>
            </a:r>
            <a:r>
              <a:rPr lang="en-GB" dirty="0"/>
              <a:t> </a:t>
            </a:r>
            <a:r>
              <a:rPr lang="en-GB" dirty="0" err="1"/>
              <a:t>mathématiquement</a:t>
            </a:r>
            <a:r>
              <a:rPr lang="en-GB" dirty="0"/>
              <a:t> sous </a:t>
            </a:r>
            <a:r>
              <a:rPr lang="en-GB" dirty="0" err="1"/>
              <a:t>forme</a:t>
            </a:r>
            <a:r>
              <a:rPr lang="en-GB" dirty="0"/>
              <a:t> de </a:t>
            </a:r>
            <a:r>
              <a:rPr lang="en-GB" b="1" dirty="0" err="1"/>
              <a:t>graphes</a:t>
            </a:r>
            <a:r>
              <a:rPr lang="en-GB" b="1" dirty="0"/>
              <a:t>.</a:t>
            </a:r>
            <a:r>
              <a:rPr lang="en-GB" dirty="0"/>
              <a:t>	</a:t>
            </a:r>
            <a:endParaRPr dirty="0"/>
          </a:p>
        </p:txBody>
      </p:sp>
    </p:spTree>
    <p:extLst>
      <p:ext uri="{BB962C8B-B14F-4D97-AF65-F5344CB8AC3E}">
        <p14:creationId xmlns:p14="http://schemas.microsoft.com/office/powerpoint/2010/main" val="943907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a:extLst>
            <a:ext uri="{FF2B5EF4-FFF2-40B4-BE49-F238E27FC236}">
              <a16:creationId xmlns:a16="http://schemas.microsoft.com/office/drawing/2014/main" id="{53023842-FAEC-E484-B41D-B524C099446F}"/>
            </a:ext>
          </a:extLst>
        </p:cNvPr>
        <p:cNvGrpSpPr/>
        <p:nvPr/>
      </p:nvGrpSpPr>
      <p:grpSpPr>
        <a:xfrm>
          <a:off x="0" y="0"/>
          <a:ext cx="0" cy="0"/>
          <a:chOff x="0" y="0"/>
          <a:chExt cx="0" cy="0"/>
        </a:xfrm>
      </p:grpSpPr>
      <p:sp>
        <p:nvSpPr>
          <p:cNvPr id="1698" name="Google Shape;1698;g54dda1946d_4_2689:notes">
            <a:extLst>
              <a:ext uri="{FF2B5EF4-FFF2-40B4-BE49-F238E27FC236}">
                <a16:creationId xmlns:a16="http://schemas.microsoft.com/office/drawing/2014/main" id="{4635B186-3DCD-44E6-C7F8-1B3238E58F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699" name="Google Shape;1699;g54dda1946d_4_2689:notes">
            <a:extLst>
              <a:ext uri="{FF2B5EF4-FFF2-40B4-BE49-F238E27FC236}">
                <a16:creationId xmlns:a16="http://schemas.microsoft.com/office/drawing/2014/main" id="{9E7DDF8F-F5A4-2F4B-4287-3FBD71447D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err="1"/>
              <a:t>chaque</a:t>
            </a:r>
            <a:r>
              <a:rPr lang="en-GB" dirty="0"/>
              <a:t> </a:t>
            </a:r>
            <a:r>
              <a:rPr lang="en-GB" dirty="0" err="1"/>
              <a:t>utilisateur</a:t>
            </a:r>
            <a:r>
              <a:rPr lang="en-GB" dirty="0"/>
              <a:t> est un </a:t>
            </a:r>
            <a:r>
              <a:rPr lang="en-GB" dirty="0" err="1"/>
              <a:t>nœud</a:t>
            </a:r>
            <a:r>
              <a:rPr lang="en-GB" dirty="0"/>
              <a:t>, </a:t>
            </a:r>
            <a:r>
              <a:rPr lang="en-GB" dirty="0" err="1"/>
              <a:t>chaque</a:t>
            </a:r>
            <a:r>
              <a:rPr lang="en-GB" dirty="0"/>
              <a:t> interaction est un lien.</a:t>
            </a:r>
          </a:p>
          <a:p>
            <a:pPr marL="0" lvl="0" indent="0" algn="l" rtl="0">
              <a:spcBef>
                <a:spcPts val="0"/>
              </a:spcBef>
              <a:spcAft>
                <a:spcPts val="0"/>
              </a:spcAft>
              <a:buNone/>
            </a:pPr>
            <a:r>
              <a:rPr lang="en-GB" dirty="0"/>
              <a:t>Dans </a:t>
            </a:r>
            <a:r>
              <a:rPr lang="en-GB" dirty="0" err="1"/>
              <a:t>ces</a:t>
            </a:r>
            <a:r>
              <a:rPr lang="en-GB" dirty="0"/>
              <a:t> </a:t>
            </a:r>
            <a:r>
              <a:rPr lang="en-GB" dirty="0" err="1"/>
              <a:t>graphes</a:t>
            </a:r>
            <a:r>
              <a:rPr lang="en-GB" dirty="0"/>
              <a:t>, on observe </a:t>
            </a:r>
            <a:r>
              <a:rPr lang="en-GB" dirty="0" err="1"/>
              <a:t>naturellement</a:t>
            </a:r>
            <a:r>
              <a:rPr lang="en-GB" dirty="0"/>
              <a:t> des </a:t>
            </a:r>
            <a:r>
              <a:rPr lang="en-GB" b="1" dirty="0" err="1"/>
              <a:t>groupes</a:t>
            </a:r>
            <a:r>
              <a:rPr lang="en-GB" b="1" dirty="0"/>
              <a:t> </a:t>
            </a:r>
            <a:r>
              <a:rPr lang="en-GB" b="1" dirty="0" err="1"/>
              <a:t>d'utilisateurs</a:t>
            </a:r>
            <a:r>
              <a:rPr lang="en-GB" b="1" dirty="0"/>
              <a:t> très </a:t>
            </a:r>
            <a:r>
              <a:rPr lang="en-GB" b="1" dirty="0" err="1"/>
              <a:t>connectés</a:t>
            </a:r>
            <a:r>
              <a:rPr lang="en-GB" b="1" dirty="0"/>
              <a:t> entre </a:t>
            </a:r>
            <a:r>
              <a:rPr lang="en-GB" b="1" dirty="0" err="1"/>
              <a:t>eux</a:t>
            </a:r>
            <a:r>
              <a:rPr lang="en-GB" dirty="0"/>
              <a:t> </a:t>
            </a:r>
            <a:r>
              <a:rPr lang="en-GB" dirty="0" err="1"/>
              <a:t>ce</a:t>
            </a:r>
            <a:r>
              <a:rPr lang="en-GB" dirty="0"/>
              <a:t> </a:t>
            </a:r>
            <a:r>
              <a:rPr lang="en-GB" dirty="0" err="1"/>
              <a:t>qu'on</a:t>
            </a:r>
            <a:r>
              <a:rPr lang="en-GB" dirty="0"/>
              <a:t> </a:t>
            </a:r>
            <a:r>
              <a:rPr lang="en-GB" dirty="0" err="1"/>
              <a:t>appelle</a:t>
            </a:r>
            <a:r>
              <a:rPr lang="en-GB" dirty="0"/>
              <a:t> des </a:t>
            </a:r>
            <a:r>
              <a:rPr lang="en-GB" b="1" dirty="0" err="1"/>
              <a:t>communautés</a:t>
            </a:r>
            <a:r>
              <a:rPr lang="en-GB" dirty="0"/>
              <a:t>. La </a:t>
            </a:r>
            <a:r>
              <a:rPr lang="en-GB" dirty="0" err="1"/>
              <a:t>détection</a:t>
            </a:r>
            <a:r>
              <a:rPr lang="en-GB" dirty="0"/>
              <a:t> de </a:t>
            </a:r>
            <a:r>
              <a:rPr lang="en-GB" dirty="0" err="1"/>
              <a:t>communautés</a:t>
            </a:r>
            <a:r>
              <a:rPr lang="en-GB" dirty="0"/>
              <a:t>, </a:t>
            </a:r>
            <a:r>
              <a:rPr lang="en-GB" dirty="0" err="1"/>
              <a:t>c'est</a:t>
            </a:r>
            <a:r>
              <a:rPr lang="en-GB" dirty="0"/>
              <a:t> </a:t>
            </a:r>
            <a:r>
              <a:rPr lang="en-GB" dirty="0" err="1"/>
              <a:t>l'art</a:t>
            </a:r>
            <a:r>
              <a:rPr lang="en-GB" dirty="0"/>
              <a:t> de </a:t>
            </a:r>
            <a:r>
              <a:rPr lang="en-GB" dirty="0" err="1"/>
              <a:t>trouver</a:t>
            </a:r>
            <a:r>
              <a:rPr lang="en-GB" dirty="0"/>
              <a:t> </a:t>
            </a:r>
            <a:r>
              <a:rPr lang="en-GB" dirty="0" err="1"/>
              <a:t>ces</a:t>
            </a:r>
            <a:r>
              <a:rPr lang="en-GB" dirty="0"/>
              <a:t> </a:t>
            </a:r>
            <a:r>
              <a:rPr lang="en-GB" dirty="0" err="1"/>
              <a:t>groupes</a:t>
            </a:r>
            <a:r>
              <a:rPr lang="en-GB" dirty="0"/>
              <a:t> </a:t>
            </a:r>
            <a:r>
              <a:rPr lang="en-GB" dirty="0" err="1"/>
              <a:t>automatiquement</a:t>
            </a:r>
            <a:r>
              <a:rPr lang="en-GB" dirty="0"/>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66337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a:extLst>
            <a:ext uri="{FF2B5EF4-FFF2-40B4-BE49-F238E27FC236}">
              <a16:creationId xmlns:a16="http://schemas.microsoft.com/office/drawing/2014/main" id="{D6EAA29A-6713-E7BE-E21A-E5392D4ED3C8}"/>
            </a:ext>
          </a:extLst>
        </p:cNvPr>
        <p:cNvGrpSpPr/>
        <p:nvPr/>
      </p:nvGrpSpPr>
      <p:grpSpPr>
        <a:xfrm>
          <a:off x="0" y="0"/>
          <a:ext cx="0" cy="0"/>
          <a:chOff x="0" y="0"/>
          <a:chExt cx="0" cy="0"/>
        </a:xfrm>
      </p:grpSpPr>
      <p:sp>
        <p:nvSpPr>
          <p:cNvPr id="1698" name="Google Shape;1698;g54dda1946d_4_2689:notes">
            <a:extLst>
              <a:ext uri="{FF2B5EF4-FFF2-40B4-BE49-F238E27FC236}">
                <a16:creationId xmlns:a16="http://schemas.microsoft.com/office/drawing/2014/main" id="{629625E4-032E-CA3D-4319-18FBA20AC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699" name="Google Shape;1699;g54dda1946d_4_2689:notes">
            <a:extLst>
              <a:ext uri="{FF2B5EF4-FFF2-40B4-BE49-F238E27FC236}">
                <a16:creationId xmlns:a16="http://schemas.microsoft.com/office/drawing/2014/main" id="{0F61C2CD-6740-F3C8-D080-AC8CA3290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GB" sz="1100" b="0" i="1" u="none" strike="noStrike" cap="none" dirty="0">
                <a:solidFill>
                  <a:srgbClr val="000000"/>
                </a:solidFill>
                <a:effectLst/>
                <a:latin typeface="Arial"/>
                <a:ea typeface="Arial"/>
                <a:cs typeface="Arial"/>
                <a:sym typeface="Arial"/>
              </a:rPr>
              <a:t>On </a:t>
            </a:r>
            <a:r>
              <a:rPr lang="en-GB" sz="1100" b="0" i="1" u="none" strike="noStrike" cap="none" dirty="0" err="1">
                <a:solidFill>
                  <a:srgbClr val="000000"/>
                </a:solidFill>
                <a:effectLst/>
                <a:latin typeface="Arial"/>
                <a:ea typeface="Arial"/>
                <a:cs typeface="Arial"/>
                <a:sym typeface="Arial"/>
              </a:rPr>
              <a:t>peut</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alors</a:t>
            </a:r>
            <a:r>
              <a:rPr lang="en-GB" sz="1100" b="0" i="1" u="none" strike="noStrike" cap="none" dirty="0">
                <a:solidFill>
                  <a:srgbClr val="000000"/>
                </a:solidFill>
                <a:effectLst/>
                <a:latin typeface="Arial"/>
                <a:ea typeface="Arial"/>
                <a:cs typeface="Arial"/>
                <a:sym typeface="Arial"/>
              </a:rPr>
              <a:t> se poser </a:t>
            </a:r>
            <a:r>
              <a:rPr lang="en-GB" sz="1100" b="0" i="1" u="none" strike="noStrike" cap="none" dirty="0" err="1">
                <a:solidFill>
                  <a:srgbClr val="000000"/>
                </a:solidFill>
                <a:effectLst/>
                <a:latin typeface="Arial"/>
                <a:ea typeface="Arial"/>
                <a:cs typeface="Arial"/>
                <a:sym typeface="Arial"/>
              </a:rPr>
              <a:t>une</a:t>
            </a:r>
            <a:r>
              <a:rPr lang="en-GB" sz="1100" b="0" i="1" u="none" strike="noStrike" cap="none" dirty="0">
                <a:solidFill>
                  <a:srgbClr val="000000"/>
                </a:solidFill>
                <a:effectLst/>
                <a:latin typeface="Arial"/>
                <a:ea typeface="Arial"/>
                <a:cs typeface="Arial"/>
                <a:sym typeface="Arial"/>
              </a:rPr>
              <a:t> question </a:t>
            </a:r>
            <a:r>
              <a:rPr lang="en-GB" sz="1100" b="0" i="1" u="none" strike="noStrike" cap="none" dirty="0" err="1">
                <a:solidFill>
                  <a:srgbClr val="000000"/>
                </a:solidFill>
                <a:effectLst/>
                <a:latin typeface="Arial"/>
                <a:ea typeface="Arial"/>
                <a:cs typeface="Arial"/>
                <a:sym typeface="Arial"/>
              </a:rPr>
              <a:t>légitime</a:t>
            </a:r>
            <a:r>
              <a:rPr lang="en-GB" sz="1100" b="0" i="1" u="none" strike="noStrike" cap="none" dirty="0">
                <a:solidFill>
                  <a:srgbClr val="000000"/>
                </a:solidFill>
                <a:effectLst/>
                <a:latin typeface="Arial"/>
                <a:ea typeface="Arial"/>
                <a:cs typeface="Arial"/>
                <a:sym typeface="Arial"/>
              </a:rPr>
              <a:t> : les </a:t>
            </a:r>
            <a:r>
              <a:rPr lang="en-GB" sz="1100" b="0" i="1" u="none" strike="noStrike" cap="none" dirty="0" err="1">
                <a:solidFill>
                  <a:srgbClr val="000000"/>
                </a:solidFill>
                <a:effectLst/>
                <a:latin typeface="Arial"/>
                <a:ea typeface="Arial"/>
                <a:cs typeface="Arial"/>
                <a:sym typeface="Arial"/>
              </a:rPr>
              <a:t>membres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d'une</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même</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communauté</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partagent-ils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vraiment</a:t>
            </a:r>
            <a:r>
              <a:rPr lang="en-GB" sz="1100" b="0" i="1" u="none" strike="noStrike" cap="none" dirty="0">
                <a:solidFill>
                  <a:srgbClr val="000000"/>
                </a:solidFill>
                <a:effectLst/>
                <a:latin typeface="Arial"/>
                <a:ea typeface="Arial"/>
                <a:cs typeface="Arial"/>
                <a:sym typeface="Arial"/>
              </a:rPr>
              <a:t> les </a:t>
            </a:r>
            <a:r>
              <a:rPr lang="en-GB" sz="1100" b="0" i="1" u="none" strike="noStrike" cap="none" dirty="0" err="1">
                <a:solidFill>
                  <a:srgbClr val="000000"/>
                </a:solidFill>
                <a:effectLst/>
                <a:latin typeface="Arial"/>
                <a:ea typeface="Arial"/>
                <a:cs typeface="Arial"/>
                <a:sym typeface="Arial"/>
              </a:rPr>
              <a:t>mêmes</a:t>
            </a:r>
            <a:r>
              <a:rPr lang="en-GB" sz="1100" b="0" i="1" u="none" strike="noStrike" cap="none" dirty="0">
                <a:solidFill>
                  <a:srgbClr val="000000"/>
                </a:solidFill>
                <a:effectLst/>
                <a:latin typeface="Arial"/>
                <a:ea typeface="Arial"/>
                <a:cs typeface="Arial"/>
                <a:sym typeface="Arial"/>
              </a:rPr>
              <a:t> centres </a:t>
            </a:r>
            <a:r>
              <a:rPr lang="en-GB" sz="1100" b="0" i="1" u="none" strike="noStrike" cap="none" dirty="0" err="1">
                <a:solidFill>
                  <a:srgbClr val="000000"/>
                </a:solidFill>
                <a:effectLst/>
                <a:latin typeface="Arial"/>
                <a:ea typeface="Arial"/>
                <a:cs typeface="Arial"/>
                <a:sym typeface="Arial"/>
              </a:rPr>
              <a:t>d'intérêt</a:t>
            </a:r>
            <a:r>
              <a:rPr lang="en-GB" sz="1100" b="0" i="1" u="none" strike="noStrike" cap="none" dirty="0">
                <a:solidFill>
                  <a:srgbClr val="000000"/>
                </a:solidFill>
                <a:effectLst/>
                <a:latin typeface="Arial"/>
                <a:ea typeface="Arial"/>
                <a:cs typeface="Arial"/>
                <a:sym typeface="Arial"/>
              </a:rPr>
              <a:t> ?</a:t>
            </a: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0" i="1" u="none" strike="noStrike" cap="none" dirty="0">
                <a:solidFill>
                  <a:srgbClr val="000000"/>
                </a:solidFill>
                <a:effectLst/>
                <a:latin typeface="Arial"/>
                <a:ea typeface="Arial"/>
                <a:cs typeface="Arial"/>
                <a:sym typeface="Arial"/>
              </a:rPr>
              <a:t>La </a:t>
            </a:r>
            <a:r>
              <a:rPr lang="en-GB" sz="1100" b="0" i="1" u="none" strike="noStrike" cap="none" dirty="0" err="1">
                <a:solidFill>
                  <a:srgbClr val="000000"/>
                </a:solidFill>
                <a:effectLst/>
                <a:latin typeface="Arial"/>
                <a:ea typeface="Arial"/>
                <a:cs typeface="Arial"/>
                <a:sym typeface="Arial"/>
              </a:rPr>
              <a:t>réponse</a:t>
            </a:r>
            <a:r>
              <a:rPr lang="en-GB" sz="1100" b="0" i="1" u="none" strike="noStrike" cap="none" dirty="0">
                <a:solidFill>
                  <a:srgbClr val="000000"/>
                </a:solidFill>
                <a:effectLst/>
                <a:latin typeface="Arial"/>
                <a:ea typeface="Arial"/>
                <a:cs typeface="Arial"/>
                <a:sym typeface="Arial"/>
              </a:rPr>
              <a:t> est </a:t>
            </a:r>
            <a:r>
              <a:rPr lang="en-GB" sz="1100" b="0" i="1" u="none" strike="noStrike" cap="none" dirty="0" err="1">
                <a:solidFill>
                  <a:srgbClr val="000000"/>
                </a:solidFill>
                <a:effectLst/>
                <a:latin typeface="Arial"/>
                <a:ea typeface="Arial"/>
                <a:cs typeface="Arial"/>
                <a:sym typeface="Arial"/>
              </a:rPr>
              <a:t>oui</a:t>
            </a:r>
            <a:r>
              <a:rPr lang="en-GB" sz="1100" b="0" i="1" u="none" strike="noStrike" cap="none" dirty="0">
                <a:solidFill>
                  <a:srgbClr val="000000"/>
                </a:solidFill>
                <a:effectLst/>
                <a:latin typeface="Arial"/>
                <a:ea typeface="Arial"/>
                <a:cs typeface="Arial"/>
                <a:sym typeface="Arial"/>
              </a:rPr>
              <a:t>. Les </a:t>
            </a:r>
            <a:r>
              <a:rPr lang="en-GB" sz="1100" b="0" i="1" u="none" strike="noStrike" cap="none" dirty="0" err="1">
                <a:solidFill>
                  <a:srgbClr val="000000"/>
                </a:solidFill>
                <a:effectLst/>
                <a:latin typeface="Arial"/>
                <a:ea typeface="Arial"/>
                <a:cs typeface="Arial"/>
                <a:sym typeface="Arial"/>
              </a:rPr>
              <a:t>personnes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fortement</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connectées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socialement</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ont</a:t>
            </a:r>
            <a:r>
              <a:rPr lang="en-GB" sz="1100" b="0" i="1" u="none" strike="noStrike" cap="none" dirty="0">
                <a:solidFill>
                  <a:srgbClr val="000000"/>
                </a:solidFill>
                <a:effectLst/>
                <a:latin typeface="Arial"/>
                <a:ea typeface="Arial"/>
                <a:cs typeface="Arial"/>
                <a:sym typeface="Arial"/>
              </a:rPr>
              <a:t> tendance à </a:t>
            </a:r>
            <a:r>
              <a:rPr lang="en-GB" sz="1100" b="0" i="1" u="none" strike="noStrike" cap="none" dirty="0" err="1">
                <a:solidFill>
                  <a:srgbClr val="000000"/>
                </a:solidFill>
                <a:effectLst/>
                <a:latin typeface="Arial"/>
                <a:ea typeface="Arial"/>
                <a:cs typeface="Arial"/>
                <a:sym typeface="Arial"/>
              </a:rPr>
              <a:t>partager</a:t>
            </a:r>
            <a:r>
              <a:rPr lang="en-GB" sz="1100" b="0" i="1" u="none" strike="noStrike" cap="none" dirty="0">
                <a:solidFill>
                  <a:srgbClr val="000000"/>
                </a:solidFill>
                <a:effectLst/>
                <a:latin typeface="Arial"/>
                <a:ea typeface="Arial"/>
                <a:cs typeface="Arial"/>
                <a:sym typeface="Arial"/>
              </a:rPr>
              <a:t> des </a:t>
            </a:r>
            <a:r>
              <a:rPr lang="en-GB" sz="1100" b="0" i="1" u="none" strike="noStrike" cap="none" dirty="0" err="1">
                <a:solidFill>
                  <a:srgbClr val="000000"/>
                </a:solidFill>
                <a:effectLst/>
                <a:latin typeface="Arial"/>
                <a:ea typeface="Arial"/>
                <a:cs typeface="Arial"/>
                <a:sym typeface="Arial"/>
              </a:rPr>
              <a:t>goûts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similaires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que</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ce</a:t>
            </a:r>
            <a:r>
              <a:rPr lang="en-GB" sz="1100" b="0" i="1" u="none" strike="noStrike" cap="none" dirty="0">
                <a:solidFill>
                  <a:srgbClr val="000000"/>
                </a:solidFill>
                <a:effectLst/>
                <a:latin typeface="Arial"/>
                <a:ea typeface="Arial"/>
                <a:cs typeface="Arial"/>
                <a:sym typeface="Arial"/>
              </a:rPr>
              <a:t> soit pour le sport, la </a:t>
            </a:r>
            <a:r>
              <a:rPr lang="en-GB" sz="1100" b="0" i="1" u="none" strike="noStrike" cap="none" dirty="0" err="1">
                <a:solidFill>
                  <a:srgbClr val="000000"/>
                </a:solidFill>
                <a:effectLst/>
                <a:latin typeface="Arial"/>
                <a:ea typeface="Arial"/>
                <a:cs typeface="Arial"/>
                <a:sym typeface="Arial"/>
              </a:rPr>
              <a:t>technologie</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ou</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d'autres</a:t>
            </a:r>
            <a:r>
              <a:rPr lang="en-GB" sz="1100" b="0" i="1" u="none" strike="noStrike" cap="none" dirty="0">
                <a:solidFill>
                  <a:srgbClr val="000000"/>
                </a:solidFill>
                <a:effectLst/>
                <a:latin typeface="Arial"/>
                <a:ea typeface="Arial"/>
                <a:cs typeface="Arial"/>
                <a:sym typeface="Arial"/>
              </a:rPr>
              <a:t> centres </a:t>
            </a:r>
            <a:r>
              <a:rPr lang="en-GB" sz="1100" b="0" i="1" u="none" strike="noStrike" cap="none" dirty="0" err="1">
                <a:solidFill>
                  <a:srgbClr val="000000"/>
                </a:solidFill>
                <a:effectLst/>
                <a:latin typeface="Arial"/>
                <a:ea typeface="Arial"/>
                <a:cs typeface="Arial"/>
                <a:sym typeface="Arial"/>
              </a:rPr>
              <a:t>d'intérêt</a:t>
            </a:r>
            <a:r>
              <a:rPr lang="en-GB" sz="1100" b="0" i="1" u="none" strike="noStrike" cap="none" dirty="0">
                <a:solidFill>
                  <a:srgbClr val="000000"/>
                </a:solidFill>
                <a:effectLst/>
                <a:latin typeface="Arial"/>
                <a:ea typeface="Arial"/>
                <a:cs typeface="Arial"/>
                <a:sym typeface="Arial"/>
              </a:rPr>
              <a:t> et </a:t>
            </a:r>
            <a:r>
              <a:rPr lang="en-GB" sz="1100" b="0" i="1" u="none" strike="noStrike" cap="none" dirty="0" err="1">
                <a:solidFill>
                  <a:srgbClr val="000000"/>
                </a:solidFill>
                <a:effectLst/>
                <a:latin typeface="Arial"/>
                <a:ea typeface="Arial"/>
                <a:cs typeface="Arial"/>
                <a:sym typeface="Arial"/>
              </a:rPr>
              <a:t>également</a:t>
            </a:r>
            <a:r>
              <a:rPr lang="en-GB" sz="1100" b="0" i="1" u="none" strike="noStrike" cap="none" dirty="0">
                <a:solidFill>
                  <a:srgbClr val="000000"/>
                </a:solidFill>
                <a:effectLst/>
                <a:latin typeface="Arial"/>
                <a:ea typeface="Arial"/>
                <a:cs typeface="Arial"/>
                <a:sym typeface="Arial"/>
              </a:rPr>
              <a:t> des </a:t>
            </a:r>
            <a:r>
              <a:rPr lang="en-GB" sz="1100" b="0" i="1" u="none" strike="noStrike" cap="none" dirty="0" err="1">
                <a:solidFill>
                  <a:srgbClr val="000000"/>
                </a:solidFill>
                <a:effectLst/>
                <a:latin typeface="Arial"/>
                <a:ea typeface="Arial"/>
                <a:cs typeface="Arial"/>
                <a:sym typeface="Arial"/>
              </a:rPr>
              <a:t>comportements</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d'achat</a:t>
            </a:r>
            <a:r>
              <a:rPr lang="en-GB" sz="1100" b="0" i="1" u="none" strike="noStrike" cap="none" dirty="0">
                <a:solidFill>
                  <a:srgbClr val="000000"/>
                </a:solidFill>
                <a:effectLst/>
                <a:latin typeface="Arial"/>
                <a:ea typeface="Arial"/>
                <a:cs typeface="Arial"/>
                <a:sym typeface="Arial"/>
              </a:rPr>
              <a:t> comparables.</a:t>
            </a: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0" i="1" u="none" strike="noStrike" cap="none" dirty="0" err="1">
                <a:solidFill>
                  <a:srgbClr val="000000"/>
                </a:solidFill>
                <a:effectLst/>
                <a:latin typeface="Arial"/>
                <a:ea typeface="Arial"/>
                <a:cs typeface="Arial"/>
                <a:sym typeface="Arial"/>
              </a:rPr>
              <a:t>C'est</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cette</a:t>
            </a:r>
            <a:r>
              <a:rPr lang="en-GB" sz="1100" b="0" i="1" u="none" strike="noStrike" cap="none" dirty="0">
                <a:solidFill>
                  <a:srgbClr val="000000"/>
                </a:solidFill>
                <a:effectLst/>
                <a:latin typeface="Arial"/>
                <a:ea typeface="Arial"/>
                <a:cs typeface="Arial"/>
                <a:sym typeface="Arial"/>
              </a:rPr>
              <a:t> observation qui est au </a:t>
            </a:r>
            <a:r>
              <a:rPr lang="en-GB" sz="1100" b="0" i="1" u="none" strike="noStrike" cap="none" dirty="0" err="1">
                <a:solidFill>
                  <a:srgbClr val="000000"/>
                </a:solidFill>
                <a:effectLst/>
                <a:latin typeface="Arial"/>
                <a:ea typeface="Arial"/>
                <a:cs typeface="Arial"/>
                <a:sym typeface="Arial"/>
              </a:rPr>
              <a:t>cœur</a:t>
            </a:r>
            <a:r>
              <a:rPr lang="en-GB" sz="1100" b="0" i="1" u="none" strike="noStrike" cap="none" dirty="0">
                <a:solidFill>
                  <a:srgbClr val="000000"/>
                </a:solidFill>
                <a:effectLst/>
                <a:latin typeface="Arial"/>
                <a:ea typeface="Arial"/>
                <a:cs typeface="Arial"/>
                <a:sym typeface="Arial"/>
              </a:rPr>
              <a:t> de </a:t>
            </a:r>
            <a:r>
              <a:rPr lang="en-GB" sz="1100" b="0" i="1" u="none" strike="noStrike" cap="none" dirty="0" err="1">
                <a:solidFill>
                  <a:srgbClr val="000000"/>
                </a:solidFill>
                <a:effectLst/>
                <a:latin typeface="Arial"/>
                <a:ea typeface="Arial"/>
                <a:cs typeface="Arial"/>
                <a:sym typeface="Arial"/>
              </a:rPr>
              <a:t>notre</a:t>
            </a:r>
            <a:r>
              <a:rPr lang="en-GB" sz="1100" b="0" i="1" u="none" strike="noStrike" cap="none" dirty="0">
                <a:solidFill>
                  <a:srgbClr val="000000"/>
                </a:solidFill>
                <a:effectLst/>
                <a:latin typeface="Arial"/>
                <a:ea typeface="Arial"/>
                <a:cs typeface="Arial"/>
                <a:sym typeface="Arial"/>
              </a:rPr>
              <a:t> </a:t>
            </a:r>
            <a:r>
              <a:rPr lang="en-GB" sz="1100" b="0" i="1" u="none" strike="noStrike" cap="none" dirty="0" err="1">
                <a:solidFill>
                  <a:srgbClr val="000000"/>
                </a:solidFill>
                <a:effectLst/>
                <a:latin typeface="Arial"/>
                <a:ea typeface="Arial"/>
                <a:cs typeface="Arial"/>
                <a:sym typeface="Arial"/>
              </a:rPr>
              <a:t>projet</a:t>
            </a:r>
            <a:r>
              <a:rPr lang="en-GB" sz="1100" b="0" i="1" u="none" strike="noStrike" cap="none" dirty="0">
                <a:solidFill>
                  <a:srgbClr val="000000"/>
                </a:solidFill>
                <a:effectLst/>
                <a:latin typeface="Arial"/>
                <a:ea typeface="Arial"/>
                <a:cs typeface="Arial"/>
                <a:sym typeface="Arial"/>
              </a:rPr>
              <a:t>.</a:t>
            </a:r>
            <a:endParaRPr lang="en-GB"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43909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a:extLst>
            <a:ext uri="{FF2B5EF4-FFF2-40B4-BE49-F238E27FC236}">
              <a16:creationId xmlns:a16="http://schemas.microsoft.com/office/drawing/2014/main" id="{D1470CA9-A804-2F10-7340-25FA2ECE7857}"/>
            </a:ext>
          </a:extLst>
        </p:cNvPr>
        <p:cNvGrpSpPr/>
        <p:nvPr/>
      </p:nvGrpSpPr>
      <p:grpSpPr>
        <a:xfrm>
          <a:off x="0" y="0"/>
          <a:ext cx="0" cy="0"/>
          <a:chOff x="0" y="0"/>
          <a:chExt cx="0" cy="0"/>
        </a:xfrm>
      </p:grpSpPr>
      <p:sp>
        <p:nvSpPr>
          <p:cNvPr id="1698" name="Google Shape;1698;g54dda1946d_4_2689:notes">
            <a:extLst>
              <a:ext uri="{FF2B5EF4-FFF2-40B4-BE49-F238E27FC236}">
                <a16:creationId xmlns:a16="http://schemas.microsoft.com/office/drawing/2014/main" id="{38C26BEB-B9AB-62C5-0B09-8853A653AE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699" name="Google Shape;1699;g54dda1946d_4_2689:notes">
            <a:extLst>
              <a:ext uri="{FF2B5EF4-FFF2-40B4-BE49-F238E27FC236}">
                <a16:creationId xmlns:a16="http://schemas.microsoft.com/office/drawing/2014/main" id="{D30F083C-1A56-A634-38AF-5FE623C371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Permettez-moi de vous expliquer la motivation concrète de ce travail. Imaginez un nouvel utilisateur qui arrive sur une plateforme. Il n'a aucun historique d'achat, aucune notation. Les systèmes de recommandation classiques sont incapables de lui recommander quoi que ce soit : ils ont besoin de données passées. C'est ce qu'on appelle le problème du démarrage à froid. Notre solution consiste à identifier à quelle communauté cet utilisateur appartient, puis à lui recommander ce que sa communauté a apprécié. </a:t>
            </a:r>
            <a:endParaRPr dirty="0"/>
          </a:p>
        </p:txBody>
      </p:sp>
    </p:spTree>
    <p:extLst>
      <p:ext uri="{BB962C8B-B14F-4D97-AF65-F5344CB8AC3E}">
        <p14:creationId xmlns:p14="http://schemas.microsoft.com/office/powerpoint/2010/main" val="801246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a:extLst>
            <a:ext uri="{FF2B5EF4-FFF2-40B4-BE49-F238E27FC236}">
              <a16:creationId xmlns:a16="http://schemas.microsoft.com/office/drawing/2014/main" id="{90B5F510-6561-CA8D-CFCD-539C7B2EA420}"/>
            </a:ext>
          </a:extLst>
        </p:cNvPr>
        <p:cNvGrpSpPr/>
        <p:nvPr/>
      </p:nvGrpSpPr>
      <p:grpSpPr>
        <a:xfrm>
          <a:off x="0" y="0"/>
          <a:ext cx="0" cy="0"/>
          <a:chOff x="0" y="0"/>
          <a:chExt cx="0" cy="0"/>
        </a:xfrm>
      </p:grpSpPr>
      <p:sp>
        <p:nvSpPr>
          <p:cNvPr id="1698" name="Google Shape;1698;g54dda1946d_4_2689:notes">
            <a:extLst>
              <a:ext uri="{FF2B5EF4-FFF2-40B4-BE49-F238E27FC236}">
                <a16:creationId xmlns:a16="http://schemas.microsoft.com/office/drawing/2014/main" id="{4B12656E-E2D1-58A7-467B-610FDBB83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699" name="Google Shape;1699;g54dda1946d_4_2689:notes">
            <a:extLst>
              <a:ext uri="{FF2B5EF4-FFF2-40B4-BE49-F238E27FC236}">
                <a16:creationId xmlns:a16="http://schemas.microsoft.com/office/drawing/2014/main" id="{1CC45689-1CCD-69C3-DBB9-DA4E0470DC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728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0352F52E-EC91-96D1-5A23-98AA57F21F8E}"/>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68ACDD40-A875-D0DB-3A46-67F8AD895C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535FBD3F-6480-E399-020C-092D0A7C9E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04626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22D5DDE8-46A0-F41A-2E2A-17DD12ED8DC0}"/>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53CE2D27-B0AF-9C4F-223A-6D983271DB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A11C19B9-9F80-315F-D2C7-F1F05F7B79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272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15EB777B-020B-30A1-8B86-06A2570BC2EC}"/>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A67A30DF-E9FD-A0B9-753A-F2CBD03DF3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1A10037D-7EB4-29E4-4907-1DD6E86062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0429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584567BC-281E-084A-EE01-67CED498D1A1}"/>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B657BA4A-514E-C1CB-9E85-C62CFB3D8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5A4A1550-4EB8-6BC6-C3E8-9349389980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6526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6B7503C7-3186-F207-9B65-9569C5568CD5}"/>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78432F40-4912-0A87-4566-2C77ECF815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98F19A89-3C92-1A2E-F7D7-EF311851DF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193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0D6C2766-E02C-1695-732A-B7025E0507A3}"/>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31DE47D1-6633-645E-F936-0FB5B988B5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75F5CBA8-5CB1-2D70-2A85-D9020C0E2C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439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1F4A6230-6AF9-0E8D-A4ED-D0B9F4B5451F}"/>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893D469C-1E93-9B5F-3AFE-20610D2554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586E8AE4-BFA7-CEDC-A4AE-5C1FB729F9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4582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839C09F6-0205-8C1D-16B8-C59D9C09404B}"/>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74FBB44E-4939-D3FA-445D-2E2D4B2563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E5F5EB4B-AFD4-2257-C6D0-B7CB4F44A4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23067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637D0A42-34CA-1CCE-1D72-D57C73DEF1A8}"/>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EA87B306-2E74-8F3C-0AB9-DF4E4703E8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996D9F47-32D1-06E3-4D2C-D68DE52EFB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4538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D0AD48DC-B3F7-4A72-D09A-3E8F1EFB50E7}"/>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F41B0AF2-69D2-3374-F76D-9E5E2F6D67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7CD46180-35D1-7527-8394-CB9D710731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6714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A05ABE65-2A79-0987-C443-A0E6E678F145}"/>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FEBA67A7-2889-242E-7558-BDC9CF21BB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E11C04D2-BA20-211D-ACE2-356CE13153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9944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E1E04D67-71AE-D1E3-6315-64ED3600F371}"/>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A2E89A44-D693-8001-6C09-8FCD429AE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60741902-1203-7889-62F8-3937F4110B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3991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6DB5B7D1-4B86-5BF7-C04C-62A3E771EF8D}"/>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A67E0920-02E3-28E0-AF5F-B04F7990CA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5FDC1A06-E431-7496-4C6D-7FB65014BC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983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7AA4D23F-EF66-0823-168E-0C1E09896196}"/>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272DDC15-0A7C-94D5-473B-5DB571D23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7C81F72E-950A-A536-D351-32D1B527B7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dirty="0"/>
          </a:p>
        </p:txBody>
      </p:sp>
    </p:spTree>
    <p:extLst>
      <p:ext uri="{BB962C8B-B14F-4D97-AF65-F5344CB8AC3E}">
        <p14:creationId xmlns:p14="http://schemas.microsoft.com/office/powerpoint/2010/main" val="487089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424754DB-2432-CF24-6064-17285EE2809E}"/>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A466B3B7-C8F8-D900-DAA8-C237FA3E83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07FC917F-54D3-C8AF-633A-AF30FD9437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4586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020B11AC-E9F6-6D9A-2AD3-052EB78B7395}"/>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5B37AFF2-EE67-B839-8B49-411FB0AD36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732CCA73-8E0F-5FE7-72B7-C8FB30A276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5866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225FE6A0-F71D-2A35-1B3F-0F68700A3B76}"/>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7EA0E642-4375-8C6D-265F-FD3028B00C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A4D27BB1-40DA-8135-C6BB-B6B704F438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7538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08984B35-E1CC-34C6-896D-1441236D35BC}"/>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BD67B7B6-A23B-D9CC-E421-D3FB76E365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3DE13C0B-380F-9454-ED05-03295DA515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3905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20E8FD6F-8521-D1D8-29BB-1EFD815BC0DB}"/>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022C031E-AE89-8020-8C1B-5CDD057309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5BB7FDB2-BEE1-80AF-AEE8-BE2CDD105B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9130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a:extLst>
            <a:ext uri="{FF2B5EF4-FFF2-40B4-BE49-F238E27FC236}">
              <a16:creationId xmlns:a16="http://schemas.microsoft.com/office/drawing/2014/main" id="{AC4C05D1-103D-2F53-843B-48DE4A1257C2}"/>
            </a:ext>
          </a:extLst>
        </p:cNvPr>
        <p:cNvGrpSpPr/>
        <p:nvPr/>
      </p:nvGrpSpPr>
      <p:grpSpPr>
        <a:xfrm>
          <a:off x="0" y="0"/>
          <a:ext cx="0" cy="0"/>
          <a:chOff x="0" y="0"/>
          <a:chExt cx="0" cy="0"/>
        </a:xfrm>
      </p:grpSpPr>
      <p:sp>
        <p:nvSpPr>
          <p:cNvPr id="1468" name="Google Shape;1468;gd431007ba2_0_208:notes">
            <a:extLst>
              <a:ext uri="{FF2B5EF4-FFF2-40B4-BE49-F238E27FC236}">
                <a16:creationId xmlns:a16="http://schemas.microsoft.com/office/drawing/2014/main" id="{152A83E6-6B6C-559E-AD87-06543E8075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469" name="Google Shape;1469;gd431007ba2_0_208:notes">
            <a:extLst>
              <a:ext uri="{FF2B5EF4-FFF2-40B4-BE49-F238E27FC236}">
                <a16:creationId xmlns:a16="http://schemas.microsoft.com/office/drawing/2014/main" id="{7C11040C-5D80-C349-1E54-799BBAC9E7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4207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a:stCxn id="86" idx="6"/>
                <a:endCxn id="90" idx="3"/>
              </p:cNvCxnSpPr>
              <p:nvPr/>
            </p:nvCxnSpPr>
            <p:spPr>
              <a:xfrm flipH="1">
                <a:off x="1311044" y="255870"/>
                <a:ext cx="945000" cy="6441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a:stCxn id="90" idx="7"/>
                <a:endCxn id="91" idx="2"/>
              </p:cNvCxnSpPr>
              <p:nvPr/>
            </p:nvCxnSpPr>
            <p:spPr>
              <a:xfrm flipH="1">
                <a:off x="553867" y="1101167"/>
                <a:ext cx="601800" cy="13560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a:stCxn id="89" idx="7"/>
                <a:endCxn id="87" idx="3"/>
              </p:cNvCxnSpPr>
              <p:nvPr/>
            </p:nvCxnSpPr>
            <p:spPr>
              <a:xfrm flipH="1">
                <a:off x="-684462" y="677363"/>
                <a:ext cx="984000" cy="15435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a:stCxn id="92" idx="6"/>
                <a:endCxn id="89" idx="2"/>
              </p:cNvCxnSpPr>
              <p:nvPr/>
            </p:nvCxnSpPr>
            <p:spPr>
              <a:xfrm flipH="1">
                <a:off x="403921" y="90634"/>
                <a:ext cx="1344900" cy="5268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a:stCxn id="92" idx="6"/>
                <a:endCxn id="88" idx="1"/>
              </p:cNvCxnSpPr>
              <p:nvPr/>
            </p:nvCxnSpPr>
            <p:spPr>
              <a:xfrm flipH="1">
                <a:off x="712321" y="90634"/>
                <a:ext cx="1036500" cy="180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a:stCxn id="88" idx="7"/>
                <a:endCxn id="93" idx="3"/>
              </p:cNvCxnSpPr>
              <p:nvPr/>
            </p:nvCxnSpPr>
            <p:spPr>
              <a:xfrm flipH="1">
                <a:off x="-659248" y="144801"/>
                <a:ext cx="1090200" cy="7713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a:stCxn id="89" idx="6"/>
                <a:endCxn id="93" idx="2"/>
              </p:cNvCxnSpPr>
              <p:nvPr/>
            </p:nvCxnSpPr>
            <p:spPr>
              <a:xfrm flipH="1">
                <a:off x="-640937" y="634109"/>
                <a:ext cx="915600" cy="31410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w="9525" cap="flat" cmpd="sng">
                <a:solidFill>
                  <a:schemeClr val="dk2"/>
                </a:solidFill>
                <a:prstDash val="solid"/>
                <a:round/>
                <a:headEnd type="none" w="med" len="med"/>
                <a:tailEnd type="none" w="med" len="med"/>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111;p3"/>
              <p:cNvCxnSpPr>
                <a:stCxn id="109" idx="1"/>
                <a:endCxn id="88" idx="5"/>
              </p:cNvCxnSpPr>
              <p:nvPr/>
            </p:nvCxnSpPr>
            <p:spPr>
              <a:xfrm>
                <a:off x="-1071443" y="-436018"/>
                <a:ext cx="1466400" cy="29940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3"/>
              <p:cNvCxnSpPr>
                <a:stCxn id="109" idx="1"/>
                <a:endCxn id="89" idx="5"/>
              </p:cNvCxnSpPr>
              <p:nvPr/>
            </p:nvCxnSpPr>
            <p:spPr>
              <a:xfrm>
                <a:off x="-1071443" y="-436018"/>
                <a:ext cx="1359000" cy="1022100"/>
              </a:xfrm>
              <a:prstGeom prst="straightConnector1">
                <a:avLst/>
              </a:prstGeom>
              <a:noFill/>
              <a:ln w="9525" cap="flat" cmpd="sng">
                <a:solidFill>
                  <a:schemeClr val="dk2"/>
                </a:solidFill>
                <a:prstDash val="solid"/>
                <a:round/>
                <a:headEnd type="none" w="med" len="med"/>
                <a:tailEnd type="none" w="med" len="med"/>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3"/>
              <p:cNvCxnSpPr>
                <a:stCxn id="87" idx="0"/>
                <a:endCxn id="113" idx="5"/>
              </p:cNvCxnSpPr>
              <p:nvPr/>
            </p:nvCxnSpPr>
            <p:spPr>
              <a:xfrm>
                <a:off x="-731455" y="2394604"/>
                <a:ext cx="542400" cy="1103100"/>
              </a:xfrm>
              <a:prstGeom prst="straightConnector1">
                <a:avLst/>
              </a:prstGeom>
              <a:noFill/>
              <a:ln w="9525" cap="flat" cmpd="sng">
                <a:solidFill>
                  <a:schemeClr val="dk2"/>
                </a:solidFill>
                <a:prstDash val="solid"/>
                <a:round/>
                <a:headEnd type="none" w="med" len="med"/>
                <a:tailEnd type="none" w="med" len="med"/>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rot="10800000" flipH="1">
                <a:off x="6988759" y="481140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 name="Google Shape;118;p3"/>
              <p:cNvSpPr/>
              <p:nvPr/>
            </p:nvSpPr>
            <p:spPr>
              <a:xfrm rot="10800000" flipH="1">
                <a:off x="9708881" y="5924735"/>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 name="Google Shape;119;p3"/>
              <p:cNvSpPr/>
              <p:nvPr/>
            </p:nvSpPr>
            <p:spPr>
              <a:xfrm rot="10800000" flipH="1">
                <a:off x="9274463" y="3379603"/>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 name="Google Shape;120;p3"/>
              <p:cNvSpPr/>
              <p:nvPr/>
            </p:nvSpPr>
            <p:spPr>
              <a:xfrm rot="10800000" flipH="1">
                <a:off x="8847429" y="5037312"/>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 name="Google Shape;121;p3"/>
              <p:cNvSpPr/>
              <p:nvPr/>
            </p:nvSpPr>
            <p:spPr>
              <a:xfrm rot="10800000" flipH="1">
                <a:off x="7696942" y="5973758"/>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 name="Google Shape;122;p3"/>
              <p:cNvSpPr/>
              <p:nvPr/>
            </p:nvSpPr>
            <p:spPr>
              <a:xfrm rot="10800000" flipH="1">
                <a:off x="8847429" y="6195358"/>
                <a:ext cx="130500" cy="130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 name="Google Shape;123;p3"/>
              <p:cNvSpPr/>
              <p:nvPr/>
            </p:nvSpPr>
            <p:spPr>
              <a:xfrm rot="10800000" flipH="1">
                <a:off x="7958998" y="409569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 name="Google Shape;124;p3"/>
              <p:cNvSpPr/>
              <p:nvPr/>
            </p:nvSpPr>
            <p:spPr>
              <a:xfrm rot="10800000" flipH="1">
                <a:off x="12588473" y="4375765"/>
                <a:ext cx="96300" cy="96300"/>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25" name="Google Shape;125;p3"/>
              <p:cNvCxnSpPr>
                <a:stCxn id="121" idx="5"/>
                <a:endCxn id="120" idx="1"/>
              </p:cNvCxnSpPr>
              <p:nvPr/>
            </p:nvCxnSpPr>
            <p:spPr>
              <a:xfrm rot="10800000" flipH="1">
                <a:off x="7779139" y="5148761"/>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3"/>
              <p:cNvCxnSpPr>
                <a:stCxn id="117" idx="6"/>
                <a:endCxn id="120" idx="2"/>
              </p:cNvCxnSpPr>
              <p:nvPr/>
            </p:nvCxnSpPr>
            <p:spPr>
              <a:xfrm>
                <a:off x="7183159" y="4908608"/>
                <a:ext cx="1664400" cy="19410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3"/>
              <p:cNvCxnSpPr>
                <a:stCxn id="117" idx="0"/>
                <a:endCxn id="121" idx="3"/>
              </p:cNvCxnSpPr>
              <p:nvPr/>
            </p:nvCxnSpPr>
            <p:spPr>
              <a:xfrm>
                <a:off x="7085959" y="5005808"/>
                <a:ext cx="625200" cy="982200"/>
              </a:xfrm>
              <a:prstGeom prst="straightConnector1">
                <a:avLst/>
              </a:prstGeom>
              <a:noFill/>
              <a:ln w="9525" cap="flat" cmpd="sng">
                <a:solidFill>
                  <a:schemeClr val="dk2"/>
                </a:solidFill>
                <a:prstDash val="solid"/>
                <a:round/>
                <a:headEnd type="none" w="med" len="med"/>
                <a:tailEnd type="none" w="med" len="med"/>
              </a:ln>
            </p:spPr>
          </p:cxnSp>
          <p:cxnSp>
            <p:nvCxnSpPr>
              <p:cNvPr id="129" name="Google Shape;129;p3"/>
              <p:cNvCxnSpPr>
                <a:stCxn id="121" idx="7"/>
                <a:endCxn id="122" idx="2"/>
              </p:cNvCxnSpPr>
              <p:nvPr/>
            </p:nvCxnSpPr>
            <p:spPr>
              <a:xfrm>
                <a:off x="7779139" y="6055955"/>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130" name="Google Shape;130;p3"/>
              <p:cNvCxnSpPr>
                <a:stCxn id="122" idx="6"/>
                <a:endCxn id="118" idx="2"/>
              </p:cNvCxnSpPr>
              <p:nvPr/>
            </p:nvCxnSpPr>
            <p:spPr>
              <a:xfrm rot="10800000" flipH="1">
                <a:off x="8977929" y="6021808"/>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3"/>
              <p:cNvCxnSpPr>
                <a:stCxn id="120" idx="7"/>
                <a:endCxn id="118" idx="3"/>
              </p:cNvCxnSpPr>
              <p:nvPr/>
            </p:nvCxnSpPr>
            <p:spPr>
              <a:xfrm>
                <a:off x="8958818" y="5148700"/>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132" name="Google Shape;132;p3"/>
              <p:cNvCxnSpPr>
                <a:stCxn id="117" idx="5"/>
                <a:endCxn id="123" idx="1"/>
              </p:cNvCxnSpPr>
              <p:nvPr/>
            </p:nvCxnSpPr>
            <p:spPr>
              <a:xfrm rot="10800000" flipH="1">
                <a:off x="7154690" y="4207177"/>
                <a:ext cx="823500" cy="632700"/>
              </a:xfrm>
              <a:prstGeom prst="straightConnector1">
                <a:avLst/>
              </a:prstGeom>
              <a:noFill/>
              <a:ln w="9525" cap="flat" cmpd="sng">
                <a:solidFill>
                  <a:schemeClr val="dk2"/>
                </a:solidFill>
                <a:prstDash val="solid"/>
                <a:round/>
                <a:headEnd type="none" w="med" len="med"/>
                <a:tailEnd type="none" w="med" len="med"/>
              </a:ln>
            </p:spPr>
          </p:cxnSp>
          <p:cxnSp>
            <p:nvCxnSpPr>
              <p:cNvPr id="133" name="Google Shape;133;p3"/>
              <p:cNvCxnSpPr>
                <a:stCxn id="123" idx="7"/>
                <a:endCxn id="120" idx="3"/>
              </p:cNvCxnSpPr>
              <p:nvPr/>
            </p:nvCxnSpPr>
            <p:spPr>
              <a:xfrm>
                <a:off x="8070387" y="4207078"/>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134" name="Google Shape;134;p3"/>
              <p:cNvCxnSpPr>
                <a:stCxn id="123" idx="7"/>
                <a:endCxn id="119" idx="1"/>
              </p:cNvCxnSpPr>
              <p:nvPr/>
            </p:nvCxnSpPr>
            <p:spPr>
              <a:xfrm rot="10800000" flipH="1">
                <a:off x="8070387" y="3722278"/>
                <a:ext cx="1263000" cy="484800"/>
              </a:xfrm>
              <a:prstGeom prst="straightConnector1">
                <a:avLst/>
              </a:prstGeom>
              <a:noFill/>
              <a:ln w="9525" cap="flat" cmpd="sng">
                <a:solidFill>
                  <a:schemeClr val="dk2"/>
                </a:solidFill>
                <a:prstDash val="solid"/>
                <a:round/>
                <a:headEnd type="none" w="med" len="med"/>
                <a:tailEnd type="none" w="med" len="med"/>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w="9525" cap="flat" cmpd="sng">
                <a:solidFill>
                  <a:schemeClr val="dk2"/>
                </a:solidFill>
                <a:prstDash val="solid"/>
                <a:round/>
                <a:headEnd type="none" w="med" len="med"/>
                <a:tailEnd type="none" w="med" len="med"/>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137" name="Google Shape;137;p3"/>
              <p:cNvCxnSpPr>
                <a:stCxn id="121" idx="6"/>
                <a:endCxn id="124" idx="1"/>
              </p:cNvCxnSpPr>
              <p:nvPr/>
            </p:nvCxnSpPr>
            <p:spPr>
              <a:xfrm rot="10800000" flipH="1">
                <a:off x="7793242" y="4458008"/>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w="9525" cap="flat" cmpd="sng">
                <a:solidFill>
                  <a:schemeClr val="dk2"/>
                </a:solidFill>
                <a:prstDash val="solid"/>
                <a:round/>
                <a:headEnd type="none" w="med" len="med"/>
                <a:tailEnd type="none" w="med" len="med"/>
              </a:ln>
            </p:spPr>
          </p:cxnSp>
          <p:sp>
            <p:nvSpPr>
              <p:cNvPr id="139" name="Google Shape;139;p3"/>
              <p:cNvSpPr/>
              <p:nvPr/>
            </p:nvSpPr>
            <p:spPr>
              <a:xfrm rot="10800000" flipH="1">
                <a:off x="11005448" y="376185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w="9525" cap="flat" cmpd="sng">
                <a:solidFill>
                  <a:srgbClr val="434343"/>
                </a:solidFill>
                <a:prstDash val="solid"/>
                <a:round/>
                <a:headEnd type="none" w="med" len="med"/>
                <a:tailEnd type="none" w="med" len="med"/>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144" name="Google Shape;144;p3"/>
              <p:cNvSpPr/>
              <p:nvPr/>
            </p:nvSpPr>
            <p:spPr>
              <a:xfrm rot="10800000" flipH="1">
                <a:off x="8260191" y="2787257"/>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w="9525" cap="flat" cmpd="sng">
                <a:solidFill>
                  <a:schemeClr val="dk2"/>
                </a:solidFill>
                <a:prstDash val="solid"/>
                <a:round/>
                <a:headEnd type="none" w="med" len="med"/>
                <a:tailEnd type="none" w="med" len="med"/>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w="9525" cap="flat" cmpd="sng">
                <a:solidFill>
                  <a:schemeClr val="dk2"/>
                </a:solidFill>
                <a:prstDash val="solid"/>
                <a:round/>
                <a:headEnd type="none" w="med" len="med"/>
                <a:tailEnd type="none" w="med" len="med"/>
              </a:ln>
            </p:spPr>
          </p:cxnSp>
          <p:sp>
            <p:nvSpPr>
              <p:cNvPr id="147" name="Google Shape;147;p3"/>
              <p:cNvSpPr/>
              <p:nvPr/>
            </p:nvSpPr>
            <p:spPr>
              <a:xfrm rot="10800000" flipH="1">
                <a:off x="7973826" y="4652423"/>
                <a:ext cx="249300" cy="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 name="Google Shape;148;p3"/>
              <p:cNvCxnSpPr>
                <a:stCxn id="117" idx="6"/>
                <a:endCxn id="147" idx="2"/>
              </p:cNvCxnSpPr>
              <p:nvPr/>
            </p:nvCxnSpPr>
            <p:spPr>
              <a:xfrm rot="10800000" flipH="1">
                <a:off x="7183159" y="4777208"/>
                <a:ext cx="790800" cy="131400"/>
              </a:xfrm>
              <a:prstGeom prst="straightConnector1">
                <a:avLst/>
              </a:prstGeom>
              <a:noFill/>
              <a:ln w="9525" cap="flat" cmpd="sng">
                <a:solidFill>
                  <a:schemeClr val="dk2"/>
                </a:solidFill>
                <a:prstDash val="solid"/>
                <a:round/>
                <a:headEnd type="none" w="med" len="med"/>
                <a:tailEnd type="none" w="med" len="med"/>
              </a:ln>
            </p:spPr>
          </p:cxnSp>
          <p:cxnSp>
            <p:nvCxnSpPr>
              <p:cNvPr id="149" name="Google Shape;149;p3"/>
              <p:cNvCxnSpPr>
                <a:stCxn id="123" idx="0"/>
                <a:endCxn id="147" idx="4"/>
              </p:cNvCxnSpPr>
              <p:nvPr/>
            </p:nvCxnSpPr>
            <p:spPr>
              <a:xfrm>
                <a:off x="8024248" y="4226190"/>
                <a:ext cx="74100" cy="426300"/>
              </a:xfrm>
              <a:prstGeom prst="straightConnector1">
                <a:avLst/>
              </a:prstGeom>
              <a:noFill/>
              <a:ln w="9525" cap="flat" cmpd="sng">
                <a:solidFill>
                  <a:schemeClr val="dk2"/>
                </a:solidFill>
                <a:prstDash val="solid"/>
                <a:round/>
                <a:headEnd type="none" w="med" len="med"/>
                <a:tailEnd type="none" w="med" len="med"/>
              </a:ln>
            </p:spPr>
          </p:cxnSp>
          <p:cxnSp>
            <p:nvCxnSpPr>
              <p:cNvPr id="150" name="Google Shape;150;p3"/>
              <p:cNvCxnSpPr>
                <a:stCxn id="147" idx="6"/>
                <a:endCxn id="120" idx="3"/>
              </p:cNvCxnSpPr>
              <p:nvPr/>
            </p:nvCxnSpPr>
            <p:spPr>
              <a:xfrm>
                <a:off x="8223126" y="4777073"/>
                <a:ext cx="643500" cy="279300"/>
              </a:xfrm>
              <a:prstGeom prst="straightConnector1">
                <a:avLst/>
              </a:prstGeom>
              <a:noFill/>
              <a:ln w="9525" cap="flat" cmpd="sng">
                <a:solidFill>
                  <a:schemeClr val="dk2"/>
                </a:solidFill>
                <a:prstDash val="solid"/>
                <a:round/>
                <a:headEnd type="none" w="med" len="med"/>
                <a:tailEnd type="none" w="med" len="med"/>
              </a:ln>
            </p:spPr>
          </p:cxnSp>
          <p:sp>
            <p:nvSpPr>
              <p:cNvPr id="151" name="Google Shape;151;p3"/>
              <p:cNvSpPr/>
              <p:nvPr/>
            </p:nvSpPr>
            <p:spPr>
              <a:xfrm rot="10800000" flipH="1">
                <a:off x="8782441" y="2308882"/>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2" name="Google Shape;152;p3"/>
              <p:cNvCxnSpPr>
                <a:stCxn id="144" idx="5"/>
                <a:endCxn id="151" idx="1"/>
              </p:cNvCxnSpPr>
              <p:nvPr/>
            </p:nvCxnSpPr>
            <p:spPr>
              <a:xfrm rot="10800000" flipH="1">
                <a:off x="8426122" y="2474926"/>
                <a:ext cx="384900" cy="340800"/>
              </a:xfrm>
              <a:prstGeom prst="straightConnector1">
                <a:avLst/>
              </a:prstGeom>
              <a:noFill/>
              <a:ln w="9525" cap="flat" cmpd="sng">
                <a:solidFill>
                  <a:schemeClr val="dk2"/>
                </a:solidFill>
                <a:prstDash val="solid"/>
                <a:round/>
                <a:headEnd type="none" w="med" len="med"/>
                <a:tailEnd type="none" w="med" len="med"/>
              </a:ln>
            </p:spPr>
          </p:cxnSp>
          <p:cxnSp>
            <p:nvCxnSpPr>
              <p:cNvPr id="153" name="Google Shape;153;p3"/>
              <p:cNvCxnSpPr>
                <a:stCxn id="151" idx="7"/>
                <a:endCxn id="119" idx="3"/>
              </p:cNvCxnSpPr>
              <p:nvPr/>
            </p:nvCxnSpPr>
            <p:spPr>
              <a:xfrm>
                <a:off x="8948372" y="2474812"/>
                <a:ext cx="384900" cy="963600"/>
              </a:xfrm>
              <a:prstGeom prst="straightConnector1">
                <a:avLst/>
              </a:prstGeom>
              <a:noFill/>
              <a:ln w="9525" cap="flat" cmpd="sng">
                <a:solidFill>
                  <a:schemeClr val="dk2"/>
                </a:solidFill>
                <a:prstDash val="solid"/>
                <a:round/>
                <a:headEnd type="none" w="med" len="med"/>
                <a:tailEnd type="none" w="med" len="med"/>
              </a:ln>
            </p:spPr>
          </p:cxnSp>
          <p:sp>
            <p:nvSpPr>
              <p:cNvPr id="154" name="Google Shape;154;p3"/>
              <p:cNvSpPr/>
              <p:nvPr/>
            </p:nvSpPr>
            <p:spPr>
              <a:xfrm rot="10800000" flipH="1">
                <a:off x="8521366" y="3414207"/>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
              <p:cNvCxnSpPr>
                <a:stCxn id="154" idx="6"/>
                <a:endCxn id="119" idx="2"/>
              </p:cNvCxnSpPr>
              <p:nvPr/>
            </p:nvCxnSpPr>
            <p:spPr>
              <a:xfrm>
                <a:off x="8715766" y="3511407"/>
                <a:ext cx="558600" cy="690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0"/>
        <p:cNvGrpSpPr/>
        <p:nvPr/>
      </p:nvGrpSpPr>
      <p:grpSpPr>
        <a:xfrm>
          <a:off x="0" y="0"/>
          <a:ext cx="0" cy="0"/>
          <a:chOff x="0" y="0"/>
          <a:chExt cx="0" cy="0"/>
        </a:xfrm>
      </p:grpSpPr>
      <p:sp>
        <p:nvSpPr>
          <p:cNvPr id="311" name="Google Shape;31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12" name="Google Shape;312;p6"/>
          <p:cNvCxnSpPr>
            <a:stCxn id="313" idx="6"/>
            <a:endCxn id="314" idx="2"/>
          </p:cNvCxnSpPr>
          <p:nvPr/>
        </p:nvCxnSpPr>
        <p:spPr>
          <a:xfrm rot="10800000" flipH="1">
            <a:off x="193201" y="280868"/>
            <a:ext cx="388800" cy="117000"/>
          </a:xfrm>
          <a:prstGeom prst="straightConnector1">
            <a:avLst/>
          </a:prstGeom>
          <a:noFill/>
          <a:ln w="9525" cap="flat" cmpd="sng">
            <a:solidFill>
              <a:schemeClr val="dk2"/>
            </a:solidFill>
            <a:prstDash val="solid"/>
            <a:round/>
            <a:headEnd type="none" w="med" len="med"/>
            <a:tailEnd type="none" w="med" len="med"/>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rot="10800000" flipH="1">
                <a:off x="936740" y="3228"/>
                <a:ext cx="518100" cy="240600"/>
              </a:xfrm>
              <a:prstGeom prst="straightConnector1">
                <a:avLst/>
              </a:prstGeom>
              <a:noFill/>
              <a:ln w="9525" cap="flat" cmpd="sng">
                <a:solidFill>
                  <a:schemeClr val="dk2"/>
                </a:solidFill>
                <a:prstDash val="solid"/>
                <a:round/>
                <a:headEnd type="none" w="med" len="med"/>
                <a:tailEnd type="none" w="med" len="med"/>
              </a:ln>
            </p:spPr>
          </p:cxnSp>
          <p:sp>
            <p:nvSpPr>
              <p:cNvPr id="318" name="Google Shape;318;p6"/>
              <p:cNvSpPr/>
              <p:nvPr/>
            </p:nvSpPr>
            <p:spPr>
              <a:xfrm>
                <a:off x="1454950" y="-75631"/>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w="9525" cap="flat" cmpd="sng">
                <a:solidFill>
                  <a:schemeClr val="dk2"/>
                </a:solidFill>
                <a:prstDash val="solid"/>
                <a:round/>
                <a:headEnd type="none" w="med" len="med"/>
                <a:tailEnd type="none" w="med" len="med"/>
              </a:ln>
            </p:spPr>
          </p:cxnSp>
          <p:cxnSp>
            <p:nvCxnSpPr>
              <p:cNvPr id="324" name="Google Shape;324;p6"/>
              <p:cNvCxnSpPr>
                <a:stCxn id="321" idx="4"/>
                <a:endCxn id="320" idx="0"/>
              </p:cNvCxnSpPr>
              <p:nvPr/>
            </p:nvCxnSpPr>
            <p:spPr>
              <a:xfrm>
                <a:off x="138575" y="1034626"/>
                <a:ext cx="194100" cy="1257300"/>
              </a:xfrm>
              <a:prstGeom prst="straightConnector1">
                <a:avLst/>
              </a:prstGeom>
              <a:noFill/>
              <a:ln w="9525" cap="flat" cmpd="sng">
                <a:solidFill>
                  <a:schemeClr val="dk2"/>
                </a:solidFill>
                <a:prstDash val="solid"/>
                <a:round/>
                <a:headEnd type="none" w="med" len="med"/>
                <a:tailEnd type="none" w="med" len="med"/>
              </a:ln>
            </p:spPr>
          </p:cxnSp>
          <p:cxnSp>
            <p:nvCxnSpPr>
              <p:cNvPr id="325" name="Google Shape;325;p6"/>
              <p:cNvCxnSpPr>
                <a:stCxn id="321" idx="5"/>
                <a:endCxn id="322" idx="1"/>
              </p:cNvCxnSpPr>
              <p:nvPr/>
            </p:nvCxnSpPr>
            <p:spPr>
              <a:xfrm>
                <a:off x="190866" y="1012967"/>
                <a:ext cx="190200" cy="57900"/>
              </a:xfrm>
              <a:prstGeom prst="straightConnector1">
                <a:avLst/>
              </a:prstGeom>
              <a:noFill/>
              <a:ln w="9525" cap="flat" cmpd="sng">
                <a:solidFill>
                  <a:schemeClr val="dk2"/>
                </a:solidFill>
                <a:prstDash val="solid"/>
                <a:round/>
                <a:headEnd type="none" w="med" len="med"/>
                <a:tailEnd type="none" w="med" len="med"/>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w="9525" cap="flat" cmpd="sng">
                <a:solidFill>
                  <a:schemeClr val="dk2"/>
                </a:solidFill>
                <a:prstDash val="solid"/>
                <a:round/>
                <a:headEnd type="none" w="med" len="med"/>
                <a:tailEnd type="none" w="med" len="med"/>
              </a:ln>
            </p:spPr>
          </p:cxnSp>
          <p:cxnSp>
            <p:nvCxnSpPr>
              <p:cNvPr id="327" name="Google Shape;327;p6"/>
              <p:cNvCxnSpPr>
                <a:stCxn id="321" idx="0"/>
                <a:endCxn id="313" idx="3"/>
              </p:cNvCxnSpPr>
              <p:nvPr/>
            </p:nvCxnSpPr>
            <p:spPr>
              <a:xfrm rot="10800000" flipH="1">
                <a:off x="138575" y="443626"/>
                <a:ext cx="209100" cy="443100"/>
              </a:xfrm>
              <a:prstGeom prst="straightConnector1">
                <a:avLst/>
              </a:prstGeom>
              <a:noFill/>
              <a:ln w="9525" cap="flat" cmpd="sng">
                <a:solidFill>
                  <a:schemeClr val="dk2"/>
                </a:solidFill>
                <a:prstDash val="solid"/>
                <a:round/>
                <a:headEnd type="none" w="med" len="med"/>
                <a:tailEnd type="none" w="med" len="med"/>
              </a:ln>
            </p:spPr>
          </p:cxnSp>
          <p:cxnSp>
            <p:nvCxnSpPr>
              <p:cNvPr id="328" name="Google Shape;328;p6"/>
              <p:cNvCxnSpPr>
                <a:stCxn id="319" idx="5"/>
                <a:endCxn id="313" idx="1"/>
              </p:cNvCxnSpPr>
              <p:nvPr/>
            </p:nvCxnSpPr>
            <p:spPr>
              <a:xfrm>
                <a:off x="-644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329" name="Google Shape;329;p6"/>
              <p:cNvCxnSpPr>
                <a:stCxn id="319" idx="6"/>
                <a:endCxn id="318" idx="2"/>
              </p:cNvCxnSpPr>
              <p:nvPr/>
            </p:nvCxnSpPr>
            <p:spPr>
              <a:xfrm>
                <a:off x="-49824" y="-142087"/>
                <a:ext cx="1504800" cy="145200"/>
              </a:xfrm>
              <a:prstGeom prst="straightConnector1">
                <a:avLst/>
              </a:prstGeom>
              <a:noFill/>
              <a:ln w="9525" cap="flat" cmpd="sng">
                <a:solidFill>
                  <a:schemeClr val="dk2"/>
                </a:solidFill>
                <a:prstDash val="solid"/>
                <a:round/>
                <a:headEnd type="none" w="med" len="med"/>
                <a:tailEnd type="none" w="med" len="med"/>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w="9525" cap="flat" cmpd="sng">
                <a:solidFill>
                  <a:schemeClr val="dk2"/>
                </a:solidFill>
                <a:prstDash val="solid"/>
                <a:round/>
                <a:headEnd type="none" w="med" len="med"/>
                <a:tailEnd type="none" w="med" len="med"/>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w="9525" cap="flat" cmpd="sng">
                <a:solidFill>
                  <a:schemeClr val="dk2"/>
                </a:solidFill>
                <a:prstDash val="solid"/>
                <a:round/>
                <a:headEnd type="none" w="med" len="med"/>
                <a:tailEnd type="none" w="med" len="med"/>
              </a:ln>
            </p:spPr>
          </p:cxnSp>
          <p:cxnSp>
            <p:nvCxnSpPr>
              <p:cNvPr id="332" name="Google Shape;332;p6"/>
              <p:cNvCxnSpPr>
                <a:stCxn id="322" idx="0"/>
                <a:endCxn id="314" idx="3"/>
              </p:cNvCxnSpPr>
              <p:nvPr/>
            </p:nvCxnSpPr>
            <p:spPr>
              <a:xfrm rot="10800000" flipH="1">
                <a:off x="411626" y="348287"/>
                <a:ext cx="420600" cy="709800"/>
              </a:xfrm>
              <a:prstGeom prst="straightConnector1">
                <a:avLst/>
              </a:prstGeom>
              <a:noFill/>
              <a:ln w="9525" cap="flat" cmpd="sng">
                <a:solidFill>
                  <a:schemeClr val="dk2"/>
                </a:solidFill>
                <a:prstDash val="solid"/>
                <a:round/>
                <a:headEnd type="none" w="med" len="med"/>
                <a:tailEnd type="none" w="med" len="med"/>
              </a:ln>
            </p:spPr>
          </p:cxnSp>
          <p:sp>
            <p:nvSpPr>
              <p:cNvPr id="313" name="Google Shape;313;p6"/>
              <p:cNvSpPr/>
              <p:nvPr/>
            </p:nvSpPr>
            <p:spPr>
              <a:xfrm>
                <a:off x="335101" y="369758"/>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w="9525" cap="flat" cmpd="sng">
                <a:solidFill>
                  <a:schemeClr val="dk2"/>
                </a:solidFill>
                <a:prstDash val="solid"/>
                <a:round/>
                <a:headEnd type="none" w="med" len="med"/>
                <a:tailEnd type="none" w="med" len="med"/>
              </a:ln>
            </p:spPr>
          </p:cxnSp>
          <p:cxnSp>
            <p:nvCxnSpPr>
              <p:cNvPr id="342" name="Google Shape;342;p6"/>
              <p:cNvCxnSpPr>
                <a:stCxn id="335" idx="0"/>
                <a:endCxn id="339" idx="5"/>
              </p:cNvCxnSpPr>
              <p:nvPr/>
            </p:nvCxnSpPr>
            <p:spPr>
              <a:xfrm>
                <a:off x="8730125" y="3677875"/>
                <a:ext cx="103500" cy="562800"/>
              </a:xfrm>
              <a:prstGeom prst="straightConnector1">
                <a:avLst/>
              </a:prstGeom>
              <a:noFill/>
              <a:ln w="9525" cap="flat" cmpd="sng">
                <a:solidFill>
                  <a:schemeClr val="dk2"/>
                </a:solidFill>
                <a:prstDash val="solid"/>
                <a:round/>
                <a:headEnd type="none" w="med" len="med"/>
                <a:tailEnd type="none" w="med" len="med"/>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w="9525" cap="flat" cmpd="sng">
                <a:solidFill>
                  <a:schemeClr val="dk2"/>
                </a:solidFill>
                <a:prstDash val="solid"/>
                <a:round/>
                <a:headEnd type="none" w="med" len="med"/>
                <a:tailEnd type="none" w="med" len="med"/>
              </a:ln>
            </p:spPr>
          </p:cxnSp>
          <p:cxnSp>
            <p:nvCxnSpPr>
              <p:cNvPr id="344" name="Google Shape;344;p6"/>
              <p:cNvCxnSpPr>
                <a:stCxn id="336" idx="4"/>
                <a:endCxn id="339" idx="0"/>
              </p:cNvCxnSpPr>
              <p:nvPr/>
            </p:nvCxnSpPr>
            <p:spPr>
              <a:xfrm rot="10800000" flipH="1">
                <a:off x="8830026" y="4351769"/>
                <a:ext cx="49500" cy="499200"/>
              </a:xfrm>
              <a:prstGeom prst="straightConnector1">
                <a:avLst/>
              </a:prstGeom>
              <a:noFill/>
              <a:ln w="9525" cap="flat" cmpd="sng">
                <a:solidFill>
                  <a:schemeClr val="dk2"/>
                </a:solidFill>
                <a:prstDash val="solid"/>
                <a:round/>
                <a:headEnd type="none" w="med" len="med"/>
                <a:tailEnd type="none" w="med" len="med"/>
              </a:ln>
            </p:spPr>
          </p:cxnSp>
          <p:cxnSp>
            <p:nvCxnSpPr>
              <p:cNvPr id="345" name="Google Shape;345;p6"/>
              <p:cNvCxnSpPr>
                <a:stCxn id="338" idx="2"/>
                <a:endCxn id="336" idx="6"/>
              </p:cNvCxnSpPr>
              <p:nvPr/>
            </p:nvCxnSpPr>
            <p:spPr>
              <a:xfrm>
                <a:off x="8373800" y="4722375"/>
                <a:ext cx="377400" cy="207300"/>
              </a:xfrm>
              <a:prstGeom prst="straightConnector1">
                <a:avLst/>
              </a:prstGeom>
              <a:noFill/>
              <a:ln w="9525" cap="flat" cmpd="sng">
                <a:solidFill>
                  <a:schemeClr val="dk2"/>
                </a:solidFill>
                <a:prstDash val="solid"/>
                <a:round/>
                <a:headEnd type="none" w="med" len="med"/>
                <a:tailEnd type="none" w="med" len="med"/>
              </a:ln>
            </p:spPr>
          </p:cxnSp>
          <p:cxnSp>
            <p:nvCxnSpPr>
              <p:cNvPr id="346" name="Google Shape;346;p6"/>
              <p:cNvCxnSpPr>
                <a:stCxn id="337" idx="2"/>
                <a:endCxn id="336" idx="6"/>
              </p:cNvCxnSpPr>
              <p:nvPr/>
            </p:nvCxnSpPr>
            <p:spPr>
              <a:xfrm rot="10800000" flipH="1">
                <a:off x="7833175" y="4929600"/>
                <a:ext cx="918000" cy="338700"/>
              </a:xfrm>
              <a:prstGeom prst="straightConnector1">
                <a:avLst/>
              </a:prstGeom>
              <a:noFill/>
              <a:ln w="9525" cap="flat" cmpd="sng">
                <a:solidFill>
                  <a:schemeClr val="dk2"/>
                </a:solidFill>
                <a:prstDash val="solid"/>
                <a:round/>
                <a:headEnd type="none" w="med" len="med"/>
                <a:tailEnd type="none" w="med" len="med"/>
              </a:ln>
            </p:spPr>
          </p:cxnSp>
          <p:cxnSp>
            <p:nvCxnSpPr>
              <p:cNvPr id="347" name="Google Shape;347;p6"/>
              <p:cNvCxnSpPr>
                <a:stCxn id="334" idx="1"/>
                <a:endCxn id="337" idx="5"/>
              </p:cNvCxnSpPr>
              <p:nvPr/>
            </p:nvCxnSpPr>
            <p:spPr>
              <a:xfrm>
                <a:off x="7395861" y="4916854"/>
                <a:ext cx="363300" cy="3207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6"/>
              <p:cNvCxnSpPr>
                <a:stCxn id="334" idx="2"/>
                <a:endCxn id="338" idx="6"/>
              </p:cNvCxnSpPr>
              <p:nvPr/>
            </p:nvCxnSpPr>
            <p:spPr>
              <a:xfrm rot="10800000" flipH="1">
                <a:off x="7418926" y="4722269"/>
                <a:ext cx="817500" cy="1389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6"/>
              <p:cNvCxnSpPr>
                <a:stCxn id="337" idx="3"/>
                <a:endCxn id="338" idx="7"/>
              </p:cNvCxnSpPr>
              <p:nvPr/>
            </p:nvCxnSpPr>
            <p:spPr>
              <a:xfrm rot="10800000" flipH="1">
                <a:off x="7820478" y="4770847"/>
                <a:ext cx="435900" cy="466800"/>
              </a:xfrm>
              <a:prstGeom prst="straightConnector1">
                <a:avLst/>
              </a:prstGeom>
              <a:noFill/>
              <a:ln w="9525" cap="flat" cmpd="sng">
                <a:solidFill>
                  <a:schemeClr val="dk2"/>
                </a:solidFill>
                <a:prstDash val="solid"/>
                <a:round/>
                <a:headEnd type="none" w="med" len="med"/>
                <a:tailEnd type="none" w="med" len="med"/>
              </a:ln>
            </p:spPr>
          </p:cxnSp>
          <p:cxnSp>
            <p:nvCxnSpPr>
              <p:cNvPr id="350" name="Google Shape;350;p6"/>
              <p:cNvCxnSpPr>
                <a:stCxn id="338" idx="3"/>
                <a:endCxn id="335" idx="7"/>
              </p:cNvCxnSpPr>
              <p:nvPr/>
            </p:nvCxnSpPr>
            <p:spPr>
              <a:xfrm rot="10800000" flipH="1">
                <a:off x="8353678" y="3663097"/>
                <a:ext cx="341100" cy="1010700"/>
              </a:xfrm>
              <a:prstGeom prst="straightConnector1">
                <a:avLst/>
              </a:prstGeom>
              <a:noFill/>
              <a:ln w="9525" cap="flat" cmpd="sng">
                <a:solidFill>
                  <a:schemeClr val="dk2"/>
                </a:solidFill>
                <a:prstDash val="solid"/>
                <a:round/>
                <a:headEnd type="none" w="med" len="med"/>
                <a:tailEnd type="none" w="med" len="med"/>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w="9525" cap="flat" cmpd="sng">
                <a:solidFill>
                  <a:schemeClr val="dk2"/>
                </a:solidFill>
                <a:prstDash val="solid"/>
                <a:round/>
                <a:headEnd type="none" w="med" len="med"/>
                <a:tailEnd type="none" w="med" len="med"/>
              </a:ln>
            </p:spPr>
          </p:cxnSp>
          <p:cxnSp>
            <p:nvCxnSpPr>
              <p:cNvPr id="353" name="Google Shape;353;p6"/>
              <p:cNvCxnSpPr>
                <a:stCxn id="339" idx="3"/>
                <a:endCxn id="351" idx="7"/>
              </p:cNvCxnSpPr>
              <p:nvPr/>
            </p:nvCxnSpPr>
            <p:spPr>
              <a:xfrm rot="10800000" flipH="1">
                <a:off x="8925402" y="3603217"/>
                <a:ext cx="309300" cy="637500"/>
              </a:xfrm>
              <a:prstGeom prst="straightConnector1">
                <a:avLst/>
              </a:prstGeom>
              <a:noFill/>
              <a:ln w="9525" cap="flat" cmpd="sng">
                <a:solidFill>
                  <a:schemeClr val="dk2"/>
                </a:solidFill>
                <a:prstDash val="solid"/>
                <a:round/>
                <a:headEnd type="none" w="med" len="med"/>
                <a:tailEnd type="none" w="med" len="med"/>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w="9525" cap="flat" cmpd="sng">
                <a:solidFill>
                  <a:schemeClr val="dk2"/>
                </a:solidFill>
                <a:prstDash val="solid"/>
                <a:round/>
                <a:headEnd type="none" w="med" len="med"/>
                <a:tailEnd type="none" w="med" len="med"/>
              </a:ln>
            </p:spPr>
          </p:cxnSp>
          <p:cxnSp>
            <p:nvCxnSpPr>
              <p:cNvPr id="356" name="Google Shape;356;p6"/>
              <p:cNvCxnSpPr>
                <a:stCxn id="351" idx="0"/>
                <a:endCxn id="354" idx="4"/>
              </p:cNvCxnSpPr>
              <p:nvPr/>
            </p:nvCxnSpPr>
            <p:spPr>
              <a:xfrm>
                <a:off x="9270150" y="3617775"/>
                <a:ext cx="155100" cy="1600500"/>
              </a:xfrm>
              <a:prstGeom prst="straightConnector1">
                <a:avLst/>
              </a:prstGeom>
              <a:noFill/>
              <a:ln w="9525" cap="flat" cmpd="sng">
                <a:solidFill>
                  <a:schemeClr val="dk2"/>
                </a:solidFill>
                <a:prstDash val="solid"/>
                <a:round/>
                <a:headEnd type="none" w="med" len="med"/>
                <a:tailEnd type="none" w="med" len="med"/>
              </a:ln>
            </p:spPr>
          </p:cxnSp>
          <p:cxnSp>
            <p:nvCxnSpPr>
              <p:cNvPr id="357" name="Google Shape;357;p6"/>
              <p:cNvCxnSpPr>
                <a:stCxn id="336" idx="2"/>
                <a:endCxn id="354" idx="6"/>
              </p:cNvCxnSpPr>
              <p:nvPr/>
            </p:nvCxnSpPr>
            <p:spPr>
              <a:xfrm>
                <a:off x="8908776" y="4929719"/>
                <a:ext cx="426000" cy="394200"/>
              </a:xfrm>
              <a:prstGeom prst="straightConnector1">
                <a:avLst/>
              </a:prstGeom>
              <a:noFill/>
              <a:ln w="9525" cap="flat" cmpd="sng">
                <a:solidFill>
                  <a:schemeClr val="dk2"/>
                </a:solidFill>
                <a:prstDash val="solid"/>
                <a:round/>
                <a:headEnd type="none" w="med" len="med"/>
                <a:tailEnd type="none" w="med" len="med"/>
              </a:ln>
            </p:spPr>
          </p:cxnSp>
          <p:cxnSp>
            <p:nvCxnSpPr>
              <p:cNvPr id="358" name="Google Shape;358;p6"/>
              <p:cNvCxnSpPr>
                <a:stCxn id="337" idx="2"/>
                <a:endCxn id="354" idx="6"/>
              </p:cNvCxnSpPr>
              <p:nvPr/>
            </p:nvCxnSpPr>
            <p:spPr>
              <a:xfrm>
                <a:off x="7833175" y="5268300"/>
                <a:ext cx="1501800" cy="55500"/>
              </a:xfrm>
              <a:prstGeom prst="straightConnector1">
                <a:avLst/>
              </a:prstGeom>
              <a:noFill/>
              <a:ln w="9525" cap="flat" cmpd="sng">
                <a:solidFill>
                  <a:schemeClr val="dk2"/>
                </a:solidFill>
                <a:prstDash val="solid"/>
                <a:round/>
                <a:headEnd type="none" w="med" len="med"/>
                <a:tailEnd type="none" w="med" len="med"/>
              </a:ln>
            </p:spPr>
          </p:cxnSp>
          <p:cxnSp>
            <p:nvCxnSpPr>
              <p:cNvPr id="359" name="Google Shape;359;p6"/>
              <p:cNvCxnSpPr>
                <a:stCxn id="334" idx="2"/>
                <a:endCxn id="336" idx="6"/>
              </p:cNvCxnSpPr>
              <p:nvPr/>
            </p:nvCxnSpPr>
            <p:spPr>
              <a:xfrm>
                <a:off x="7418926" y="4861169"/>
                <a:ext cx="1332300" cy="68700"/>
              </a:xfrm>
              <a:prstGeom prst="straightConnector1">
                <a:avLst/>
              </a:prstGeom>
              <a:noFill/>
              <a:ln w="9525" cap="flat" cmpd="sng">
                <a:solidFill>
                  <a:schemeClr val="dk2"/>
                </a:solidFill>
                <a:prstDash val="solid"/>
                <a:round/>
                <a:headEnd type="none" w="med" len="med"/>
                <a:tailEnd type="none" w="med" len="med"/>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2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3">
  <p:cSld name="CUSTOM_11_1">
    <p:spTree>
      <p:nvGrpSpPr>
        <p:cNvPr id="1" name="Shape 778"/>
        <p:cNvGrpSpPr/>
        <p:nvPr/>
      </p:nvGrpSpPr>
      <p:grpSpPr>
        <a:xfrm>
          <a:off x="0" y="0"/>
          <a:ext cx="0" cy="0"/>
          <a:chOff x="0" y="0"/>
          <a:chExt cx="0" cy="0"/>
        </a:xfrm>
      </p:grpSpPr>
      <p:sp>
        <p:nvSpPr>
          <p:cNvPr id="779" name="Google Shape;779;p1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794" name="Google Shape;794;p15"/>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801" name="Google Shape;801;p15"/>
              <p:cNvCxnSpPr>
                <a:stCxn id="798" idx="4"/>
                <a:endCxn id="796"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802" name="Google Shape;802;p15"/>
              <p:cNvCxnSpPr>
                <a:stCxn id="798" idx="5"/>
                <a:endCxn id="799"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804" name="Google Shape;804;p15"/>
              <p:cNvCxnSpPr>
                <a:stCxn id="798" idx="7"/>
                <a:endCxn id="793"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805" name="Google Shape;805;p15"/>
              <p:cNvCxnSpPr>
                <a:stCxn id="795" idx="5"/>
                <a:endCxn id="793"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806" name="Google Shape;806;p15"/>
              <p:cNvCxnSpPr>
                <a:stCxn id="795" idx="6"/>
                <a:endCxn id="794"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809" name="Google Shape;809;p15"/>
              <p:cNvCxnSpPr>
                <a:stCxn id="799" idx="0"/>
                <a:endCxn id="797"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793" name="Google Shape;793;p15"/>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w="9525" cap="flat" cmpd="sng">
                <a:solidFill>
                  <a:schemeClr val="dk2"/>
                </a:solidFill>
                <a:prstDash val="solid"/>
                <a:round/>
                <a:headEnd type="none" w="med" len="med"/>
                <a:tailEnd type="none" w="med" len="med"/>
              </a:ln>
            </p:spPr>
          </p:cxnSp>
          <p:cxnSp>
            <p:nvCxnSpPr>
              <p:cNvPr id="820" name="Google Shape;820;p15"/>
              <p:cNvCxnSpPr>
                <a:stCxn id="816" idx="4"/>
                <a:endCxn id="814" idx="0"/>
              </p:cNvCxnSpPr>
              <p:nvPr/>
            </p:nvCxnSpPr>
            <p:spPr>
              <a:xfrm rot="8769075" flipH="1">
                <a:off x="1988166" y="2768320"/>
                <a:ext cx="691020" cy="1030498"/>
              </a:xfrm>
              <a:prstGeom prst="straightConnector1">
                <a:avLst/>
              </a:prstGeom>
              <a:noFill/>
              <a:ln w="9525" cap="flat" cmpd="sng">
                <a:solidFill>
                  <a:schemeClr val="dk2"/>
                </a:solidFill>
                <a:prstDash val="solid"/>
                <a:round/>
                <a:headEnd type="none" w="med" len="med"/>
                <a:tailEnd type="none" w="med" len="med"/>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w="9525" cap="flat" cmpd="sng">
                <a:solidFill>
                  <a:schemeClr val="dk2"/>
                </a:solidFill>
                <a:prstDash val="solid"/>
                <a:round/>
                <a:headEnd type="none" w="med" len="med"/>
                <a:tailEnd type="none" w="med" len="med"/>
              </a:ln>
            </p:spPr>
          </p:cxnSp>
          <p:cxnSp>
            <p:nvCxnSpPr>
              <p:cNvPr id="822" name="Google Shape;822;p15"/>
              <p:cNvCxnSpPr>
                <a:stCxn id="811" idx="0"/>
                <a:endCxn id="815" idx="3"/>
              </p:cNvCxnSpPr>
              <p:nvPr/>
            </p:nvCxnSpPr>
            <p:spPr>
              <a:xfrm rot="-2030280" flipH="1">
                <a:off x="3554311" y="2896576"/>
                <a:ext cx="870078" cy="562385"/>
              </a:xfrm>
              <a:prstGeom prst="straightConnector1">
                <a:avLst/>
              </a:prstGeom>
              <a:noFill/>
              <a:ln w="9525" cap="flat" cmpd="sng">
                <a:solidFill>
                  <a:schemeClr val="dk2"/>
                </a:solidFill>
                <a:prstDash val="solid"/>
                <a:round/>
                <a:headEnd type="none" w="med" len="med"/>
                <a:tailEnd type="none" w="med" len="med"/>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w="9525" cap="flat" cmpd="sng">
                <a:solidFill>
                  <a:schemeClr val="dk2"/>
                </a:solidFill>
                <a:prstDash val="solid"/>
                <a:round/>
                <a:headEnd type="none" w="med" len="med"/>
                <a:tailEnd type="none" w="med" len="med"/>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w="9525" cap="flat" cmpd="sng">
                <a:solidFill>
                  <a:schemeClr val="dk2"/>
                </a:solidFill>
                <a:prstDash val="solid"/>
                <a:round/>
                <a:headEnd type="none" w="med" len="med"/>
                <a:tailEnd type="none" w="med" len="med"/>
              </a:ln>
            </p:spPr>
          </p:cxnSp>
          <p:cxnSp>
            <p:nvCxnSpPr>
              <p:cNvPr id="825" name="Google Shape;825;p15"/>
              <p:cNvCxnSpPr>
                <a:stCxn id="814" idx="7"/>
                <a:endCxn id="812" idx="3"/>
              </p:cNvCxnSpPr>
              <p:nvPr/>
            </p:nvCxnSpPr>
            <p:spPr>
              <a:xfrm rot="-2030278" flipH="1">
                <a:off x="1147266" y="2984238"/>
                <a:ext cx="1321550" cy="283231"/>
              </a:xfrm>
              <a:prstGeom prst="straightConnector1">
                <a:avLst/>
              </a:prstGeom>
              <a:noFill/>
              <a:ln w="9525" cap="flat" cmpd="sng">
                <a:solidFill>
                  <a:schemeClr val="dk2"/>
                </a:solidFill>
                <a:prstDash val="solid"/>
                <a:round/>
                <a:headEnd type="none" w="med" len="med"/>
                <a:tailEnd type="none" w="med" len="med"/>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w="9525" cap="flat" cmpd="sng">
                <a:solidFill>
                  <a:schemeClr val="dk2"/>
                </a:solidFill>
                <a:prstDash val="solid"/>
                <a:round/>
                <a:headEnd type="none" w="med" len="med"/>
                <a:tailEnd type="none" w="med" len="med"/>
              </a:ln>
            </p:spPr>
          </p:cxnSp>
          <p:cxnSp>
            <p:nvCxnSpPr>
              <p:cNvPr id="827" name="Google Shape;827;p15"/>
              <p:cNvCxnSpPr>
                <a:stCxn id="817" idx="7"/>
                <a:endCxn id="814" idx="3"/>
              </p:cNvCxnSpPr>
              <p:nvPr/>
            </p:nvCxnSpPr>
            <p:spPr>
              <a:xfrm rot="-2030495" flipH="1">
                <a:off x="2186803" y="1863549"/>
                <a:ext cx="1164126" cy="372760"/>
              </a:xfrm>
              <a:prstGeom prst="straightConnector1">
                <a:avLst/>
              </a:prstGeom>
              <a:noFill/>
              <a:ln w="9525" cap="flat" cmpd="sng">
                <a:solidFill>
                  <a:schemeClr val="dk2"/>
                </a:solidFill>
                <a:prstDash val="solid"/>
                <a:round/>
                <a:headEnd type="none" w="med" len="med"/>
                <a:tailEnd type="none" w="med" len="med"/>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w="9525" cap="flat" cmpd="sng">
                <a:solidFill>
                  <a:schemeClr val="dk2"/>
                </a:solidFill>
                <a:prstDash val="solid"/>
                <a:round/>
                <a:headEnd type="none" w="med" len="med"/>
                <a:tailEnd type="none" w="med" len="med"/>
              </a:ln>
            </p:spPr>
          </p:cxnSp>
          <p:cxnSp>
            <p:nvCxnSpPr>
              <p:cNvPr id="829" name="Google Shape;829;p15"/>
              <p:cNvCxnSpPr>
                <a:stCxn id="813" idx="0"/>
                <a:endCxn id="814" idx="5"/>
              </p:cNvCxnSpPr>
              <p:nvPr/>
            </p:nvCxnSpPr>
            <p:spPr>
              <a:xfrm rot="-2029195" flipH="1">
                <a:off x="1960847" y="1486358"/>
                <a:ext cx="330408" cy="1038486"/>
              </a:xfrm>
              <a:prstGeom prst="straightConnector1">
                <a:avLst/>
              </a:prstGeom>
              <a:noFill/>
              <a:ln w="9525" cap="flat" cmpd="sng">
                <a:solidFill>
                  <a:schemeClr val="dk2"/>
                </a:solidFill>
                <a:prstDash val="solid"/>
                <a:round/>
                <a:headEnd type="none" w="med" len="med"/>
                <a:tailEnd type="none" w="med" len="med"/>
              </a:ln>
            </p:spPr>
          </p:cxnSp>
          <p:cxnSp>
            <p:nvCxnSpPr>
              <p:cNvPr id="830" name="Google Shape;830;p15"/>
              <p:cNvCxnSpPr>
                <a:stCxn id="813" idx="7"/>
                <a:endCxn id="818" idx="3"/>
              </p:cNvCxnSpPr>
              <p:nvPr/>
            </p:nvCxnSpPr>
            <p:spPr>
              <a:xfrm rot="-2030477" flipH="1">
                <a:off x="386634" y="1842270"/>
                <a:ext cx="1576242" cy="95353"/>
              </a:xfrm>
              <a:prstGeom prst="straightConnector1">
                <a:avLst/>
              </a:prstGeom>
              <a:noFill/>
              <a:ln w="9525" cap="flat" cmpd="sng">
                <a:solidFill>
                  <a:schemeClr val="dk2"/>
                </a:solidFill>
                <a:prstDash val="solid"/>
                <a:round/>
                <a:headEnd type="none" w="med" len="med"/>
                <a:tailEnd type="none" w="med" len="med"/>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w="9525" cap="flat" cmpd="sng">
                <a:solidFill>
                  <a:schemeClr val="dk2"/>
                </a:solidFill>
                <a:prstDash val="solid"/>
                <a:round/>
                <a:headEnd type="none" w="med" len="med"/>
                <a:tailEnd type="none" w="med" len="med"/>
              </a:ln>
            </p:spPr>
          </p:cxnSp>
          <p:cxnSp>
            <p:nvCxnSpPr>
              <p:cNvPr id="832" name="Google Shape;832;p15"/>
              <p:cNvCxnSpPr>
                <a:stCxn id="818" idx="0"/>
                <a:endCxn id="812" idx="5"/>
              </p:cNvCxnSpPr>
              <p:nvPr/>
            </p:nvCxnSpPr>
            <p:spPr>
              <a:xfrm rot="-2024821" flipH="1">
                <a:off x="797015" y="2378694"/>
                <a:ext cx="83704" cy="1321550"/>
              </a:xfrm>
              <a:prstGeom prst="straightConnector1">
                <a:avLst/>
              </a:prstGeom>
              <a:noFill/>
              <a:ln w="9525" cap="flat" cmpd="sng">
                <a:solidFill>
                  <a:schemeClr val="dk2"/>
                </a:solidFill>
                <a:prstDash val="solid"/>
                <a:round/>
                <a:headEnd type="none" w="med" len="med"/>
                <a:tailEnd type="none" w="med" len="med"/>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w="9525" cap="flat" cmpd="sng">
                <a:solidFill>
                  <a:schemeClr val="dk2"/>
                </a:solidFill>
                <a:prstDash val="solid"/>
                <a:round/>
                <a:headEnd type="none" w="med" len="med"/>
                <a:tailEnd type="none" w="med" len="med"/>
              </a:ln>
            </p:spPr>
          </p:cxnSp>
          <p:cxnSp>
            <p:nvCxnSpPr>
              <p:cNvPr id="834" name="Google Shape;834;p15"/>
              <p:cNvCxnSpPr>
                <a:stCxn id="812" idx="4"/>
                <a:endCxn id="813" idx="7"/>
              </p:cNvCxnSpPr>
              <p:nvPr/>
            </p:nvCxnSpPr>
            <p:spPr>
              <a:xfrm rot="8769813" flipH="1">
                <a:off x="698488" y="1747510"/>
                <a:ext cx="1661027" cy="1493868"/>
              </a:xfrm>
              <a:prstGeom prst="straightConnector1">
                <a:avLst/>
              </a:prstGeom>
              <a:noFill/>
              <a:ln w="9525" cap="flat" cmpd="sng">
                <a:solidFill>
                  <a:schemeClr val="dk2"/>
                </a:solidFill>
                <a:prstDash val="solid"/>
                <a:round/>
                <a:headEnd type="none" w="med" len="med"/>
                <a:tailEnd type="none" w="med" len="med"/>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w="9525" cap="flat" cmpd="sng">
                <a:solidFill>
                  <a:schemeClr val="dk2"/>
                </a:solidFill>
                <a:prstDash val="solid"/>
                <a:round/>
                <a:headEnd type="none" w="med" len="med"/>
                <a:tailEnd type="none" w="med" len="med"/>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837" name="Google Shape;837;p15"/>
              <p:cNvCxnSpPr>
                <a:stCxn id="818" idx="4"/>
                <a:endCxn id="836" idx="7"/>
              </p:cNvCxnSpPr>
              <p:nvPr/>
            </p:nvCxnSpPr>
            <p:spPr>
              <a:xfrm rot="8769580" flipH="1">
                <a:off x="114237" y="1064376"/>
                <a:ext cx="1173861" cy="1048886"/>
              </a:xfrm>
              <a:prstGeom prst="straightConnector1">
                <a:avLst/>
              </a:prstGeom>
              <a:noFill/>
              <a:ln w="9525" cap="flat" cmpd="sng">
                <a:solidFill>
                  <a:schemeClr val="dk2"/>
                </a:solidFill>
                <a:prstDash val="solid"/>
                <a:round/>
                <a:headEnd type="none" w="med" len="med"/>
                <a:tailEnd type="none" w="med" len="med"/>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w="9525" cap="flat" cmpd="sng">
                <a:solidFill>
                  <a:schemeClr val="dk2"/>
                </a:solidFill>
                <a:prstDash val="solid"/>
                <a:round/>
                <a:headEnd type="none" w="med" len="med"/>
                <a:tailEnd type="none" w="med" len="med"/>
              </a:ln>
            </p:spPr>
          </p:cxnSp>
          <p:cxnSp>
            <p:nvCxnSpPr>
              <p:cNvPr id="839" name="Google Shape;839;p15"/>
              <p:cNvCxnSpPr>
                <a:stCxn id="836" idx="0"/>
                <a:endCxn id="812" idx="4"/>
              </p:cNvCxnSpPr>
              <p:nvPr/>
            </p:nvCxnSpPr>
            <p:spPr>
              <a:xfrm rot="-2030204" flipH="1">
                <a:off x="469943" y="996108"/>
                <a:ext cx="1267716" cy="2434421"/>
              </a:xfrm>
              <a:prstGeom prst="straightConnector1">
                <a:avLst/>
              </a:prstGeom>
              <a:noFill/>
              <a:ln w="9525" cap="flat" cmpd="sng">
                <a:solidFill>
                  <a:schemeClr val="dk2"/>
                </a:solidFill>
                <a:prstDash val="solid"/>
                <a:round/>
                <a:headEnd type="none" w="med" len="med"/>
                <a:tailEnd type="none" w="med" len="med"/>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w="9525" cap="flat" cmpd="sng">
                <a:solidFill>
                  <a:schemeClr val="dk2"/>
                </a:solidFill>
                <a:prstDash val="solid"/>
                <a:round/>
                <a:headEnd type="none" w="med" len="med"/>
                <a:tailEnd type="none" w="med" len="med"/>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w="9525" cap="flat" cmpd="sng">
                <a:solidFill>
                  <a:schemeClr val="dk2"/>
                </a:solidFill>
                <a:prstDash val="solid"/>
                <a:round/>
                <a:headEnd type="none" w="med" len="med"/>
                <a:tailEnd type="none" w="med" len="med"/>
              </a:ln>
            </p:spPr>
          </p:cxnSp>
          <p:cxnSp>
            <p:nvCxnSpPr>
              <p:cNvPr id="843" name="Google Shape;843;p15"/>
              <p:cNvCxnSpPr>
                <a:stCxn id="841" idx="1"/>
                <a:endCxn id="817" idx="5"/>
              </p:cNvCxnSpPr>
              <p:nvPr/>
            </p:nvCxnSpPr>
            <p:spPr>
              <a:xfrm rot="-2034703" flipH="1">
                <a:off x="2826258" y="400719"/>
                <a:ext cx="43017" cy="1143823"/>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71"/>
        <p:cNvGrpSpPr/>
        <p:nvPr/>
      </p:nvGrpSpPr>
      <p:grpSpPr>
        <a:xfrm>
          <a:off x="0" y="0"/>
          <a:ext cx="0" cy="0"/>
          <a:chOff x="0" y="0"/>
          <a:chExt cx="0" cy="0"/>
        </a:xfrm>
      </p:grpSpPr>
      <p:sp>
        <p:nvSpPr>
          <p:cNvPr id="1072" name="Google Shape;107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3" name="Google Shape;1073;p1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4" name="Google Shape;1074;p1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5" name="Google Shape;1075;p1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6" name="Google Shape;1076;p1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7" name="Google Shape;1077;p19"/>
          <p:cNvSpPr txBox="1">
            <a:spLocks noGrp="1"/>
          </p:cNvSpPr>
          <p:nvPr>
            <p:ph type="title" idx="5" hasCustomPrompt="1"/>
          </p:nvPr>
        </p:nvSpPr>
        <p:spPr>
          <a:xfrm>
            <a:off x="7582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a:spLocks noGrp="1"/>
          </p:cNvSpPr>
          <p:nvPr>
            <p:ph type="title" idx="6" hasCustomPrompt="1"/>
          </p:nvPr>
        </p:nvSpPr>
        <p:spPr>
          <a:xfrm>
            <a:off x="7582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a:spLocks noGrp="1"/>
          </p:cNvSpPr>
          <p:nvPr>
            <p:ph type="title" idx="7" hasCustomPrompt="1"/>
          </p:nvPr>
        </p:nvSpPr>
        <p:spPr>
          <a:xfrm>
            <a:off x="46850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a:spLocks noGrp="1"/>
          </p:cNvSpPr>
          <p:nvPr>
            <p:ph type="title" idx="8" hasCustomPrompt="1"/>
          </p:nvPr>
        </p:nvSpPr>
        <p:spPr>
          <a:xfrm>
            <a:off x="46850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2" name="Google Shape;1082;p1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3" name="Google Shape;1083;p1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4" name="Google Shape;1084;p1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rot="10800000" flipH="1">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090" name="Google Shape;1090;p19"/>
            <p:cNvGrpSpPr/>
            <p:nvPr/>
          </p:nvGrpSpPr>
          <p:grpSpPr>
            <a:xfrm rot="10800000" flipH="1">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1099" name="Google Shape;1099;p19"/>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19"/>
              <p:cNvCxnSpPr>
                <a:stCxn id="1102" idx="4"/>
                <a:endCxn id="1101"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19"/>
              <p:cNvCxnSpPr>
                <a:stCxn id="1102" idx="5"/>
                <a:endCxn id="1103" idx="1"/>
              </p:cNvCxnSpPr>
              <p:nvPr/>
            </p:nvCxnSpPr>
            <p:spPr>
              <a:xfrm>
                <a:off x="199829" y="960741"/>
                <a:ext cx="204000" cy="3795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19"/>
              <p:cNvCxnSpPr>
                <a:stCxn id="1102" idx="7"/>
                <a:endCxn id="1098"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19"/>
              <p:cNvCxnSpPr>
                <a:stCxn id="1100" idx="5"/>
                <a:endCxn id="1098"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19"/>
              <p:cNvCxnSpPr>
                <a:stCxn id="1100" idx="6"/>
                <a:endCxn id="1099"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w="9525" cap="flat" cmpd="sng">
                <a:solidFill>
                  <a:schemeClr val="dk2"/>
                </a:solidFill>
                <a:prstDash val="solid"/>
                <a:round/>
                <a:headEnd type="none" w="med" len="med"/>
                <a:tailEnd type="none" w="med" len="med"/>
              </a:ln>
            </p:spPr>
          </p:cxnSp>
          <p:cxnSp>
            <p:nvCxnSpPr>
              <p:cNvPr id="1114" name="Google Shape;1114;p19"/>
              <p:cNvCxnSpPr>
                <a:stCxn id="1103" idx="0"/>
                <a:endCxn id="1112" idx="3"/>
              </p:cNvCxnSpPr>
              <p:nvPr/>
            </p:nvCxnSpPr>
            <p:spPr>
              <a:xfrm rot="10800000" flipH="1">
                <a:off x="454649" y="268188"/>
                <a:ext cx="342000" cy="1049100"/>
              </a:xfrm>
              <a:prstGeom prst="straightConnector1">
                <a:avLst/>
              </a:prstGeom>
              <a:noFill/>
              <a:ln w="9525" cap="flat" cmpd="sng">
                <a:solidFill>
                  <a:schemeClr val="dk2"/>
                </a:solidFill>
                <a:prstDash val="solid"/>
                <a:round/>
                <a:headEnd type="none" w="med" len="med"/>
                <a:tailEnd type="none" w="med" len="med"/>
              </a:ln>
            </p:spPr>
          </p:cxnSp>
          <p:sp>
            <p:nvSpPr>
              <p:cNvPr id="1115" name="Google Shape;1115;p19"/>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1117" name="Google Shape;1117;p19"/>
              <p:cNvCxnSpPr>
                <a:stCxn id="1112" idx="7"/>
                <a:endCxn id="1115"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1118" name="Google Shape;1118;p19"/>
              <p:cNvCxnSpPr>
                <a:stCxn id="1115" idx="6"/>
                <a:endCxn id="1099"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1119" name="Google Shape;1119;p19"/>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20" name="Google Shape;1120;p19"/>
              <p:cNvCxnSpPr>
                <a:stCxn id="1119" idx="0"/>
                <a:endCxn id="1100"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1121" name="Google Shape;1121;p19"/>
              <p:cNvCxnSpPr>
                <a:stCxn id="1119" idx="6"/>
                <a:endCxn id="1098"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1122" name="Google Shape;1122;p19"/>
              <p:cNvCxnSpPr>
                <a:stCxn id="1119" idx="5"/>
                <a:endCxn id="1102"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1123" name="Google Shape;1123;p19"/>
              <p:cNvCxnSpPr>
                <a:stCxn id="1119" idx="5"/>
                <a:endCxn id="1101"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1112" name="Google Shape;1112;p19"/>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w="9525" cap="flat" cmpd="sng">
                <a:solidFill>
                  <a:schemeClr val="dk2"/>
                </a:solidFill>
                <a:prstDash val="solid"/>
                <a:round/>
                <a:headEnd type="none" w="med" len="med"/>
                <a:tailEnd type="none" w="med" len="med"/>
              </a:ln>
            </p:spPr>
          </p:cxnSp>
          <p:cxnSp>
            <p:nvCxnSpPr>
              <p:cNvPr id="1134" name="Google Shape;1134;p19"/>
              <p:cNvCxnSpPr>
                <a:stCxn id="1130" idx="4"/>
                <a:endCxn id="1128" idx="7"/>
              </p:cNvCxnSpPr>
              <p:nvPr/>
            </p:nvCxnSpPr>
            <p:spPr>
              <a:xfrm rot="10460763" flipH="1">
                <a:off x="1865029" y="6113097"/>
                <a:ext cx="1087089" cy="9343"/>
              </a:xfrm>
              <a:prstGeom prst="straightConnector1">
                <a:avLst/>
              </a:prstGeom>
              <a:noFill/>
              <a:ln w="9525" cap="flat" cmpd="sng">
                <a:solidFill>
                  <a:schemeClr val="dk2"/>
                </a:solidFill>
                <a:prstDash val="solid"/>
                <a:round/>
                <a:headEnd type="none" w="med" len="med"/>
                <a:tailEnd type="none" w="med" len="med"/>
              </a:ln>
            </p:spPr>
          </p:cxnSp>
          <p:cxnSp>
            <p:nvCxnSpPr>
              <p:cNvPr id="1135" name="Google Shape;1135;p19"/>
              <p:cNvCxnSpPr>
                <a:stCxn id="1125" idx="0"/>
                <a:endCxn id="1129" idx="3"/>
              </p:cNvCxnSpPr>
              <p:nvPr/>
            </p:nvCxnSpPr>
            <p:spPr>
              <a:xfrm rot="-339783" flipH="1">
                <a:off x="3393035" y="4884097"/>
                <a:ext cx="1295121" cy="1950801"/>
              </a:xfrm>
              <a:prstGeom prst="straightConnector1">
                <a:avLst/>
              </a:prstGeom>
              <a:noFill/>
              <a:ln w="9525" cap="flat" cmpd="sng">
                <a:solidFill>
                  <a:schemeClr val="dk2"/>
                </a:solidFill>
                <a:prstDash val="solid"/>
                <a:round/>
                <a:headEnd type="none" w="med" len="med"/>
                <a:tailEnd type="none" w="med" len="med"/>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w="9525" cap="flat" cmpd="sng">
                <a:solidFill>
                  <a:schemeClr val="dk2"/>
                </a:solidFill>
                <a:prstDash val="solid"/>
                <a:round/>
                <a:headEnd type="none" w="med" len="med"/>
                <a:tailEnd type="none" w="med" len="med"/>
              </a:ln>
            </p:spPr>
          </p:cxnSp>
          <p:cxnSp>
            <p:nvCxnSpPr>
              <p:cNvPr id="1137" name="Google Shape;1137;p19"/>
              <p:cNvCxnSpPr>
                <a:stCxn id="1130" idx="6"/>
                <a:endCxn id="1126" idx="1"/>
              </p:cNvCxnSpPr>
              <p:nvPr/>
            </p:nvCxnSpPr>
            <p:spPr>
              <a:xfrm rot="10462833" flipH="1">
                <a:off x="1755412" y="5065169"/>
                <a:ext cx="150121" cy="1129000"/>
              </a:xfrm>
              <a:prstGeom prst="straightConnector1">
                <a:avLst/>
              </a:prstGeom>
              <a:noFill/>
              <a:ln w="9525" cap="flat" cmpd="sng">
                <a:solidFill>
                  <a:schemeClr val="dk2"/>
                </a:solidFill>
                <a:prstDash val="solid"/>
                <a:round/>
                <a:headEnd type="none" w="med" len="med"/>
                <a:tailEnd type="none" w="med" len="med"/>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w="9525" cap="flat" cmpd="sng">
                <a:solidFill>
                  <a:schemeClr val="dk2"/>
                </a:solidFill>
                <a:prstDash val="solid"/>
                <a:round/>
                <a:headEnd type="none" w="med" len="med"/>
                <a:tailEnd type="none" w="med" len="med"/>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w="9525" cap="flat" cmpd="sng">
                <a:solidFill>
                  <a:schemeClr val="dk2"/>
                </a:solidFill>
                <a:prstDash val="solid"/>
                <a:round/>
                <a:headEnd type="none" w="med" len="med"/>
                <a:tailEnd type="none" w="med" len="med"/>
              </a:ln>
            </p:spPr>
          </p:cxnSp>
          <p:cxnSp>
            <p:nvCxnSpPr>
              <p:cNvPr id="1140" name="Google Shape;1140;p19"/>
              <p:cNvCxnSpPr>
                <a:stCxn id="1125" idx="7"/>
                <a:endCxn id="1128" idx="3"/>
              </p:cNvCxnSpPr>
              <p:nvPr/>
            </p:nvCxnSpPr>
            <p:spPr>
              <a:xfrm rot="-339569" flipH="1">
                <a:off x="2971884" y="4867995"/>
                <a:ext cx="1639693" cy="1081059"/>
              </a:xfrm>
              <a:prstGeom prst="straightConnector1">
                <a:avLst/>
              </a:prstGeom>
              <a:noFill/>
              <a:ln w="9525" cap="flat" cmpd="sng">
                <a:solidFill>
                  <a:schemeClr val="dk2"/>
                </a:solidFill>
                <a:prstDash val="solid"/>
                <a:round/>
                <a:headEnd type="none" w="med" len="med"/>
                <a:tailEnd type="none" w="med" len="med"/>
              </a:ln>
            </p:spPr>
          </p:cxnSp>
          <p:cxnSp>
            <p:nvCxnSpPr>
              <p:cNvPr id="1141" name="Google Shape;1141;p19"/>
              <p:cNvCxnSpPr>
                <a:stCxn id="1131" idx="7"/>
                <a:endCxn id="1127" idx="3"/>
              </p:cNvCxnSpPr>
              <p:nvPr/>
            </p:nvCxnSpPr>
            <p:spPr>
              <a:xfrm rot="-339665" flipH="1">
                <a:off x="3259894" y="4748265"/>
                <a:ext cx="483558" cy="163106"/>
              </a:xfrm>
              <a:prstGeom prst="straightConnector1">
                <a:avLst/>
              </a:prstGeom>
              <a:noFill/>
              <a:ln w="9525" cap="flat" cmpd="sng">
                <a:solidFill>
                  <a:schemeClr val="dk2"/>
                </a:solidFill>
                <a:prstDash val="solid"/>
                <a:round/>
                <a:headEnd type="none" w="med" len="med"/>
                <a:tailEnd type="none" w="med" len="med"/>
              </a:ln>
            </p:spPr>
          </p:cxnSp>
          <p:cxnSp>
            <p:nvCxnSpPr>
              <p:cNvPr id="1142" name="Google Shape;1142;p19"/>
              <p:cNvCxnSpPr>
                <a:stCxn id="1127" idx="0"/>
                <a:endCxn id="1128" idx="5"/>
              </p:cNvCxnSpPr>
              <p:nvPr/>
            </p:nvCxnSpPr>
            <p:spPr>
              <a:xfrm rot="-341652" flipH="1">
                <a:off x="2929081" y="5115280"/>
                <a:ext cx="208629" cy="879981"/>
              </a:xfrm>
              <a:prstGeom prst="straightConnector1">
                <a:avLst/>
              </a:prstGeom>
              <a:noFill/>
              <a:ln w="9525" cap="flat" cmpd="sng">
                <a:solidFill>
                  <a:schemeClr val="dk2"/>
                </a:solidFill>
                <a:prstDash val="solid"/>
                <a:round/>
                <a:headEnd type="none" w="med" len="med"/>
                <a:tailEnd type="none" w="med" len="med"/>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w="9525" cap="flat" cmpd="sng">
                <a:solidFill>
                  <a:schemeClr val="dk2"/>
                </a:solidFill>
                <a:prstDash val="solid"/>
                <a:round/>
                <a:headEnd type="none" w="med" len="med"/>
                <a:tailEnd type="none" w="med" len="med"/>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w="9525" cap="flat" cmpd="sng">
                <a:solidFill>
                  <a:schemeClr val="dk2"/>
                </a:solidFill>
                <a:prstDash val="solid"/>
                <a:round/>
                <a:headEnd type="none" w="med" len="med"/>
                <a:tailEnd type="none" w="med" len="med"/>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w="9525" cap="flat" cmpd="sng">
                <a:solidFill>
                  <a:schemeClr val="dk2"/>
                </a:solidFill>
                <a:prstDash val="solid"/>
                <a:round/>
                <a:headEnd type="none" w="med" len="med"/>
                <a:tailEnd type="none" w="med" len="med"/>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w="9525" cap="flat" cmpd="sng">
                <a:solidFill>
                  <a:schemeClr val="dk2"/>
                </a:solidFill>
                <a:prstDash val="solid"/>
                <a:round/>
                <a:headEnd type="none" w="med" len="med"/>
                <a:tailEnd type="none" w="med" len="med"/>
              </a:ln>
            </p:spPr>
          </p:cxnSp>
          <p:cxnSp>
            <p:nvCxnSpPr>
              <p:cNvPr id="1148" name="Google Shape;1148;p19"/>
              <p:cNvCxnSpPr>
                <a:stCxn id="1145" idx="0"/>
                <a:endCxn id="1126" idx="4"/>
              </p:cNvCxnSpPr>
              <p:nvPr/>
            </p:nvCxnSpPr>
            <p:spPr>
              <a:xfrm rot="-340645" flipH="1">
                <a:off x="1841473" y="4754364"/>
                <a:ext cx="154659" cy="179972"/>
              </a:xfrm>
              <a:prstGeom prst="straightConnector1">
                <a:avLst/>
              </a:prstGeom>
              <a:noFill/>
              <a:ln w="9525" cap="flat" cmpd="sng">
                <a:solidFill>
                  <a:schemeClr val="dk2"/>
                </a:solidFill>
                <a:prstDash val="solid"/>
                <a:round/>
                <a:headEnd type="none" w="med" len="med"/>
                <a:tailEnd type="none" w="med" len="med"/>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w="9525" cap="flat" cmpd="sng">
                <a:solidFill>
                  <a:schemeClr val="dk2"/>
                </a:solidFill>
                <a:prstDash val="solid"/>
                <a:round/>
                <a:headEnd type="none" w="med" len="med"/>
                <a:tailEnd type="none" w="med" len="med"/>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51" name="Google Shape;1151;p19"/>
              <p:cNvCxnSpPr>
                <a:stCxn id="1127" idx="2"/>
                <a:endCxn id="1150" idx="7"/>
              </p:cNvCxnSpPr>
              <p:nvPr/>
            </p:nvCxnSpPr>
            <p:spPr>
              <a:xfrm rot="10459800" flipH="1">
                <a:off x="3266347" y="5001756"/>
                <a:ext cx="674098" cy="153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9"/>
              <p:cNvCxnSpPr>
                <a:stCxn id="1150" idx="3"/>
                <a:endCxn id="1125" idx="7"/>
              </p:cNvCxnSpPr>
              <p:nvPr/>
            </p:nvCxnSpPr>
            <p:spPr>
              <a:xfrm rot="10459592" flipH="1">
                <a:off x="4052806" y="4814404"/>
                <a:ext cx="506782" cy="81105"/>
              </a:xfrm>
              <a:prstGeom prst="straightConnector1">
                <a:avLst/>
              </a:prstGeom>
              <a:noFill/>
              <a:ln w="9525" cap="flat" cmpd="sng">
                <a:solidFill>
                  <a:schemeClr val="dk2"/>
                </a:solidFill>
                <a:prstDash val="solid"/>
                <a:round/>
                <a:headEnd type="none" w="med" len="med"/>
                <a:tailEnd type="none" w="med" len="med"/>
              </a:ln>
            </p:spPr>
          </p:cxnSp>
          <p:cxnSp>
            <p:nvCxnSpPr>
              <p:cNvPr id="1153" name="Google Shape;1153;p19"/>
              <p:cNvCxnSpPr>
                <a:stCxn id="1128" idx="4"/>
                <a:endCxn id="1150" idx="0"/>
              </p:cNvCxnSpPr>
              <p:nvPr/>
            </p:nvCxnSpPr>
            <p:spPr>
              <a:xfrm rot="10460266" flipH="1">
                <a:off x="2959037" y="5053792"/>
                <a:ext cx="1061178" cy="899594"/>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1318" name="Google Shape;1318;p22"/>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2"/>
              <p:cNvCxnSpPr>
                <a:stCxn id="1322" idx="4"/>
                <a:endCxn id="1320"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2"/>
              <p:cNvCxnSpPr>
                <a:stCxn id="1322" idx="5"/>
                <a:endCxn id="1323"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22"/>
              <p:cNvCxnSpPr>
                <a:stCxn id="1322" idx="7"/>
                <a:endCxn id="1317"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22"/>
              <p:cNvCxnSpPr>
                <a:stCxn id="1319" idx="5"/>
                <a:endCxn id="1317"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22"/>
              <p:cNvCxnSpPr>
                <a:stCxn id="1319" idx="6"/>
                <a:endCxn id="1318"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22"/>
              <p:cNvCxnSpPr>
                <a:stCxn id="1323" idx="0"/>
                <a:endCxn id="1321"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1317" name="Google Shape;1317;p22"/>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22"/>
              <p:cNvCxnSpPr>
                <a:stCxn id="1340" idx="4"/>
                <a:endCxn id="1338" idx="0"/>
              </p:cNvCxnSpPr>
              <p:nvPr/>
            </p:nvCxnSpPr>
            <p:spPr>
              <a:xfrm rot="8769075" flipH="1">
                <a:off x="1988166" y="2768320"/>
                <a:ext cx="691020" cy="1030498"/>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22"/>
              <p:cNvCxnSpPr>
                <a:stCxn id="1335" idx="0"/>
                <a:endCxn id="1339" idx="3"/>
              </p:cNvCxnSpPr>
              <p:nvPr/>
            </p:nvCxnSpPr>
            <p:spPr>
              <a:xfrm rot="-2030280" flipH="1">
                <a:off x="3554311" y="2896576"/>
                <a:ext cx="870078" cy="562385"/>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2"/>
              <p:cNvCxnSpPr>
                <a:stCxn id="1338" idx="7"/>
                <a:endCxn id="1336" idx="3"/>
              </p:cNvCxnSpPr>
              <p:nvPr/>
            </p:nvCxnSpPr>
            <p:spPr>
              <a:xfrm rot="-2030278" flipH="1">
                <a:off x="1147266" y="2984238"/>
                <a:ext cx="1321550" cy="283231"/>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2"/>
              <p:cNvCxnSpPr>
                <a:stCxn id="1341" idx="7"/>
                <a:endCxn id="1338" idx="3"/>
              </p:cNvCxnSpPr>
              <p:nvPr/>
            </p:nvCxnSpPr>
            <p:spPr>
              <a:xfrm rot="-2030495" flipH="1">
                <a:off x="2186803" y="1863549"/>
                <a:ext cx="1164126" cy="37276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w="9525" cap="flat" cmpd="sng">
                <a:solidFill>
                  <a:schemeClr val="dk2"/>
                </a:solidFill>
                <a:prstDash val="solid"/>
                <a:round/>
                <a:headEnd type="none" w="med" len="med"/>
                <a:tailEnd type="none" w="med" len="med"/>
              </a:ln>
            </p:spPr>
          </p:cxnSp>
          <p:cxnSp>
            <p:nvCxnSpPr>
              <p:cNvPr id="1353" name="Google Shape;1353;p22"/>
              <p:cNvCxnSpPr>
                <a:stCxn id="1337" idx="0"/>
                <a:endCxn id="1338" idx="5"/>
              </p:cNvCxnSpPr>
              <p:nvPr/>
            </p:nvCxnSpPr>
            <p:spPr>
              <a:xfrm rot="-2029195" flipH="1">
                <a:off x="1960847" y="1486358"/>
                <a:ext cx="330408" cy="1038486"/>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22"/>
              <p:cNvCxnSpPr>
                <a:stCxn id="1337" idx="7"/>
                <a:endCxn id="1342" idx="3"/>
              </p:cNvCxnSpPr>
              <p:nvPr/>
            </p:nvCxnSpPr>
            <p:spPr>
              <a:xfrm rot="-2030477" flipH="1">
                <a:off x="386634" y="1842270"/>
                <a:ext cx="1576242" cy="95353"/>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22"/>
              <p:cNvCxnSpPr>
                <a:stCxn id="1342" idx="0"/>
                <a:endCxn id="1336" idx="5"/>
              </p:cNvCxnSpPr>
              <p:nvPr/>
            </p:nvCxnSpPr>
            <p:spPr>
              <a:xfrm rot="-2024821" flipH="1">
                <a:off x="797015" y="2378694"/>
                <a:ext cx="83704" cy="132155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1358;p22"/>
              <p:cNvCxnSpPr>
                <a:stCxn id="1336" idx="4"/>
                <a:endCxn id="1337" idx="7"/>
              </p:cNvCxnSpPr>
              <p:nvPr/>
            </p:nvCxnSpPr>
            <p:spPr>
              <a:xfrm rot="8769813" flipH="1">
                <a:off x="698488" y="1747510"/>
                <a:ext cx="1661027" cy="1493868"/>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w="9525" cap="flat" cmpd="sng">
                <a:solidFill>
                  <a:schemeClr val="dk2"/>
                </a:solidFill>
                <a:prstDash val="solid"/>
                <a:round/>
                <a:headEnd type="none" w="med" len="med"/>
                <a:tailEnd type="none" w="med" len="med"/>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1" name="Google Shape;1361;p22"/>
              <p:cNvCxnSpPr>
                <a:stCxn id="1342" idx="4"/>
                <a:endCxn id="1360" idx="7"/>
              </p:cNvCxnSpPr>
              <p:nvPr/>
            </p:nvCxnSpPr>
            <p:spPr>
              <a:xfrm rot="8769580" flipH="1">
                <a:off x="114237" y="1064376"/>
                <a:ext cx="1173861" cy="1048886"/>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2"/>
              <p:cNvCxnSpPr>
                <a:stCxn id="1360" idx="0"/>
                <a:endCxn id="1336" idx="4"/>
              </p:cNvCxnSpPr>
              <p:nvPr/>
            </p:nvCxnSpPr>
            <p:spPr>
              <a:xfrm rot="-2030204" flipH="1">
                <a:off x="469943" y="996108"/>
                <a:ext cx="1267716" cy="2434421"/>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w="9525" cap="flat" cmpd="sng">
                <a:solidFill>
                  <a:schemeClr val="dk2"/>
                </a:solidFill>
                <a:prstDash val="solid"/>
                <a:round/>
                <a:headEnd type="none" w="med" len="med"/>
                <a:tailEnd type="none" w="med" len="med"/>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22"/>
              <p:cNvCxnSpPr>
                <a:stCxn id="1365" idx="1"/>
                <a:endCxn id="1341" idx="5"/>
              </p:cNvCxnSpPr>
              <p:nvPr/>
            </p:nvCxnSpPr>
            <p:spPr>
              <a:xfrm rot="-2034703" flipH="1">
                <a:off x="2826258" y="400719"/>
                <a:ext cx="43017" cy="1143823"/>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23"/>
              <p:cNvCxnSpPr>
                <a:stCxn id="1386" idx="4"/>
                <a:endCxn id="1384"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1399" name="Google Shape;1399;p23"/>
              <p:cNvCxnSpPr>
                <a:stCxn id="1388" idx="2"/>
                <a:endCxn id="1382"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2" name="Google Shape;1402;p23"/>
              <p:cNvCxnSpPr>
                <a:stCxn id="1388" idx="3"/>
                <a:endCxn id="1401"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23"/>
              <p:cNvCxnSpPr>
                <a:stCxn id="1401" idx="2"/>
                <a:endCxn id="1383"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23"/>
              <p:cNvCxnSpPr>
                <a:stCxn id="1401" idx="0"/>
                <a:endCxn id="1382"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7" name="Google Shape;1407;p23"/>
              <p:cNvCxnSpPr>
                <a:stCxn id="1383" idx="2"/>
                <a:endCxn id="1406"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23"/>
              <p:cNvCxnSpPr>
                <a:stCxn id="1406" idx="3"/>
                <a:endCxn id="1381"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2" name="Google Shape;1422;p23"/>
              <p:cNvCxnSpPr>
                <a:stCxn id="1419" idx="4"/>
                <a:endCxn id="1417"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1440;p23"/>
              <p:cNvCxnSpPr>
                <a:stCxn id="1438" idx="1"/>
                <a:endCxn id="1416"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42" name="Google Shape;1442;p23"/>
              <p:cNvCxnSpPr>
                <a:stCxn id="1438" idx="2"/>
                <a:endCxn id="1441"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8" r:id="rId3"/>
    <p:sldLayoutId id="2147483661" r:id="rId4"/>
    <p:sldLayoutId id="2147483665" r:id="rId5"/>
    <p:sldLayoutId id="2147483668" r:id="rId6"/>
    <p:sldLayoutId id="214748366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1">
          <a:extLst>
            <a:ext uri="{FF2B5EF4-FFF2-40B4-BE49-F238E27FC236}">
              <a16:creationId xmlns:a16="http://schemas.microsoft.com/office/drawing/2014/main" id="{6B4A3713-A82B-6040-3F01-EA3B7DD30F0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DDA16B4-CB27-C5A5-1AF5-44DDAF18A837}"/>
              </a:ext>
            </a:extLst>
          </p:cNvPr>
          <p:cNvSpPr txBox="1"/>
          <p:nvPr/>
        </p:nvSpPr>
        <p:spPr>
          <a:xfrm>
            <a:off x="2077949" y="55189"/>
            <a:ext cx="4988102" cy="405880"/>
          </a:xfrm>
          <a:prstGeom prst="rect">
            <a:avLst/>
          </a:prstGeom>
          <a:noFill/>
        </p:spPr>
        <p:txBody>
          <a:bodyPr wrap="square">
            <a:spAutoFit/>
          </a:bodyPr>
          <a:lstStyle/>
          <a:p>
            <a:pPr algn="ctr">
              <a:lnSpc>
                <a:spcPts val="2700"/>
              </a:lnSpc>
              <a:buNone/>
            </a:pPr>
            <a:r>
              <a:rPr lang="fr-FR" sz="1600" noProof="0" dirty="0">
                <a:latin typeface="Times New Roman" panose="02020603050405020304" pitchFamily="18" charset="0"/>
                <a:ea typeface="Tahoma" panose="020B0604030504040204" pitchFamily="34" charset="0"/>
                <a:cs typeface="Times New Roman" panose="02020603050405020304" pitchFamily="18" charset="0"/>
              </a:rPr>
              <a:t>Département Génie Industriel et Productique (GIP)</a:t>
            </a:r>
            <a:endParaRPr lang="fr-FR" sz="900" noProof="0" dirty="0">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E35CEAF-F872-A67E-7765-ADB17D3AFBCE}"/>
              </a:ext>
            </a:extLst>
          </p:cNvPr>
          <p:cNvSpPr txBox="1"/>
          <p:nvPr/>
        </p:nvSpPr>
        <p:spPr>
          <a:xfrm>
            <a:off x="2077949" y="439538"/>
            <a:ext cx="5106558" cy="1046440"/>
          </a:xfrm>
          <a:prstGeom prst="rect">
            <a:avLst/>
          </a:prstGeom>
          <a:noFill/>
        </p:spPr>
        <p:txBody>
          <a:bodyPr wrap="square">
            <a:spAutoFit/>
          </a:bodyPr>
          <a:lstStyle/>
          <a:p>
            <a:pPr algn="ctr">
              <a:spcBef>
                <a:spcPts val="600"/>
              </a:spcBef>
              <a:spcAft>
                <a:spcPts val="600"/>
              </a:spcAft>
              <a:buNone/>
            </a:pPr>
            <a:r>
              <a:rPr lang="fr-FR" b="1" kern="100" noProof="0" dirty="0">
                <a:latin typeface="Times New Roman" panose="02020603050405020304" pitchFamily="18" charset="0"/>
                <a:ea typeface="Aptos" panose="020B0004020202020204" pitchFamily="34" charset="0"/>
                <a:cs typeface="Arial" panose="020B0604020202020204" pitchFamily="34" charset="0"/>
              </a:rPr>
              <a:t>PROJET DE FIN D’ETUDE </a:t>
            </a:r>
          </a:p>
          <a:p>
            <a:pPr algn="ctr">
              <a:spcBef>
                <a:spcPts val="600"/>
              </a:spcBef>
              <a:spcAft>
                <a:spcPts val="600"/>
              </a:spcAft>
            </a:pPr>
            <a:r>
              <a:rPr lang="fr-FR" kern="100" noProof="0" dirty="0">
                <a:latin typeface="Times New Roman" panose="02020603050405020304" pitchFamily="18" charset="0"/>
                <a:ea typeface="Aptos" panose="020B0004020202020204" pitchFamily="34" charset="0"/>
                <a:cs typeface="Arial" panose="020B0604020202020204" pitchFamily="34" charset="0"/>
              </a:rPr>
              <a:t>En vue d’obtention du diplôme de Master de recherche</a:t>
            </a:r>
          </a:p>
          <a:p>
            <a:pPr algn="ctr">
              <a:spcBef>
                <a:spcPts val="600"/>
              </a:spcBef>
              <a:spcAft>
                <a:spcPts val="600"/>
              </a:spcAft>
              <a:buNone/>
            </a:pPr>
            <a:r>
              <a:rPr lang="fr-FR" kern="100" noProof="0" dirty="0">
                <a:latin typeface="Times New Roman" panose="02020603050405020304" pitchFamily="18" charset="0"/>
                <a:ea typeface="Aptos" panose="020B0004020202020204" pitchFamily="34" charset="0"/>
                <a:cs typeface="Arial" panose="020B0604020202020204" pitchFamily="34" charset="0"/>
              </a:rPr>
              <a:t>Option : Sciences des Données pour une Industrie Intelligente (SDII)</a:t>
            </a:r>
          </a:p>
        </p:txBody>
      </p:sp>
      <p:cxnSp>
        <p:nvCxnSpPr>
          <p:cNvPr id="8" name="Straight Connector 7">
            <a:extLst>
              <a:ext uri="{FF2B5EF4-FFF2-40B4-BE49-F238E27FC236}">
                <a16:creationId xmlns:a16="http://schemas.microsoft.com/office/drawing/2014/main" id="{FD7AB34D-E37C-CB1F-86D3-041E548E8655}"/>
              </a:ext>
            </a:extLst>
          </p:cNvPr>
          <p:cNvCxnSpPr>
            <a:cxnSpLocks/>
          </p:cNvCxnSpPr>
          <p:nvPr/>
        </p:nvCxnSpPr>
        <p:spPr>
          <a:xfrm>
            <a:off x="1422400" y="1519621"/>
            <a:ext cx="6488109"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9" name="Straight Connector 8">
            <a:extLst>
              <a:ext uri="{FF2B5EF4-FFF2-40B4-BE49-F238E27FC236}">
                <a16:creationId xmlns:a16="http://schemas.microsoft.com/office/drawing/2014/main" id="{79BD203B-42F5-EA58-5361-E9C6BDF9F204}"/>
              </a:ext>
            </a:extLst>
          </p:cNvPr>
          <p:cNvCxnSpPr>
            <a:cxnSpLocks/>
          </p:cNvCxnSpPr>
          <p:nvPr/>
        </p:nvCxnSpPr>
        <p:spPr>
          <a:xfrm>
            <a:off x="1422400" y="2180424"/>
            <a:ext cx="6461118" cy="34835"/>
          </a:xfrm>
          <a:prstGeom prst="line">
            <a:avLst/>
          </a:prstGeom>
        </p:spPr>
        <p:style>
          <a:lnRef idx="2">
            <a:schemeClr val="accent3"/>
          </a:lnRef>
          <a:fillRef idx="0">
            <a:schemeClr val="accent3"/>
          </a:fillRef>
          <a:effectRef idx="1">
            <a:schemeClr val="accent3"/>
          </a:effectRef>
          <a:fontRef idx="minor">
            <a:schemeClr val="tx1"/>
          </a:fontRef>
        </p:style>
      </p:cxnSp>
      <p:sp>
        <p:nvSpPr>
          <p:cNvPr id="11" name="Google Shape;1455;p27">
            <a:extLst>
              <a:ext uri="{FF2B5EF4-FFF2-40B4-BE49-F238E27FC236}">
                <a16:creationId xmlns:a16="http://schemas.microsoft.com/office/drawing/2014/main" id="{7EA4FF0B-F2A4-E231-3C78-E5B9F7110C02}"/>
              </a:ext>
            </a:extLst>
          </p:cNvPr>
          <p:cNvSpPr txBox="1">
            <a:spLocks/>
          </p:cNvSpPr>
          <p:nvPr/>
        </p:nvSpPr>
        <p:spPr>
          <a:xfrm>
            <a:off x="1260482" y="1629804"/>
            <a:ext cx="6741492" cy="55062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pPr algn="ctr"/>
            <a:r>
              <a:rPr lang="fr-FR" sz="1600" noProof="0" dirty="0"/>
              <a:t>Détection de communautés dans les réseaux sociaux pour les systèmes de recommandation et le marketing ciblé.</a:t>
            </a:r>
          </a:p>
        </p:txBody>
      </p:sp>
      <p:sp>
        <p:nvSpPr>
          <p:cNvPr id="12" name="TextBox 11">
            <a:extLst>
              <a:ext uri="{FF2B5EF4-FFF2-40B4-BE49-F238E27FC236}">
                <a16:creationId xmlns:a16="http://schemas.microsoft.com/office/drawing/2014/main" id="{3880C925-79CE-76C6-4082-1106D55A4BA8}"/>
              </a:ext>
            </a:extLst>
          </p:cNvPr>
          <p:cNvSpPr txBox="1"/>
          <p:nvPr/>
        </p:nvSpPr>
        <p:spPr>
          <a:xfrm>
            <a:off x="480143" y="2273319"/>
            <a:ext cx="3195611" cy="376834"/>
          </a:xfrm>
          <a:prstGeom prst="rect">
            <a:avLst/>
          </a:prstGeom>
          <a:noFill/>
        </p:spPr>
        <p:txBody>
          <a:bodyPr wrap="square">
            <a:spAutoFit/>
          </a:bodyPr>
          <a:lstStyle/>
          <a:p>
            <a:pPr algn="ctr">
              <a:lnSpc>
                <a:spcPct val="150000"/>
              </a:lnSpc>
            </a:pPr>
            <a:r>
              <a:rPr lang="fr-FR" b="1" noProof="0" dirty="0">
                <a:latin typeface="Times New Roman" panose="02020603050405020304" pitchFamily="18" charset="0"/>
                <a:cs typeface="Times New Roman" panose="02020603050405020304" pitchFamily="18" charset="0"/>
              </a:rPr>
              <a:t>Présentée par: </a:t>
            </a:r>
            <a:r>
              <a:rPr lang="fr-FR" noProof="0" dirty="0">
                <a:latin typeface="Times New Roman" panose="02020603050405020304" pitchFamily="18" charset="0"/>
                <a:cs typeface="Times New Roman" panose="02020603050405020304" pitchFamily="18" charset="0"/>
              </a:rPr>
              <a:t>MOUDDEN Hamza</a:t>
            </a:r>
          </a:p>
        </p:txBody>
      </p:sp>
      <p:pic>
        <p:nvPicPr>
          <p:cNvPr id="15" name="Picture 14">
            <a:extLst>
              <a:ext uri="{FF2B5EF4-FFF2-40B4-BE49-F238E27FC236}">
                <a16:creationId xmlns:a16="http://schemas.microsoft.com/office/drawing/2014/main" id="{BC93B06D-FDF8-7FFE-81E1-D7C1E5DF97B2}"/>
              </a:ext>
            </a:extLst>
          </p:cNvPr>
          <p:cNvPicPr>
            <a:picLocks noChangeAspect="1"/>
          </p:cNvPicPr>
          <p:nvPr/>
        </p:nvPicPr>
        <p:blipFill>
          <a:blip r:embed="rId3"/>
          <a:stretch>
            <a:fillRect/>
          </a:stretch>
        </p:blipFill>
        <p:spPr>
          <a:xfrm>
            <a:off x="0" y="25456"/>
            <a:ext cx="2228088" cy="735269"/>
          </a:xfrm>
          <a:prstGeom prst="rect">
            <a:avLst/>
          </a:prstGeom>
        </p:spPr>
      </p:pic>
      <p:sp>
        <p:nvSpPr>
          <p:cNvPr id="17" name="TextBox 16">
            <a:extLst>
              <a:ext uri="{FF2B5EF4-FFF2-40B4-BE49-F238E27FC236}">
                <a16:creationId xmlns:a16="http://schemas.microsoft.com/office/drawing/2014/main" id="{D70A8ED3-3676-127E-5742-58F4B72EDAB9}"/>
              </a:ext>
            </a:extLst>
          </p:cNvPr>
          <p:cNvSpPr txBox="1"/>
          <p:nvPr/>
        </p:nvSpPr>
        <p:spPr>
          <a:xfrm>
            <a:off x="2077949" y="4518004"/>
            <a:ext cx="4988102" cy="261610"/>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fr-FR" sz="1100" b="1" noProof="0" dirty="0">
                <a:ln/>
                <a:solidFill>
                  <a:schemeClr val="accent3"/>
                </a:solidFill>
              </a:rPr>
              <a:t>Année Universitaire 2025-2026</a:t>
            </a:r>
          </a:p>
        </p:txBody>
      </p:sp>
      <p:sp>
        <p:nvSpPr>
          <p:cNvPr id="42" name="TextBox 41">
            <a:extLst>
              <a:ext uri="{FF2B5EF4-FFF2-40B4-BE49-F238E27FC236}">
                <a16:creationId xmlns:a16="http://schemas.microsoft.com/office/drawing/2014/main" id="{64CE116D-C553-1DA4-06AA-31A16FE35202}"/>
              </a:ext>
            </a:extLst>
          </p:cNvPr>
          <p:cNvSpPr txBox="1"/>
          <p:nvPr/>
        </p:nvSpPr>
        <p:spPr>
          <a:xfrm>
            <a:off x="2974194" y="2546095"/>
            <a:ext cx="3195611" cy="376834"/>
          </a:xfrm>
          <a:prstGeom prst="rect">
            <a:avLst/>
          </a:prstGeom>
          <a:noFill/>
        </p:spPr>
        <p:txBody>
          <a:bodyPr wrap="square">
            <a:spAutoFit/>
          </a:bodyPr>
          <a:lstStyle/>
          <a:p>
            <a:pPr algn="ctr">
              <a:lnSpc>
                <a:spcPct val="150000"/>
              </a:lnSpc>
            </a:pPr>
            <a:r>
              <a:rPr lang="fr-FR" b="1" noProof="0" dirty="0">
                <a:latin typeface="Times New Roman" panose="02020603050405020304" pitchFamily="18" charset="0"/>
                <a:cs typeface="Times New Roman" panose="02020603050405020304" pitchFamily="18" charset="0"/>
              </a:rPr>
              <a:t>Devant le jury :</a:t>
            </a:r>
          </a:p>
        </p:txBody>
      </p:sp>
      <p:graphicFrame>
        <p:nvGraphicFramePr>
          <p:cNvPr id="45" name="Table 44">
            <a:extLst>
              <a:ext uri="{FF2B5EF4-FFF2-40B4-BE49-F238E27FC236}">
                <a16:creationId xmlns:a16="http://schemas.microsoft.com/office/drawing/2014/main" id="{A049FB31-AF7E-26D5-6376-2B3BF3A33A36}"/>
              </a:ext>
            </a:extLst>
          </p:cNvPr>
          <p:cNvGraphicFramePr>
            <a:graphicFrameLocks noGrp="1"/>
          </p:cNvGraphicFramePr>
          <p:nvPr>
            <p:extLst>
              <p:ext uri="{D42A27DB-BD31-4B8C-83A1-F6EECF244321}">
                <p14:modId xmlns:p14="http://schemas.microsoft.com/office/powerpoint/2010/main" val="1856604433"/>
              </p:ext>
            </p:extLst>
          </p:nvPr>
        </p:nvGraphicFramePr>
        <p:xfrm>
          <a:off x="1233491" y="3187159"/>
          <a:ext cx="6677018" cy="1063995"/>
        </p:xfrm>
        <a:graphic>
          <a:graphicData uri="http://schemas.openxmlformats.org/drawingml/2006/table">
            <a:tbl>
              <a:tblPr bandRow="1" bandCol="1">
                <a:tableStyleId>{F2DE63D5-997A-4646-A377-4702673A728D}</a:tableStyleId>
              </a:tblPr>
              <a:tblGrid>
                <a:gridCol w="2676518">
                  <a:extLst>
                    <a:ext uri="{9D8B030D-6E8A-4147-A177-3AD203B41FA5}">
                      <a16:colId xmlns:a16="http://schemas.microsoft.com/office/drawing/2014/main" val="2913717951"/>
                    </a:ext>
                  </a:extLst>
                </a:gridCol>
                <a:gridCol w="1854200">
                  <a:extLst>
                    <a:ext uri="{9D8B030D-6E8A-4147-A177-3AD203B41FA5}">
                      <a16:colId xmlns:a16="http://schemas.microsoft.com/office/drawing/2014/main" val="972065253"/>
                    </a:ext>
                  </a:extLst>
                </a:gridCol>
                <a:gridCol w="2146300">
                  <a:extLst>
                    <a:ext uri="{9D8B030D-6E8A-4147-A177-3AD203B41FA5}">
                      <a16:colId xmlns:a16="http://schemas.microsoft.com/office/drawing/2014/main" val="676906044"/>
                    </a:ext>
                  </a:extLst>
                </a:gridCol>
              </a:tblGrid>
              <a:tr h="260406">
                <a:tc>
                  <a:txBody>
                    <a:bodyPr/>
                    <a:lstStyle/>
                    <a:p>
                      <a:pPr marL="535940" algn="l">
                        <a:lnSpc>
                          <a:spcPct val="115000"/>
                        </a:lnSpc>
                        <a:buNone/>
                      </a:pPr>
                      <a:r>
                        <a:rPr lang="fr-FR" sz="1200" kern="100" noProof="0" dirty="0">
                          <a:effectLst/>
                        </a:rPr>
                        <a:t>Pr . SABBANE Mohamed</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Président</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FS-</a:t>
                      </a:r>
                      <a:r>
                        <a:rPr lang="fr-FR" sz="1200" kern="100" noProof="0" dirty="0" err="1">
                          <a:effectLst/>
                        </a:rPr>
                        <a:t>Meknes</a:t>
                      </a:r>
                      <a:r>
                        <a:rPr lang="fr-FR" sz="1200" kern="100" noProof="0" dirty="0">
                          <a:effectLst/>
                        </a:rPr>
                        <a:t>, UMI</a:t>
                      </a:r>
                      <a:endParaRPr lang="fr-FR" sz="1100" kern="100" noProof="0" dirty="0">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533570306"/>
                  </a:ext>
                </a:extLst>
              </a:tr>
              <a:tr h="266941">
                <a:tc>
                  <a:txBody>
                    <a:bodyPr/>
                    <a:lstStyle/>
                    <a:p>
                      <a:pPr marL="535940" algn="l">
                        <a:lnSpc>
                          <a:spcPct val="115000"/>
                        </a:lnSpc>
                        <a:buNone/>
                      </a:pPr>
                      <a:r>
                        <a:rPr lang="fr-FR" sz="1200" kern="100" noProof="0" dirty="0">
                          <a:effectLst/>
                        </a:rPr>
                        <a:t>Pr . EL-ALLALY Ed-</a:t>
                      </a:r>
                      <a:r>
                        <a:rPr lang="fr-FR" sz="1200" kern="100" noProof="0" dirty="0" err="1">
                          <a:effectLst/>
                        </a:rPr>
                        <a:t>drissiya</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Rapporteuse</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FS-</a:t>
                      </a:r>
                      <a:r>
                        <a:rPr lang="fr-FR" sz="1200" kern="100" noProof="0" dirty="0" err="1">
                          <a:effectLst/>
                        </a:rPr>
                        <a:t>Meknes</a:t>
                      </a:r>
                      <a:r>
                        <a:rPr lang="fr-FR" sz="1200" kern="100" noProof="0" dirty="0">
                          <a:effectLst/>
                        </a:rPr>
                        <a:t>, UMI</a:t>
                      </a:r>
                      <a:endParaRPr lang="fr-FR" sz="1100" kern="100" noProof="0" dirty="0">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920597417"/>
                  </a:ext>
                </a:extLst>
              </a:tr>
              <a:tr h="268324">
                <a:tc>
                  <a:txBody>
                    <a:bodyPr/>
                    <a:lstStyle/>
                    <a:p>
                      <a:pPr marL="535940" algn="l">
                        <a:lnSpc>
                          <a:spcPct val="115000"/>
                        </a:lnSpc>
                        <a:buNone/>
                      </a:pPr>
                      <a:r>
                        <a:rPr lang="fr-FR" sz="1200" kern="100" noProof="0" dirty="0">
                          <a:effectLst/>
                        </a:rPr>
                        <a:t>Pr . MANZALI Youness</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Rapporteur</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FSDM-</a:t>
                      </a:r>
                      <a:r>
                        <a:rPr lang="fr-FR" sz="1200" kern="100" noProof="0" dirty="0" err="1">
                          <a:effectLst/>
                        </a:rPr>
                        <a:t>Fes</a:t>
                      </a:r>
                      <a:r>
                        <a:rPr lang="fr-FR" sz="1200" kern="100" noProof="0" dirty="0">
                          <a:effectLst/>
                        </a:rPr>
                        <a:t>, USMBA</a:t>
                      </a:r>
                      <a:endParaRPr lang="fr-FR" sz="1100" kern="100" noProof="0" dirty="0">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263524419"/>
                  </a:ext>
                </a:extLst>
              </a:tr>
              <a:tr h="268324">
                <a:tc>
                  <a:txBody>
                    <a:bodyPr/>
                    <a:lstStyle/>
                    <a:p>
                      <a:pPr marL="535940" algn="l">
                        <a:lnSpc>
                          <a:spcPct val="115000"/>
                        </a:lnSpc>
                        <a:buNone/>
                      </a:pPr>
                      <a:r>
                        <a:rPr lang="fr-FR" sz="1200" kern="100" noProof="0" dirty="0">
                          <a:effectLst/>
                        </a:rPr>
                        <a:t>Pr . AKACHAR </a:t>
                      </a:r>
                      <a:r>
                        <a:rPr lang="fr-FR" sz="1200" kern="100" noProof="0" dirty="0" err="1">
                          <a:effectLst/>
                        </a:rPr>
                        <a:t>Elyazid</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Encadrant</a:t>
                      </a:r>
                      <a:endParaRPr lang="fr-FR" sz="1100" kern="100" noProof="0" dirty="0">
                        <a:effectLst/>
                        <a:latin typeface="Arial" panose="020B0604020202020204" pitchFamily="34" charset="0"/>
                        <a:ea typeface="Arial" panose="020B0604020202020204" pitchFamily="34" charset="0"/>
                      </a:endParaRPr>
                    </a:p>
                  </a:txBody>
                  <a:tcPr marL="0" marR="0" marT="0" marB="0"/>
                </a:tc>
                <a:tc>
                  <a:txBody>
                    <a:bodyPr/>
                    <a:lstStyle/>
                    <a:p>
                      <a:pPr marL="535940" algn="l">
                        <a:lnSpc>
                          <a:spcPct val="115000"/>
                        </a:lnSpc>
                        <a:buNone/>
                      </a:pPr>
                      <a:r>
                        <a:rPr lang="fr-FR" sz="1200" kern="100" noProof="0" dirty="0">
                          <a:effectLst/>
                        </a:rPr>
                        <a:t>FS-Meknès, UMI</a:t>
                      </a:r>
                      <a:endParaRPr lang="fr-FR" sz="1100" kern="100" noProof="0" dirty="0">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732242754"/>
                  </a:ext>
                </a:extLst>
              </a:tr>
            </a:tbl>
          </a:graphicData>
        </a:graphic>
      </p:graphicFrame>
    </p:spTree>
    <p:extLst>
      <p:ext uri="{BB962C8B-B14F-4D97-AF65-F5344CB8AC3E}">
        <p14:creationId xmlns:p14="http://schemas.microsoft.com/office/powerpoint/2010/main" val="2576836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9">
          <a:extLst>
            <a:ext uri="{FF2B5EF4-FFF2-40B4-BE49-F238E27FC236}">
              <a16:creationId xmlns:a16="http://schemas.microsoft.com/office/drawing/2014/main" id="{488AA2A6-3D42-032D-4AAA-5BF1A362C41D}"/>
            </a:ext>
          </a:extLst>
        </p:cNvPr>
        <p:cNvGrpSpPr/>
        <p:nvPr/>
      </p:nvGrpSpPr>
      <p:grpSpPr>
        <a:xfrm>
          <a:off x="0" y="0"/>
          <a:ext cx="0" cy="0"/>
          <a:chOff x="0" y="0"/>
          <a:chExt cx="0" cy="0"/>
        </a:xfrm>
      </p:grpSpPr>
      <p:sp>
        <p:nvSpPr>
          <p:cNvPr id="1481" name="Google Shape;1481;p29">
            <a:extLst>
              <a:ext uri="{FF2B5EF4-FFF2-40B4-BE49-F238E27FC236}">
                <a16:creationId xmlns:a16="http://schemas.microsoft.com/office/drawing/2014/main" id="{D0399217-5624-66A9-A9C2-A1A07959CDBE}"/>
              </a:ext>
            </a:extLst>
          </p:cNvPr>
          <p:cNvSpPr txBox="1">
            <a:spLocks noGrp="1"/>
          </p:cNvSpPr>
          <p:nvPr>
            <p:ph type="title" idx="5"/>
          </p:nvPr>
        </p:nvSpPr>
        <p:spPr>
          <a:xfrm>
            <a:off x="720000" y="1289204"/>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2000" noProof="0" dirty="0"/>
              <a:t>01</a:t>
            </a:r>
          </a:p>
        </p:txBody>
      </p:sp>
      <p:sp>
        <p:nvSpPr>
          <p:cNvPr id="1482" name="Google Shape;1482;p29">
            <a:extLst>
              <a:ext uri="{FF2B5EF4-FFF2-40B4-BE49-F238E27FC236}">
                <a16:creationId xmlns:a16="http://schemas.microsoft.com/office/drawing/2014/main" id="{7EBE8760-54D3-D44A-335C-8446F696571B}"/>
              </a:ext>
            </a:extLst>
          </p:cNvPr>
          <p:cNvSpPr txBox="1">
            <a:spLocks noGrp="1"/>
          </p:cNvSpPr>
          <p:nvPr>
            <p:ph type="subTitle" idx="9"/>
          </p:nvPr>
        </p:nvSpPr>
        <p:spPr>
          <a:xfrm>
            <a:off x="1574175" y="1607275"/>
            <a:ext cx="3125415" cy="286925"/>
          </a:xfrm>
          <a:prstGeom prst="rect">
            <a:avLst/>
          </a:prstGeom>
        </p:spPr>
        <p:txBody>
          <a:bodyPr spcFirstLastPara="1" wrap="square" lIns="91425" tIns="91425" rIns="91425" bIns="91425" anchor="b" anchorCtr="0">
            <a:noAutofit/>
          </a:bodyPr>
          <a:lstStyle/>
          <a:p>
            <a:pPr marL="0" lvl="0" indent="0"/>
            <a:r>
              <a:rPr lang="fr-FR" sz="1400" noProof="0" dirty="0"/>
              <a:t>Introduction et contexte</a:t>
            </a:r>
          </a:p>
        </p:txBody>
      </p:sp>
      <p:sp>
        <p:nvSpPr>
          <p:cNvPr id="1484" name="Google Shape;1484;p29">
            <a:extLst>
              <a:ext uri="{FF2B5EF4-FFF2-40B4-BE49-F238E27FC236}">
                <a16:creationId xmlns:a16="http://schemas.microsoft.com/office/drawing/2014/main" id="{ECDC569C-426F-1191-691A-5CDCDE1CE2D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fr-FR" noProof="0" dirty="0"/>
              <a:t>Sommaire</a:t>
            </a:r>
          </a:p>
        </p:txBody>
      </p:sp>
      <p:sp>
        <p:nvSpPr>
          <p:cNvPr id="24" name="Google Shape;1481;p29">
            <a:extLst>
              <a:ext uri="{FF2B5EF4-FFF2-40B4-BE49-F238E27FC236}">
                <a16:creationId xmlns:a16="http://schemas.microsoft.com/office/drawing/2014/main" id="{988FDED6-5882-41CD-A1C8-F8A717BA8308}"/>
              </a:ext>
            </a:extLst>
          </p:cNvPr>
          <p:cNvSpPr txBox="1">
            <a:spLocks/>
          </p:cNvSpPr>
          <p:nvPr/>
        </p:nvSpPr>
        <p:spPr>
          <a:xfrm>
            <a:off x="758225" y="1808806"/>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02</a:t>
            </a:r>
          </a:p>
        </p:txBody>
      </p:sp>
      <p:sp>
        <p:nvSpPr>
          <p:cNvPr id="25" name="Google Shape;1482;p29">
            <a:extLst>
              <a:ext uri="{FF2B5EF4-FFF2-40B4-BE49-F238E27FC236}">
                <a16:creationId xmlns:a16="http://schemas.microsoft.com/office/drawing/2014/main" id="{C8C89414-67F3-37DE-13C5-870285B8F4C6}"/>
              </a:ext>
            </a:extLst>
          </p:cNvPr>
          <p:cNvSpPr txBox="1">
            <a:spLocks/>
          </p:cNvSpPr>
          <p:nvPr/>
        </p:nvSpPr>
        <p:spPr>
          <a:xfrm>
            <a:off x="1574176" y="2138856"/>
            <a:ext cx="2884800"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Problématique et Objectifs</a:t>
            </a:r>
          </a:p>
        </p:txBody>
      </p:sp>
      <p:sp>
        <p:nvSpPr>
          <p:cNvPr id="27" name="Google Shape;1481;p29">
            <a:extLst>
              <a:ext uri="{FF2B5EF4-FFF2-40B4-BE49-F238E27FC236}">
                <a16:creationId xmlns:a16="http://schemas.microsoft.com/office/drawing/2014/main" id="{4BB97521-C704-EF58-9790-10D4F51EC960}"/>
              </a:ext>
            </a:extLst>
          </p:cNvPr>
          <p:cNvSpPr txBox="1">
            <a:spLocks/>
          </p:cNvSpPr>
          <p:nvPr/>
        </p:nvSpPr>
        <p:spPr>
          <a:xfrm>
            <a:off x="758225" y="2306276"/>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03</a:t>
            </a:r>
          </a:p>
        </p:txBody>
      </p:sp>
      <p:sp>
        <p:nvSpPr>
          <p:cNvPr id="29" name="Google Shape;1482;p29">
            <a:extLst>
              <a:ext uri="{FF2B5EF4-FFF2-40B4-BE49-F238E27FC236}">
                <a16:creationId xmlns:a16="http://schemas.microsoft.com/office/drawing/2014/main" id="{2A6BFD9C-AC1C-FDE0-2E04-264F614CD2D3}"/>
              </a:ext>
            </a:extLst>
          </p:cNvPr>
          <p:cNvSpPr txBox="1">
            <a:spLocks/>
          </p:cNvSpPr>
          <p:nvPr/>
        </p:nvSpPr>
        <p:spPr>
          <a:xfrm>
            <a:off x="1574176" y="2636326"/>
            <a:ext cx="2884800"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Etat de l'art</a:t>
            </a:r>
          </a:p>
        </p:txBody>
      </p:sp>
      <p:sp>
        <p:nvSpPr>
          <p:cNvPr id="31" name="Google Shape;1481;p29">
            <a:extLst>
              <a:ext uri="{FF2B5EF4-FFF2-40B4-BE49-F238E27FC236}">
                <a16:creationId xmlns:a16="http://schemas.microsoft.com/office/drawing/2014/main" id="{1F04A791-46AA-99B2-3462-C73E8833BB7B}"/>
              </a:ext>
            </a:extLst>
          </p:cNvPr>
          <p:cNvSpPr txBox="1">
            <a:spLocks/>
          </p:cNvSpPr>
          <p:nvPr/>
        </p:nvSpPr>
        <p:spPr>
          <a:xfrm>
            <a:off x="758225" y="2756226"/>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04</a:t>
            </a:r>
          </a:p>
        </p:txBody>
      </p:sp>
      <p:sp>
        <p:nvSpPr>
          <p:cNvPr id="33" name="Google Shape;1482;p29">
            <a:extLst>
              <a:ext uri="{FF2B5EF4-FFF2-40B4-BE49-F238E27FC236}">
                <a16:creationId xmlns:a16="http://schemas.microsoft.com/office/drawing/2014/main" id="{1FD32997-A7BA-CD8D-469B-6801F802CF56}"/>
              </a:ext>
            </a:extLst>
          </p:cNvPr>
          <p:cNvSpPr txBox="1">
            <a:spLocks/>
          </p:cNvSpPr>
          <p:nvPr/>
        </p:nvSpPr>
        <p:spPr>
          <a:xfrm>
            <a:off x="1574176" y="3086276"/>
            <a:ext cx="2884800"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Méthodologie</a:t>
            </a:r>
          </a:p>
        </p:txBody>
      </p:sp>
      <p:sp>
        <p:nvSpPr>
          <p:cNvPr id="34" name="Google Shape;1481;p29">
            <a:extLst>
              <a:ext uri="{FF2B5EF4-FFF2-40B4-BE49-F238E27FC236}">
                <a16:creationId xmlns:a16="http://schemas.microsoft.com/office/drawing/2014/main" id="{E811344D-A009-0A81-88CC-D673654F46EB}"/>
              </a:ext>
            </a:extLst>
          </p:cNvPr>
          <p:cNvSpPr txBox="1">
            <a:spLocks/>
          </p:cNvSpPr>
          <p:nvPr/>
        </p:nvSpPr>
        <p:spPr>
          <a:xfrm>
            <a:off x="4458976" y="1277225"/>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05</a:t>
            </a:r>
          </a:p>
        </p:txBody>
      </p:sp>
      <p:sp>
        <p:nvSpPr>
          <p:cNvPr id="35" name="Google Shape;1482;p29">
            <a:extLst>
              <a:ext uri="{FF2B5EF4-FFF2-40B4-BE49-F238E27FC236}">
                <a16:creationId xmlns:a16="http://schemas.microsoft.com/office/drawing/2014/main" id="{31369977-4133-CF1D-2475-396511934D01}"/>
              </a:ext>
            </a:extLst>
          </p:cNvPr>
          <p:cNvSpPr txBox="1">
            <a:spLocks/>
          </p:cNvSpPr>
          <p:nvPr/>
        </p:nvSpPr>
        <p:spPr>
          <a:xfrm>
            <a:off x="5274927" y="1607275"/>
            <a:ext cx="2884800"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Résultats</a:t>
            </a:r>
          </a:p>
        </p:txBody>
      </p:sp>
      <p:sp>
        <p:nvSpPr>
          <p:cNvPr id="36" name="Google Shape;1481;p29">
            <a:extLst>
              <a:ext uri="{FF2B5EF4-FFF2-40B4-BE49-F238E27FC236}">
                <a16:creationId xmlns:a16="http://schemas.microsoft.com/office/drawing/2014/main" id="{0CFFF65C-6A90-9C37-6482-917AD8CE41EA}"/>
              </a:ext>
            </a:extLst>
          </p:cNvPr>
          <p:cNvSpPr txBox="1">
            <a:spLocks/>
          </p:cNvSpPr>
          <p:nvPr/>
        </p:nvSpPr>
        <p:spPr>
          <a:xfrm>
            <a:off x="4458976" y="1751132"/>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06</a:t>
            </a:r>
          </a:p>
        </p:txBody>
      </p:sp>
      <p:sp>
        <p:nvSpPr>
          <p:cNvPr id="37" name="Google Shape;1482;p29">
            <a:extLst>
              <a:ext uri="{FF2B5EF4-FFF2-40B4-BE49-F238E27FC236}">
                <a16:creationId xmlns:a16="http://schemas.microsoft.com/office/drawing/2014/main" id="{9F96197A-0229-6BB2-4A77-30F0738C76BD}"/>
              </a:ext>
            </a:extLst>
          </p:cNvPr>
          <p:cNvSpPr txBox="1">
            <a:spLocks/>
          </p:cNvSpPr>
          <p:nvPr/>
        </p:nvSpPr>
        <p:spPr>
          <a:xfrm>
            <a:off x="5122674" y="2215567"/>
            <a:ext cx="4021326" cy="32754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r>
              <a:rPr lang="fr-FR" sz="1400" noProof="0" dirty="0"/>
              <a:t>Intégration du système </a:t>
            </a:r>
          </a:p>
          <a:p>
            <a:r>
              <a:rPr lang="fr-FR" sz="1400" noProof="0" dirty="0"/>
              <a:t>de recommandation</a:t>
            </a:r>
          </a:p>
        </p:txBody>
      </p:sp>
      <p:sp>
        <p:nvSpPr>
          <p:cNvPr id="38" name="Google Shape;1481;p29">
            <a:extLst>
              <a:ext uri="{FF2B5EF4-FFF2-40B4-BE49-F238E27FC236}">
                <a16:creationId xmlns:a16="http://schemas.microsoft.com/office/drawing/2014/main" id="{3A38F007-DAC9-E914-AD5D-1A46D65D29C6}"/>
              </a:ext>
            </a:extLst>
          </p:cNvPr>
          <p:cNvSpPr txBox="1">
            <a:spLocks/>
          </p:cNvSpPr>
          <p:nvPr/>
        </p:nvSpPr>
        <p:spPr>
          <a:xfrm>
            <a:off x="4458976" y="2306276"/>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07</a:t>
            </a:r>
          </a:p>
        </p:txBody>
      </p:sp>
      <p:sp>
        <p:nvSpPr>
          <p:cNvPr id="39" name="Google Shape;1482;p29">
            <a:extLst>
              <a:ext uri="{FF2B5EF4-FFF2-40B4-BE49-F238E27FC236}">
                <a16:creationId xmlns:a16="http://schemas.microsoft.com/office/drawing/2014/main" id="{4686D4AA-789B-A04A-C3E9-EEAB7847368D}"/>
              </a:ext>
            </a:extLst>
          </p:cNvPr>
          <p:cNvSpPr txBox="1">
            <a:spLocks/>
          </p:cNvSpPr>
          <p:nvPr/>
        </p:nvSpPr>
        <p:spPr>
          <a:xfrm>
            <a:off x="5274927" y="2636326"/>
            <a:ext cx="2884800"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Web Application</a:t>
            </a:r>
          </a:p>
        </p:txBody>
      </p:sp>
      <p:sp>
        <p:nvSpPr>
          <p:cNvPr id="40" name="Google Shape;1481;p29">
            <a:extLst>
              <a:ext uri="{FF2B5EF4-FFF2-40B4-BE49-F238E27FC236}">
                <a16:creationId xmlns:a16="http://schemas.microsoft.com/office/drawing/2014/main" id="{0E45F8DC-A7BE-E247-7A67-6E39311739EC}"/>
              </a:ext>
            </a:extLst>
          </p:cNvPr>
          <p:cNvSpPr txBox="1">
            <a:spLocks/>
          </p:cNvSpPr>
          <p:nvPr/>
        </p:nvSpPr>
        <p:spPr>
          <a:xfrm>
            <a:off x="4458976" y="2756226"/>
            <a:ext cx="816600" cy="780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000" noProof="0" dirty="0"/>
              <a:t>08</a:t>
            </a:r>
          </a:p>
        </p:txBody>
      </p:sp>
      <p:sp>
        <p:nvSpPr>
          <p:cNvPr id="41" name="Google Shape;1482;p29">
            <a:extLst>
              <a:ext uri="{FF2B5EF4-FFF2-40B4-BE49-F238E27FC236}">
                <a16:creationId xmlns:a16="http://schemas.microsoft.com/office/drawing/2014/main" id="{D061BCF3-0ED9-E919-7EAE-06239767B257}"/>
              </a:ext>
            </a:extLst>
          </p:cNvPr>
          <p:cNvSpPr txBox="1">
            <a:spLocks/>
          </p:cNvSpPr>
          <p:nvPr/>
        </p:nvSpPr>
        <p:spPr>
          <a:xfrm>
            <a:off x="5274927" y="3086276"/>
            <a:ext cx="3018468" cy="28692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fr-FR" sz="1400" noProof="0" dirty="0"/>
              <a:t>Conclusion &amp; Future Perspectives</a:t>
            </a:r>
          </a:p>
        </p:txBody>
      </p:sp>
    </p:spTree>
    <p:extLst>
      <p:ext uri="{BB962C8B-B14F-4D97-AF65-F5344CB8AC3E}">
        <p14:creationId xmlns:p14="http://schemas.microsoft.com/office/powerpoint/2010/main" val="2603361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0">
          <a:extLst>
            <a:ext uri="{FF2B5EF4-FFF2-40B4-BE49-F238E27FC236}">
              <a16:creationId xmlns:a16="http://schemas.microsoft.com/office/drawing/2014/main" id="{85A7006D-8088-74F4-AB9B-481106A5523D}"/>
            </a:ext>
          </a:extLst>
        </p:cNvPr>
        <p:cNvGrpSpPr/>
        <p:nvPr/>
      </p:nvGrpSpPr>
      <p:grpSpPr>
        <a:xfrm>
          <a:off x="0" y="0"/>
          <a:ext cx="0" cy="0"/>
          <a:chOff x="0" y="0"/>
          <a:chExt cx="0" cy="0"/>
        </a:xfrm>
      </p:grpSpPr>
      <p:sp>
        <p:nvSpPr>
          <p:cNvPr id="1704" name="Google Shape;1704;p38">
            <a:extLst>
              <a:ext uri="{FF2B5EF4-FFF2-40B4-BE49-F238E27FC236}">
                <a16:creationId xmlns:a16="http://schemas.microsoft.com/office/drawing/2014/main" id="{B428FCD0-1194-BCB0-9535-8D49D4A73B9D}"/>
              </a:ext>
            </a:extLst>
          </p:cNvPr>
          <p:cNvSpPr txBox="1">
            <a:spLocks noGrp="1"/>
          </p:cNvSpPr>
          <p:nvPr>
            <p:ph type="title"/>
          </p:nvPr>
        </p:nvSpPr>
        <p:spPr>
          <a:xfrm>
            <a:off x="524792" y="288525"/>
            <a:ext cx="193482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2400" noProof="0" dirty="0"/>
              <a:t>Introduction</a:t>
            </a:r>
          </a:p>
        </p:txBody>
      </p:sp>
      <p:sp>
        <p:nvSpPr>
          <p:cNvPr id="5" name="TextBox 4">
            <a:extLst>
              <a:ext uri="{FF2B5EF4-FFF2-40B4-BE49-F238E27FC236}">
                <a16:creationId xmlns:a16="http://schemas.microsoft.com/office/drawing/2014/main" id="{6EAB589E-1016-9728-B9BB-533B0D6E596F}"/>
              </a:ext>
            </a:extLst>
          </p:cNvPr>
          <p:cNvSpPr txBox="1"/>
          <p:nvPr/>
        </p:nvSpPr>
        <p:spPr>
          <a:xfrm>
            <a:off x="1114306" y="1413836"/>
            <a:ext cx="6915388" cy="2315827"/>
          </a:xfrm>
          <a:prstGeom prst="rect">
            <a:avLst/>
          </a:prstGeom>
          <a:noFill/>
        </p:spPr>
        <p:txBody>
          <a:bodyPr wrap="square">
            <a:spAutoFit/>
          </a:bodyPr>
          <a:lstStyle/>
          <a:p>
            <a:pPr algn="just">
              <a:lnSpc>
                <a:spcPct val="150000"/>
              </a:lnSpc>
            </a:pPr>
            <a:r>
              <a:rPr lang="fr-FR" noProof="0" dirty="0">
                <a:latin typeface="Times New Roman" panose="02020603050405020304" pitchFamily="18" charset="0"/>
                <a:cs typeface="Times New Roman" panose="02020603050405020304" pitchFamily="18" charset="0"/>
              </a:rPr>
              <a:t>Les plateformes de réseaux sociaux génèrent d'immenses réseaux d'interactions entre les utilisateurs.</a:t>
            </a:r>
          </a:p>
          <a:p>
            <a:pPr marL="285750" indent="-285750" algn="just">
              <a:lnSpc>
                <a:spcPct val="15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Facebook compte plus de 2 milliards d'utilisateurs actifs.</a:t>
            </a:r>
          </a:p>
          <a:p>
            <a:pPr marL="285750" indent="-285750" algn="just">
              <a:lnSpc>
                <a:spcPct val="15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Les interactions incluent les mentions J'aime, les partages, les commentaires et les abonnements.</a:t>
            </a:r>
          </a:p>
          <a:p>
            <a:pPr marL="285750" indent="-285750" algn="just">
              <a:lnSpc>
                <a:spcPct val="15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Ces interactions forment des réseaux complexes qui révèlent des schémas de connexion et de comportement entre les utilisateurs.</a:t>
            </a:r>
          </a:p>
        </p:txBody>
      </p:sp>
    </p:spTree>
    <p:extLst>
      <p:ext uri="{BB962C8B-B14F-4D97-AF65-F5344CB8AC3E}">
        <p14:creationId xmlns:p14="http://schemas.microsoft.com/office/powerpoint/2010/main" val="445072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0">
          <a:extLst>
            <a:ext uri="{FF2B5EF4-FFF2-40B4-BE49-F238E27FC236}">
              <a16:creationId xmlns:a16="http://schemas.microsoft.com/office/drawing/2014/main" id="{EE2BF6EA-0F16-D5F2-38E3-51F7E7E4285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2FD18-9A86-827D-3943-148AF021AFA1}"/>
              </a:ext>
            </a:extLst>
          </p:cNvPr>
          <p:cNvSpPr txBox="1"/>
          <p:nvPr/>
        </p:nvSpPr>
        <p:spPr>
          <a:xfrm>
            <a:off x="524792" y="1139578"/>
            <a:ext cx="8094416" cy="1750287"/>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Les réseaux sociaux (Facebook, X, Instagram…) sont des graphes d’interactions.</a:t>
            </a:r>
          </a:p>
          <a:p>
            <a:pPr marL="285750" indent="-285750" algn="just">
              <a:lnSpc>
                <a:spcPct val="20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Chaque utilisateur est un point, chaque lien (like, partage, abonnement) est une connexion.</a:t>
            </a:r>
          </a:p>
          <a:p>
            <a:pPr marL="285750" indent="-285750" algn="just">
              <a:lnSpc>
                <a:spcPct val="20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La détection de communautés consiste à trouver automatiquement des groupes d'utilisateurs très connectés entre eux.</a:t>
            </a:r>
            <a:endParaRPr lang="fr-FR" noProof="0" dirty="0">
              <a:latin typeface="Times New Roman" panose="02020603050405020304" pitchFamily="18" charset="0"/>
              <a:cs typeface="Times New Roman" panose="02020603050405020304" pitchFamily="18" charset="0"/>
            </a:endParaRPr>
          </a:p>
        </p:txBody>
      </p:sp>
      <p:sp>
        <p:nvSpPr>
          <p:cNvPr id="6" name="Google Shape;1704;p38">
            <a:extLst>
              <a:ext uri="{FF2B5EF4-FFF2-40B4-BE49-F238E27FC236}">
                <a16:creationId xmlns:a16="http://schemas.microsoft.com/office/drawing/2014/main" id="{FD8A1E33-6529-1480-D446-7BD82B7FBFF0}"/>
              </a:ext>
            </a:extLst>
          </p:cNvPr>
          <p:cNvSpPr txBox="1">
            <a:spLocks noGrp="1"/>
          </p:cNvSpPr>
          <p:nvPr>
            <p:ph type="title"/>
          </p:nvPr>
        </p:nvSpPr>
        <p:spPr>
          <a:xfrm>
            <a:off x="524792" y="288525"/>
            <a:ext cx="8503594" cy="572700"/>
          </a:xfrm>
          <a:prstGeom prst="rect">
            <a:avLst/>
          </a:prstGeom>
        </p:spPr>
        <p:txBody>
          <a:bodyPr spcFirstLastPara="1" wrap="square" lIns="91425" tIns="91425" rIns="91425" bIns="91425" anchor="t" anchorCtr="0">
            <a:noAutofit/>
          </a:bodyPr>
          <a:lstStyle/>
          <a:p>
            <a:r>
              <a:rPr lang="fr-FR" sz="2400" dirty="0"/>
              <a:t>Contexte</a:t>
            </a:r>
            <a:endParaRPr lang="fr-FR" sz="2400" noProof="0" dirty="0"/>
          </a:p>
        </p:txBody>
      </p:sp>
      <p:sp>
        <p:nvSpPr>
          <p:cNvPr id="20" name="TextBox 19">
            <a:extLst>
              <a:ext uri="{FF2B5EF4-FFF2-40B4-BE49-F238E27FC236}">
                <a16:creationId xmlns:a16="http://schemas.microsoft.com/office/drawing/2014/main" id="{4B39229F-5489-7AF8-AD4E-2BCFF5F1D765}"/>
              </a:ext>
            </a:extLst>
          </p:cNvPr>
          <p:cNvSpPr txBox="1"/>
          <p:nvPr/>
        </p:nvSpPr>
        <p:spPr>
          <a:xfrm>
            <a:off x="671794" y="831801"/>
            <a:ext cx="2862516" cy="307777"/>
          </a:xfrm>
          <a:prstGeom prst="rect">
            <a:avLst/>
          </a:prstGeom>
          <a:noFill/>
        </p:spPr>
        <p:txBody>
          <a:bodyPr wrap="square" rtlCol="0">
            <a:spAutoFit/>
          </a:bodyPr>
          <a:lstStyle/>
          <a:p>
            <a:r>
              <a:rPr lang="fr-FR" b="1" dirty="0"/>
              <a:t>Détection de communautés</a:t>
            </a:r>
            <a:endParaRPr lang="fr-FR" noProof="0" dirty="0"/>
          </a:p>
        </p:txBody>
      </p:sp>
      <p:pic>
        <p:nvPicPr>
          <p:cNvPr id="42" name="Picture 41">
            <a:extLst>
              <a:ext uri="{FF2B5EF4-FFF2-40B4-BE49-F238E27FC236}">
                <a16:creationId xmlns:a16="http://schemas.microsoft.com/office/drawing/2014/main" id="{49664778-EE07-0BC9-7497-A4169B812C84}"/>
              </a:ext>
            </a:extLst>
          </p:cNvPr>
          <p:cNvPicPr>
            <a:picLocks noChangeAspect="1"/>
          </p:cNvPicPr>
          <p:nvPr/>
        </p:nvPicPr>
        <p:blipFill>
          <a:blip r:embed="rId3"/>
          <a:srcRect b="5955"/>
          <a:stretch>
            <a:fillRect/>
          </a:stretch>
        </p:blipFill>
        <p:spPr>
          <a:xfrm>
            <a:off x="3327367" y="2571749"/>
            <a:ext cx="3809703" cy="2572491"/>
          </a:xfrm>
          <a:prstGeom prst="rect">
            <a:avLst/>
          </a:prstGeom>
        </p:spPr>
      </p:pic>
    </p:spTree>
    <p:extLst>
      <p:ext uri="{BB962C8B-B14F-4D97-AF65-F5344CB8AC3E}">
        <p14:creationId xmlns:p14="http://schemas.microsoft.com/office/powerpoint/2010/main" val="187211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0">
          <a:extLst>
            <a:ext uri="{FF2B5EF4-FFF2-40B4-BE49-F238E27FC236}">
              <a16:creationId xmlns:a16="http://schemas.microsoft.com/office/drawing/2014/main" id="{E12CDE11-29E2-DE3B-E9B6-317643F761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E662F6-F4BE-77B3-1741-AA8398BF7C91}"/>
              </a:ext>
            </a:extLst>
          </p:cNvPr>
          <p:cNvSpPr txBox="1"/>
          <p:nvPr/>
        </p:nvSpPr>
        <p:spPr>
          <a:xfrm>
            <a:off x="524792" y="1139578"/>
            <a:ext cx="8094416" cy="1750287"/>
          </a:xfrm>
          <a:prstGeom prst="rect">
            <a:avLst/>
          </a:prstGeom>
          <a:noFill/>
        </p:spPr>
        <p:txBody>
          <a:bodyPr wrap="square">
            <a:spAutoFit/>
          </a:bodyPr>
          <a:lstStyle/>
          <a:p>
            <a:pPr algn="just">
              <a:lnSpc>
                <a:spcPct val="200000"/>
              </a:lnSpc>
            </a:pPr>
            <a:r>
              <a:rPr lang="fr-FR" b="1" dirty="0">
                <a:latin typeface="Times New Roman" panose="02020603050405020304" pitchFamily="18" charset="0"/>
                <a:cs typeface="Times New Roman" panose="02020603050405020304" pitchFamily="18" charset="0"/>
              </a:rPr>
              <a:t>Question</a:t>
            </a:r>
            <a:r>
              <a:rPr lang="fr-FR" dirty="0">
                <a:latin typeface="Times New Roman" panose="02020603050405020304" pitchFamily="18" charset="0"/>
                <a:cs typeface="Times New Roman" panose="02020603050405020304" pitchFamily="18" charset="0"/>
              </a:rPr>
              <a:t> : Est-ce que regrouper les utilisateurs de cette façon est réellement utile ?</a:t>
            </a:r>
          </a:p>
          <a:p>
            <a:pPr algn="just">
              <a:lnSpc>
                <a:spcPct val="200000"/>
              </a:lnSpc>
            </a:pPr>
            <a:r>
              <a:rPr lang="fr-FR" b="1" dirty="0">
                <a:latin typeface="Times New Roman" panose="02020603050405020304" pitchFamily="18" charset="0"/>
                <a:cs typeface="Times New Roman" panose="02020603050405020304" pitchFamily="18" charset="0"/>
              </a:rPr>
              <a:t>Réponse</a:t>
            </a:r>
            <a:r>
              <a:rPr lang="fr-FR" dirty="0">
                <a:latin typeface="Times New Roman" panose="02020603050405020304" pitchFamily="18" charset="0"/>
                <a:cs typeface="Times New Roman" panose="02020603050405020304" pitchFamily="18" charset="0"/>
              </a:rPr>
              <a:t> : Oui, car les personnes très connectées socialement ont souvent :</a:t>
            </a:r>
          </a:p>
          <a:p>
            <a:pPr marL="285750" indent="-285750" algn="just">
              <a:lnSpc>
                <a:spcPct val="20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Des centres d'intérêt communs (sport, cuisine, high-tech, etc.)</a:t>
            </a:r>
          </a:p>
          <a:p>
            <a:pPr marL="285750" indent="-285750" algn="just">
              <a:lnSpc>
                <a:spcPct val="20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Des comportements d'achat ou de consommation similaires.</a:t>
            </a:r>
            <a:endParaRPr lang="fr-FR" noProof="0" dirty="0">
              <a:latin typeface="Times New Roman" panose="02020603050405020304" pitchFamily="18" charset="0"/>
              <a:cs typeface="Times New Roman" panose="02020603050405020304" pitchFamily="18" charset="0"/>
            </a:endParaRPr>
          </a:p>
        </p:txBody>
      </p:sp>
      <p:sp>
        <p:nvSpPr>
          <p:cNvPr id="6" name="Google Shape;1704;p38">
            <a:extLst>
              <a:ext uri="{FF2B5EF4-FFF2-40B4-BE49-F238E27FC236}">
                <a16:creationId xmlns:a16="http://schemas.microsoft.com/office/drawing/2014/main" id="{5BB3DBF9-FD69-6F59-4A1C-28C2D8C5C122}"/>
              </a:ext>
            </a:extLst>
          </p:cNvPr>
          <p:cNvSpPr txBox="1">
            <a:spLocks noGrp="1"/>
          </p:cNvSpPr>
          <p:nvPr>
            <p:ph type="title"/>
          </p:nvPr>
        </p:nvSpPr>
        <p:spPr>
          <a:xfrm>
            <a:off x="524792" y="288525"/>
            <a:ext cx="8503594" cy="572700"/>
          </a:xfrm>
          <a:prstGeom prst="rect">
            <a:avLst/>
          </a:prstGeom>
        </p:spPr>
        <p:txBody>
          <a:bodyPr spcFirstLastPara="1" wrap="square" lIns="91425" tIns="91425" rIns="91425" bIns="91425" anchor="t" anchorCtr="0">
            <a:noAutofit/>
          </a:bodyPr>
          <a:lstStyle/>
          <a:p>
            <a:r>
              <a:rPr lang="fr-FR" sz="2400" dirty="0"/>
              <a:t>Contexte</a:t>
            </a:r>
            <a:endParaRPr lang="fr-FR" sz="2400" noProof="0" dirty="0"/>
          </a:p>
        </p:txBody>
      </p:sp>
      <p:sp>
        <p:nvSpPr>
          <p:cNvPr id="20" name="TextBox 19">
            <a:extLst>
              <a:ext uri="{FF2B5EF4-FFF2-40B4-BE49-F238E27FC236}">
                <a16:creationId xmlns:a16="http://schemas.microsoft.com/office/drawing/2014/main" id="{0BCA71BE-3FDF-0C27-2468-769BBD90D18A}"/>
              </a:ext>
            </a:extLst>
          </p:cNvPr>
          <p:cNvSpPr txBox="1"/>
          <p:nvPr/>
        </p:nvSpPr>
        <p:spPr>
          <a:xfrm>
            <a:off x="671793" y="831801"/>
            <a:ext cx="7854689" cy="307777"/>
          </a:xfrm>
          <a:prstGeom prst="rect">
            <a:avLst/>
          </a:prstGeom>
          <a:noFill/>
        </p:spPr>
        <p:txBody>
          <a:bodyPr wrap="square" rtlCol="0">
            <a:spAutoFit/>
          </a:bodyPr>
          <a:lstStyle/>
          <a:p>
            <a:r>
              <a:rPr lang="fr-FR" b="1" dirty="0"/>
              <a:t>Les membres d’une même communauté partagent-ils les mêmes goûts ?</a:t>
            </a:r>
            <a:endParaRPr lang="fr-FR" noProof="0" dirty="0"/>
          </a:p>
        </p:txBody>
      </p:sp>
      <p:pic>
        <p:nvPicPr>
          <p:cNvPr id="3" name="Picture 2">
            <a:extLst>
              <a:ext uri="{FF2B5EF4-FFF2-40B4-BE49-F238E27FC236}">
                <a16:creationId xmlns:a16="http://schemas.microsoft.com/office/drawing/2014/main" id="{33F2B818-031C-9145-E79C-04364147E84A}"/>
              </a:ext>
            </a:extLst>
          </p:cNvPr>
          <p:cNvPicPr>
            <a:picLocks noChangeAspect="1"/>
          </p:cNvPicPr>
          <p:nvPr/>
        </p:nvPicPr>
        <p:blipFill>
          <a:blip r:embed="rId3"/>
          <a:stretch>
            <a:fillRect/>
          </a:stretch>
        </p:blipFill>
        <p:spPr>
          <a:xfrm>
            <a:off x="4916384" y="2957701"/>
            <a:ext cx="2720942" cy="1897274"/>
          </a:xfrm>
          <a:prstGeom prst="rect">
            <a:avLst/>
          </a:prstGeom>
        </p:spPr>
      </p:pic>
    </p:spTree>
    <p:extLst>
      <p:ext uri="{BB962C8B-B14F-4D97-AF65-F5344CB8AC3E}">
        <p14:creationId xmlns:p14="http://schemas.microsoft.com/office/powerpoint/2010/main" val="3578385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0">
          <a:extLst>
            <a:ext uri="{FF2B5EF4-FFF2-40B4-BE49-F238E27FC236}">
              <a16:creationId xmlns:a16="http://schemas.microsoft.com/office/drawing/2014/main" id="{D7AD0D1D-DF69-C257-F36D-2646AB00E4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D45327E-453F-3267-D841-6ED80F7C5070}"/>
              </a:ext>
            </a:extLst>
          </p:cNvPr>
          <p:cNvSpPr txBox="1"/>
          <p:nvPr/>
        </p:nvSpPr>
        <p:spPr>
          <a:xfrm>
            <a:off x="524792" y="1258331"/>
            <a:ext cx="8094416" cy="1750287"/>
          </a:xfrm>
          <a:prstGeom prst="rect">
            <a:avLst/>
          </a:prstGeom>
          <a:noFill/>
        </p:spPr>
        <p:txBody>
          <a:bodyPr wrap="square">
            <a:spAutoFit/>
          </a:bodyPr>
          <a:lstStyle/>
          <a:p>
            <a:pPr algn="just">
              <a:lnSpc>
                <a:spcPct val="200000"/>
              </a:lnSpc>
            </a:pPr>
            <a:r>
              <a:rPr lang="fr-FR" b="1" dirty="0">
                <a:latin typeface="Times New Roman" panose="02020603050405020304" pitchFamily="18" charset="0"/>
                <a:cs typeface="Times New Roman" panose="02020603050405020304" pitchFamily="18" charset="0"/>
              </a:rPr>
              <a:t>Le problème </a:t>
            </a:r>
            <a:r>
              <a:rPr lang="fr-FR" dirty="0">
                <a:latin typeface="Times New Roman" panose="02020603050405020304" pitchFamily="18" charset="0"/>
                <a:cs typeface="Times New Roman" panose="02020603050405020304" pitchFamily="18" charset="0"/>
              </a:rPr>
              <a:t>: Un nouvel utilisateur arrive sur une plateforme. Il n'a aucun historique d'achat ou de notation.</a:t>
            </a:r>
          </a:p>
          <a:p>
            <a:pPr algn="just">
              <a:lnSpc>
                <a:spcPct val="200000"/>
              </a:lnSpc>
            </a:pPr>
            <a:r>
              <a:rPr lang="fr-FR" dirty="0">
                <a:latin typeface="Times New Roman" panose="02020603050405020304" pitchFamily="18" charset="0"/>
                <a:cs typeface="Times New Roman" panose="02020603050405020304" pitchFamily="18" charset="0"/>
              </a:rPr>
              <a:t>Les systèmes classiques (filtrage collaboratif) ne peuvent rien lui recommander car ils ont besoin de ses données passées.</a:t>
            </a:r>
          </a:p>
          <a:p>
            <a:pPr algn="just">
              <a:lnSpc>
                <a:spcPct val="200000"/>
              </a:lnSpc>
            </a:pPr>
            <a:r>
              <a:rPr lang="fr-FR" b="1" dirty="0">
                <a:latin typeface="Times New Roman" panose="02020603050405020304" pitchFamily="18" charset="0"/>
                <a:cs typeface="Times New Roman" panose="02020603050405020304" pitchFamily="18" charset="0"/>
              </a:rPr>
              <a:t>Notre solution </a:t>
            </a:r>
            <a:r>
              <a:rPr lang="fr-FR" dirty="0">
                <a:latin typeface="Times New Roman" panose="02020603050405020304" pitchFamily="18" charset="0"/>
                <a:cs typeface="Times New Roman" panose="02020603050405020304" pitchFamily="18" charset="0"/>
              </a:rPr>
              <a:t>: On le rattache à une communauté existante (grâce à son réseau social).</a:t>
            </a:r>
            <a:endParaRPr lang="fr-FR" noProof="0" dirty="0">
              <a:latin typeface="Times New Roman" panose="02020603050405020304" pitchFamily="18" charset="0"/>
              <a:cs typeface="Times New Roman" panose="02020603050405020304" pitchFamily="18" charset="0"/>
            </a:endParaRPr>
          </a:p>
        </p:txBody>
      </p:sp>
      <p:sp>
        <p:nvSpPr>
          <p:cNvPr id="6" name="Google Shape;1704;p38">
            <a:extLst>
              <a:ext uri="{FF2B5EF4-FFF2-40B4-BE49-F238E27FC236}">
                <a16:creationId xmlns:a16="http://schemas.microsoft.com/office/drawing/2014/main" id="{DBEC9C0A-CA67-052D-0F46-4EB06750311C}"/>
              </a:ext>
            </a:extLst>
          </p:cNvPr>
          <p:cNvSpPr txBox="1">
            <a:spLocks noGrp="1"/>
          </p:cNvSpPr>
          <p:nvPr>
            <p:ph type="title"/>
          </p:nvPr>
        </p:nvSpPr>
        <p:spPr>
          <a:xfrm>
            <a:off x="524792" y="288525"/>
            <a:ext cx="8503594" cy="572700"/>
          </a:xfrm>
          <a:prstGeom prst="rect">
            <a:avLst/>
          </a:prstGeom>
        </p:spPr>
        <p:txBody>
          <a:bodyPr spcFirstLastPara="1" wrap="square" lIns="91425" tIns="91425" rIns="91425" bIns="91425" anchor="t" anchorCtr="0">
            <a:noAutofit/>
          </a:bodyPr>
          <a:lstStyle/>
          <a:p>
            <a:r>
              <a:rPr lang="fr-FR" sz="2400" dirty="0"/>
              <a:t>Motivation</a:t>
            </a:r>
            <a:endParaRPr lang="fr-FR" sz="2400" noProof="0" dirty="0"/>
          </a:p>
        </p:txBody>
      </p:sp>
      <p:sp>
        <p:nvSpPr>
          <p:cNvPr id="20" name="TextBox 19">
            <a:extLst>
              <a:ext uri="{FF2B5EF4-FFF2-40B4-BE49-F238E27FC236}">
                <a16:creationId xmlns:a16="http://schemas.microsoft.com/office/drawing/2014/main" id="{2F801496-C38C-52DE-5A09-C12746132445}"/>
              </a:ext>
            </a:extLst>
          </p:cNvPr>
          <p:cNvSpPr txBox="1"/>
          <p:nvPr/>
        </p:nvSpPr>
        <p:spPr>
          <a:xfrm>
            <a:off x="671793" y="831801"/>
            <a:ext cx="7854689" cy="307777"/>
          </a:xfrm>
          <a:prstGeom prst="rect">
            <a:avLst/>
          </a:prstGeom>
          <a:noFill/>
        </p:spPr>
        <p:txBody>
          <a:bodyPr wrap="square" rtlCol="0">
            <a:spAutoFit/>
          </a:bodyPr>
          <a:lstStyle/>
          <a:p>
            <a:r>
              <a:rPr lang="fr-FR" b="1" dirty="0"/>
              <a:t>Pourquoi la détection de communautés pour la recommandation ?</a:t>
            </a:r>
            <a:endParaRPr lang="fr-FR" noProof="0" dirty="0"/>
          </a:p>
        </p:txBody>
      </p:sp>
      <p:sp>
        <p:nvSpPr>
          <p:cNvPr id="9" name="Rectangle 8">
            <a:extLst>
              <a:ext uri="{FF2B5EF4-FFF2-40B4-BE49-F238E27FC236}">
                <a16:creationId xmlns:a16="http://schemas.microsoft.com/office/drawing/2014/main" id="{A6E32EA4-7A32-4F1A-C2EE-736E1D57CE2E}"/>
              </a:ext>
            </a:extLst>
          </p:cNvPr>
          <p:cNvSpPr/>
          <p:nvPr/>
        </p:nvSpPr>
        <p:spPr>
          <a:xfrm>
            <a:off x="787400" y="3340100"/>
            <a:ext cx="1562100" cy="5450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rPr>
              <a:t>Réseau Social</a:t>
            </a:r>
            <a:endParaRPr lang="en-GB" b="1" dirty="0">
              <a:solidFill>
                <a:schemeClr val="tx1"/>
              </a:solidFill>
            </a:endParaRPr>
          </a:p>
        </p:txBody>
      </p:sp>
      <p:sp>
        <p:nvSpPr>
          <p:cNvPr id="11" name="Rectangle 10">
            <a:extLst>
              <a:ext uri="{FF2B5EF4-FFF2-40B4-BE49-F238E27FC236}">
                <a16:creationId xmlns:a16="http://schemas.microsoft.com/office/drawing/2014/main" id="{F8D94AF5-852A-E65B-B146-5B6138647E85}"/>
              </a:ext>
            </a:extLst>
          </p:cNvPr>
          <p:cNvSpPr/>
          <p:nvPr/>
        </p:nvSpPr>
        <p:spPr>
          <a:xfrm>
            <a:off x="2743200" y="3340099"/>
            <a:ext cx="1562100" cy="5450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rPr>
              <a:t>Détection de communautés</a:t>
            </a:r>
            <a:endParaRPr lang="en-GB" b="1" dirty="0">
              <a:solidFill>
                <a:schemeClr val="tx1"/>
              </a:solidFill>
            </a:endParaRPr>
          </a:p>
        </p:txBody>
      </p:sp>
      <p:sp>
        <p:nvSpPr>
          <p:cNvPr id="15" name="Rectangle 14">
            <a:extLst>
              <a:ext uri="{FF2B5EF4-FFF2-40B4-BE49-F238E27FC236}">
                <a16:creationId xmlns:a16="http://schemas.microsoft.com/office/drawing/2014/main" id="{BA201A87-BE60-0FC7-D5A7-22668E4422F4}"/>
              </a:ext>
            </a:extLst>
          </p:cNvPr>
          <p:cNvSpPr/>
          <p:nvPr/>
        </p:nvSpPr>
        <p:spPr>
          <a:xfrm>
            <a:off x="4699000" y="3358633"/>
            <a:ext cx="1562100" cy="5450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rPr>
              <a:t>Communautés</a:t>
            </a:r>
            <a:endParaRPr lang="en-GB" b="1" dirty="0">
              <a:solidFill>
                <a:schemeClr val="tx1"/>
              </a:solidFill>
            </a:endParaRPr>
          </a:p>
        </p:txBody>
      </p:sp>
      <p:sp>
        <p:nvSpPr>
          <p:cNvPr id="17" name="Rectangle 16">
            <a:extLst>
              <a:ext uri="{FF2B5EF4-FFF2-40B4-BE49-F238E27FC236}">
                <a16:creationId xmlns:a16="http://schemas.microsoft.com/office/drawing/2014/main" id="{32A02990-E0BA-924B-B9C3-192B3FE2E132}"/>
              </a:ext>
            </a:extLst>
          </p:cNvPr>
          <p:cNvSpPr/>
          <p:nvPr/>
        </p:nvSpPr>
        <p:spPr>
          <a:xfrm>
            <a:off x="6654800" y="3358632"/>
            <a:ext cx="1871682" cy="5450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rPr>
              <a:t>Recommandation par communauté</a:t>
            </a:r>
            <a:endParaRPr lang="en-GB" b="1" dirty="0">
              <a:solidFill>
                <a:schemeClr val="tx1"/>
              </a:solidFill>
            </a:endParaRPr>
          </a:p>
        </p:txBody>
      </p:sp>
      <p:cxnSp>
        <p:nvCxnSpPr>
          <p:cNvPr id="19" name="Straight Arrow Connector 18">
            <a:extLst>
              <a:ext uri="{FF2B5EF4-FFF2-40B4-BE49-F238E27FC236}">
                <a16:creationId xmlns:a16="http://schemas.microsoft.com/office/drawing/2014/main" id="{7CC9B7B3-7C4F-F839-6545-C454C36E698D}"/>
              </a:ext>
            </a:extLst>
          </p:cNvPr>
          <p:cNvCxnSpPr>
            <a:cxnSpLocks/>
            <a:stCxn id="9" idx="3"/>
            <a:endCxn id="11" idx="1"/>
          </p:cNvCxnSpPr>
          <p:nvPr/>
        </p:nvCxnSpPr>
        <p:spPr>
          <a:xfrm flipV="1">
            <a:off x="2349500" y="3612634"/>
            <a:ext cx="393700"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55E5B11A-8E05-514E-5EA1-EEDE8239596E}"/>
              </a:ext>
            </a:extLst>
          </p:cNvPr>
          <p:cNvCxnSpPr>
            <a:cxnSpLocks/>
          </p:cNvCxnSpPr>
          <p:nvPr/>
        </p:nvCxnSpPr>
        <p:spPr>
          <a:xfrm flipV="1">
            <a:off x="4305300" y="3612632"/>
            <a:ext cx="393700"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2FCB88D4-1BF5-8803-3180-0D5F03259BC4}"/>
              </a:ext>
            </a:extLst>
          </p:cNvPr>
          <p:cNvCxnSpPr>
            <a:cxnSpLocks/>
          </p:cNvCxnSpPr>
          <p:nvPr/>
        </p:nvCxnSpPr>
        <p:spPr>
          <a:xfrm flipV="1">
            <a:off x="6261100" y="3631166"/>
            <a:ext cx="393700"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8F046C88-F69D-9011-FDFA-C4526F18AF2C}"/>
              </a:ext>
            </a:extLst>
          </p:cNvPr>
          <p:cNvSpPr/>
          <p:nvPr/>
        </p:nvSpPr>
        <p:spPr>
          <a:xfrm>
            <a:off x="2743200" y="4273033"/>
            <a:ext cx="1562100" cy="5450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b="1" dirty="0">
                <a:solidFill>
                  <a:schemeClr val="tx1"/>
                </a:solidFill>
              </a:rPr>
              <a:t>Nouveau Utilisateur</a:t>
            </a:r>
            <a:endParaRPr lang="en-GB" b="1" dirty="0">
              <a:solidFill>
                <a:schemeClr val="tx1"/>
              </a:solidFill>
            </a:endParaRPr>
          </a:p>
        </p:txBody>
      </p:sp>
      <p:cxnSp>
        <p:nvCxnSpPr>
          <p:cNvPr id="26" name="Straight Arrow Connector 25">
            <a:extLst>
              <a:ext uri="{FF2B5EF4-FFF2-40B4-BE49-F238E27FC236}">
                <a16:creationId xmlns:a16="http://schemas.microsoft.com/office/drawing/2014/main" id="{2A60A9B8-C8FF-958A-BBE7-14DAB179968C}"/>
              </a:ext>
            </a:extLst>
          </p:cNvPr>
          <p:cNvCxnSpPr/>
          <p:nvPr/>
        </p:nvCxnSpPr>
        <p:spPr>
          <a:xfrm flipV="1">
            <a:off x="4305300" y="3903701"/>
            <a:ext cx="393700" cy="3507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7687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17"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0">
          <a:extLst>
            <a:ext uri="{FF2B5EF4-FFF2-40B4-BE49-F238E27FC236}">
              <a16:creationId xmlns:a16="http://schemas.microsoft.com/office/drawing/2014/main" id="{F45A3E56-0AC0-8DD9-0BC2-747C9DF8753D}"/>
            </a:ext>
          </a:extLst>
        </p:cNvPr>
        <p:cNvGrpSpPr/>
        <p:nvPr/>
      </p:nvGrpSpPr>
      <p:grpSpPr>
        <a:xfrm>
          <a:off x="0" y="0"/>
          <a:ext cx="0" cy="0"/>
          <a:chOff x="0" y="0"/>
          <a:chExt cx="0" cy="0"/>
        </a:xfrm>
      </p:grpSpPr>
      <p:sp>
        <p:nvSpPr>
          <p:cNvPr id="1704" name="Google Shape;1704;p38">
            <a:extLst>
              <a:ext uri="{FF2B5EF4-FFF2-40B4-BE49-F238E27FC236}">
                <a16:creationId xmlns:a16="http://schemas.microsoft.com/office/drawing/2014/main" id="{98E2DE43-A4D5-B42B-6923-21C77FF92536}"/>
              </a:ext>
            </a:extLst>
          </p:cNvPr>
          <p:cNvSpPr txBox="1">
            <a:spLocks noGrp="1"/>
          </p:cNvSpPr>
          <p:nvPr>
            <p:ph type="title"/>
          </p:nvPr>
        </p:nvSpPr>
        <p:spPr>
          <a:xfrm>
            <a:off x="586435" y="447255"/>
            <a:ext cx="2958147" cy="572700"/>
          </a:xfrm>
          <a:prstGeom prst="rect">
            <a:avLst/>
          </a:prstGeom>
        </p:spPr>
        <p:txBody>
          <a:bodyPr spcFirstLastPara="1" wrap="square" lIns="91425" tIns="91425" rIns="91425" bIns="91425" anchor="t" anchorCtr="0">
            <a:noAutofit/>
          </a:bodyPr>
          <a:lstStyle/>
          <a:p>
            <a:pPr lvl="0"/>
            <a:r>
              <a:rPr lang="fr-FR" sz="2400" noProof="0" dirty="0"/>
              <a:t>Problématique</a:t>
            </a:r>
          </a:p>
        </p:txBody>
      </p:sp>
      <p:sp>
        <p:nvSpPr>
          <p:cNvPr id="5" name="TextBox 4">
            <a:extLst>
              <a:ext uri="{FF2B5EF4-FFF2-40B4-BE49-F238E27FC236}">
                <a16:creationId xmlns:a16="http://schemas.microsoft.com/office/drawing/2014/main" id="{1793B5B6-82A1-1313-5EA0-F3E10613E338}"/>
              </a:ext>
            </a:extLst>
          </p:cNvPr>
          <p:cNvSpPr txBox="1"/>
          <p:nvPr/>
        </p:nvSpPr>
        <p:spPr>
          <a:xfrm>
            <a:off x="973474" y="1252895"/>
            <a:ext cx="7645733" cy="2181175"/>
          </a:xfrm>
          <a:prstGeom prst="rect">
            <a:avLst/>
          </a:prstGeom>
          <a:noFill/>
        </p:spPr>
        <p:txBody>
          <a:bodyPr wrap="square">
            <a:spAutoFit/>
          </a:bodyPr>
          <a:lstStyle/>
          <a:p>
            <a:pPr algn="just">
              <a:lnSpc>
                <a:spcPct val="200000"/>
              </a:lnSpc>
            </a:pPr>
            <a:r>
              <a:rPr lang="en-GB" dirty="0">
                <a:latin typeface="Times New Roman" panose="02020603050405020304" pitchFamily="18" charset="0"/>
                <a:cs typeface="Times New Roman" panose="02020603050405020304" pitchFamily="18" charset="0"/>
              </a:rPr>
              <a:t>Malgré la </a:t>
            </a:r>
            <a:r>
              <a:rPr lang="en-GB" dirty="0" err="1">
                <a:latin typeface="Times New Roman" panose="02020603050405020304" pitchFamily="18" charset="0"/>
                <a:cs typeface="Times New Roman" panose="02020603050405020304" pitchFamily="18" charset="0"/>
              </a:rPr>
              <a:t>diversité</a:t>
            </a:r>
            <a:r>
              <a:rPr lang="en-GB" dirty="0">
                <a:latin typeface="Times New Roman" panose="02020603050405020304" pitchFamily="18" charset="0"/>
                <a:cs typeface="Times New Roman" panose="02020603050405020304" pitchFamily="18" charset="0"/>
              </a:rPr>
              <a:t> des </a:t>
            </a:r>
            <a:r>
              <a:rPr lang="en-GB" dirty="0" err="1">
                <a:latin typeface="Times New Roman" panose="02020603050405020304" pitchFamily="18" charset="0"/>
                <a:cs typeface="Times New Roman" panose="02020603050405020304" pitchFamily="18" charset="0"/>
              </a:rPr>
              <a:t>algorithmes</a:t>
            </a:r>
            <a:r>
              <a:rPr lang="en-GB" dirty="0">
                <a:latin typeface="Times New Roman" panose="02020603050405020304" pitchFamily="18" charset="0"/>
                <a:cs typeface="Times New Roman" panose="02020603050405020304" pitchFamily="18" charset="0"/>
              </a:rPr>
              <a:t> de </a:t>
            </a:r>
            <a:r>
              <a:rPr lang="en-GB" dirty="0" err="1">
                <a:latin typeface="Times New Roman" panose="02020603050405020304" pitchFamily="18" charset="0"/>
                <a:cs typeface="Times New Roman" panose="02020603050405020304" pitchFamily="18" charset="0"/>
              </a:rPr>
              <a:t>détection</a:t>
            </a:r>
            <a:r>
              <a:rPr lang="en-GB" dirty="0">
                <a:latin typeface="Times New Roman" panose="02020603050405020304" pitchFamily="18" charset="0"/>
                <a:cs typeface="Times New Roman" panose="02020603050405020304" pitchFamily="18" charset="0"/>
              </a:rPr>
              <a:t> de </a:t>
            </a:r>
            <a:r>
              <a:rPr lang="en-GB" dirty="0" err="1">
                <a:latin typeface="Times New Roman" panose="02020603050405020304" pitchFamily="18" charset="0"/>
                <a:cs typeface="Times New Roman" panose="02020603050405020304" pitchFamily="18" charset="0"/>
              </a:rPr>
              <a:t>communautés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plusieurs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défis</a:t>
            </a:r>
            <a:r>
              <a:rPr lang="en-GB" dirty="0">
                <a:latin typeface="Times New Roman" panose="02020603050405020304" pitchFamily="18" charset="0"/>
                <a:cs typeface="Times New Roman" panose="02020603050405020304" pitchFamily="18" charset="0"/>
              </a:rPr>
              <a:t> subsistent :</a:t>
            </a:r>
          </a:p>
          <a:p>
            <a:pPr marL="285750" indent="-285750" algn="just">
              <a:lnSpc>
                <a:spcPct val="200000"/>
              </a:lnSpc>
              <a:buFont typeface="Arial" panose="020B0604020202020204" pitchFamily="34" charset="0"/>
              <a:buChar char="•"/>
            </a:pPr>
            <a:r>
              <a:rPr lang="en-GB" b="1" dirty="0" err="1">
                <a:latin typeface="Times New Roman" panose="02020603050405020304" pitchFamily="18" charset="0"/>
                <a:cs typeface="Times New Roman" panose="02020603050405020304" pitchFamily="18" charset="0"/>
              </a:rPr>
              <a:t>Diversité</a:t>
            </a:r>
            <a:r>
              <a:rPr lang="en-GB" b="1" dirty="0">
                <a:latin typeface="Times New Roman" panose="02020603050405020304" pitchFamily="18" charset="0"/>
                <a:cs typeface="Times New Roman" panose="02020603050405020304" pitchFamily="18" charset="0"/>
              </a:rPr>
              <a:t> des </a:t>
            </a:r>
            <a:r>
              <a:rPr lang="en-GB" b="1" dirty="0" err="1">
                <a:latin typeface="Times New Roman" panose="02020603050405020304" pitchFamily="18" charset="0"/>
                <a:cs typeface="Times New Roman" panose="02020603050405020304" pitchFamily="18" charset="0"/>
              </a:rPr>
              <a:t>méthodes</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modularité</a:t>
            </a:r>
            <a:r>
              <a:rPr lang="en-GB" dirty="0">
                <a:latin typeface="Times New Roman" panose="02020603050405020304" pitchFamily="18" charset="0"/>
                <a:cs typeface="Times New Roman" panose="02020603050405020304" pitchFamily="18" charset="0"/>
              </a:rPr>
              <a:t>, marches </a:t>
            </a:r>
            <a:r>
              <a:rPr lang="en-GB" dirty="0" err="1">
                <a:latin typeface="Times New Roman" panose="02020603050405020304" pitchFamily="18" charset="0"/>
                <a:cs typeface="Times New Roman" panose="02020603050405020304" pitchFamily="18" charset="0"/>
              </a:rPr>
              <a:t>aléatoires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apprentissage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profond</a:t>
            </a:r>
            <a:r>
              <a:rPr lang="en-GB" dirty="0">
                <a:latin typeface="Times New Roman" panose="02020603050405020304" pitchFamily="18" charset="0"/>
                <a:cs typeface="Times New Roman" panose="02020603050405020304" pitchFamily="18" charset="0"/>
              </a:rPr>
              <a:t>, etc.</a:t>
            </a:r>
          </a:p>
          <a:p>
            <a:pPr marL="285750" indent="-285750" algn="just">
              <a:lnSpc>
                <a:spcPct val="200000"/>
              </a:lnSpc>
              <a:buFont typeface="Arial" panose="020B0604020202020204" pitchFamily="34" charset="0"/>
              <a:buChar char="•"/>
            </a:pPr>
            <a:r>
              <a:rPr lang="en-GB" b="1" dirty="0" err="1">
                <a:latin typeface="Times New Roman" panose="02020603050405020304" pitchFamily="18" charset="0"/>
                <a:cs typeface="Times New Roman" panose="02020603050405020304" pitchFamily="18" charset="0"/>
              </a:rPr>
              <a:t>Évaluation</a:t>
            </a:r>
            <a:r>
              <a:rPr lang="en-GB" b="1" dirty="0">
                <a:latin typeface="Times New Roman" panose="02020603050405020304" pitchFamily="18" charset="0"/>
                <a:cs typeface="Times New Roman" panose="02020603050405020304" pitchFamily="18" charset="0"/>
              </a:rPr>
              <a:t> </a:t>
            </a:r>
            <a:r>
              <a:rPr lang="en-GB" b="1" dirty="0" err="1">
                <a:latin typeface="Times New Roman" panose="02020603050405020304" pitchFamily="18" charset="0"/>
                <a:cs typeface="Times New Roman" panose="02020603050405020304" pitchFamily="18" charset="0"/>
              </a:rPr>
              <a:t>limitée</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la </a:t>
            </a:r>
            <a:r>
              <a:rPr lang="en-GB" dirty="0" err="1">
                <a:latin typeface="Times New Roman" panose="02020603050405020304" pitchFamily="18" charset="0"/>
                <a:cs typeface="Times New Roman" panose="02020603050405020304" pitchFamily="18" charset="0"/>
              </a:rPr>
              <a:t>modularité</a:t>
            </a:r>
            <a:r>
              <a:rPr lang="en-GB" dirty="0">
                <a:latin typeface="Times New Roman" panose="02020603050405020304" pitchFamily="18" charset="0"/>
                <a:cs typeface="Times New Roman" panose="02020603050405020304" pitchFamily="18" charset="0"/>
              </a:rPr>
              <a:t> ne </a:t>
            </a:r>
            <a:r>
              <a:rPr lang="en-GB" dirty="0" err="1">
                <a:latin typeface="Times New Roman" panose="02020603050405020304" pitchFamily="18" charset="0"/>
                <a:cs typeface="Times New Roman" panose="02020603050405020304" pitchFamily="18" charset="0"/>
              </a:rPr>
              <a:t>reflète</a:t>
            </a:r>
            <a:r>
              <a:rPr lang="en-GB" dirty="0">
                <a:latin typeface="Times New Roman" panose="02020603050405020304" pitchFamily="18" charset="0"/>
                <a:cs typeface="Times New Roman" panose="02020603050405020304" pitchFamily="18" charset="0"/>
              </a:rPr>
              <a:t> pas </a:t>
            </a:r>
            <a:r>
              <a:rPr lang="en-GB" dirty="0" err="1">
                <a:latin typeface="Times New Roman" panose="02020603050405020304" pitchFamily="18" charset="0"/>
                <a:cs typeface="Times New Roman" panose="02020603050405020304" pitchFamily="18" charset="0"/>
              </a:rPr>
              <a:t>toujours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l'utilité</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réelle</a:t>
            </a:r>
            <a:r>
              <a:rPr lang="en-GB" dirty="0">
                <a:latin typeface="Times New Roman" panose="02020603050405020304" pitchFamily="18" charset="0"/>
                <a:cs typeface="Times New Roman" panose="02020603050405020304" pitchFamily="18" charset="0"/>
              </a:rPr>
              <a:t>.</a:t>
            </a:r>
          </a:p>
          <a:p>
            <a:pPr marL="285750" indent="-285750" algn="just">
              <a:lnSpc>
                <a:spcPct val="200000"/>
              </a:lnSpc>
              <a:buFont typeface="Arial" panose="020B0604020202020204" pitchFamily="34" charset="0"/>
              <a:buChar char="•"/>
            </a:pPr>
            <a:r>
              <a:rPr lang="en-GB" b="1" dirty="0" err="1">
                <a:latin typeface="Times New Roman" panose="02020603050405020304" pitchFamily="18" charset="0"/>
                <a:cs typeface="Times New Roman" panose="02020603050405020304" pitchFamily="18" charset="0"/>
              </a:rPr>
              <a:t>Comparaison</a:t>
            </a:r>
            <a:r>
              <a:rPr lang="en-GB" b="1" dirty="0">
                <a:latin typeface="Times New Roman" panose="02020603050405020304" pitchFamily="18" charset="0"/>
                <a:cs typeface="Times New Roman" panose="02020603050405020304" pitchFamily="18" charset="0"/>
              </a:rPr>
              <a:t> </a:t>
            </a:r>
            <a:r>
              <a:rPr lang="en-GB" b="1" dirty="0" err="1">
                <a:latin typeface="Times New Roman" panose="02020603050405020304" pitchFamily="18" charset="0"/>
                <a:cs typeface="Times New Roman" panose="02020603050405020304" pitchFamily="18" charset="0"/>
              </a:rPr>
              <a:t>insuffisante</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peu </a:t>
            </a:r>
            <a:r>
              <a:rPr lang="en-GB" dirty="0" err="1">
                <a:latin typeface="Times New Roman" panose="02020603050405020304" pitchFamily="18" charset="0"/>
                <a:cs typeface="Times New Roman" panose="02020603050405020304" pitchFamily="18" charset="0"/>
              </a:rPr>
              <a:t>d'études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comparent</a:t>
            </a:r>
            <a:r>
              <a:rPr lang="en-GB" dirty="0">
                <a:latin typeface="Times New Roman" panose="02020603050405020304" pitchFamily="18" charset="0"/>
                <a:cs typeface="Times New Roman" panose="02020603050405020304" pitchFamily="18" charset="0"/>
              </a:rPr>
              <a:t> les </a:t>
            </a:r>
            <a:r>
              <a:rPr lang="en-GB" dirty="0" err="1">
                <a:latin typeface="Times New Roman" panose="02020603050405020304" pitchFamily="18" charset="0"/>
                <a:cs typeface="Times New Roman" panose="02020603050405020304" pitchFamily="18" charset="0"/>
              </a:rPr>
              <a:t>méthodes</a:t>
            </a:r>
            <a:r>
              <a:rPr lang="en-GB" dirty="0">
                <a:latin typeface="Times New Roman" panose="02020603050405020304" pitchFamily="18" charset="0"/>
                <a:cs typeface="Times New Roman" panose="02020603050405020304" pitchFamily="18" charset="0"/>
              </a:rPr>
              <a:t> de manière </a:t>
            </a:r>
            <a:r>
              <a:rPr lang="en-GB" dirty="0" err="1">
                <a:latin typeface="Times New Roman" panose="02020603050405020304" pitchFamily="18" charset="0"/>
                <a:cs typeface="Times New Roman" panose="02020603050405020304" pitchFamily="18" charset="0"/>
              </a:rPr>
              <a:t>systématique</a:t>
            </a:r>
            <a:r>
              <a:rPr lang="en-GB" dirty="0">
                <a:latin typeface="Times New Roman" panose="02020603050405020304" pitchFamily="18" charset="0"/>
                <a:cs typeface="Times New Roman" panose="02020603050405020304" pitchFamily="18" charset="0"/>
              </a:rPr>
              <a:t>.</a:t>
            </a:r>
          </a:p>
          <a:p>
            <a:pPr marL="285750" indent="-285750" algn="just">
              <a:lnSpc>
                <a:spcPct val="200000"/>
              </a:lnSpc>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Absence d'un cadre </a:t>
            </a:r>
            <a:r>
              <a:rPr lang="en-GB" b="1" dirty="0" err="1">
                <a:latin typeface="Times New Roman" panose="02020603050405020304" pitchFamily="18" charset="0"/>
                <a:cs typeface="Times New Roman" panose="02020603050405020304" pitchFamily="18" charset="0"/>
              </a:rPr>
              <a:t>unifié</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difficile </a:t>
            </a:r>
            <a:r>
              <a:rPr lang="en-GB" dirty="0" err="1">
                <a:latin typeface="Times New Roman" panose="02020603050405020304" pitchFamily="18" charset="0"/>
                <a:cs typeface="Times New Roman" panose="02020603050405020304" pitchFamily="18" charset="0"/>
              </a:rPr>
              <a:t>d'évaluer</a:t>
            </a:r>
            <a:r>
              <a:rPr lang="en-GB" dirty="0">
                <a:latin typeface="Times New Roman" panose="02020603050405020304" pitchFamily="18" charset="0"/>
                <a:cs typeface="Times New Roman" panose="02020603050405020304" pitchFamily="18" charset="0"/>
              </a:rPr>
              <a:t> les performances </a:t>
            </a:r>
            <a:r>
              <a:rPr lang="en-GB" dirty="0" err="1">
                <a:latin typeface="Times New Roman" panose="02020603050405020304" pitchFamily="18" charset="0"/>
                <a:cs typeface="Times New Roman" panose="02020603050405020304" pitchFamily="18" charset="0"/>
              </a:rPr>
              <a:t>en</a:t>
            </a:r>
            <a:r>
              <a:rPr lang="en-GB" dirty="0">
                <a:latin typeface="Times New Roman" panose="02020603050405020304" pitchFamily="18" charset="0"/>
                <a:cs typeface="Times New Roman" panose="02020603050405020304" pitchFamily="18" charset="0"/>
              </a:rPr>
              <a:t> pratique.</a:t>
            </a:r>
          </a:p>
        </p:txBody>
      </p:sp>
      <p:sp>
        <p:nvSpPr>
          <p:cNvPr id="14" name="TextBox 13">
            <a:extLst>
              <a:ext uri="{FF2B5EF4-FFF2-40B4-BE49-F238E27FC236}">
                <a16:creationId xmlns:a16="http://schemas.microsoft.com/office/drawing/2014/main" id="{2AF985F7-6C10-146A-879E-E8C2EB00EA28}"/>
              </a:ext>
            </a:extLst>
          </p:cNvPr>
          <p:cNvSpPr txBox="1"/>
          <p:nvPr/>
        </p:nvSpPr>
        <p:spPr>
          <a:xfrm>
            <a:off x="1250236" y="3794010"/>
            <a:ext cx="6643528" cy="738664"/>
          </a:xfrm>
          <a:prstGeom prst="rect">
            <a:avLst/>
          </a:prstGeom>
          <a:noFill/>
        </p:spPr>
        <p:txBody>
          <a:bodyPr wrap="square">
            <a:spAutoFit/>
          </a:bodyPr>
          <a:lstStyle/>
          <a:p>
            <a:pPr>
              <a:spcBef>
                <a:spcPts val="1200"/>
              </a:spcBef>
              <a:spcAft>
                <a:spcPts val="1200"/>
              </a:spcAft>
            </a:pPr>
            <a:r>
              <a:rPr lang="fr-FR" b="1" dirty="0">
                <a:solidFill>
                  <a:srgbClr val="C00000"/>
                </a:solidFill>
              </a:rPr>
              <a:t>Question de recherche</a:t>
            </a:r>
            <a:r>
              <a:rPr lang="fr-FR" b="1" noProof="0" dirty="0"/>
              <a:t>:</a:t>
            </a:r>
            <a:r>
              <a:rPr lang="fr-FR" noProof="0" dirty="0"/>
              <a:t> </a:t>
            </a:r>
            <a:r>
              <a:rPr lang="fr-FR" i="1" dirty="0"/>
              <a:t>Comment les différentes approches de détection de communautés se comparent-elles en termes d'efficacité et d'utilité pratique pour les systèmes de recommandation ?</a:t>
            </a:r>
            <a:endParaRPr lang="fr-FR" noProof="0" dirty="0">
              <a:solidFill>
                <a:schemeClr val="tx1"/>
              </a:solidFill>
              <a:latin typeface="quote-cjk-patch"/>
            </a:endParaRPr>
          </a:p>
        </p:txBody>
      </p:sp>
    </p:spTree>
    <p:extLst>
      <p:ext uri="{BB962C8B-B14F-4D97-AF65-F5344CB8AC3E}">
        <p14:creationId xmlns:p14="http://schemas.microsoft.com/office/powerpoint/2010/main" val="114384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4" name="Google Shape;1704;p38">
            <a:extLst>
              <a:ext uri="{FF2B5EF4-FFF2-40B4-BE49-F238E27FC236}">
                <a16:creationId xmlns:a16="http://schemas.microsoft.com/office/drawing/2014/main" id="{72904A96-6AC3-87F8-A678-8125B4FF2218}"/>
              </a:ext>
            </a:extLst>
          </p:cNvPr>
          <p:cNvSpPr txBox="1">
            <a:spLocks noGrp="1"/>
          </p:cNvSpPr>
          <p:nvPr>
            <p:ph type="title"/>
          </p:nvPr>
        </p:nvSpPr>
        <p:spPr>
          <a:xfrm>
            <a:off x="524791" y="401540"/>
            <a:ext cx="4174209" cy="572700"/>
          </a:xfrm>
          <a:prstGeom prst="rect">
            <a:avLst/>
          </a:prstGeom>
        </p:spPr>
        <p:txBody>
          <a:bodyPr spcFirstLastPara="1" wrap="square" lIns="91425" tIns="91425" rIns="91425" bIns="91425" anchor="t" anchorCtr="0">
            <a:noAutofit/>
          </a:bodyPr>
          <a:lstStyle/>
          <a:p>
            <a:pPr lvl="0"/>
            <a:r>
              <a:rPr lang="fr-FR" sz="2400" dirty="0"/>
              <a:t>Objectifs de recherche</a:t>
            </a:r>
            <a:endParaRPr lang="fr-FR" sz="2400" noProof="0" dirty="0"/>
          </a:p>
        </p:txBody>
      </p:sp>
      <p:sp>
        <p:nvSpPr>
          <p:cNvPr id="5" name="TextBox 4">
            <a:extLst>
              <a:ext uri="{FF2B5EF4-FFF2-40B4-BE49-F238E27FC236}">
                <a16:creationId xmlns:a16="http://schemas.microsoft.com/office/drawing/2014/main" id="{519A58FB-F8DB-66F7-D9CA-06F91DE6029C}"/>
              </a:ext>
            </a:extLst>
          </p:cNvPr>
          <p:cNvSpPr txBox="1"/>
          <p:nvPr/>
        </p:nvSpPr>
        <p:spPr>
          <a:xfrm>
            <a:off x="279233" y="1278295"/>
            <a:ext cx="9207667" cy="1750287"/>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Comparer les algorithmes de détection de communautés classiques et modernes sur des réseaux réels et synthétiques.</a:t>
            </a:r>
          </a:p>
          <a:p>
            <a:pPr marL="342900" indent="-342900" algn="just">
              <a:lnSpc>
                <a:spcPct val="20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Évaluer leurs performances à l'aide de la modularité, du NMI et de l'ARI.</a:t>
            </a:r>
          </a:p>
          <a:p>
            <a:pPr marL="342900" indent="-342900" algn="just">
              <a:lnSpc>
                <a:spcPct val="20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Intégrer les meilleurs algorithmes de détection de communautés dans un système de recommandation hybride.</a:t>
            </a:r>
          </a:p>
          <a:p>
            <a:pPr marL="342900" indent="-342900" algn="just">
              <a:lnSpc>
                <a:spcPct val="200000"/>
              </a:lnSpc>
              <a:buFont typeface="Arial" panose="020B0604020202020204" pitchFamily="34" charset="0"/>
              <a:buChar char="•"/>
            </a:pPr>
            <a:r>
              <a:rPr lang="fr-FR" noProof="0" dirty="0">
                <a:latin typeface="Times New Roman" panose="02020603050405020304" pitchFamily="18" charset="0"/>
                <a:cs typeface="Times New Roman" panose="02020603050405020304" pitchFamily="18" charset="0"/>
              </a:rPr>
              <a:t>Visualiser les résultats à l'aide d'une application web interactive.</a:t>
            </a:r>
          </a:p>
        </p:txBody>
      </p:sp>
    </p:spTree>
    <p:extLst>
      <p:ext uri="{BB962C8B-B14F-4D97-AF65-F5344CB8AC3E}">
        <p14:creationId xmlns:p14="http://schemas.microsoft.com/office/powerpoint/2010/main" val="1044312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176EA3C9-469A-AFFC-AAA1-2A0E66A9DE0B}"/>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1B724BAE-DB96-A7FF-C6FA-58EF2E918184}"/>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État de l'art – Méthodologie</a:t>
            </a:r>
          </a:p>
        </p:txBody>
      </p:sp>
      <p:pic>
        <p:nvPicPr>
          <p:cNvPr id="3" name="Picture 2">
            <a:extLst>
              <a:ext uri="{FF2B5EF4-FFF2-40B4-BE49-F238E27FC236}">
                <a16:creationId xmlns:a16="http://schemas.microsoft.com/office/drawing/2014/main" id="{BA6AB975-3B2A-588C-5DA1-7BE1A9C644E2}"/>
              </a:ext>
            </a:extLst>
          </p:cNvPr>
          <p:cNvPicPr>
            <a:picLocks noChangeAspect="1"/>
          </p:cNvPicPr>
          <p:nvPr/>
        </p:nvPicPr>
        <p:blipFill>
          <a:blip r:embed="rId3"/>
          <a:stretch>
            <a:fillRect/>
          </a:stretch>
        </p:blipFill>
        <p:spPr>
          <a:xfrm>
            <a:off x="1882710" y="1163881"/>
            <a:ext cx="5378579" cy="3349741"/>
          </a:xfrm>
          <a:prstGeom prst="rect">
            <a:avLst/>
          </a:prstGeom>
        </p:spPr>
      </p:pic>
      <p:sp>
        <p:nvSpPr>
          <p:cNvPr id="5" name="TextBox 4">
            <a:extLst>
              <a:ext uri="{FF2B5EF4-FFF2-40B4-BE49-F238E27FC236}">
                <a16:creationId xmlns:a16="http://schemas.microsoft.com/office/drawing/2014/main" id="{08974FEA-9FC2-CE3C-0D6F-AD60ED2AF186}"/>
              </a:ext>
            </a:extLst>
          </p:cNvPr>
          <p:cNvSpPr txBox="1"/>
          <p:nvPr/>
        </p:nvSpPr>
        <p:spPr>
          <a:xfrm>
            <a:off x="671794" y="856104"/>
            <a:ext cx="2862516" cy="307777"/>
          </a:xfrm>
          <a:prstGeom prst="rect">
            <a:avLst/>
          </a:prstGeom>
          <a:noFill/>
        </p:spPr>
        <p:txBody>
          <a:bodyPr wrap="square" rtlCol="0">
            <a:spAutoFit/>
          </a:bodyPr>
          <a:lstStyle/>
          <a:p>
            <a:r>
              <a:rPr lang="fr-FR" b="1" dirty="0"/>
              <a:t>Diagramme PRISMA</a:t>
            </a:r>
            <a:endParaRPr lang="fr-FR" noProof="0" dirty="0"/>
          </a:p>
        </p:txBody>
      </p:sp>
    </p:spTree>
    <p:extLst>
      <p:ext uri="{BB962C8B-B14F-4D97-AF65-F5344CB8AC3E}">
        <p14:creationId xmlns:p14="http://schemas.microsoft.com/office/powerpoint/2010/main" val="327779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graphicFrame>
        <p:nvGraphicFramePr>
          <p:cNvPr id="1472" name="Google Shape;1472;p28"/>
          <p:cNvGraphicFramePr/>
          <p:nvPr>
            <p:extLst>
              <p:ext uri="{D42A27DB-BD31-4B8C-83A1-F6EECF244321}">
                <p14:modId xmlns:p14="http://schemas.microsoft.com/office/powerpoint/2010/main" val="4192716892"/>
              </p:ext>
            </p:extLst>
          </p:nvPr>
        </p:nvGraphicFramePr>
        <p:xfrm>
          <a:off x="654789" y="1259894"/>
          <a:ext cx="7951379" cy="1382876"/>
        </p:xfrm>
        <a:graphic>
          <a:graphicData uri="http://schemas.openxmlformats.org/drawingml/2006/table">
            <a:tbl>
              <a:tblPr>
                <a:tableStyleId>{B6F588F0-DA45-466C-91A0-1F1EBF44E27B}</a:tableStyleId>
              </a:tblPr>
              <a:tblGrid>
                <a:gridCol w="1865046">
                  <a:extLst>
                    <a:ext uri="{9D8B030D-6E8A-4147-A177-3AD203B41FA5}">
                      <a16:colId xmlns:a16="http://schemas.microsoft.com/office/drawing/2014/main" val="20000"/>
                    </a:ext>
                  </a:extLst>
                </a:gridCol>
                <a:gridCol w="2974833">
                  <a:extLst>
                    <a:ext uri="{9D8B030D-6E8A-4147-A177-3AD203B41FA5}">
                      <a16:colId xmlns:a16="http://schemas.microsoft.com/office/drawing/2014/main" val="20001"/>
                    </a:ext>
                  </a:extLst>
                </a:gridCol>
                <a:gridCol w="3111500">
                  <a:extLst>
                    <a:ext uri="{9D8B030D-6E8A-4147-A177-3AD203B41FA5}">
                      <a16:colId xmlns:a16="http://schemas.microsoft.com/office/drawing/2014/main" val="41523287"/>
                    </a:ext>
                  </a:extLst>
                </a:gridCol>
              </a:tblGrid>
              <a:tr h="428957">
                <a:tc>
                  <a:txBody>
                    <a:bodyPr/>
                    <a:lstStyle/>
                    <a:p>
                      <a:pPr marL="0" lvl="0" indent="0" algn="l" rtl="0">
                        <a:spcBef>
                          <a:spcPts val="0"/>
                        </a:spcBef>
                        <a:spcAft>
                          <a:spcPts val="0"/>
                        </a:spcAft>
                        <a:buNone/>
                      </a:pPr>
                      <a:r>
                        <a:rPr lang="fr-FR" sz="1100" b="1" noProof="0" dirty="0"/>
                        <a:t>Algorithme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fr-FR" sz="1100" b="1" noProof="0" dirty="0"/>
                        <a:t>Principe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noProof="0" dirty="0"/>
                        <a:t>Limite / Avantage</a:t>
                      </a:r>
                      <a:endParaRPr lang="fr-FR" sz="1100" b="1" u="sng" noProof="0" dirty="0">
                        <a:solidFill>
                          <a:schemeClr val="dk1"/>
                        </a:solidFill>
                        <a:latin typeface="Mulish"/>
                        <a:ea typeface="Mulish"/>
                        <a:cs typeface="Mulish"/>
                        <a:sym typeface="Mulish"/>
                      </a:endParaRPr>
                    </a:p>
                  </a:txBody>
                  <a:tcPr marL="91425" marR="91425" marT="0" marB="0" anchor="ctr"/>
                </a:tc>
                <a:extLst>
                  <a:ext uri="{0D108BD9-81ED-4DB2-BD59-A6C34878D82A}">
                    <a16:rowId xmlns:a16="http://schemas.microsoft.com/office/drawing/2014/main" val="10000"/>
                  </a:ext>
                </a:extLst>
              </a:tr>
              <a:tr h="411441">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Louvain (Blondel et al.)</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Regroupe les nœuds en maximisant la modularité du réseau.</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Rapide et efficace, mais peut générer des communautés faiblement connectées.</a:t>
                      </a:r>
                    </a:p>
                  </a:txBody>
                  <a:tcPr marL="91425" marR="91425" marT="0" marB="0" anchor="ctr"/>
                </a:tc>
                <a:extLst>
                  <a:ext uri="{0D108BD9-81ED-4DB2-BD59-A6C34878D82A}">
                    <a16:rowId xmlns:a16="http://schemas.microsoft.com/office/drawing/2014/main" val="10001"/>
                  </a:ext>
                </a:extLst>
              </a:tr>
              <a:tr h="542478">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Leiden (</a:t>
                      </a:r>
                      <a:r>
                        <a:rPr lang="fr-FR" sz="1000" b="0" u="none" noProof="0" dirty="0" err="1">
                          <a:solidFill>
                            <a:schemeClr val="dk1"/>
                          </a:solidFill>
                          <a:latin typeface="Mulish"/>
                          <a:ea typeface="Mulish"/>
                          <a:cs typeface="Mulish"/>
                          <a:sym typeface="Mulish"/>
                        </a:rPr>
                        <a:t>Traag</a:t>
                      </a:r>
                      <a:r>
                        <a:rPr lang="fr-FR" sz="1000" b="0" u="none" noProof="0" dirty="0">
                          <a:solidFill>
                            <a:schemeClr val="dk1"/>
                          </a:solidFill>
                          <a:latin typeface="Mulish"/>
                          <a:ea typeface="Mulish"/>
                          <a:cs typeface="Mulish"/>
                          <a:sym typeface="Mulish"/>
                        </a:rPr>
                        <a:t> et al., 2019)</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Améliore Louvain en optimisant la modularité avec une meilleure connexion interne des communautés.</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Produit des communautés plus cohérentes et mieux connectées.</a:t>
                      </a:r>
                    </a:p>
                  </a:txBody>
                  <a:tcPr marL="91425" marR="91425" marT="0" marB="0" anchor="ctr"/>
                </a:tc>
                <a:extLst>
                  <a:ext uri="{0D108BD9-81ED-4DB2-BD59-A6C34878D82A}">
                    <a16:rowId xmlns:a16="http://schemas.microsoft.com/office/drawing/2014/main" val="10002"/>
                  </a:ext>
                </a:extLst>
              </a:tr>
            </a:tbl>
          </a:graphicData>
        </a:graphic>
      </p:graphicFrame>
      <p:sp>
        <p:nvSpPr>
          <p:cNvPr id="7" name="Google Shape;1704;p38">
            <a:extLst>
              <a:ext uri="{FF2B5EF4-FFF2-40B4-BE49-F238E27FC236}">
                <a16:creationId xmlns:a16="http://schemas.microsoft.com/office/drawing/2014/main" id="{BD3E0B57-7F68-281F-1507-BA52FEE08E05}"/>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État de l'art – Algorithmes classiques</a:t>
            </a:r>
          </a:p>
        </p:txBody>
      </p:sp>
      <p:sp>
        <p:nvSpPr>
          <p:cNvPr id="8" name="TextBox 7">
            <a:extLst>
              <a:ext uri="{FF2B5EF4-FFF2-40B4-BE49-F238E27FC236}">
                <a16:creationId xmlns:a16="http://schemas.microsoft.com/office/drawing/2014/main" id="{CEB85DD0-6898-3824-BD4C-53B5949C011D}"/>
              </a:ext>
            </a:extLst>
          </p:cNvPr>
          <p:cNvSpPr txBox="1"/>
          <p:nvPr/>
        </p:nvSpPr>
        <p:spPr>
          <a:xfrm>
            <a:off x="671794" y="843000"/>
            <a:ext cx="3722406" cy="307777"/>
          </a:xfrm>
          <a:prstGeom prst="rect">
            <a:avLst/>
          </a:prstGeom>
          <a:noFill/>
        </p:spPr>
        <p:txBody>
          <a:bodyPr wrap="square" rtlCol="0">
            <a:spAutoFit/>
          </a:bodyPr>
          <a:lstStyle/>
          <a:p>
            <a:r>
              <a:rPr lang="fr-FR" b="1" noProof="0" dirty="0"/>
              <a:t>Approches basées sur la modularité</a:t>
            </a:r>
            <a:endParaRPr lang="fr-FR" noProof="0" dirty="0"/>
          </a:p>
        </p:txBody>
      </p:sp>
      <p:graphicFrame>
        <p:nvGraphicFramePr>
          <p:cNvPr id="3" name="Google Shape;1472;p28">
            <a:extLst>
              <a:ext uri="{FF2B5EF4-FFF2-40B4-BE49-F238E27FC236}">
                <a16:creationId xmlns:a16="http://schemas.microsoft.com/office/drawing/2014/main" id="{1416669E-7D0F-F9BE-0458-81532CD383F9}"/>
              </a:ext>
            </a:extLst>
          </p:cNvPr>
          <p:cNvGraphicFramePr/>
          <p:nvPr>
            <p:extLst>
              <p:ext uri="{D42A27DB-BD31-4B8C-83A1-F6EECF244321}">
                <p14:modId xmlns:p14="http://schemas.microsoft.com/office/powerpoint/2010/main" val="59403980"/>
              </p:ext>
            </p:extLst>
          </p:nvPr>
        </p:nvGraphicFramePr>
        <p:xfrm>
          <a:off x="654789" y="3041439"/>
          <a:ext cx="7778011" cy="1541775"/>
        </p:xfrm>
        <a:graphic>
          <a:graphicData uri="http://schemas.openxmlformats.org/drawingml/2006/table">
            <a:tbl>
              <a:tblPr>
                <a:tableStyleId>{B6F588F0-DA45-466C-91A0-1F1EBF44E27B}</a:tableStyleId>
              </a:tblPr>
              <a:tblGrid>
                <a:gridCol w="2174463">
                  <a:extLst>
                    <a:ext uri="{9D8B030D-6E8A-4147-A177-3AD203B41FA5}">
                      <a16:colId xmlns:a16="http://schemas.microsoft.com/office/drawing/2014/main" val="20000"/>
                    </a:ext>
                  </a:extLst>
                </a:gridCol>
                <a:gridCol w="2705744">
                  <a:extLst>
                    <a:ext uri="{9D8B030D-6E8A-4147-A177-3AD203B41FA5}">
                      <a16:colId xmlns:a16="http://schemas.microsoft.com/office/drawing/2014/main" val="20001"/>
                    </a:ext>
                  </a:extLst>
                </a:gridCol>
                <a:gridCol w="2897804">
                  <a:extLst>
                    <a:ext uri="{9D8B030D-6E8A-4147-A177-3AD203B41FA5}">
                      <a16:colId xmlns:a16="http://schemas.microsoft.com/office/drawing/2014/main" val="41523287"/>
                    </a:ext>
                  </a:extLst>
                </a:gridCol>
              </a:tblGrid>
              <a:tr h="361525">
                <a:tc>
                  <a:txBody>
                    <a:bodyPr/>
                    <a:lstStyle/>
                    <a:p>
                      <a:pPr marL="0" lvl="0" indent="0" algn="l" rtl="0">
                        <a:spcBef>
                          <a:spcPts val="0"/>
                        </a:spcBef>
                        <a:spcAft>
                          <a:spcPts val="0"/>
                        </a:spcAft>
                        <a:buNone/>
                      </a:pPr>
                      <a:r>
                        <a:rPr lang="fr-FR" sz="1100" b="1" noProof="0" dirty="0"/>
                        <a:t>Algorithme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fr-FR" sz="1100" b="1" noProof="0" dirty="0"/>
                        <a:t>Principe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noProof="0" dirty="0"/>
                        <a:t>Limite / Avantage</a:t>
                      </a:r>
                      <a:endParaRPr lang="fr-FR" sz="1100" b="1" u="sng" noProof="0" dirty="0">
                        <a:solidFill>
                          <a:schemeClr val="dk1"/>
                        </a:solidFill>
                        <a:latin typeface="Mulish"/>
                        <a:ea typeface="Mulish"/>
                        <a:cs typeface="Mulish"/>
                        <a:sym typeface="Mulish"/>
                      </a:endParaRPr>
                    </a:p>
                  </a:txBody>
                  <a:tcPr marL="91425" marR="91425" marT="0" marB="0" anchor="ctr"/>
                </a:tc>
                <a:extLst>
                  <a:ext uri="{0D108BD9-81ED-4DB2-BD59-A6C34878D82A}">
                    <a16:rowId xmlns:a16="http://schemas.microsoft.com/office/drawing/2014/main" val="10000"/>
                  </a:ext>
                </a:extLst>
              </a:tr>
              <a:tr h="346762">
                <a:tc>
                  <a:txBody>
                    <a:bodyPr/>
                    <a:lstStyle/>
                    <a:p>
                      <a:pPr marL="0" lvl="0" indent="0" algn="l" rtl="0">
                        <a:spcBef>
                          <a:spcPts val="0"/>
                        </a:spcBef>
                        <a:spcAft>
                          <a:spcPts val="0"/>
                        </a:spcAft>
                        <a:buNone/>
                      </a:pPr>
                      <a:r>
                        <a:rPr lang="fr-FR" sz="1000" b="0" u="none" noProof="0" dirty="0" err="1">
                          <a:solidFill>
                            <a:schemeClr val="dk1"/>
                          </a:solidFill>
                          <a:latin typeface="Mulish"/>
                          <a:ea typeface="Mulish"/>
                          <a:cs typeface="Mulish"/>
                          <a:sym typeface="Mulish"/>
                        </a:rPr>
                        <a:t>Walktrap</a:t>
                      </a:r>
                      <a:r>
                        <a:rPr lang="fr-FR" sz="1000" b="0" u="none" noProof="0" dirty="0">
                          <a:solidFill>
                            <a:schemeClr val="dk1"/>
                          </a:solidFill>
                          <a:latin typeface="Mulish"/>
                          <a:ea typeface="Mulish"/>
                          <a:cs typeface="Mulish"/>
                          <a:sym typeface="Mulish"/>
                        </a:rPr>
                        <a:t> (Pons &amp; </a:t>
                      </a:r>
                      <a:r>
                        <a:rPr lang="fr-FR" sz="1000" b="0" u="none" noProof="0" dirty="0" err="1">
                          <a:solidFill>
                            <a:schemeClr val="dk1"/>
                          </a:solidFill>
                          <a:latin typeface="Mulish"/>
                          <a:ea typeface="Mulish"/>
                          <a:cs typeface="Mulish"/>
                          <a:sym typeface="Mulish"/>
                        </a:rPr>
                        <a:t>Latapy</a:t>
                      </a:r>
                      <a:r>
                        <a:rPr lang="fr-FR" sz="1000" b="0" u="none" noProof="0" dirty="0">
                          <a:solidFill>
                            <a:schemeClr val="dk1"/>
                          </a:solidFill>
                          <a:latin typeface="Mulish"/>
                          <a:ea typeface="Mulish"/>
                          <a:cs typeface="Mulish"/>
                          <a:sym typeface="Mulish"/>
                        </a:rPr>
                        <a:t>)</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Utilise des marches aléatoires pour identifier des groupes de nœuds fortement connectés.</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Efficace pour les réseaux basés sur les flux d'information.</a:t>
                      </a:r>
                    </a:p>
                  </a:txBody>
                  <a:tcPr marL="91425" marR="91425" marT="0" marB="0" anchor="ct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fr-FR" sz="1000" b="0" u="none" noProof="0" dirty="0" err="1">
                          <a:solidFill>
                            <a:schemeClr val="dk1"/>
                          </a:solidFill>
                          <a:latin typeface="Mulish"/>
                          <a:ea typeface="Mulish"/>
                          <a:cs typeface="Mulish"/>
                          <a:sym typeface="Mulish"/>
                        </a:rPr>
                        <a:t>Infomap</a:t>
                      </a:r>
                      <a:r>
                        <a:rPr lang="fr-FR" sz="1000" b="0" u="none" noProof="0" dirty="0">
                          <a:solidFill>
                            <a:schemeClr val="dk1"/>
                          </a:solidFill>
                          <a:latin typeface="Mulish"/>
                          <a:ea typeface="Mulish"/>
                          <a:cs typeface="Mulish"/>
                          <a:sym typeface="Mulish"/>
                        </a:rPr>
                        <a:t> (Rosvall &amp; Bergstrom).</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Détecte les communautés en minimisant la description du parcours dans le réseau.</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Rapide et performant, notamment sur de grands réseaux.</a:t>
                      </a:r>
                    </a:p>
                  </a:txBody>
                  <a:tcPr marL="91425" marR="91425" marT="0" marB="0" anchor="ct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MCL (van Dongen)</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Utilise des opérations d'expansion et d'inflation pour séparer les communautés.</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Nécessite souvent un prétraitement ou une pondération adaptée du réseau.</a:t>
                      </a:r>
                    </a:p>
                  </a:txBody>
                  <a:tcPr marL="91425" marR="91425" marT="0" marB="0" anchor="ctr"/>
                </a:tc>
                <a:extLst>
                  <a:ext uri="{0D108BD9-81ED-4DB2-BD59-A6C34878D82A}">
                    <a16:rowId xmlns:a16="http://schemas.microsoft.com/office/drawing/2014/main" val="3473042661"/>
                  </a:ext>
                </a:extLst>
              </a:tr>
            </a:tbl>
          </a:graphicData>
        </a:graphic>
      </p:graphicFrame>
      <p:sp>
        <p:nvSpPr>
          <p:cNvPr id="5" name="TextBox 4">
            <a:extLst>
              <a:ext uri="{FF2B5EF4-FFF2-40B4-BE49-F238E27FC236}">
                <a16:creationId xmlns:a16="http://schemas.microsoft.com/office/drawing/2014/main" id="{54AC9BBB-F5AF-9980-D400-1B7781552A69}"/>
              </a:ext>
            </a:extLst>
          </p:cNvPr>
          <p:cNvSpPr txBox="1"/>
          <p:nvPr/>
        </p:nvSpPr>
        <p:spPr>
          <a:xfrm>
            <a:off x="671794" y="2642770"/>
            <a:ext cx="4178782" cy="307777"/>
          </a:xfrm>
          <a:prstGeom prst="rect">
            <a:avLst/>
          </a:prstGeom>
          <a:noFill/>
        </p:spPr>
        <p:txBody>
          <a:bodyPr wrap="square" rtlCol="0">
            <a:spAutoFit/>
          </a:bodyPr>
          <a:lstStyle/>
          <a:p>
            <a:r>
              <a:rPr lang="fr-FR" b="1" noProof="0" dirty="0"/>
              <a:t>Approches basées sur les marches aléatoires</a:t>
            </a:r>
            <a:endParaRPr lang="fr-FR"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7355CC03-C1CF-513F-EF10-26EFE26F301B}"/>
            </a:ext>
          </a:extLst>
        </p:cNvPr>
        <p:cNvGrpSpPr/>
        <p:nvPr/>
      </p:nvGrpSpPr>
      <p:grpSpPr>
        <a:xfrm>
          <a:off x="0" y="0"/>
          <a:ext cx="0" cy="0"/>
          <a:chOff x="0" y="0"/>
          <a:chExt cx="0" cy="0"/>
        </a:xfrm>
      </p:grpSpPr>
      <p:graphicFrame>
        <p:nvGraphicFramePr>
          <p:cNvPr id="1472" name="Google Shape;1472;p28">
            <a:extLst>
              <a:ext uri="{FF2B5EF4-FFF2-40B4-BE49-F238E27FC236}">
                <a16:creationId xmlns:a16="http://schemas.microsoft.com/office/drawing/2014/main" id="{4A9CD5DB-D007-FC01-E469-859008713491}"/>
              </a:ext>
            </a:extLst>
          </p:cNvPr>
          <p:cNvGraphicFramePr/>
          <p:nvPr>
            <p:extLst>
              <p:ext uri="{D42A27DB-BD31-4B8C-83A1-F6EECF244321}">
                <p14:modId xmlns:p14="http://schemas.microsoft.com/office/powerpoint/2010/main" val="2294474367"/>
              </p:ext>
            </p:extLst>
          </p:nvPr>
        </p:nvGraphicFramePr>
        <p:xfrm>
          <a:off x="913221" y="1125272"/>
          <a:ext cx="7317558" cy="1446478"/>
        </p:xfrm>
        <a:graphic>
          <a:graphicData uri="http://schemas.openxmlformats.org/drawingml/2006/table">
            <a:tbl>
              <a:tblPr>
                <a:tableStyleId>{B6F588F0-DA45-466C-91A0-1F1EBF44E27B}</a:tableStyleId>
              </a:tblPr>
              <a:tblGrid>
                <a:gridCol w="1865046">
                  <a:extLst>
                    <a:ext uri="{9D8B030D-6E8A-4147-A177-3AD203B41FA5}">
                      <a16:colId xmlns:a16="http://schemas.microsoft.com/office/drawing/2014/main" val="20000"/>
                    </a:ext>
                  </a:extLst>
                </a:gridCol>
                <a:gridCol w="2726256">
                  <a:extLst>
                    <a:ext uri="{9D8B030D-6E8A-4147-A177-3AD203B41FA5}">
                      <a16:colId xmlns:a16="http://schemas.microsoft.com/office/drawing/2014/main" val="20001"/>
                    </a:ext>
                  </a:extLst>
                </a:gridCol>
                <a:gridCol w="2726256">
                  <a:extLst>
                    <a:ext uri="{9D8B030D-6E8A-4147-A177-3AD203B41FA5}">
                      <a16:colId xmlns:a16="http://schemas.microsoft.com/office/drawing/2014/main" val="41523287"/>
                    </a:ext>
                  </a:extLst>
                </a:gridCol>
              </a:tblGrid>
              <a:tr h="443074">
                <a:tc>
                  <a:txBody>
                    <a:bodyPr/>
                    <a:lstStyle/>
                    <a:p>
                      <a:pPr marL="0" lvl="0" indent="0" algn="l" rtl="0">
                        <a:spcBef>
                          <a:spcPts val="0"/>
                        </a:spcBef>
                        <a:spcAft>
                          <a:spcPts val="0"/>
                        </a:spcAft>
                        <a:buNone/>
                      </a:pPr>
                      <a:r>
                        <a:rPr lang="fr-FR" sz="1100" b="1" noProof="0" dirty="0"/>
                        <a:t>Algorithme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fr-FR" sz="1100" b="1" noProof="0" dirty="0"/>
                        <a:t>Principe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noProof="0" dirty="0"/>
                        <a:t>Limite / Avantage</a:t>
                      </a:r>
                      <a:endParaRPr lang="fr-FR" sz="1100" b="1" u="sng" noProof="0" dirty="0">
                        <a:solidFill>
                          <a:schemeClr val="dk1"/>
                        </a:solidFill>
                        <a:latin typeface="Mulish"/>
                        <a:ea typeface="Mulish"/>
                        <a:cs typeface="Mulish"/>
                        <a:sym typeface="Mulish"/>
                      </a:endParaRPr>
                    </a:p>
                  </a:txBody>
                  <a:tcPr marL="91425" marR="91425" marT="0" marB="0" anchor="ctr"/>
                </a:tc>
                <a:extLst>
                  <a:ext uri="{0D108BD9-81ED-4DB2-BD59-A6C34878D82A}">
                    <a16:rowId xmlns:a16="http://schemas.microsoft.com/office/drawing/2014/main" val="10000"/>
                  </a:ext>
                </a:extLst>
              </a:tr>
              <a:tr h="560330">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Girvan-Newman</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Supprime progressivement les arêtes ayant une forte centralité d'intermédiarité pour séparer les communautés.</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Complexité élevée (O(n³)), peu adapté aux grands réseaux.</a:t>
                      </a:r>
                    </a:p>
                  </a:txBody>
                  <a:tcPr marL="91425" marR="91425" marT="0" marB="0" anchor="ctr"/>
                </a:tc>
                <a:extLst>
                  <a:ext uri="{0D108BD9-81ED-4DB2-BD59-A6C34878D82A}">
                    <a16:rowId xmlns:a16="http://schemas.microsoft.com/office/drawing/2014/main" val="10001"/>
                  </a:ext>
                </a:extLst>
              </a:tr>
              <a:tr h="443074">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Kernighan-Lin (1970)</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Divise le réseau en deux groupes en recherchant une partition optimale.</a:t>
                      </a:r>
                    </a:p>
                  </a:txBody>
                  <a:tcPr marL="91425" marR="91425" marT="0" marB="0" anchor="ctr"/>
                </a:tc>
                <a:tc>
                  <a:txBody>
                    <a:bodyPr/>
                    <a:lstStyle/>
                    <a:p>
                      <a:pPr marL="0" lvl="0" indent="0" algn="l" rtl="0">
                        <a:spcBef>
                          <a:spcPts val="0"/>
                        </a:spcBef>
                        <a:spcAft>
                          <a:spcPts val="1600"/>
                        </a:spcAft>
                        <a:buNone/>
                      </a:pPr>
                      <a:r>
                        <a:rPr lang="fr-FR" sz="1000" noProof="0" dirty="0">
                          <a:solidFill>
                            <a:schemeClr val="dk1"/>
                          </a:solidFill>
                          <a:latin typeface="Mulish"/>
                          <a:ea typeface="Mulish"/>
                          <a:cs typeface="Mulish"/>
                          <a:sym typeface="Mulish"/>
                        </a:rPr>
                        <a:t>Nécessite souvent des partitions de tailles similaires.</a:t>
                      </a:r>
                    </a:p>
                  </a:txBody>
                  <a:tcPr marL="91425" marR="91425" marT="0" marB="0" anchor="ctr"/>
                </a:tc>
                <a:extLst>
                  <a:ext uri="{0D108BD9-81ED-4DB2-BD59-A6C34878D82A}">
                    <a16:rowId xmlns:a16="http://schemas.microsoft.com/office/drawing/2014/main" val="10002"/>
                  </a:ext>
                </a:extLst>
              </a:tr>
            </a:tbl>
          </a:graphicData>
        </a:graphic>
      </p:graphicFrame>
      <p:sp>
        <p:nvSpPr>
          <p:cNvPr id="7" name="Google Shape;1704;p38">
            <a:extLst>
              <a:ext uri="{FF2B5EF4-FFF2-40B4-BE49-F238E27FC236}">
                <a16:creationId xmlns:a16="http://schemas.microsoft.com/office/drawing/2014/main" id="{D628E8A3-496B-B1B3-C0AE-5C7D68E63B5E}"/>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État de l'art – Algorithmes classiques</a:t>
            </a:r>
          </a:p>
        </p:txBody>
      </p:sp>
      <p:sp>
        <p:nvSpPr>
          <p:cNvPr id="8" name="TextBox 7">
            <a:extLst>
              <a:ext uri="{FF2B5EF4-FFF2-40B4-BE49-F238E27FC236}">
                <a16:creationId xmlns:a16="http://schemas.microsoft.com/office/drawing/2014/main" id="{F5427129-0C87-EE60-9272-CBE33BF3ED6F}"/>
              </a:ext>
            </a:extLst>
          </p:cNvPr>
          <p:cNvSpPr txBox="1"/>
          <p:nvPr/>
        </p:nvSpPr>
        <p:spPr>
          <a:xfrm>
            <a:off x="683669" y="817495"/>
            <a:ext cx="2862516" cy="307777"/>
          </a:xfrm>
          <a:prstGeom prst="rect">
            <a:avLst/>
          </a:prstGeom>
          <a:noFill/>
        </p:spPr>
        <p:txBody>
          <a:bodyPr wrap="square" rtlCol="0">
            <a:spAutoFit/>
          </a:bodyPr>
          <a:lstStyle/>
          <a:p>
            <a:r>
              <a:rPr lang="fr-FR" b="1" noProof="0" dirty="0"/>
              <a:t>Approches divisives</a:t>
            </a:r>
            <a:endParaRPr lang="fr-FR" noProof="0" dirty="0"/>
          </a:p>
        </p:txBody>
      </p:sp>
      <p:sp>
        <p:nvSpPr>
          <p:cNvPr id="4" name="TextBox 3">
            <a:extLst>
              <a:ext uri="{FF2B5EF4-FFF2-40B4-BE49-F238E27FC236}">
                <a16:creationId xmlns:a16="http://schemas.microsoft.com/office/drawing/2014/main" id="{777BFC78-0723-54E7-C2EE-16BADF56DD89}"/>
              </a:ext>
            </a:extLst>
          </p:cNvPr>
          <p:cNvSpPr txBox="1"/>
          <p:nvPr/>
        </p:nvSpPr>
        <p:spPr>
          <a:xfrm>
            <a:off x="683669" y="2684090"/>
            <a:ext cx="4545972" cy="307777"/>
          </a:xfrm>
          <a:prstGeom prst="rect">
            <a:avLst/>
          </a:prstGeom>
          <a:noFill/>
        </p:spPr>
        <p:txBody>
          <a:bodyPr wrap="square" rtlCol="0">
            <a:spAutoFit/>
          </a:bodyPr>
          <a:lstStyle/>
          <a:p>
            <a:r>
              <a:rPr lang="fr-FR" b="1" noProof="0" dirty="0"/>
              <a:t>Algorithmes basés sur la physique statistique</a:t>
            </a:r>
            <a:endParaRPr lang="fr-FR" noProof="0" dirty="0"/>
          </a:p>
        </p:txBody>
      </p:sp>
      <p:graphicFrame>
        <p:nvGraphicFramePr>
          <p:cNvPr id="9" name="Google Shape;1472;p28">
            <a:extLst>
              <a:ext uri="{FF2B5EF4-FFF2-40B4-BE49-F238E27FC236}">
                <a16:creationId xmlns:a16="http://schemas.microsoft.com/office/drawing/2014/main" id="{7A5F57FD-E7ED-2B2F-533C-D4A00082A3DC}"/>
              </a:ext>
            </a:extLst>
          </p:cNvPr>
          <p:cNvGraphicFramePr/>
          <p:nvPr>
            <p:extLst>
              <p:ext uri="{D42A27DB-BD31-4B8C-83A1-F6EECF244321}">
                <p14:modId xmlns:p14="http://schemas.microsoft.com/office/powerpoint/2010/main" val="1571281214"/>
              </p:ext>
            </p:extLst>
          </p:nvPr>
        </p:nvGraphicFramePr>
        <p:xfrm>
          <a:off x="913221" y="3079279"/>
          <a:ext cx="7317558" cy="1051289"/>
        </p:xfrm>
        <a:graphic>
          <a:graphicData uri="http://schemas.openxmlformats.org/drawingml/2006/table">
            <a:tbl>
              <a:tblPr>
                <a:tableStyleId>{B6F588F0-DA45-466C-91A0-1F1EBF44E27B}</a:tableStyleId>
              </a:tblPr>
              <a:tblGrid>
                <a:gridCol w="1865046">
                  <a:extLst>
                    <a:ext uri="{9D8B030D-6E8A-4147-A177-3AD203B41FA5}">
                      <a16:colId xmlns:a16="http://schemas.microsoft.com/office/drawing/2014/main" val="20000"/>
                    </a:ext>
                  </a:extLst>
                </a:gridCol>
                <a:gridCol w="2726256">
                  <a:extLst>
                    <a:ext uri="{9D8B030D-6E8A-4147-A177-3AD203B41FA5}">
                      <a16:colId xmlns:a16="http://schemas.microsoft.com/office/drawing/2014/main" val="20001"/>
                    </a:ext>
                  </a:extLst>
                </a:gridCol>
                <a:gridCol w="2726256">
                  <a:extLst>
                    <a:ext uri="{9D8B030D-6E8A-4147-A177-3AD203B41FA5}">
                      <a16:colId xmlns:a16="http://schemas.microsoft.com/office/drawing/2014/main" val="41523287"/>
                    </a:ext>
                  </a:extLst>
                </a:gridCol>
              </a:tblGrid>
              <a:tr h="536601">
                <a:tc>
                  <a:txBody>
                    <a:bodyPr/>
                    <a:lstStyle/>
                    <a:p>
                      <a:pPr marL="0" lvl="0" indent="0" algn="l" rtl="0">
                        <a:spcBef>
                          <a:spcPts val="0"/>
                        </a:spcBef>
                        <a:spcAft>
                          <a:spcPts val="0"/>
                        </a:spcAft>
                        <a:buNone/>
                      </a:pPr>
                      <a:r>
                        <a:rPr lang="fr-FR" sz="1100" b="1" noProof="0" dirty="0"/>
                        <a:t>Algorithme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fr-FR" sz="1100" b="1" noProof="0" dirty="0"/>
                        <a:t>Principe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noProof="0" dirty="0"/>
                        <a:t>Limite / Avantage</a:t>
                      </a:r>
                      <a:endParaRPr lang="fr-FR" sz="1100" b="1" u="sng" noProof="0" dirty="0">
                        <a:solidFill>
                          <a:schemeClr val="dk1"/>
                        </a:solidFill>
                        <a:latin typeface="Mulish"/>
                        <a:ea typeface="Mulish"/>
                        <a:cs typeface="Mulish"/>
                        <a:sym typeface="Mulish"/>
                      </a:endParaRPr>
                    </a:p>
                  </a:txBody>
                  <a:tcPr marL="91425" marR="91425" marT="0" marB="0" anchor="ctr"/>
                </a:tc>
                <a:extLst>
                  <a:ext uri="{0D108BD9-81ED-4DB2-BD59-A6C34878D82A}">
                    <a16:rowId xmlns:a16="http://schemas.microsoft.com/office/drawing/2014/main" val="10000"/>
                  </a:ext>
                </a:extLst>
              </a:tr>
              <a:tr h="514688">
                <a:tc>
                  <a:txBody>
                    <a:bodyPr/>
                    <a:lstStyle/>
                    <a:p>
                      <a:pPr marL="0" lvl="0" indent="0" algn="l" rtl="0">
                        <a:spcBef>
                          <a:spcPts val="0"/>
                        </a:spcBef>
                        <a:spcAft>
                          <a:spcPts val="0"/>
                        </a:spcAft>
                        <a:buNone/>
                      </a:pPr>
                      <a:r>
                        <a:rPr lang="fr-FR" sz="1000" b="0" u="none" noProof="0" dirty="0">
                          <a:solidFill>
                            <a:schemeClr val="dk1"/>
                          </a:solidFill>
                          <a:latin typeface="Mulish"/>
                          <a:ea typeface="Mulish"/>
                          <a:cs typeface="Mulish"/>
                          <a:sym typeface="Mulish"/>
                        </a:rPr>
                        <a:t>Spin Glass (Reichardt &amp; Bornholdt)</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Approche inspirée de la physique utilisant l'optimisation par recuit simulé pour détecter les communautés.</a:t>
                      </a:r>
                    </a:p>
                  </a:txBody>
                  <a:tcPr marL="91425" marR="91425" marT="0" marB="0" anchor="ctr"/>
                </a:tc>
                <a:tc>
                  <a:txBody>
                    <a:bodyPr/>
                    <a:lstStyle/>
                    <a:p>
                      <a:pPr marL="0" marR="0" lvl="0" indent="0" algn="l" rtl="0">
                        <a:lnSpc>
                          <a:spcPct val="100000"/>
                        </a:lnSpc>
                        <a:spcBef>
                          <a:spcPts val="0"/>
                        </a:spcBef>
                        <a:spcAft>
                          <a:spcPts val="1600"/>
                        </a:spcAft>
                        <a:buNone/>
                      </a:pPr>
                      <a:r>
                        <a:rPr lang="fr-FR" sz="1000" noProof="0" dirty="0">
                          <a:solidFill>
                            <a:schemeClr val="dk1"/>
                          </a:solidFill>
                          <a:latin typeface="Mulish"/>
                          <a:ea typeface="Mulish"/>
                          <a:cs typeface="Mulish"/>
                          <a:sym typeface="Mulish"/>
                        </a:rPr>
                        <a:t>Complexité élevée, peu adaptée aux réseaux de grande taille (&gt; 10 000 nœuds).</a:t>
                      </a:r>
                    </a:p>
                  </a:txBody>
                  <a:tcPr marL="91425" marR="91425"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3745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999D75F7-4D68-6F76-C466-A0B03EDC74C5}"/>
            </a:ext>
          </a:extLst>
        </p:cNvPr>
        <p:cNvGrpSpPr/>
        <p:nvPr/>
      </p:nvGrpSpPr>
      <p:grpSpPr>
        <a:xfrm>
          <a:off x="0" y="0"/>
          <a:ext cx="0" cy="0"/>
          <a:chOff x="0" y="0"/>
          <a:chExt cx="0" cy="0"/>
        </a:xfrm>
      </p:grpSpPr>
      <p:graphicFrame>
        <p:nvGraphicFramePr>
          <p:cNvPr id="1472" name="Google Shape;1472;p28">
            <a:extLst>
              <a:ext uri="{FF2B5EF4-FFF2-40B4-BE49-F238E27FC236}">
                <a16:creationId xmlns:a16="http://schemas.microsoft.com/office/drawing/2014/main" id="{1CDC9EAE-47F6-EEB7-E9B8-75DBBE645FE9}"/>
              </a:ext>
            </a:extLst>
          </p:cNvPr>
          <p:cNvGraphicFramePr/>
          <p:nvPr>
            <p:extLst>
              <p:ext uri="{D42A27DB-BD31-4B8C-83A1-F6EECF244321}">
                <p14:modId xmlns:p14="http://schemas.microsoft.com/office/powerpoint/2010/main" val="300976952"/>
              </p:ext>
            </p:extLst>
          </p:nvPr>
        </p:nvGraphicFramePr>
        <p:xfrm>
          <a:off x="913221" y="1389320"/>
          <a:ext cx="7317558" cy="2990425"/>
        </p:xfrm>
        <a:graphic>
          <a:graphicData uri="http://schemas.openxmlformats.org/drawingml/2006/table">
            <a:tbl>
              <a:tblPr>
                <a:tableStyleId>{B6F588F0-DA45-466C-91A0-1F1EBF44E27B}</a:tableStyleId>
              </a:tblPr>
              <a:tblGrid>
                <a:gridCol w="1865046">
                  <a:extLst>
                    <a:ext uri="{9D8B030D-6E8A-4147-A177-3AD203B41FA5}">
                      <a16:colId xmlns:a16="http://schemas.microsoft.com/office/drawing/2014/main" val="20000"/>
                    </a:ext>
                  </a:extLst>
                </a:gridCol>
                <a:gridCol w="2726256">
                  <a:extLst>
                    <a:ext uri="{9D8B030D-6E8A-4147-A177-3AD203B41FA5}">
                      <a16:colId xmlns:a16="http://schemas.microsoft.com/office/drawing/2014/main" val="20001"/>
                    </a:ext>
                  </a:extLst>
                </a:gridCol>
                <a:gridCol w="2726256">
                  <a:extLst>
                    <a:ext uri="{9D8B030D-6E8A-4147-A177-3AD203B41FA5}">
                      <a16:colId xmlns:a16="http://schemas.microsoft.com/office/drawing/2014/main" val="41523287"/>
                    </a:ext>
                  </a:extLst>
                </a:gridCol>
              </a:tblGrid>
              <a:tr h="361525">
                <a:tc>
                  <a:txBody>
                    <a:bodyPr/>
                    <a:lstStyle/>
                    <a:p>
                      <a:pPr marL="0" lvl="0" indent="0" algn="l" rtl="0">
                        <a:spcBef>
                          <a:spcPts val="0"/>
                        </a:spcBef>
                        <a:spcAft>
                          <a:spcPts val="0"/>
                        </a:spcAft>
                        <a:buNone/>
                      </a:pPr>
                      <a:r>
                        <a:rPr lang="en-GB" sz="1100" b="1"/>
                        <a:t>Algorithme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en-GB" sz="1100" b="1"/>
                        <a:t>Principe</a:t>
                      </a:r>
                      <a:endParaRPr lang="fr-FR" sz="1100" b="1" u="sng" noProof="0" dirty="0">
                        <a:solidFill>
                          <a:schemeClr val="dk1"/>
                        </a:solidFill>
                        <a:latin typeface="Mulish"/>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GB" sz="1100" b="1"/>
                        <a:t>Limite / Avantage</a:t>
                      </a:r>
                      <a:endParaRPr lang="fr-FR" sz="1100" b="1" u="sng" noProof="0" dirty="0">
                        <a:solidFill>
                          <a:schemeClr val="dk1"/>
                        </a:solidFill>
                        <a:latin typeface="Mulish"/>
                        <a:ea typeface="Mulish"/>
                        <a:cs typeface="Mulish"/>
                        <a:sym typeface="Mulish"/>
                      </a:endParaRPr>
                    </a:p>
                  </a:txBody>
                  <a:tcPr marL="91425" marR="91425" marT="0" marB="0" anchor="ctr"/>
                </a:tc>
                <a:extLst>
                  <a:ext uri="{0D108BD9-81ED-4DB2-BD59-A6C34878D82A}">
                    <a16:rowId xmlns:a16="http://schemas.microsoft.com/office/drawing/2014/main" val="10000"/>
                  </a:ext>
                </a:extLst>
              </a:tr>
              <a:tr h="346762">
                <a:tc>
                  <a:txBody>
                    <a:bodyPr/>
                    <a:lstStyle/>
                    <a:p>
                      <a:pPr>
                        <a:lnSpc>
                          <a:spcPct val="100000"/>
                        </a:lnSpc>
                        <a:buNone/>
                      </a:pPr>
                      <a:r>
                        <a:rPr lang="fr-FR" sz="1000" b="1" noProof="0">
                          <a:effectLst/>
                          <a:latin typeface="Mulish" panose="020B0604020202020204" charset="0"/>
                        </a:rPr>
                        <a:t>LPA</a:t>
                      </a:r>
                      <a:r>
                        <a:rPr lang="fr-FR" sz="1000" b="0" noProof="0">
                          <a:effectLst/>
                          <a:latin typeface="Mulish" panose="020B0604020202020204" charset="0"/>
                        </a:rPr>
                        <a:t> (Raghavan et al.)</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a:effectLst/>
                          <a:latin typeface="Mulish" panose="020B0604020202020204" charset="0"/>
                        </a:rPr>
                        <a:t>Les nœuds adoptent l'étiquette la plus fréquente parmi leurs voisins.</a:t>
                      </a:r>
                    </a:p>
                  </a:txBody>
                  <a:tcPr marL="152400" marR="152400" marT="95250" marB="95250" anchor="ctr"/>
                </a:tc>
                <a:tc>
                  <a:txBody>
                    <a:bodyPr/>
                    <a:lstStyle/>
                    <a:p>
                      <a:pPr algn="l">
                        <a:lnSpc>
                          <a:spcPct val="100000"/>
                        </a:lnSpc>
                        <a:buNone/>
                      </a:pPr>
                      <a:r>
                        <a:rPr lang="fr-FR" sz="1000" b="0" noProof="0" dirty="0">
                          <a:effectLst/>
                          <a:latin typeface="Mulish" panose="020B0604020202020204" charset="0"/>
                        </a:rPr>
                        <a:t>Gates et al. : algorithme fondamentalement instable.</a:t>
                      </a:r>
                    </a:p>
                  </a:txBody>
                  <a:tcPr marL="152400" marT="95250" marB="95250" anchor="ctr"/>
                </a:tc>
                <a:extLst>
                  <a:ext uri="{0D108BD9-81ED-4DB2-BD59-A6C34878D82A}">
                    <a16:rowId xmlns:a16="http://schemas.microsoft.com/office/drawing/2014/main" val="10001"/>
                  </a:ext>
                </a:extLst>
              </a:tr>
              <a:tr h="361525">
                <a:tc>
                  <a:txBody>
                    <a:bodyPr/>
                    <a:lstStyle/>
                    <a:p>
                      <a:pPr>
                        <a:lnSpc>
                          <a:spcPct val="100000"/>
                        </a:lnSpc>
                        <a:buNone/>
                      </a:pPr>
                      <a:r>
                        <a:rPr lang="fr-FR" sz="1000" b="1" noProof="0" dirty="0">
                          <a:effectLst/>
                          <a:latin typeface="Mulish" panose="020B0604020202020204" charset="0"/>
                        </a:rPr>
                        <a:t>FLPA</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a:effectLst/>
                          <a:latin typeface="Mulish" panose="020B0604020202020204" charset="0"/>
                        </a:rPr>
                        <a:t>Mises à jour asynchrones avec mécanisme de mémoire.</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Yang et al. : surpasse le LPA pour un paramètre de mélange μ ∈ [0,5 ; 0,7].</a:t>
                      </a:r>
                    </a:p>
                  </a:txBody>
                  <a:tcPr marL="152400" marT="95250" marB="95250" anchor="ctr"/>
                </a:tc>
                <a:extLst>
                  <a:ext uri="{0D108BD9-81ED-4DB2-BD59-A6C34878D82A}">
                    <a16:rowId xmlns:a16="http://schemas.microsoft.com/office/drawing/2014/main" val="10002"/>
                  </a:ext>
                </a:extLst>
              </a:tr>
              <a:tr h="361525">
                <a:tc>
                  <a:txBody>
                    <a:bodyPr/>
                    <a:lstStyle/>
                    <a:p>
                      <a:pPr>
                        <a:lnSpc>
                          <a:spcPct val="100000"/>
                        </a:lnSpc>
                        <a:buNone/>
                      </a:pPr>
                      <a:r>
                        <a:rPr lang="fr-FR" sz="1000" b="1" noProof="0">
                          <a:effectLst/>
                          <a:latin typeface="Mulish" panose="020B0604020202020204" charset="0"/>
                        </a:rPr>
                        <a:t>LPA-MNI</a:t>
                      </a:r>
                      <a:r>
                        <a:rPr lang="fr-FR" sz="1000" b="0" noProof="0">
                          <a:effectLst/>
                          <a:latin typeface="Mulish" panose="020B0604020202020204" charset="0"/>
                        </a:rPr>
                        <a:t> (Li et al.)</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a:effectLst/>
                          <a:latin typeface="Mulish" panose="020B0604020202020204" charset="0"/>
                        </a:rPr>
                        <a:t>Combine la modularité et l'importance des nœuds.</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Améliore la précision et la robustesse.</a:t>
                      </a:r>
                    </a:p>
                  </a:txBody>
                  <a:tcPr marL="152400" marT="95250" marB="95250" anchor="ctr"/>
                </a:tc>
                <a:extLst>
                  <a:ext uri="{0D108BD9-81ED-4DB2-BD59-A6C34878D82A}">
                    <a16:rowId xmlns:a16="http://schemas.microsoft.com/office/drawing/2014/main" val="1339010347"/>
                  </a:ext>
                </a:extLst>
              </a:tr>
              <a:tr h="361525">
                <a:tc>
                  <a:txBody>
                    <a:bodyPr/>
                    <a:lstStyle/>
                    <a:p>
                      <a:pPr>
                        <a:lnSpc>
                          <a:spcPct val="100000"/>
                        </a:lnSpc>
                        <a:buNone/>
                      </a:pPr>
                      <a:r>
                        <a:rPr lang="fr-FR" sz="1000" b="1" noProof="0">
                          <a:effectLst/>
                          <a:latin typeface="Mulish" panose="020B0604020202020204" charset="0"/>
                        </a:rPr>
                        <a:t>CLPA</a:t>
                      </a:r>
                      <a:r>
                        <a:rPr lang="fr-FR" sz="1000" b="0" noProof="0">
                          <a:effectLst/>
                          <a:latin typeface="Mulish" panose="020B0604020202020204" charset="0"/>
                        </a:rPr>
                        <a:t> (Li et al.)</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a:effectLst/>
                          <a:latin typeface="Mulish" panose="020B0604020202020204" charset="0"/>
                        </a:rPr>
                        <a:t>Basé sur une optimisation sous contraintes.</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Polyvalent et adapté à différents types de réseaux.</a:t>
                      </a:r>
                    </a:p>
                  </a:txBody>
                  <a:tcPr marL="152400" marT="95250" marB="95250" anchor="ctr"/>
                </a:tc>
                <a:extLst>
                  <a:ext uri="{0D108BD9-81ED-4DB2-BD59-A6C34878D82A}">
                    <a16:rowId xmlns:a16="http://schemas.microsoft.com/office/drawing/2014/main" val="3298635651"/>
                  </a:ext>
                </a:extLst>
              </a:tr>
              <a:tr h="361525">
                <a:tc>
                  <a:txBody>
                    <a:bodyPr/>
                    <a:lstStyle/>
                    <a:p>
                      <a:pPr>
                        <a:lnSpc>
                          <a:spcPct val="100000"/>
                        </a:lnSpc>
                        <a:buNone/>
                      </a:pPr>
                      <a:r>
                        <a:rPr lang="fr-FR" sz="1000" b="1" noProof="0" dirty="0" err="1">
                          <a:effectLst/>
                          <a:latin typeface="Mulish" panose="020B0604020202020204" charset="0"/>
                        </a:rPr>
                        <a:t>FluidC</a:t>
                      </a:r>
                      <a:r>
                        <a:rPr lang="fr-FR" sz="1000" b="0" noProof="0" dirty="0">
                          <a:effectLst/>
                          <a:latin typeface="Mulish" panose="020B0604020202020204" charset="0"/>
                        </a:rPr>
                        <a:t> (Parés et al.)</a:t>
                      </a:r>
                    </a:p>
                  </a:txBody>
                  <a:tcPr marR="152400" marT="95250" marB="95250" anchor="ctr"/>
                </a:tc>
                <a:tc>
                  <a:txBody>
                    <a:bodyPr/>
                    <a:lstStyle/>
                    <a:p>
                      <a:pPr>
                        <a:lnSpc>
                          <a:spcPct val="100000"/>
                        </a:lnSpc>
                        <a:buNone/>
                      </a:pPr>
                      <a:r>
                        <a:rPr lang="fr-FR" sz="1000" b="0" noProof="0" dirty="0">
                          <a:effectLst/>
                          <a:latin typeface="Mulish" panose="020B0604020202020204" charset="0"/>
                        </a:rPr>
                        <a:t>Les communautés sont modélisées comme des fluides qui s'étendent progressivement dans le réseau.</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obtient un ARI d'environ 0,9 sur un réseau de 500 000 nœuds.</a:t>
                      </a:r>
                    </a:p>
                  </a:txBody>
                  <a:tcPr marL="152400" marT="95250" marB="95250" anchor="ctr"/>
                </a:tc>
                <a:extLst>
                  <a:ext uri="{0D108BD9-81ED-4DB2-BD59-A6C34878D82A}">
                    <a16:rowId xmlns:a16="http://schemas.microsoft.com/office/drawing/2014/main" val="1977022067"/>
                  </a:ext>
                </a:extLst>
              </a:tr>
            </a:tbl>
          </a:graphicData>
        </a:graphic>
      </p:graphicFrame>
      <p:sp>
        <p:nvSpPr>
          <p:cNvPr id="8" name="TextBox 7">
            <a:extLst>
              <a:ext uri="{FF2B5EF4-FFF2-40B4-BE49-F238E27FC236}">
                <a16:creationId xmlns:a16="http://schemas.microsoft.com/office/drawing/2014/main" id="{970AA51E-0519-4406-6B43-DA66EAED4FA5}"/>
              </a:ext>
            </a:extLst>
          </p:cNvPr>
          <p:cNvSpPr txBox="1"/>
          <p:nvPr/>
        </p:nvSpPr>
        <p:spPr>
          <a:xfrm>
            <a:off x="671794" y="893398"/>
            <a:ext cx="4789206" cy="307777"/>
          </a:xfrm>
          <a:prstGeom prst="rect">
            <a:avLst/>
          </a:prstGeom>
          <a:noFill/>
        </p:spPr>
        <p:txBody>
          <a:bodyPr wrap="square" rtlCol="0">
            <a:spAutoFit/>
          </a:bodyPr>
          <a:lstStyle/>
          <a:p>
            <a:r>
              <a:rPr lang="fr-FR" b="1" dirty="0"/>
              <a:t>Approches basées sur la propagation d'étiquettes</a:t>
            </a:r>
            <a:endParaRPr lang="fr-FR" noProof="0" dirty="0"/>
          </a:p>
        </p:txBody>
      </p:sp>
      <p:sp>
        <p:nvSpPr>
          <p:cNvPr id="4" name="Google Shape;1704;p38">
            <a:extLst>
              <a:ext uri="{FF2B5EF4-FFF2-40B4-BE49-F238E27FC236}">
                <a16:creationId xmlns:a16="http://schemas.microsoft.com/office/drawing/2014/main" id="{B732F4AF-1253-85B6-534D-52BBF2ABF677}"/>
              </a:ext>
            </a:extLst>
          </p:cNvPr>
          <p:cNvSpPr txBox="1">
            <a:spLocks/>
          </p:cNvSpPr>
          <p:nvPr/>
        </p:nvSpPr>
        <p:spPr>
          <a:xfrm>
            <a:off x="524792" y="288525"/>
            <a:ext cx="821137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fr-FR" sz="2400"/>
              <a:t>État de l'art – Algorithmes classiques</a:t>
            </a:r>
            <a:endParaRPr lang="fr-FR" sz="2400" dirty="0"/>
          </a:p>
        </p:txBody>
      </p:sp>
    </p:spTree>
    <p:extLst>
      <p:ext uri="{BB962C8B-B14F-4D97-AF65-F5344CB8AC3E}">
        <p14:creationId xmlns:p14="http://schemas.microsoft.com/office/powerpoint/2010/main" val="3024997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5B1AB9D8-2D16-45D5-1233-0047DFB01B40}"/>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A3B62CD1-C4F4-BEC6-D102-391375AC6F78}"/>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État de l'art – Algorithmes modernes </a:t>
            </a:r>
          </a:p>
        </p:txBody>
      </p:sp>
      <p:pic>
        <p:nvPicPr>
          <p:cNvPr id="5" name="Picture 4">
            <a:extLst>
              <a:ext uri="{FF2B5EF4-FFF2-40B4-BE49-F238E27FC236}">
                <a16:creationId xmlns:a16="http://schemas.microsoft.com/office/drawing/2014/main" id="{72DA412D-9887-EDC0-30C5-3C8A11349647}"/>
              </a:ext>
            </a:extLst>
          </p:cNvPr>
          <p:cNvPicPr>
            <a:picLocks noChangeAspect="1"/>
          </p:cNvPicPr>
          <p:nvPr/>
        </p:nvPicPr>
        <p:blipFill>
          <a:blip r:embed="rId3"/>
          <a:srcRect t="20467" b="17632"/>
          <a:stretch>
            <a:fillRect/>
          </a:stretch>
        </p:blipFill>
        <p:spPr>
          <a:xfrm>
            <a:off x="847821" y="1485611"/>
            <a:ext cx="7448357" cy="2172278"/>
          </a:xfrm>
          <a:prstGeom prst="rect">
            <a:avLst/>
          </a:prstGeom>
        </p:spPr>
      </p:pic>
      <p:sp>
        <p:nvSpPr>
          <p:cNvPr id="6" name="TextBox 5">
            <a:extLst>
              <a:ext uri="{FF2B5EF4-FFF2-40B4-BE49-F238E27FC236}">
                <a16:creationId xmlns:a16="http://schemas.microsoft.com/office/drawing/2014/main" id="{7C3F25B4-C9AD-8ACB-78AF-9582F592BD61}"/>
              </a:ext>
            </a:extLst>
          </p:cNvPr>
          <p:cNvSpPr txBox="1"/>
          <p:nvPr/>
        </p:nvSpPr>
        <p:spPr>
          <a:xfrm>
            <a:off x="671794" y="893398"/>
            <a:ext cx="4967006" cy="307777"/>
          </a:xfrm>
          <a:prstGeom prst="rect">
            <a:avLst/>
          </a:prstGeom>
          <a:noFill/>
        </p:spPr>
        <p:txBody>
          <a:bodyPr wrap="square" rtlCol="0">
            <a:spAutoFit/>
          </a:bodyPr>
          <a:lstStyle/>
          <a:p>
            <a:r>
              <a:rPr lang="fr-FR" b="1" noProof="0" dirty="0"/>
              <a:t>Graph Neural Networks (GCN-GAT-VGAE-AE)</a:t>
            </a:r>
            <a:endParaRPr lang="fr-FR" noProof="0" dirty="0"/>
          </a:p>
        </p:txBody>
      </p:sp>
    </p:spTree>
    <p:extLst>
      <p:ext uri="{BB962C8B-B14F-4D97-AF65-F5344CB8AC3E}">
        <p14:creationId xmlns:p14="http://schemas.microsoft.com/office/powerpoint/2010/main" val="4133480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E792794C-9EAC-CD5C-F5F9-8CDF425C5550}"/>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B3D6EE7B-1F9E-1D7A-7365-1EC151579431}"/>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dirty="0"/>
              <a:t>État de l'art </a:t>
            </a:r>
            <a:r>
              <a:rPr lang="fr-FR" sz="2400" noProof="0" dirty="0"/>
              <a:t>- Applications</a:t>
            </a:r>
          </a:p>
        </p:txBody>
      </p:sp>
      <p:pic>
        <p:nvPicPr>
          <p:cNvPr id="4" name="Picture 3">
            <a:extLst>
              <a:ext uri="{FF2B5EF4-FFF2-40B4-BE49-F238E27FC236}">
                <a16:creationId xmlns:a16="http://schemas.microsoft.com/office/drawing/2014/main" id="{A3C79A1F-417A-09D3-E974-B79F62574621}"/>
              </a:ext>
            </a:extLst>
          </p:cNvPr>
          <p:cNvPicPr>
            <a:picLocks noChangeAspect="1"/>
          </p:cNvPicPr>
          <p:nvPr/>
        </p:nvPicPr>
        <p:blipFill>
          <a:blip r:embed="rId3"/>
          <a:stretch>
            <a:fillRect/>
          </a:stretch>
        </p:blipFill>
        <p:spPr>
          <a:xfrm>
            <a:off x="1797894" y="1100864"/>
            <a:ext cx="5548212" cy="2941772"/>
          </a:xfrm>
          <a:prstGeom prst="rect">
            <a:avLst/>
          </a:prstGeom>
        </p:spPr>
      </p:pic>
    </p:spTree>
    <p:extLst>
      <p:ext uri="{BB962C8B-B14F-4D97-AF65-F5344CB8AC3E}">
        <p14:creationId xmlns:p14="http://schemas.microsoft.com/office/powerpoint/2010/main" val="2177598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0509D351-6F44-8E02-3863-FA2D6859F308}"/>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DCE0D523-9353-13A6-6E4A-A50E6CE88CDD}"/>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Méthodologie</a:t>
            </a:r>
          </a:p>
        </p:txBody>
      </p:sp>
      <p:sp>
        <p:nvSpPr>
          <p:cNvPr id="5" name="TextBox 4">
            <a:extLst>
              <a:ext uri="{FF2B5EF4-FFF2-40B4-BE49-F238E27FC236}">
                <a16:creationId xmlns:a16="http://schemas.microsoft.com/office/drawing/2014/main" id="{BB67DFAE-27AF-C953-3F85-D8BFF5039A8F}"/>
              </a:ext>
            </a:extLst>
          </p:cNvPr>
          <p:cNvSpPr txBox="1"/>
          <p:nvPr/>
        </p:nvSpPr>
        <p:spPr>
          <a:xfrm>
            <a:off x="524792" y="800931"/>
            <a:ext cx="6130008" cy="523220"/>
          </a:xfrm>
          <a:prstGeom prst="rect">
            <a:avLst/>
          </a:prstGeom>
          <a:noFill/>
        </p:spPr>
        <p:txBody>
          <a:bodyPr wrap="square" rtlCol="0">
            <a:spAutoFit/>
          </a:bodyPr>
          <a:lstStyle/>
          <a:p>
            <a:r>
              <a:rPr lang="fr-FR" b="1" noProof="0" dirty="0"/>
              <a:t>Phase 1: Évaluation des algorithmes de détection de communautés</a:t>
            </a:r>
            <a:br>
              <a:rPr lang="fr-FR" noProof="0" dirty="0"/>
            </a:br>
            <a:endParaRPr lang="fr-FR" b="1" noProof="0" dirty="0"/>
          </a:p>
        </p:txBody>
      </p:sp>
      <p:graphicFrame>
        <p:nvGraphicFramePr>
          <p:cNvPr id="3" name="Google Shape;1472;p28">
            <a:extLst>
              <a:ext uri="{FF2B5EF4-FFF2-40B4-BE49-F238E27FC236}">
                <a16:creationId xmlns:a16="http://schemas.microsoft.com/office/drawing/2014/main" id="{66749852-8379-C3E0-57CC-AD1161444ACD}"/>
              </a:ext>
            </a:extLst>
          </p:cNvPr>
          <p:cNvGraphicFramePr/>
          <p:nvPr>
            <p:extLst>
              <p:ext uri="{D42A27DB-BD31-4B8C-83A1-F6EECF244321}">
                <p14:modId xmlns:p14="http://schemas.microsoft.com/office/powerpoint/2010/main" val="3304059823"/>
              </p:ext>
            </p:extLst>
          </p:nvPr>
        </p:nvGraphicFramePr>
        <p:xfrm>
          <a:off x="580288" y="1170263"/>
          <a:ext cx="8100381" cy="1647781"/>
        </p:xfrm>
        <a:graphic>
          <a:graphicData uri="http://schemas.openxmlformats.org/drawingml/2006/table">
            <a:tbl>
              <a:tblPr>
                <a:tableStyleId>{B6F588F0-DA45-466C-91A0-1F1EBF44E27B}</a:tableStyleId>
              </a:tblPr>
              <a:tblGrid>
                <a:gridCol w="1358805">
                  <a:extLst>
                    <a:ext uri="{9D8B030D-6E8A-4147-A177-3AD203B41FA5}">
                      <a16:colId xmlns:a16="http://schemas.microsoft.com/office/drawing/2014/main" val="20000"/>
                    </a:ext>
                  </a:extLst>
                </a:gridCol>
                <a:gridCol w="2808529">
                  <a:extLst>
                    <a:ext uri="{9D8B030D-6E8A-4147-A177-3AD203B41FA5}">
                      <a16:colId xmlns:a16="http://schemas.microsoft.com/office/drawing/2014/main" val="20001"/>
                    </a:ext>
                  </a:extLst>
                </a:gridCol>
                <a:gridCol w="1813404">
                  <a:extLst>
                    <a:ext uri="{9D8B030D-6E8A-4147-A177-3AD203B41FA5}">
                      <a16:colId xmlns:a16="http://schemas.microsoft.com/office/drawing/2014/main" val="41523287"/>
                    </a:ext>
                  </a:extLst>
                </a:gridCol>
                <a:gridCol w="2119643">
                  <a:extLst>
                    <a:ext uri="{9D8B030D-6E8A-4147-A177-3AD203B41FA5}">
                      <a16:colId xmlns:a16="http://schemas.microsoft.com/office/drawing/2014/main" val="1122031089"/>
                    </a:ext>
                  </a:extLst>
                </a:gridCol>
              </a:tblGrid>
              <a:tr h="361525">
                <a:tc>
                  <a:txBody>
                    <a:bodyPr/>
                    <a:lstStyle/>
                    <a:p>
                      <a:pPr marL="0" lvl="0" indent="0" algn="l" rtl="0">
                        <a:spcBef>
                          <a:spcPts val="0"/>
                        </a:spcBef>
                        <a:spcAft>
                          <a:spcPts val="0"/>
                        </a:spcAft>
                        <a:buNone/>
                      </a:pPr>
                      <a:r>
                        <a:rPr lang="en-GB" sz="1100" b="1" u="none" dirty="0" err="1">
                          <a:latin typeface="+mj-lt"/>
                        </a:rPr>
                        <a:t>Catégorie</a:t>
                      </a:r>
                      <a:endParaRPr lang="fr-FR" sz="1100" b="1" u="none" noProof="0" dirty="0">
                        <a:solidFill>
                          <a:schemeClr val="dk1"/>
                        </a:solidFill>
                        <a:latin typeface="+mj-lt"/>
                        <a:ea typeface="Mulish"/>
                        <a:cs typeface="Mulish"/>
                        <a:sym typeface="Mulish"/>
                      </a:endParaRPr>
                    </a:p>
                  </a:txBody>
                  <a:tcPr marL="91425" marR="91425" marT="0" marB="0" anchor="ctr"/>
                </a:tc>
                <a:tc>
                  <a:txBody>
                    <a:bodyPr/>
                    <a:lstStyle/>
                    <a:p>
                      <a:pPr marL="0" lvl="0" indent="0" algn="l" rtl="0">
                        <a:spcBef>
                          <a:spcPts val="0"/>
                        </a:spcBef>
                        <a:spcAft>
                          <a:spcPts val="0"/>
                        </a:spcAft>
                        <a:buNone/>
                      </a:pPr>
                      <a:r>
                        <a:rPr lang="fr-FR" sz="1100" b="1" u="none" noProof="0" dirty="0">
                          <a:solidFill>
                            <a:schemeClr val="dk1"/>
                          </a:solidFill>
                          <a:latin typeface="+mj-lt"/>
                          <a:sym typeface="Mulish"/>
                        </a:rPr>
                        <a:t>Algorithmes</a:t>
                      </a:r>
                      <a:endParaRPr lang="fr-FR" sz="1100" b="1" u="none" noProof="0" dirty="0">
                        <a:solidFill>
                          <a:schemeClr val="dk1"/>
                        </a:solidFill>
                        <a:latin typeface="+mj-lt"/>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u="none" noProof="0" dirty="0" err="1">
                          <a:solidFill>
                            <a:schemeClr val="dk1"/>
                          </a:solidFill>
                          <a:latin typeface="+mj-lt"/>
                          <a:sym typeface="Mulish"/>
                        </a:rPr>
                        <a:t>Datasets</a:t>
                      </a:r>
                      <a:endParaRPr lang="fr-FR" sz="1100" b="1" u="none" noProof="0" dirty="0">
                        <a:solidFill>
                          <a:schemeClr val="dk1"/>
                        </a:solidFill>
                        <a:latin typeface="+mj-lt"/>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GB" sz="1100" b="1" u="none" dirty="0" err="1">
                          <a:latin typeface="+mj-lt"/>
                        </a:rPr>
                        <a:t>Métriques</a:t>
                      </a:r>
                      <a:endParaRPr lang="fr-FR" sz="1100" b="1" u="none" noProof="0" dirty="0">
                        <a:solidFill>
                          <a:schemeClr val="dk1"/>
                        </a:solidFill>
                        <a:latin typeface="+mj-lt"/>
                        <a:ea typeface="Mulish"/>
                        <a:cs typeface="Mulish"/>
                        <a:sym typeface="Mulish"/>
                      </a:endParaRPr>
                    </a:p>
                  </a:txBody>
                  <a:tcPr marL="91425" marR="91425" marT="0" marB="0" anchor="ctr"/>
                </a:tc>
                <a:extLst>
                  <a:ext uri="{0D108BD9-81ED-4DB2-BD59-A6C34878D82A}">
                    <a16:rowId xmlns:a16="http://schemas.microsoft.com/office/drawing/2014/main" val="10000"/>
                  </a:ext>
                </a:extLst>
              </a:tr>
              <a:tr h="346762">
                <a:tc>
                  <a:txBody>
                    <a:bodyPr/>
                    <a:lstStyle/>
                    <a:p>
                      <a:pPr>
                        <a:lnSpc>
                          <a:spcPts val="1875"/>
                        </a:lnSpc>
                        <a:buNone/>
                      </a:pPr>
                      <a:r>
                        <a:rPr lang="fr-FR" sz="1000" b="1" noProof="0" dirty="0">
                          <a:effectLst/>
                          <a:latin typeface="Mulish" panose="020B0604020202020204" charset="0"/>
                        </a:rPr>
                        <a:t>Classiques (13)</a:t>
                      </a:r>
                      <a:endParaRPr lang="fr-FR" sz="1000" b="0" noProof="0" dirty="0">
                        <a:effectLst/>
                        <a:latin typeface="Mulish" panose="020B0604020202020204" charset="0"/>
                      </a:endParaRPr>
                    </a:p>
                  </a:txBody>
                  <a:tcPr marR="152400" marT="95250" marB="95250" anchor="ctr"/>
                </a:tc>
                <a:tc>
                  <a:txBody>
                    <a:bodyPr/>
                    <a:lstStyle/>
                    <a:p>
                      <a:pPr>
                        <a:lnSpc>
                          <a:spcPts val="1875"/>
                        </a:lnSpc>
                        <a:buNone/>
                      </a:pPr>
                      <a:r>
                        <a:rPr lang="fr-FR" sz="1000" b="0" noProof="0" dirty="0">
                          <a:effectLst/>
                          <a:latin typeface="Mulish" panose="020B0604020202020204" charset="0"/>
                        </a:rPr>
                        <a:t>Louvain, Leiden, </a:t>
                      </a:r>
                      <a:r>
                        <a:rPr lang="fr-FR" sz="1000" b="0" noProof="0" dirty="0" err="1">
                          <a:effectLst/>
                          <a:latin typeface="Mulish" panose="020B0604020202020204" charset="0"/>
                        </a:rPr>
                        <a:t>Walktrap</a:t>
                      </a:r>
                      <a:r>
                        <a:rPr lang="fr-FR" sz="1000" b="0" noProof="0" dirty="0">
                          <a:effectLst/>
                          <a:latin typeface="Mulish" panose="020B0604020202020204" charset="0"/>
                        </a:rPr>
                        <a:t>, </a:t>
                      </a:r>
                      <a:r>
                        <a:rPr lang="fr-FR" sz="1000" b="0" noProof="0" dirty="0" err="1">
                          <a:effectLst/>
                          <a:latin typeface="Mulish" panose="020B0604020202020204" charset="0"/>
                        </a:rPr>
                        <a:t>Infomap</a:t>
                      </a:r>
                      <a:r>
                        <a:rPr lang="fr-FR" sz="1000" b="0" noProof="0" dirty="0">
                          <a:effectLst/>
                          <a:latin typeface="Mulish" panose="020B0604020202020204" charset="0"/>
                        </a:rPr>
                        <a:t>, LPA, FLPA, LPA-MNI, CLPA, </a:t>
                      </a:r>
                      <a:r>
                        <a:rPr lang="fr-FR" sz="1000" b="0" noProof="0" dirty="0" err="1">
                          <a:effectLst/>
                          <a:latin typeface="Mulish" panose="020B0604020202020204" charset="0"/>
                        </a:rPr>
                        <a:t>FluidC</a:t>
                      </a:r>
                      <a:r>
                        <a:rPr lang="fr-FR" sz="1000" b="0" noProof="0" dirty="0">
                          <a:effectLst/>
                          <a:latin typeface="Mulish" panose="020B0604020202020204" charset="0"/>
                        </a:rPr>
                        <a:t>, Girvan-Newman, Kernighan-Lin, </a:t>
                      </a:r>
                      <a:r>
                        <a:rPr lang="fr-FR" sz="1000" b="0" noProof="0" dirty="0" err="1">
                          <a:effectLst/>
                          <a:latin typeface="Mulish" panose="020B0604020202020204" charset="0"/>
                        </a:rPr>
                        <a:t>SpinGlass</a:t>
                      </a:r>
                      <a:r>
                        <a:rPr lang="fr-FR" sz="1000" b="0" noProof="0" dirty="0">
                          <a:effectLst/>
                          <a:latin typeface="Mulish" panose="020B0604020202020204" charset="0"/>
                        </a:rPr>
                        <a:t>, MCL</a:t>
                      </a:r>
                    </a:p>
                  </a:txBody>
                  <a:tcPr marL="152400" marR="152400" marT="95250" marB="95250" anchor="ctr"/>
                </a:tc>
                <a:tc rowSpan="2">
                  <a:txBody>
                    <a:bodyPr/>
                    <a:lstStyle/>
                    <a:p>
                      <a:pPr>
                        <a:lnSpc>
                          <a:spcPts val="1875"/>
                        </a:lnSpc>
                        <a:buNone/>
                      </a:pPr>
                      <a:r>
                        <a:rPr lang="fr-FR" sz="1000" b="0" noProof="0" dirty="0">
                          <a:effectLst/>
                          <a:latin typeface="Mulish" panose="020B0604020202020204" charset="0"/>
                        </a:rPr>
                        <a:t>9 real-world + LFR </a:t>
                      </a:r>
                      <a:r>
                        <a:rPr lang="fr-FR" sz="1000" b="0" noProof="0" dirty="0" err="1">
                          <a:effectLst/>
                          <a:latin typeface="Mulish" panose="020B0604020202020204" charset="0"/>
                        </a:rPr>
                        <a:t>synthetic</a:t>
                      </a:r>
                      <a:endParaRPr lang="fr-FR" sz="1000" b="0" noProof="0" dirty="0">
                        <a:effectLst/>
                        <a:latin typeface="Mulish" panose="020B0604020202020204" charset="0"/>
                      </a:endParaRPr>
                    </a:p>
                  </a:txBody>
                  <a:tcPr marL="152400" marR="152400" marT="95250" marB="95250" anchor="ctr"/>
                </a:tc>
                <a:tc rowSpan="2">
                  <a:txBody>
                    <a:bodyPr/>
                    <a:lstStyle/>
                    <a:p>
                      <a:pPr>
                        <a:lnSpc>
                          <a:spcPts val="1875"/>
                        </a:lnSpc>
                        <a:buNone/>
                      </a:pPr>
                      <a:r>
                        <a:rPr lang="fr-FR" sz="1000" b="0" noProof="0" dirty="0">
                          <a:effectLst/>
                          <a:latin typeface="Mulish" panose="020B0604020202020204" charset="0"/>
                        </a:rPr>
                        <a:t>NMI, ARI, </a:t>
                      </a:r>
                      <a:r>
                        <a:rPr lang="fr-FR" sz="1000" b="0" noProof="0" dirty="0" err="1">
                          <a:effectLst/>
                          <a:latin typeface="Mulish" panose="020B0604020202020204" charset="0"/>
                        </a:rPr>
                        <a:t>Modularity</a:t>
                      </a:r>
                      <a:endParaRPr lang="fr-FR" sz="1000" b="0" noProof="0" dirty="0">
                        <a:effectLst/>
                        <a:latin typeface="Mulish" panose="020B0604020202020204" charset="0"/>
                      </a:endParaRPr>
                    </a:p>
                  </a:txBody>
                  <a:tcPr marL="152400" marT="95250" marB="95250" anchor="ctr"/>
                </a:tc>
                <a:extLst>
                  <a:ext uri="{0D108BD9-81ED-4DB2-BD59-A6C34878D82A}">
                    <a16:rowId xmlns:a16="http://schemas.microsoft.com/office/drawing/2014/main" val="10001"/>
                  </a:ext>
                </a:extLst>
              </a:tr>
              <a:tr h="361525">
                <a:tc>
                  <a:txBody>
                    <a:bodyPr/>
                    <a:lstStyle/>
                    <a:p>
                      <a:pPr>
                        <a:lnSpc>
                          <a:spcPts val="1875"/>
                        </a:lnSpc>
                        <a:buNone/>
                      </a:pPr>
                      <a:r>
                        <a:rPr lang="fr-FR" sz="1000" b="1" noProof="0" dirty="0">
                          <a:effectLst/>
                          <a:latin typeface="Mulish" panose="020B0604020202020204" charset="0"/>
                        </a:rPr>
                        <a:t>Deep Learning (4)</a:t>
                      </a:r>
                      <a:endParaRPr lang="fr-FR" sz="1000" b="0" noProof="0" dirty="0">
                        <a:effectLst/>
                        <a:latin typeface="Mulish" panose="020B0604020202020204" charset="0"/>
                      </a:endParaRPr>
                    </a:p>
                  </a:txBody>
                  <a:tcPr marR="152400" marT="95250" marB="95250" anchor="ctr"/>
                </a:tc>
                <a:tc>
                  <a:txBody>
                    <a:bodyPr/>
                    <a:lstStyle/>
                    <a:p>
                      <a:pPr>
                        <a:lnSpc>
                          <a:spcPts val="1875"/>
                        </a:lnSpc>
                        <a:buNone/>
                      </a:pPr>
                      <a:r>
                        <a:rPr lang="fr-FR" sz="1000" b="0" noProof="0" dirty="0">
                          <a:effectLst/>
                          <a:latin typeface="Mulish" panose="020B0604020202020204" charset="0"/>
                        </a:rPr>
                        <a:t>GCN, GAT, VGAE, </a:t>
                      </a:r>
                      <a:r>
                        <a:rPr lang="fr-FR" sz="1000" b="0" noProof="0" dirty="0" err="1">
                          <a:effectLst/>
                          <a:latin typeface="Mulish" panose="020B0604020202020204" charset="0"/>
                        </a:rPr>
                        <a:t>Autoencoder</a:t>
                      </a:r>
                      <a:endParaRPr lang="fr-FR" sz="1000" b="0" noProof="0" dirty="0">
                        <a:effectLst/>
                        <a:latin typeface="Mulish" panose="020B0604020202020204" charset="0"/>
                      </a:endParaRPr>
                    </a:p>
                  </a:txBody>
                  <a:tcPr marL="152400" marR="152400" marT="95250" marB="95250" anchor="ctr"/>
                </a:tc>
                <a:tc vMerge="1">
                  <a:txBody>
                    <a:bodyPr/>
                    <a:lstStyle/>
                    <a:p>
                      <a:pPr>
                        <a:lnSpc>
                          <a:spcPts val="1875"/>
                        </a:lnSpc>
                        <a:buNone/>
                      </a:pPr>
                      <a:endParaRPr lang="fr-FR" sz="1000" b="0" noProof="0" dirty="0">
                        <a:effectLst/>
                        <a:latin typeface="Mulish" panose="020B0604020202020204" charset="0"/>
                      </a:endParaRPr>
                    </a:p>
                  </a:txBody>
                  <a:tcPr marL="152400" marR="152400" marT="95250" marB="95250" anchor="ctr"/>
                </a:tc>
                <a:tc vMerge="1">
                  <a:txBody>
                    <a:bodyPr/>
                    <a:lstStyle/>
                    <a:p>
                      <a:pPr>
                        <a:lnSpc>
                          <a:spcPts val="1875"/>
                        </a:lnSpc>
                        <a:buNone/>
                      </a:pPr>
                      <a:endParaRPr lang="fr-FR" sz="1000" b="0" noProof="0" dirty="0">
                        <a:effectLst/>
                        <a:latin typeface="Mulish" panose="020B0604020202020204" charset="0"/>
                      </a:endParaRPr>
                    </a:p>
                  </a:txBody>
                  <a:tcPr marL="152400" marT="95250" marB="95250" anchor="ct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B47289AC-93AF-40FE-1B08-9F08F906AC3F}"/>
              </a:ext>
            </a:extLst>
          </p:cNvPr>
          <p:cNvSpPr txBox="1"/>
          <p:nvPr/>
        </p:nvSpPr>
        <p:spPr>
          <a:xfrm>
            <a:off x="524792" y="3121637"/>
            <a:ext cx="5164808" cy="523220"/>
          </a:xfrm>
          <a:prstGeom prst="rect">
            <a:avLst/>
          </a:prstGeom>
          <a:noFill/>
        </p:spPr>
        <p:txBody>
          <a:bodyPr wrap="square" rtlCol="0">
            <a:spAutoFit/>
          </a:bodyPr>
          <a:lstStyle/>
          <a:p>
            <a:r>
              <a:rPr lang="fr-FR" b="1" noProof="0" dirty="0"/>
              <a:t>Phase 2: Intégration au système de recommandation</a:t>
            </a:r>
            <a:br>
              <a:rPr lang="fr-FR" noProof="0" dirty="0"/>
            </a:br>
            <a:endParaRPr lang="fr-FR" b="1" noProof="0" dirty="0"/>
          </a:p>
        </p:txBody>
      </p:sp>
      <p:sp>
        <p:nvSpPr>
          <p:cNvPr id="14" name="TextBox 13">
            <a:extLst>
              <a:ext uri="{FF2B5EF4-FFF2-40B4-BE49-F238E27FC236}">
                <a16:creationId xmlns:a16="http://schemas.microsoft.com/office/drawing/2014/main" id="{4079A1B7-C887-8263-D14E-BE22405031FF}"/>
              </a:ext>
            </a:extLst>
          </p:cNvPr>
          <p:cNvSpPr txBox="1"/>
          <p:nvPr/>
        </p:nvSpPr>
        <p:spPr>
          <a:xfrm>
            <a:off x="580287" y="3469980"/>
            <a:ext cx="8038921" cy="1169551"/>
          </a:xfrm>
          <a:prstGeom prst="rect">
            <a:avLst/>
          </a:prstGeom>
          <a:noFill/>
        </p:spPr>
        <p:txBody>
          <a:bodyPr wrap="square">
            <a:spAutoFit/>
          </a:bodyPr>
          <a:lstStyle/>
          <a:p>
            <a:pPr marL="285750" indent="-285750">
              <a:buFont typeface="Arial" panose="020B0604020202020204" pitchFamily="34" charset="0"/>
              <a:buChar char="•"/>
            </a:pPr>
            <a:r>
              <a:rPr lang="fr-FR" noProof="0" dirty="0"/>
              <a:t>Approches de recommandation : User-Based, Item-Based, </a:t>
            </a:r>
            <a:r>
              <a:rPr lang="fr-FR" noProof="0" dirty="0" err="1"/>
              <a:t>SVD+Community</a:t>
            </a:r>
            <a:r>
              <a:rPr lang="fr-FR" noProof="0" dirty="0"/>
              <a:t>, </a:t>
            </a:r>
            <a:r>
              <a:rPr lang="fr-FR" noProof="0" dirty="0" err="1"/>
              <a:t>ALS+Community</a:t>
            </a:r>
            <a:r>
              <a:rPr lang="fr-FR" noProof="0" dirty="0"/>
              <a:t>, BM25+Community. </a:t>
            </a:r>
          </a:p>
          <a:p>
            <a:pPr marL="285750" indent="-285750">
              <a:buFont typeface="Arial" panose="020B0604020202020204" pitchFamily="34" charset="0"/>
              <a:buChar char="•"/>
            </a:pPr>
            <a:r>
              <a:rPr lang="fr-FR" noProof="0" dirty="0" err="1"/>
              <a:t>Dataset</a:t>
            </a:r>
            <a:r>
              <a:rPr lang="fr-FR" noProof="0" dirty="0"/>
              <a:t>: UCI Online </a:t>
            </a:r>
            <a:r>
              <a:rPr lang="fr-FR" noProof="0" dirty="0" err="1"/>
              <a:t>Retail</a:t>
            </a:r>
            <a:r>
              <a:rPr lang="fr-FR" noProof="0" dirty="0"/>
              <a:t> (541,909 transactions)</a:t>
            </a:r>
          </a:p>
          <a:p>
            <a:pPr marL="285750" indent="-285750">
              <a:buFont typeface="Arial" panose="020B0604020202020204" pitchFamily="34" charset="0"/>
              <a:buChar char="•"/>
            </a:pPr>
            <a:r>
              <a:rPr lang="fr-FR" noProof="0" dirty="0"/>
              <a:t>Métriques d'évaluation : F1@10 – Recall@10</a:t>
            </a:r>
            <a:br>
              <a:rPr lang="fr-FR" noProof="0" dirty="0"/>
            </a:br>
            <a:endParaRPr lang="fr-FR" noProof="0" dirty="0"/>
          </a:p>
        </p:txBody>
      </p:sp>
      <p:sp>
        <p:nvSpPr>
          <p:cNvPr id="16" name="TextBox 15">
            <a:extLst>
              <a:ext uri="{FF2B5EF4-FFF2-40B4-BE49-F238E27FC236}">
                <a16:creationId xmlns:a16="http://schemas.microsoft.com/office/drawing/2014/main" id="{6583DD7C-9085-CBE8-E8C7-C1BBAD9DD5BB}"/>
              </a:ext>
            </a:extLst>
          </p:cNvPr>
          <p:cNvSpPr txBox="1"/>
          <p:nvPr/>
        </p:nvSpPr>
        <p:spPr>
          <a:xfrm>
            <a:off x="583270" y="4476518"/>
            <a:ext cx="4047208" cy="523220"/>
          </a:xfrm>
          <a:prstGeom prst="rect">
            <a:avLst/>
          </a:prstGeom>
          <a:noFill/>
        </p:spPr>
        <p:txBody>
          <a:bodyPr wrap="square" rtlCol="0">
            <a:spAutoFit/>
          </a:bodyPr>
          <a:lstStyle/>
          <a:p>
            <a:r>
              <a:rPr lang="fr-FR" b="1" noProof="0" dirty="0"/>
              <a:t>Phase 3: Développement de l'application Web</a:t>
            </a:r>
            <a:br>
              <a:rPr lang="fr-FR" noProof="0" dirty="0"/>
            </a:br>
            <a:endParaRPr lang="fr-FR" b="1" noProof="0" dirty="0"/>
          </a:p>
        </p:txBody>
      </p:sp>
    </p:spTree>
    <p:extLst>
      <p:ext uri="{BB962C8B-B14F-4D97-AF65-F5344CB8AC3E}">
        <p14:creationId xmlns:p14="http://schemas.microsoft.com/office/powerpoint/2010/main" val="282254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 calcmode="lin" valueType="num">
                                      <p:cBhvr additive="base">
                                        <p:cTn id="15"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animEffect transition="in" filter="fade">
                                      <p:cBhvr>
                                        <p:cTn id="25"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9D1E95A5-2D11-8AEC-B51D-89FC164B60F3}"/>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7844B5E0-0524-B578-AF66-DD11CF273815}"/>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dirty="0"/>
              <a:t>Méthodologie – </a:t>
            </a:r>
            <a:r>
              <a:rPr lang="fr-FR" sz="2400" noProof="0" dirty="0" err="1"/>
              <a:t>Datasets</a:t>
            </a:r>
            <a:r>
              <a:rPr lang="fr-FR" sz="2400" noProof="0" dirty="0"/>
              <a:t> Utilisées</a:t>
            </a:r>
          </a:p>
        </p:txBody>
      </p:sp>
      <p:graphicFrame>
        <p:nvGraphicFramePr>
          <p:cNvPr id="10" name="Table 9">
            <a:extLst>
              <a:ext uri="{FF2B5EF4-FFF2-40B4-BE49-F238E27FC236}">
                <a16:creationId xmlns:a16="http://schemas.microsoft.com/office/drawing/2014/main" id="{A414DDEC-7ABA-7F21-783A-D0BC873587C0}"/>
              </a:ext>
            </a:extLst>
          </p:cNvPr>
          <p:cNvGraphicFramePr>
            <a:graphicFrameLocks noGrp="1"/>
          </p:cNvGraphicFramePr>
          <p:nvPr>
            <p:extLst>
              <p:ext uri="{D42A27DB-BD31-4B8C-83A1-F6EECF244321}">
                <p14:modId xmlns:p14="http://schemas.microsoft.com/office/powerpoint/2010/main" val="1882590609"/>
              </p:ext>
            </p:extLst>
          </p:nvPr>
        </p:nvGraphicFramePr>
        <p:xfrm>
          <a:off x="1066800" y="1309641"/>
          <a:ext cx="7010400" cy="636270"/>
        </p:xfrm>
        <a:graphic>
          <a:graphicData uri="http://schemas.openxmlformats.org/drawingml/2006/table">
            <a:tbl>
              <a:tblPr>
                <a:tableStyleId>{B6F588F0-DA45-466C-91A0-1F1EBF44E27B}</a:tableStyleId>
              </a:tblPr>
              <a:tblGrid>
                <a:gridCol w="800100">
                  <a:extLst>
                    <a:ext uri="{9D8B030D-6E8A-4147-A177-3AD203B41FA5}">
                      <a16:colId xmlns:a16="http://schemas.microsoft.com/office/drawing/2014/main" val="2839884540"/>
                    </a:ext>
                  </a:extLst>
                </a:gridCol>
                <a:gridCol w="1003300">
                  <a:extLst>
                    <a:ext uri="{9D8B030D-6E8A-4147-A177-3AD203B41FA5}">
                      <a16:colId xmlns:a16="http://schemas.microsoft.com/office/drawing/2014/main" val="3025901541"/>
                    </a:ext>
                  </a:extLst>
                </a:gridCol>
                <a:gridCol w="800100">
                  <a:extLst>
                    <a:ext uri="{9D8B030D-6E8A-4147-A177-3AD203B41FA5}">
                      <a16:colId xmlns:a16="http://schemas.microsoft.com/office/drawing/2014/main" val="380084311"/>
                    </a:ext>
                  </a:extLst>
                </a:gridCol>
                <a:gridCol w="800100">
                  <a:extLst>
                    <a:ext uri="{9D8B030D-6E8A-4147-A177-3AD203B41FA5}">
                      <a16:colId xmlns:a16="http://schemas.microsoft.com/office/drawing/2014/main" val="159509958"/>
                    </a:ext>
                  </a:extLst>
                </a:gridCol>
                <a:gridCol w="800100">
                  <a:extLst>
                    <a:ext uri="{9D8B030D-6E8A-4147-A177-3AD203B41FA5}">
                      <a16:colId xmlns:a16="http://schemas.microsoft.com/office/drawing/2014/main" val="1423680240"/>
                    </a:ext>
                  </a:extLst>
                </a:gridCol>
                <a:gridCol w="1206500">
                  <a:extLst>
                    <a:ext uri="{9D8B030D-6E8A-4147-A177-3AD203B41FA5}">
                      <a16:colId xmlns:a16="http://schemas.microsoft.com/office/drawing/2014/main" val="2893014334"/>
                    </a:ext>
                  </a:extLst>
                </a:gridCol>
                <a:gridCol w="800100">
                  <a:extLst>
                    <a:ext uri="{9D8B030D-6E8A-4147-A177-3AD203B41FA5}">
                      <a16:colId xmlns:a16="http://schemas.microsoft.com/office/drawing/2014/main" val="1434717720"/>
                    </a:ext>
                  </a:extLst>
                </a:gridCol>
                <a:gridCol w="800100">
                  <a:extLst>
                    <a:ext uri="{9D8B030D-6E8A-4147-A177-3AD203B41FA5}">
                      <a16:colId xmlns:a16="http://schemas.microsoft.com/office/drawing/2014/main" val="3241167648"/>
                    </a:ext>
                  </a:extLst>
                </a:gridCol>
              </a:tblGrid>
              <a:tr h="331470">
                <a:tc>
                  <a:txBody>
                    <a:bodyPr/>
                    <a:lstStyle/>
                    <a:p>
                      <a:pPr algn="ctr" fontAlgn="ctr">
                        <a:buNone/>
                      </a:pPr>
                      <a:r>
                        <a:rPr lang="fr-FR" sz="1100" b="1" u="none" strike="noStrike" noProof="0" dirty="0" err="1">
                          <a:solidFill>
                            <a:schemeClr val="tx1"/>
                          </a:solidFill>
                          <a:effectLst/>
                          <a:latin typeface="Mulish" panose="020B0604020202020204" charset="0"/>
                        </a:rPr>
                        <a:t>Dataset</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err="1">
                          <a:solidFill>
                            <a:schemeClr val="tx1"/>
                          </a:solidFill>
                          <a:effectLst/>
                          <a:latin typeface="Mulish" panose="020B0604020202020204" charset="0"/>
                        </a:rPr>
                        <a:t>Karate</a:t>
                      </a:r>
                      <a:r>
                        <a:rPr lang="fr-FR" sz="1100" b="1" u="none" strike="noStrike" noProof="0" dirty="0">
                          <a:solidFill>
                            <a:schemeClr val="tx1"/>
                          </a:solidFill>
                          <a:effectLst/>
                          <a:latin typeface="Mulish" panose="020B0604020202020204" charset="0"/>
                        </a:rPr>
                        <a:t> Club</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a:solidFill>
                            <a:schemeClr val="tx1"/>
                          </a:solidFill>
                          <a:effectLst/>
                          <a:latin typeface="Mulish" panose="020B0604020202020204" charset="0"/>
                        </a:rPr>
                        <a:t>Dolphins</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a:solidFill>
                            <a:schemeClr val="tx1"/>
                          </a:solidFill>
                          <a:effectLst/>
                          <a:latin typeface="Mulish" panose="020B0604020202020204" charset="0"/>
                        </a:rPr>
                        <a:t>Football</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err="1">
                          <a:solidFill>
                            <a:schemeClr val="tx1"/>
                          </a:solidFill>
                          <a:effectLst/>
                          <a:latin typeface="Mulish" panose="020B0604020202020204" charset="0"/>
                        </a:rPr>
                        <a:t>Polbooks</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err="1">
                          <a:solidFill>
                            <a:schemeClr val="tx1"/>
                          </a:solidFill>
                          <a:effectLst/>
                          <a:latin typeface="Mulish" panose="020B0604020202020204" charset="0"/>
                        </a:rPr>
                        <a:t>Primary</a:t>
                      </a:r>
                      <a:r>
                        <a:rPr lang="fr-FR" sz="1100" b="1" u="none" strike="noStrike" noProof="0" dirty="0">
                          <a:solidFill>
                            <a:schemeClr val="tx1"/>
                          </a:solidFill>
                          <a:effectLst/>
                          <a:latin typeface="Mulish" panose="020B0604020202020204" charset="0"/>
                        </a:rPr>
                        <a:t> School</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a:solidFill>
                            <a:schemeClr val="tx1"/>
                          </a:solidFill>
                          <a:effectLst/>
                          <a:latin typeface="Mulish" panose="020B0604020202020204" charset="0"/>
                        </a:rPr>
                        <a:t>Facebook</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1" u="none" strike="noStrike" noProof="0" dirty="0" err="1">
                          <a:solidFill>
                            <a:schemeClr val="tx1"/>
                          </a:solidFill>
                          <a:effectLst/>
                          <a:latin typeface="Mulish" panose="020B0604020202020204" charset="0"/>
                        </a:rPr>
                        <a:t>LastFM</a:t>
                      </a:r>
                      <a:endParaRPr lang="fr-FR" sz="1100" b="1" i="0" u="none" strike="noStrike" noProof="0" dirty="0">
                        <a:solidFill>
                          <a:schemeClr val="tx1"/>
                        </a:solidFill>
                        <a:effectLst/>
                        <a:latin typeface="Mulish" panose="020B0604020202020204" charset="0"/>
                      </a:endParaRPr>
                    </a:p>
                  </a:txBody>
                  <a:tcPr marL="9525" marR="9525" marT="9525" marB="0" anchor="ctr"/>
                </a:tc>
                <a:extLst>
                  <a:ext uri="{0D108BD9-81ED-4DB2-BD59-A6C34878D82A}">
                    <a16:rowId xmlns:a16="http://schemas.microsoft.com/office/drawing/2014/main" val="936101450"/>
                  </a:ext>
                </a:extLst>
              </a:tr>
              <a:tr h="304800">
                <a:tc>
                  <a:txBody>
                    <a:bodyPr/>
                    <a:lstStyle/>
                    <a:p>
                      <a:pPr algn="ctr" fontAlgn="ctr">
                        <a:buNone/>
                      </a:pPr>
                      <a:r>
                        <a:rPr lang="fr-FR" sz="1100" b="1" u="none" strike="noStrike" noProof="0" dirty="0">
                          <a:solidFill>
                            <a:schemeClr val="tx1"/>
                          </a:solidFill>
                          <a:effectLst/>
                          <a:latin typeface="Mulish" panose="020B0604020202020204" charset="0"/>
                        </a:rPr>
                        <a:t> Nodes</a:t>
                      </a:r>
                      <a:endParaRPr lang="fr-FR" sz="1100" b="1" i="0" u="none" strike="noStrike" noProof="0" dirty="0">
                        <a:solidFill>
                          <a:schemeClr val="tx1"/>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34</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62</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115</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105</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236</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4,039</a:t>
                      </a:r>
                      <a:endParaRPr lang="fr-FR" sz="1100" b="0" i="0" u="none" strike="noStrike" noProof="0" dirty="0">
                        <a:solidFill>
                          <a:srgbClr val="333333"/>
                        </a:solidFill>
                        <a:effectLst/>
                        <a:latin typeface="Mulish" panose="020B0604020202020204" charset="0"/>
                      </a:endParaRPr>
                    </a:p>
                  </a:txBody>
                  <a:tcPr marL="9525" marR="9525" marT="9525" marB="0" anchor="ctr"/>
                </a:tc>
                <a:tc>
                  <a:txBody>
                    <a:bodyPr/>
                    <a:lstStyle/>
                    <a:p>
                      <a:pPr algn="ctr" fontAlgn="ctr">
                        <a:buNone/>
                      </a:pPr>
                      <a:r>
                        <a:rPr lang="fr-FR" sz="1100" b="0" u="none" strike="noStrike" noProof="0" dirty="0">
                          <a:solidFill>
                            <a:srgbClr val="333333"/>
                          </a:solidFill>
                          <a:effectLst/>
                          <a:latin typeface="Mulish" panose="020B0604020202020204" charset="0"/>
                        </a:rPr>
                        <a:t>28,281</a:t>
                      </a:r>
                      <a:endParaRPr lang="fr-FR" sz="1100" b="0" i="0" u="none" strike="noStrike" noProof="0" dirty="0">
                        <a:solidFill>
                          <a:srgbClr val="333333"/>
                        </a:solidFill>
                        <a:effectLst/>
                        <a:latin typeface="Mulish" panose="020B0604020202020204" charset="0"/>
                      </a:endParaRPr>
                    </a:p>
                  </a:txBody>
                  <a:tcPr marL="9525" marR="9525" marT="9525" marB="0" anchor="ctr"/>
                </a:tc>
                <a:extLst>
                  <a:ext uri="{0D108BD9-81ED-4DB2-BD59-A6C34878D82A}">
                    <a16:rowId xmlns:a16="http://schemas.microsoft.com/office/drawing/2014/main" val="4118622572"/>
                  </a:ext>
                </a:extLst>
              </a:tr>
            </a:tbl>
          </a:graphicData>
        </a:graphic>
      </p:graphicFrame>
      <p:sp>
        <p:nvSpPr>
          <p:cNvPr id="12" name="TextBox 11">
            <a:extLst>
              <a:ext uri="{FF2B5EF4-FFF2-40B4-BE49-F238E27FC236}">
                <a16:creationId xmlns:a16="http://schemas.microsoft.com/office/drawing/2014/main" id="{BA97A939-13F5-3BA5-765E-9AA6206CBA52}"/>
              </a:ext>
            </a:extLst>
          </p:cNvPr>
          <p:cNvSpPr txBox="1"/>
          <p:nvPr/>
        </p:nvSpPr>
        <p:spPr>
          <a:xfrm>
            <a:off x="524792" y="849147"/>
            <a:ext cx="3766642" cy="307777"/>
          </a:xfrm>
          <a:prstGeom prst="rect">
            <a:avLst/>
          </a:prstGeom>
          <a:noFill/>
        </p:spPr>
        <p:txBody>
          <a:bodyPr wrap="square" rtlCol="0">
            <a:spAutoFit/>
          </a:bodyPr>
          <a:lstStyle/>
          <a:p>
            <a:r>
              <a:rPr lang="fr-FR" b="1" noProof="0" dirty="0" err="1"/>
              <a:t>Datasets</a:t>
            </a:r>
            <a:endParaRPr lang="fr-FR" noProof="0" dirty="0"/>
          </a:p>
        </p:txBody>
      </p:sp>
      <p:sp>
        <p:nvSpPr>
          <p:cNvPr id="14" name="TextBox 13">
            <a:extLst>
              <a:ext uri="{FF2B5EF4-FFF2-40B4-BE49-F238E27FC236}">
                <a16:creationId xmlns:a16="http://schemas.microsoft.com/office/drawing/2014/main" id="{FBFBC31F-6A6D-E3C7-C920-C0739D01CCD6}"/>
              </a:ext>
            </a:extLst>
          </p:cNvPr>
          <p:cNvSpPr txBox="1"/>
          <p:nvPr/>
        </p:nvSpPr>
        <p:spPr>
          <a:xfrm>
            <a:off x="524792" y="2098628"/>
            <a:ext cx="3766642" cy="307777"/>
          </a:xfrm>
          <a:prstGeom prst="rect">
            <a:avLst/>
          </a:prstGeom>
          <a:noFill/>
        </p:spPr>
        <p:txBody>
          <a:bodyPr wrap="square" rtlCol="0">
            <a:spAutoFit/>
          </a:bodyPr>
          <a:lstStyle/>
          <a:p>
            <a:r>
              <a:rPr lang="fr-FR" b="1" dirty="0"/>
              <a:t>Réseaux synthétiques LFR</a:t>
            </a:r>
            <a:endParaRPr lang="fr-FR" noProof="0" dirty="0"/>
          </a:p>
        </p:txBody>
      </p:sp>
      <p:graphicFrame>
        <p:nvGraphicFramePr>
          <p:cNvPr id="16" name="Table 15">
            <a:extLst>
              <a:ext uri="{FF2B5EF4-FFF2-40B4-BE49-F238E27FC236}">
                <a16:creationId xmlns:a16="http://schemas.microsoft.com/office/drawing/2014/main" id="{93A0F4AC-F3BA-2C1F-FAC5-66D26559C1CE}"/>
              </a:ext>
            </a:extLst>
          </p:cNvPr>
          <p:cNvGraphicFramePr>
            <a:graphicFrameLocks noGrp="1"/>
          </p:cNvGraphicFramePr>
          <p:nvPr>
            <p:extLst>
              <p:ext uri="{D42A27DB-BD31-4B8C-83A1-F6EECF244321}">
                <p14:modId xmlns:p14="http://schemas.microsoft.com/office/powerpoint/2010/main" val="4244209668"/>
              </p:ext>
            </p:extLst>
          </p:nvPr>
        </p:nvGraphicFramePr>
        <p:xfrm>
          <a:off x="914400" y="2584500"/>
          <a:ext cx="7162800" cy="1214628"/>
        </p:xfrm>
        <a:graphic>
          <a:graphicData uri="http://schemas.openxmlformats.org/drawingml/2006/table">
            <a:tbl>
              <a:tblPr>
                <a:tableStyleId>{B6F588F0-DA45-466C-91A0-1F1EBF44E27B}</a:tableStyleId>
              </a:tblPr>
              <a:tblGrid>
                <a:gridCol w="3581400">
                  <a:extLst>
                    <a:ext uri="{9D8B030D-6E8A-4147-A177-3AD203B41FA5}">
                      <a16:colId xmlns:a16="http://schemas.microsoft.com/office/drawing/2014/main" val="3019148236"/>
                    </a:ext>
                  </a:extLst>
                </a:gridCol>
                <a:gridCol w="3581400">
                  <a:extLst>
                    <a:ext uri="{9D8B030D-6E8A-4147-A177-3AD203B41FA5}">
                      <a16:colId xmlns:a16="http://schemas.microsoft.com/office/drawing/2014/main" val="2423108395"/>
                    </a:ext>
                  </a:extLst>
                </a:gridCol>
              </a:tblGrid>
              <a:tr h="0">
                <a:tc>
                  <a:txBody>
                    <a:bodyPr/>
                    <a:lstStyle/>
                    <a:p>
                      <a:pPr algn="l">
                        <a:lnSpc>
                          <a:spcPts val="1875"/>
                        </a:lnSpc>
                        <a:buNone/>
                      </a:pPr>
                      <a:r>
                        <a:rPr lang="fr-FR" sz="1100" b="0" noProof="0" dirty="0" err="1">
                          <a:effectLst/>
                          <a:latin typeface="Mulish" panose="020B0604020202020204" charset="0"/>
                        </a:rPr>
                        <a:t>Parameter</a:t>
                      </a:r>
                      <a:endParaRPr lang="fr-FR" sz="1100" b="0" noProof="0" dirty="0">
                        <a:effectLst/>
                        <a:latin typeface="Mulish" panose="020B0604020202020204" charset="0"/>
                      </a:endParaRPr>
                    </a:p>
                  </a:txBody>
                  <a:tcPr marR="152400" marT="95250" marB="95250" anchor="ctr"/>
                </a:tc>
                <a:tc>
                  <a:txBody>
                    <a:bodyPr/>
                    <a:lstStyle/>
                    <a:p>
                      <a:pPr algn="l">
                        <a:lnSpc>
                          <a:spcPts val="1875"/>
                        </a:lnSpc>
                        <a:buNone/>
                      </a:pPr>
                      <a:r>
                        <a:rPr lang="fr-FR" sz="1100" b="0" noProof="0" dirty="0">
                          <a:effectLst/>
                          <a:latin typeface="Mulish" panose="020B0604020202020204" charset="0"/>
                        </a:rPr>
                        <a:t>Values</a:t>
                      </a:r>
                    </a:p>
                  </a:txBody>
                  <a:tcPr marL="152400" marR="152400" marT="95250" marB="95250" anchor="ctr"/>
                </a:tc>
                <a:extLst>
                  <a:ext uri="{0D108BD9-81ED-4DB2-BD59-A6C34878D82A}">
                    <a16:rowId xmlns:a16="http://schemas.microsoft.com/office/drawing/2014/main" val="1315215352"/>
                  </a:ext>
                </a:extLst>
              </a:tr>
              <a:tr h="0">
                <a:tc>
                  <a:txBody>
                    <a:bodyPr/>
                    <a:lstStyle/>
                    <a:p>
                      <a:pPr>
                        <a:lnSpc>
                          <a:spcPts val="1875"/>
                        </a:lnSpc>
                        <a:buNone/>
                      </a:pPr>
                      <a:r>
                        <a:rPr lang="fr-FR" sz="1100" b="0" noProof="0" dirty="0">
                          <a:effectLst/>
                          <a:latin typeface="Mulish" panose="020B0604020202020204" charset="0"/>
                        </a:rPr>
                        <a:t>Network Size (n)</a:t>
                      </a:r>
                    </a:p>
                  </a:txBody>
                  <a:tcPr marR="152400" marT="95250" marB="95250" anchor="ctr"/>
                </a:tc>
                <a:tc>
                  <a:txBody>
                    <a:bodyPr/>
                    <a:lstStyle/>
                    <a:p>
                      <a:pPr>
                        <a:lnSpc>
                          <a:spcPts val="1875"/>
                        </a:lnSpc>
                        <a:buNone/>
                      </a:pPr>
                      <a:r>
                        <a:rPr lang="fr-FR" sz="1100" b="0" noProof="0" dirty="0">
                          <a:effectLst/>
                          <a:latin typeface="Mulish" panose="020B0604020202020204" charset="0"/>
                        </a:rPr>
                        <a:t>500, 1,000, 5,000, 10,000, 50,000, 100,000</a:t>
                      </a:r>
                    </a:p>
                  </a:txBody>
                  <a:tcPr marL="152400" marT="95250" marB="95250" anchor="ctr"/>
                </a:tc>
                <a:extLst>
                  <a:ext uri="{0D108BD9-81ED-4DB2-BD59-A6C34878D82A}">
                    <a16:rowId xmlns:a16="http://schemas.microsoft.com/office/drawing/2014/main" val="3410522634"/>
                  </a:ext>
                </a:extLst>
              </a:tr>
              <a:tr h="0">
                <a:tc>
                  <a:txBody>
                    <a:bodyPr/>
                    <a:lstStyle/>
                    <a:p>
                      <a:pPr>
                        <a:lnSpc>
                          <a:spcPts val="1875"/>
                        </a:lnSpc>
                        <a:buNone/>
                      </a:pPr>
                      <a:r>
                        <a:rPr lang="fr-FR" sz="1100" b="0" noProof="0" dirty="0" err="1">
                          <a:effectLst/>
                          <a:latin typeface="Mulish" panose="020B0604020202020204" charset="0"/>
                        </a:rPr>
                        <a:t>Mixing</a:t>
                      </a:r>
                      <a:r>
                        <a:rPr lang="fr-FR" sz="1100" b="0" noProof="0" dirty="0">
                          <a:effectLst/>
                          <a:latin typeface="Mulish" panose="020B0604020202020204" charset="0"/>
                        </a:rPr>
                        <a:t> </a:t>
                      </a:r>
                      <a:r>
                        <a:rPr lang="fr-FR" sz="1100" b="0" noProof="0" dirty="0" err="1">
                          <a:effectLst/>
                          <a:latin typeface="Mulish" panose="020B0604020202020204" charset="0"/>
                        </a:rPr>
                        <a:t>Parameter</a:t>
                      </a:r>
                      <a:r>
                        <a:rPr lang="fr-FR" sz="1100" b="0" noProof="0" dirty="0">
                          <a:effectLst/>
                          <a:latin typeface="Mulish" panose="020B0604020202020204" charset="0"/>
                        </a:rPr>
                        <a:t> (μ)</a:t>
                      </a:r>
                    </a:p>
                  </a:txBody>
                  <a:tcPr marR="152400" marT="95250" marB="95250" anchor="ctr"/>
                </a:tc>
                <a:tc>
                  <a:txBody>
                    <a:bodyPr/>
                    <a:lstStyle/>
                    <a:p>
                      <a:pPr>
                        <a:lnSpc>
                          <a:spcPts val="1875"/>
                        </a:lnSpc>
                        <a:buNone/>
                      </a:pPr>
                      <a:r>
                        <a:rPr lang="fr-FR" sz="1100" b="0" noProof="0" dirty="0">
                          <a:effectLst/>
                          <a:latin typeface="Mulish" panose="020B0604020202020204" charset="0"/>
                        </a:rPr>
                        <a:t>0.3, 0.5, 0.7</a:t>
                      </a:r>
                    </a:p>
                  </a:txBody>
                  <a:tcPr marL="152400" marT="95250" marB="95250" anchor="ctr"/>
                </a:tc>
                <a:extLst>
                  <a:ext uri="{0D108BD9-81ED-4DB2-BD59-A6C34878D82A}">
                    <a16:rowId xmlns:a16="http://schemas.microsoft.com/office/drawing/2014/main" val="843515204"/>
                  </a:ext>
                </a:extLst>
              </a:tr>
            </a:tbl>
          </a:graphicData>
        </a:graphic>
      </p:graphicFrame>
    </p:spTree>
    <p:extLst>
      <p:ext uri="{BB962C8B-B14F-4D97-AF65-F5344CB8AC3E}">
        <p14:creationId xmlns:p14="http://schemas.microsoft.com/office/powerpoint/2010/main" val="2455215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44D39BA6-11D7-32DA-FB06-463415BA48D5}"/>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0DF7DA1D-E7F5-8082-6D85-8D7E185FFAF7}"/>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dirty="0"/>
              <a:t>Méthodologie </a:t>
            </a:r>
            <a:r>
              <a:rPr lang="fr-FR" sz="2400" noProof="0" dirty="0"/>
              <a:t>– Métriques d’</a:t>
            </a:r>
            <a:r>
              <a:rPr lang="fr-FR" sz="2400" dirty="0"/>
              <a:t>é</a:t>
            </a:r>
            <a:r>
              <a:rPr lang="fr-FR" sz="2400" noProof="0" dirty="0"/>
              <a:t>valuation</a:t>
            </a:r>
          </a:p>
        </p:txBody>
      </p:sp>
      <p:sp>
        <p:nvSpPr>
          <p:cNvPr id="5" name="TextBox 4">
            <a:extLst>
              <a:ext uri="{FF2B5EF4-FFF2-40B4-BE49-F238E27FC236}">
                <a16:creationId xmlns:a16="http://schemas.microsoft.com/office/drawing/2014/main" id="{495FF8D9-3F32-57E3-3950-CD475CAA63E7}"/>
              </a:ext>
            </a:extLst>
          </p:cNvPr>
          <p:cNvSpPr txBox="1"/>
          <p:nvPr/>
        </p:nvSpPr>
        <p:spPr>
          <a:xfrm>
            <a:off x="524792" y="800931"/>
            <a:ext cx="5279108" cy="307777"/>
          </a:xfrm>
          <a:prstGeom prst="rect">
            <a:avLst/>
          </a:prstGeom>
          <a:noFill/>
        </p:spPr>
        <p:txBody>
          <a:bodyPr wrap="square" rtlCol="0">
            <a:spAutoFit/>
          </a:bodyPr>
          <a:lstStyle/>
          <a:p>
            <a:r>
              <a:rPr lang="fr-FR" b="1" dirty="0"/>
              <a:t>Métriques d'évaluation de la détection de communautés</a:t>
            </a:r>
            <a:endParaRPr lang="fr-FR" b="1" noProof="0" dirty="0"/>
          </a:p>
        </p:txBody>
      </p:sp>
      <p:graphicFrame>
        <p:nvGraphicFramePr>
          <p:cNvPr id="3" name="Google Shape;1472;p28">
            <a:extLst>
              <a:ext uri="{FF2B5EF4-FFF2-40B4-BE49-F238E27FC236}">
                <a16:creationId xmlns:a16="http://schemas.microsoft.com/office/drawing/2014/main" id="{0E41DD02-7A2B-B2D4-E2BC-BBED12D49854}"/>
              </a:ext>
            </a:extLst>
          </p:cNvPr>
          <p:cNvGraphicFramePr/>
          <p:nvPr>
            <p:extLst>
              <p:ext uri="{D42A27DB-BD31-4B8C-83A1-F6EECF244321}">
                <p14:modId xmlns:p14="http://schemas.microsoft.com/office/powerpoint/2010/main" val="3232707090"/>
              </p:ext>
            </p:extLst>
          </p:nvPr>
        </p:nvGraphicFramePr>
        <p:xfrm>
          <a:off x="580287" y="1170263"/>
          <a:ext cx="7834247" cy="1567009"/>
        </p:xfrm>
        <a:graphic>
          <a:graphicData uri="http://schemas.openxmlformats.org/drawingml/2006/table">
            <a:tbl>
              <a:tblPr>
                <a:tableStyleId>{B6F588F0-DA45-466C-91A0-1F1EBF44E27B}</a:tableStyleId>
              </a:tblPr>
              <a:tblGrid>
                <a:gridCol w="1779916">
                  <a:extLst>
                    <a:ext uri="{9D8B030D-6E8A-4147-A177-3AD203B41FA5}">
                      <a16:colId xmlns:a16="http://schemas.microsoft.com/office/drawing/2014/main" val="20000"/>
                    </a:ext>
                  </a:extLst>
                </a:gridCol>
                <a:gridCol w="3678929">
                  <a:extLst>
                    <a:ext uri="{9D8B030D-6E8A-4147-A177-3AD203B41FA5}">
                      <a16:colId xmlns:a16="http://schemas.microsoft.com/office/drawing/2014/main" val="20001"/>
                    </a:ext>
                  </a:extLst>
                </a:gridCol>
                <a:gridCol w="2375402">
                  <a:extLst>
                    <a:ext uri="{9D8B030D-6E8A-4147-A177-3AD203B41FA5}">
                      <a16:colId xmlns:a16="http://schemas.microsoft.com/office/drawing/2014/main" val="41523287"/>
                    </a:ext>
                  </a:extLst>
                </a:gridCol>
              </a:tblGrid>
              <a:tr h="361525">
                <a:tc>
                  <a:txBody>
                    <a:bodyPr/>
                    <a:lstStyle/>
                    <a:p>
                      <a:pPr marL="0" lvl="0" indent="0" algn="l" rtl="0">
                        <a:spcBef>
                          <a:spcPts val="0"/>
                        </a:spcBef>
                        <a:spcAft>
                          <a:spcPts val="0"/>
                        </a:spcAft>
                        <a:buNone/>
                      </a:pPr>
                      <a:r>
                        <a:rPr lang="fr-FR" sz="1100" b="1" u="none" noProof="0" dirty="0">
                          <a:solidFill>
                            <a:schemeClr val="dk1"/>
                          </a:solidFill>
                          <a:latin typeface="+mj-lt"/>
                          <a:ea typeface="Mulish"/>
                          <a:cs typeface="Mulish"/>
                          <a:sym typeface="Mulish"/>
                        </a:rPr>
                        <a:t>Métrique</a:t>
                      </a:r>
                    </a:p>
                  </a:txBody>
                  <a:tcPr marL="91425" marR="91425" marT="0" marB="0" anchor="ctr"/>
                </a:tc>
                <a:tc>
                  <a:txBody>
                    <a:bodyPr/>
                    <a:lstStyle/>
                    <a:p>
                      <a:pPr marL="0" lvl="0" indent="0" algn="l" rtl="0">
                        <a:spcBef>
                          <a:spcPts val="0"/>
                        </a:spcBef>
                        <a:spcAft>
                          <a:spcPts val="0"/>
                        </a:spcAft>
                        <a:buNone/>
                      </a:pPr>
                      <a:r>
                        <a:rPr lang="fr-FR" sz="1100" b="1" u="none" noProof="0" dirty="0">
                          <a:solidFill>
                            <a:schemeClr val="dk1"/>
                          </a:solidFill>
                          <a:latin typeface="+mj-lt"/>
                          <a:sym typeface="Mulish"/>
                        </a:rPr>
                        <a:t>Objectif</a:t>
                      </a:r>
                      <a:endParaRPr lang="fr-FR" sz="1100" b="1" u="none" noProof="0" dirty="0">
                        <a:solidFill>
                          <a:schemeClr val="dk1"/>
                        </a:solidFill>
                        <a:latin typeface="+mj-lt"/>
                        <a:ea typeface="Mulish"/>
                        <a:cs typeface="Mulish"/>
                        <a:sym typeface="Mulish"/>
                      </a:endParaRPr>
                    </a:p>
                  </a:txBody>
                  <a:tcPr marL="91425" marR="91425" marT="0" marB="0" anchor="ct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fr-FR" sz="1100" b="1" u="none" noProof="0" dirty="0">
                          <a:solidFill>
                            <a:schemeClr val="dk1"/>
                          </a:solidFill>
                          <a:latin typeface="+mj-lt"/>
                          <a:sym typeface="Mulish"/>
                        </a:rPr>
                        <a:t>Intervalle</a:t>
                      </a:r>
                      <a:endParaRPr lang="fr-FR" sz="1100" b="1" u="none" noProof="0" dirty="0">
                        <a:solidFill>
                          <a:schemeClr val="dk1"/>
                        </a:solidFill>
                        <a:latin typeface="+mj-lt"/>
                        <a:ea typeface="Mulish"/>
                        <a:cs typeface="Mulish"/>
                        <a:sym typeface="Mulish"/>
                      </a:endParaRPr>
                    </a:p>
                  </a:txBody>
                  <a:tcPr marL="91425" marR="91425" marT="0" marB="0" anchor="ctr"/>
                </a:tc>
                <a:extLst>
                  <a:ext uri="{0D108BD9-81ED-4DB2-BD59-A6C34878D82A}">
                    <a16:rowId xmlns:a16="http://schemas.microsoft.com/office/drawing/2014/main" val="10000"/>
                  </a:ext>
                </a:extLst>
              </a:tr>
              <a:tr h="346762">
                <a:tc>
                  <a:txBody>
                    <a:bodyPr/>
                    <a:lstStyle/>
                    <a:p>
                      <a:pPr>
                        <a:lnSpc>
                          <a:spcPts val="1875"/>
                        </a:lnSpc>
                        <a:buNone/>
                      </a:pPr>
                      <a:r>
                        <a:rPr lang="fr-FR" sz="1000" b="1" noProof="0" dirty="0">
                          <a:effectLst/>
                          <a:latin typeface="Mulish" panose="020B0604020202020204" charset="0"/>
                        </a:rPr>
                        <a:t>Modularité (Q)</a:t>
                      </a:r>
                      <a:endParaRPr lang="fr-FR" sz="1000" b="0" noProof="0" dirty="0">
                        <a:effectLst/>
                        <a:latin typeface="Mulish" panose="020B0604020202020204" charset="0"/>
                      </a:endParaRPr>
                    </a:p>
                  </a:txBody>
                  <a:tcPr marR="152400" marT="95250" marB="95250" anchor="ctr"/>
                </a:tc>
                <a:tc>
                  <a:txBody>
                    <a:bodyPr/>
                    <a:lstStyle/>
                    <a:p>
                      <a:pPr>
                        <a:lnSpc>
                          <a:spcPts val="1875"/>
                        </a:lnSpc>
                        <a:buNone/>
                      </a:pPr>
                      <a:r>
                        <a:rPr lang="fr-FR" sz="1000" b="0" noProof="0" dirty="0">
                          <a:effectLst/>
                          <a:latin typeface="Mulish" panose="020B0604020202020204" charset="0"/>
                        </a:rPr>
                        <a:t>Évalue la qualité de la partition sans </a:t>
                      </a:r>
                      <a:r>
                        <a:rPr lang="fr-FR" sz="1000" b="0" noProof="0" dirty="0" err="1">
                          <a:effectLst/>
                          <a:latin typeface="Mulish" panose="020B0604020202020204" charset="0"/>
                        </a:rPr>
                        <a:t>ground</a:t>
                      </a:r>
                      <a:r>
                        <a:rPr lang="fr-FR" sz="1000" b="0" noProof="0" dirty="0">
                          <a:effectLst/>
                          <a:latin typeface="Mulish" panose="020B0604020202020204" charset="0"/>
                        </a:rPr>
                        <a:t> </a:t>
                      </a:r>
                      <a:r>
                        <a:rPr lang="fr-FR" sz="1000" b="0" noProof="0" dirty="0" err="1">
                          <a:effectLst/>
                          <a:latin typeface="Mulish" panose="020B0604020202020204" charset="0"/>
                        </a:rPr>
                        <a:t>truth</a:t>
                      </a:r>
                      <a:r>
                        <a:rPr lang="fr-FR" sz="1000" b="0" noProof="0" dirty="0">
                          <a:effectLst/>
                          <a:latin typeface="Mulish" panose="020B0604020202020204" charset="0"/>
                        </a:rPr>
                        <a:t>.</a:t>
                      </a:r>
                    </a:p>
                  </a:txBody>
                  <a:tcPr marL="152400" marR="152400" marT="95250" marB="95250" anchor="ctr"/>
                </a:tc>
                <a:tc>
                  <a:txBody>
                    <a:bodyPr/>
                    <a:lstStyle/>
                    <a:p>
                      <a:pPr>
                        <a:lnSpc>
                          <a:spcPts val="1875"/>
                        </a:lnSpc>
                        <a:buNone/>
                      </a:pPr>
                      <a:r>
                        <a:rPr lang="fr-FR" sz="1000" b="0" noProof="0" dirty="0">
                          <a:effectLst/>
                          <a:latin typeface="Mulish" panose="020B0604020202020204" charset="0"/>
                        </a:rPr>
                        <a:t>[-0.5, 1.0]</a:t>
                      </a:r>
                    </a:p>
                  </a:txBody>
                  <a:tcPr marL="152400" marT="95250" marB="95250" anchor="ctr"/>
                </a:tc>
                <a:extLst>
                  <a:ext uri="{0D108BD9-81ED-4DB2-BD59-A6C34878D82A}">
                    <a16:rowId xmlns:a16="http://schemas.microsoft.com/office/drawing/2014/main" val="10001"/>
                  </a:ext>
                </a:extLst>
              </a:tr>
              <a:tr h="361525">
                <a:tc>
                  <a:txBody>
                    <a:bodyPr/>
                    <a:lstStyle/>
                    <a:p>
                      <a:pPr>
                        <a:lnSpc>
                          <a:spcPts val="1875"/>
                        </a:lnSpc>
                        <a:buNone/>
                      </a:pPr>
                      <a:r>
                        <a:rPr lang="fr-FR" sz="1000" b="1" noProof="0" dirty="0">
                          <a:effectLst/>
                          <a:latin typeface="Mulish" panose="020B0604020202020204" charset="0"/>
                        </a:rPr>
                        <a:t>NMI</a:t>
                      </a:r>
                      <a:endParaRPr lang="fr-FR" sz="1000" b="0" noProof="0" dirty="0">
                        <a:effectLst/>
                        <a:latin typeface="Mulish" panose="020B0604020202020204" charset="0"/>
                      </a:endParaRPr>
                    </a:p>
                  </a:txBody>
                  <a:tcPr marR="152400" marT="95250" marB="95250" anchor="ctr"/>
                </a:tc>
                <a:tc>
                  <a:txBody>
                    <a:bodyPr/>
                    <a:lstStyle/>
                    <a:p>
                      <a:pPr>
                        <a:lnSpc>
                          <a:spcPts val="1875"/>
                        </a:lnSpc>
                        <a:buNone/>
                      </a:pPr>
                      <a:r>
                        <a:rPr lang="fr-FR" sz="1000" b="0" noProof="0" dirty="0">
                          <a:effectLst/>
                          <a:latin typeface="Mulish" panose="020B0604020202020204" charset="0"/>
                        </a:rPr>
                        <a:t>Mesure la similarité avec </a:t>
                      </a:r>
                      <a:r>
                        <a:rPr lang="fr-FR" sz="1000" b="0" noProof="0" dirty="0" err="1">
                          <a:effectLst/>
                          <a:latin typeface="Mulish" panose="020B0604020202020204" charset="0"/>
                        </a:rPr>
                        <a:t>ground</a:t>
                      </a:r>
                      <a:r>
                        <a:rPr lang="fr-FR" sz="1000" b="0" noProof="0" dirty="0">
                          <a:effectLst/>
                          <a:latin typeface="Mulish" panose="020B0604020202020204" charset="0"/>
                        </a:rPr>
                        <a:t> </a:t>
                      </a:r>
                      <a:r>
                        <a:rPr lang="fr-FR" sz="1000" b="0" noProof="0" dirty="0" err="1">
                          <a:effectLst/>
                          <a:latin typeface="Mulish" panose="020B0604020202020204" charset="0"/>
                        </a:rPr>
                        <a:t>truth</a:t>
                      </a:r>
                      <a:r>
                        <a:rPr lang="fr-FR" sz="1000" b="0" noProof="0" dirty="0">
                          <a:effectLst/>
                          <a:latin typeface="Mulish" panose="020B0604020202020204" charset="0"/>
                        </a:rPr>
                        <a:t>.</a:t>
                      </a:r>
                    </a:p>
                  </a:txBody>
                  <a:tcPr marL="152400" marR="152400" marT="95250" marB="95250" anchor="ctr"/>
                </a:tc>
                <a:tc>
                  <a:txBody>
                    <a:bodyPr/>
                    <a:lstStyle/>
                    <a:p>
                      <a:pPr>
                        <a:lnSpc>
                          <a:spcPts val="1875"/>
                        </a:lnSpc>
                        <a:buNone/>
                      </a:pPr>
                      <a:r>
                        <a:rPr lang="fr-FR" sz="1000" b="0" noProof="0" dirty="0">
                          <a:effectLst/>
                          <a:latin typeface="Mulish" panose="020B0604020202020204" charset="0"/>
                        </a:rPr>
                        <a:t>[0, 1]</a:t>
                      </a:r>
                    </a:p>
                  </a:txBody>
                  <a:tcPr marL="152400" marT="95250" marB="95250" anchor="ctr"/>
                </a:tc>
                <a:extLst>
                  <a:ext uri="{0D108BD9-81ED-4DB2-BD59-A6C34878D82A}">
                    <a16:rowId xmlns:a16="http://schemas.microsoft.com/office/drawing/2014/main" val="10002"/>
                  </a:ext>
                </a:extLst>
              </a:tr>
              <a:tr h="361525">
                <a:tc>
                  <a:txBody>
                    <a:bodyPr/>
                    <a:lstStyle/>
                    <a:p>
                      <a:pPr>
                        <a:lnSpc>
                          <a:spcPts val="1875"/>
                        </a:lnSpc>
                        <a:buNone/>
                      </a:pPr>
                      <a:r>
                        <a:rPr lang="fr-FR" sz="1000" b="1" noProof="0" dirty="0">
                          <a:effectLst/>
                          <a:latin typeface="Mulish" panose="020B0604020202020204" charset="0"/>
                        </a:rPr>
                        <a:t>ARI</a:t>
                      </a:r>
                      <a:endParaRPr lang="fr-FR" sz="1000" b="0" noProof="0" dirty="0">
                        <a:effectLst/>
                        <a:latin typeface="Mulish" panose="020B0604020202020204" charset="0"/>
                      </a:endParaRPr>
                    </a:p>
                  </a:txBody>
                  <a:tcPr marR="152400" marT="95250" marB="95250" anchor="ctr"/>
                </a:tc>
                <a:tc>
                  <a:txBody>
                    <a:bodyPr/>
                    <a:lstStyle/>
                    <a:p>
                      <a:pPr>
                        <a:lnSpc>
                          <a:spcPts val="1875"/>
                        </a:lnSpc>
                        <a:buNone/>
                      </a:pPr>
                      <a:r>
                        <a:rPr lang="fr-FR" sz="1000" b="0" noProof="0" dirty="0">
                          <a:effectLst/>
                          <a:latin typeface="Mulish" panose="020B0604020202020204" charset="0"/>
                        </a:rPr>
                        <a:t>Mesure la similarité corrigée de l'effet du hasard.</a:t>
                      </a:r>
                    </a:p>
                  </a:txBody>
                  <a:tcPr marL="152400" marR="152400" marT="95250" marB="95250" anchor="ctr"/>
                </a:tc>
                <a:tc>
                  <a:txBody>
                    <a:bodyPr/>
                    <a:lstStyle/>
                    <a:p>
                      <a:pPr>
                        <a:lnSpc>
                          <a:spcPts val="1875"/>
                        </a:lnSpc>
                        <a:buNone/>
                      </a:pPr>
                      <a:r>
                        <a:rPr lang="fr-FR" sz="1000" b="0" noProof="0" dirty="0">
                          <a:effectLst/>
                          <a:latin typeface="Mulish" panose="020B0604020202020204" charset="0"/>
                        </a:rPr>
                        <a:t>[-1, 1]</a:t>
                      </a:r>
                    </a:p>
                  </a:txBody>
                  <a:tcPr marL="152400" marT="95250" marB="95250" anchor="ctr"/>
                </a:tc>
                <a:extLst>
                  <a:ext uri="{0D108BD9-81ED-4DB2-BD59-A6C34878D82A}">
                    <a16:rowId xmlns:a16="http://schemas.microsoft.com/office/drawing/2014/main" val="761550922"/>
                  </a:ext>
                </a:extLst>
              </a:tr>
            </a:tbl>
          </a:graphicData>
        </a:graphic>
      </p:graphicFrame>
      <p:sp>
        <p:nvSpPr>
          <p:cNvPr id="8" name="TextBox 7">
            <a:extLst>
              <a:ext uri="{FF2B5EF4-FFF2-40B4-BE49-F238E27FC236}">
                <a16:creationId xmlns:a16="http://schemas.microsoft.com/office/drawing/2014/main" id="{CA6B56E7-8B26-F34A-A5A3-0AE6D85D763D}"/>
              </a:ext>
            </a:extLst>
          </p:cNvPr>
          <p:cNvSpPr txBox="1"/>
          <p:nvPr/>
        </p:nvSpPr>
        <p:spPr>
          <a:xfrm>
            <a:off x="524792" y="2842016"/>
            <a:ext cx="5736308" cy="307777"/>
          </a:xfrm>
          <a:prstGeom prst="rect">
            <a:avLst/>
          </a:prstGeom>
          <a:noFill/>
        </p:spPr>
        <p:txBody>
          <a:bodyPr wrap="square" rtlCol="0">
            <a:spAutoFit/>
          </a:bodyPr>
          <a:lstStyle/>
          <a:p>
            <a:r>
              <a:rPr lang="fr-FR" b="1" dirty="0"/>
              <a:t>Métriques d'évaluation du système de recommandation (@K)</a:t>
            </a:r>
            <a:endParaRPr lang="fr-FR" noProof="0" dirty="0"/>
          </a:p>
        </p:txBody>
      </p:sp>
      <p:sp>
        <p:nvSpPr>
          <p:cNvPr id="14" name="TextBox 13">
            <a:extLst>
              <a:ext uri="{FF2B5EF4-FFF2-40B4-BE49-F238E27FC236}">
                <a16:creationId xmlns:a16="http://schemas.microsoft.com/office/drawing/2014/main" id="{ABDFE5D3-ED74-7020-B375-059D44063BF1}"/>
              </a:ext>
            </a:extLst>
          </p:cNvPr>
          <p:cNvSpPr txBox="1"/>
          <p:nvPr/>
        </p:nvSpPr>
        <p:spPr>
          <a:xfrm>
            <a:off x="524792" y="3083033"/>
            <a:ext cx="8038921" cy="102188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noProof="0" dirty="0" err="1"/>
              <a:t>Precision@K</a:t>
            </a:r>
            <a:r>
              <a:rPr lang="fr-FR" noProof="0" dirty="0"/>
              <a:t> : Relevant items in top-K / K</a:t>
            </a:r>
          </a:p>
          <a:p>
            <a:pPr marL="285750" indent="-285750">
              <a:lnSpc>
                <a:spcPct val="150000"/>
              </a:lnSpc>
              <a:buFont typeface="Arial" panose="020B0604020202020204" pitchFamily="34" charset="0"/>
              <a:buChar char="•"/>
            </a:pPr>
            <a:r>
              <a:rPr lang="fr-FR" noProof="0" dirty="0" err="1"/>
              <a:t>Recall@K</a:t>
            </a:r>
            <a:r>
              <a:rPr lang="fr-FR" noProof="0" dirty="0"/>
              <a:t> : Relevant in top-K / Total relevant</a:t>
            </a:r>
          </a:p>
          <a:p>
            <a:pPr marL="285750" indent="-285750">
              <a:lnSpc>
                <a:spcPct val="150000"/>
              </a:lnSpc>
              <a:buFont typeface="Arial" panose="020B0604020202020204" pitchFamily="34" charset="0"/>
              <a:buChar char="•"/>
            </a:pPr>
            <a:r>
              <a:rPr lang="fr-FR" noProof="0" dirty="0"/>
              <a:t>F1@K : 2 × (</a:t>
            </a:r>
            <a:r>
              <a:rPr lang="fr-FR" noProof="0" dirty="0" err="1"/>
              <a:t>Precision</a:t>
            </a:r>
            <a:r>
              <a:rPr lang="fr-FR" noProof="0" dirty="0"/>
              <a:t> × </a:t>
            </a:r>
            <a:r>
              <a:rPr lang="fr-FR" noProof="0" dirty="0" err="1"/>
              <a:t>Recall</a:t>
            </a:r>
            <a:r>
              <a:rPr lang="fr-FR" noProof="0" dirty="0"/>
              <a:t>) / (</a:t>
            </a:r>
            <a:r>
              <a:rPr lang="fr-FR" noProof="0" dirty="0" err="1"/>
              <a:t>Precision</a:t>
            </a:r>
            <a:r>
              <a:rPr lang="fr-FR" noProof="0" dirty="0"/>
              <a:t> + </a:t>
            </a:r>
            <a:r>
              <a:rPr lang="fr-FR" noProof="0" dirty="0" err="1"/>
              <a:t>Recall</a:t>
            </a:r>
            <a:r>
              <a:rPr lang="fr-FR" noProof="0" dirty="0"/>
              <a:t>)</a:t>
            </a:r>
          </a:p>
        </p:txBody>
      </p:sp>
    </p:spTree>
    <p:extLst>
      <p:ext uri="{BB962C8B-B14F-4D97-AF65-F5344CB8AC3E}">
        <p14:creationId xmlns:p14="http://schemas.microsoft.com/office/powerpoint/2010/main" val="317095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anim calcmode="lin" valueType="num">
                                      <p:cBhvr additive="base">
                                        <p:cTn id="9"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 calcmode="lin" valueType="num">
                                      <p:cBhvr additive="base">
                                        <p:cTn id="1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D6964F16-FACE-A775-7FD5-8641F7B3BB7D}"/>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7D66ABEB-E8C2-021D-73C4-437069066AA5}"/>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Résultats – Algorithmes classiques</a:t>
            </a:r>
          </a:p>
        </p:txBody>
      </p:sp>
      <p:sp>
        <p:nvSpPr>
          <p:cNvPr id="5" name="TextBox 4">
            <a:extLst>
              <a:ext uri="{FF2B5EF4-FFF2-40B4-BE49-F238E27FC236}">
                <a16:creationId xmlns:a16="http://schemas.microsoft.com/office/drawing/2014/main" id="{43C544C1-4CFF-F9F4-6BF6-7610D052D28E}"/>
              </a:ext>
            </a:extLst>
          </p:cNvPr>
          <p:cNvSpPr txBox="1"/>
          <p:nvPr/>
        </p:nvSpPr>
        <p:spPr>
          <a:xfrm>
            <a:off x="524792" y="800931"/>
            <a:ext cx="4948908" cy="307777"/>
          </a:xfrm>
          <a:prstGeom prst="rect">
            <a:avLst/>
          </a:prstGeom>
          <a:noFill/>
        </p:spPr>
        <p:txBody>
          <a:bodyPr wrap="square" rtlCol="0">
            <a:spAutoFit/>
          </a:bodyPr>
          <a:lstStyle/>
          <a:p>
            <a:r>
              <a:rPr lang="fr-FR" b="1" noProof="0" dirty="0"/>
              <a:t>Métriques de détection de communautés – Modularité</a:t>
            </a:r>
            <a:endParaRPr lang="fr-FR" noProof="0" dirty="0"/>
          </a:p>
        </p:txBody>
      </p:sp>
      <p:pic>
        <p:nvPicPr>
          <p:cNvPr id="8" name="Picture 7">
            <a:extLst>
              <a:ext uri="{FF2B5EF4-FFF2-40B4-BE49-F238E27FC236}">
                <a16:creationId xmlns:a16="http://schemas.microsoft.com/office/drawing/2014/main" id="{992E2E88-5978-A5CA-EA45-5519FDF7806F}"/>
              </a:ext>
            </a:extLst>
          </p:cNvPr>
          <p:cNvPicPr>
            <a:picLocks noChangeAspect="1"/>
          </p:cNvPicPr>
          <p:nvPr/>
        </p:nvPicPr>
        <p:blipFill>
          <a:blip r:embed="rId3"/>
          <a:srcRect b="1217"/>
          <a:stretch>
            <a:fillRect/>
          </a:stretch>
        </p:blipFill>
        <p:spPr>
          <a:xfrm>
            <a:off x="822212" y="1296145"/>
            <a:ext cx="7330328" cy="3161553"/>
          </a:xfrm>
          <a:prstGeom prst="rect">
            <a:avLst/>
          </a:prstGeom>
        </p:spPr>
      </p:pic>
    </p:spTree>
    <p:extLst>
      <p:ext uri="{BB962C8B-B14F-4D97-AF65-F5344CB8AC3E}">
        <p14:creationId xmlns:p14="http://schemas.microsoft.com/office/powerpoint/2010/main" val="1467193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3B114360-2622-11DD-DEF4-AAA9D6FCD5F4}"/>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957DA193-A11C-2583-CA58-3C56995DB2CC}"/>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Résultats – Algorithmes classiques</a:t>
            </a:r>
          </a:p>
        </p:txBody>
      </p:sp>
      <p:sp>
        <p:nvSpPr>
          <p:cNvPr id="5" name="TextBox 4">
            <a:extLst>
              <a:ext uri="{FF2B5EF4-FFF2-40B4-BE49-F238E27FC236}">
                <a16:creationId xmlns:a16="http://schemas.microsoft.com/office/drawing/2014/main" id="{8CB80FCA-BA52-2AD0-298B-DCAAE4E48131}"/>
              </a:ext>
            </a:extLst>
          </p:cNvPr>
          <p:cNvSpPr txBox="1"/>
          <p:nvPr/>
        </p:nvSpPr>
        <p:spPr>
          <a:xfrm>
            <a:off x="524792" y="800931"/>
            <a:ext cx="4733008" cy="307777"/>
          </a:xfrm>
          <a:prstGeom prst="rect">
            <a:avLst/>
          </a:prstGeom>
          <a:noFill/>
        </p:spPr>
        <p:txBody>
          <a:bodyPr wrap="square" rtlCol="0">
            <a:spAutoFit/>
          </a:bodyPr>
          <a:lstStyle/>
          <a:p>
            <a:r>
              <a:rPr lang="fr-FR" b="1" noProof="0" dirty="0"/>
              <a:t>Métriques de détection de communautés – NMI</a:t>
            </a:r>
            <a:endParaRPr lang="fr-FR" noProof="0" dirty="0"/>
          </a:p>
        </p:txBody>
      </p:sp>
      <p:pic>
        <p:nvPicPr>
          <p:cNvPr id="10" name="Picture 9">
            <a:extLst>
              <a:ext uri="{FF2B5EF4-FFF2-40B4-BE49-F238E27FC236}">
                <a16:creationId xmlns:a16="http://schemas.microsoft.com/office/drawing/2014/main" id="{D60CAFC1-4406-19E3-AA4C-CEBD7F7DEB5C}"/>
              </a:ext>
            </a:extLst>
          </p:cNvPr>
          <p:cNvPicPr>
            <a:picLocks noChangeAspect="1"/>
          </p:cNvPicPr>
          <p:nvPr/>
        </p:nvPicPr>
        <p:blipFill>
          <a:blip r:embed="rId3"/>
          <a:srcRect t="2450"/>
          <a:stretch>
            <a:fillRect/>
          </a:stretch>
        </p:blipFill>
        <p:spPr>
          <a:xfrm>
            <a:off x="827655" y="1373631"/>
            <a:ext cx="7488690" cy="3172969"/>
          </a:xfrm>
          <a:prstGeom prst="rect">
            <a:avLst/>
          </a:prstGeom>
        </p:spPr>
      </p:pic>
    </p:spTree>
    <p:extLst>
      <p:ext uri="{BB962C8B-B14F-4D97-AF65-F5344CB8AC3E}">
        <p14:creationId xmlns:p14="http://schemas.microsoft.com/office/powerpoint/2010/main" val="1863674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A4C2648B-CB7D-A974-9821-08E33F083C06}"/>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151A81F8-9DE8-1B84-B1FD-3A824D415ED9}"/>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Résultats – Algorithmes classiques</a:t>
            </a:r>
          </a:p>
        </p:txBody>
      </p:sp>
      <p:sp>
        <p:nvSpPr>
          <p:cNvPr id="5" name="TextBox 4">
            <a:extLst>
              <a:ext uri="{FF2B5EF4-FFF2-40B4-BE49-F238E27FC236}">
                <a16:creationId xmlns:a16="http://schemas.microsoft.com/office/drawing/2014/main" id="{A988BC2F-227A-7B45-82CD-9F3617B6CBEE}"/>
              </a:ext>
            </a:extLst>
          </p:cNvPr>
          <p:cNvSpPr txBox="1"/>
          <p:nvPr/>
        </p:nvSpPr>
        <p:spPr>
          <a:xfrm>
            <a:off x="524792" y="800931"/>
            <a:ext cx="4301208" cy="307777"/>
          </a:xfrm>
          <a:prstGeom prst="rect">
            <a:avLst/>
          </a:prstGeom>
          <a:noFill/>
        </p:spPr>
        <p:txBody>
          <a:bodyPr wrap="square" rtlCol="0">
            <a:spAutoFit/>
          </a:bodyPr>
          <a:lstStyle/>
          <a:p>
            <a:r>
              <a:rPr lang="fr-FR" b="1" noProof="0" dirty="0"/>
              <a:t>Métriques de détection de communautés – ARI</a:t>
            </a:r>
            <a:endParaRPr lang="fr-FR" noProof="0" dirty="0"/>
          </a:p>
        </p:txBody>
      </p:sp>
      <p:pic>
        <p:nvPicPr>
          <p:cNvPr id="14" name="Picture 13">
            <a:extLst>
              <a:ext uri="{FF2B5EF4-FFF2-40B4-BE49-F238E27FC236}">
                <a16:creationId xmlns:a16="http://schemas.microsoft.com/office/drawing/2014/main" id="{CDC3B0E4-3CFE-EFD9-7D28-C0F98EE1E82E}"/>
              </a:ext>
            </a:extLst>
          </p:cNvPr>
          <p:cNvPicPr>
            <a:picLocks noChangeAspect="1"/>
          </p:cNvPicPr>
          <p:nvPr/>
        </p:nvPicPr>
        <p:blipFill>
          <a:blip r:embed="rId3"/>
          <a:srcRect t="3108"/>
          <a:stretch>
            <a:fillRect/>
          </a:stretch>
        </p:blipFill>
        <p:spPr>
          <a:xfrm>
            <a:off x="833098" y="1373631"/>
            <a:ext cx="7477804" cy="3084069"/>
          </a:xfrm>
          <a:prstGeom prst="rect">
            <a:avLst/>
          </a:prstGeom>
        </p:spPr>
      </p:pic>
    </p:spTree>
    <p:extLst>
      <p:ext uri="{BB962C8B-B14F-4D97-AF65-F5344CB8AC3E}">
        <p14:creationId xmlns:p14="http://schemas.microsoft.com/office/powerpoint/2010/main" val="3800401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308824CA-FEBF-35C9-3B3F-5752FF2E6E66}"/>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D11988D8-74BB-7B64-EEBD-514E506052D2}"/>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 – </a:t>
            </a:r>
            <a:r>
              <a:rPr lang="fr-FR" sz="2400" dirty="0"/>
              <a:t>Deep Learning Methods </a:t>
            </a:r>
            <a:endParaRPr lang="fr-FR" sz="2400" noProof="0" dirty="0"/>
          </a:p>
        </p:txBody>
      </p:sp>
      <p:sp>
        <p:nvSpPr>
          <p:cNvPr id="5" name="TextBox 4">
            <a:extLst>
              <a:ext uri="{FF2B5EF4-FFF2-40B4-BE49-F238E27FC236}">
                <a16:creationId xmlns:a16="http://schemas.microsoft.com/office/drawing/2014/main" id="{845B1EFA-F5BA-2B41-E81D-C2A6249F1234}"/>
              </a:ext>
            </a:extLst>
          </p:cNvPr>
          <p:cNvSpPr txBox="1"/>
          <p:nvPr/>
        </p:nvSpPr>
        <p:spPr>
          <a:xfrm>
            <a:off x="524792" y="800931"/>
            <a:ext cx="3766642" cy="307777"/>
          </a:xfrm>
          <a:prstGeom prst="rect">
            <a:avLst/>
          </a:prstGeom>
          <a:noFill/>
        </p:spPr>
        <p:txBody>
          <a:bodyPr wrap="square" rtlCol="0">
            <a:spAutoFit/>
          </a:bodyPr>
          <a:lstStyle/>
          <a:p>
            <a:r>
              <a:rPr lang="fr-FR" b="1" dirty="0"/>
              <a:t>Résultats </a:t>
            </a:r>
            <a:r>
              <a:rPr lang="fr-FR" b="1" noProof="0" dirty="0"/>
              <a:t>- Deep Learning Methods - NMI</a:t>
            </a:r>
          </a:p>
        </p:txBody>
      </p:sp>
      <p:sp>
        <p:nvSpPr>
          <p:cNvPr id="3" name="TextBox 2">
            <a:extLst>
              <a:ext uri="{FF2B5EF4-FFF2-40B4-BE49-F238E27FC236}">
                <a16:creationId xmlns:a16="http://schemas.microsoft.com/office/drawing/2014/main" id="{6ABFD431-AB48-8A36-9430-3C02E563AF4B}"/>
              </a:ext>
            </a:extLst>
          </p:cNvPr>
          <p:cNvSpPr txBox="1"/>
          <p:nvPr/>
        </p:nvSpPr>
        <p:spPr>
          <a:xfrm>
            <a:off x="4499584" y="800930"/>
            <a:ext cx="3766642" cy="307777"/>
          </a:xfrm>
          <a:prstGeom prst="rect">
            <a:avLst/>
          </a:prstGeom>
          <a:noFill/>
        </p:spPr>
        <p:txBody>
          <a:bodyPr wrap="square" rtlCol="0">
            <a:spAutoFit/>
          </a:bodyPr>
          <a:lstStyle/>
          <a:p>
            <a:r>
              <a:rPr lang="fr-FR" b="1" dirty="0"/>
              <a:t>Résultats </a:t>
            </a:r>
            <a:r>
              <a:rPr lang="fr-FR" b="1" noProof="0" dirty="0"/>
              <a:t>- Deep Learning Methods - ARI</a:t>
            </a:r>
          </a:p>
        </p:txBody>
      </p:sp>
      <p:pic>
        <p:nvPicPr>
          <p:cNvPr id="12" name="Picture 11">
            <a:extLst>
              <a:ext uri="{FF2B5EF4-FFF2-40B4-BE49-F238E27FC236}">
                <a16:creationId xmlns:a16="http://schemas.microsoft.com/office/drawing/2014/main" id="{33458901-6E04-5D19-4413-D8DC6FE7E0F6}"/>
              </a:ext>
            </a:extLst>
          </p:cNvPr>
          <p:cNvPicPr>
            <a:picLocks noChangeAspect="1"/>
          </p:cNvPicPr>
          <p:nvPr/>
        </p:nvPicPr>
        <p:blipFill>
          <a:blip r:embed="rId3"/>
          <a:srcRect r="10932"/>
          <a:stretch>
            <a:fillRect/>
          </a:stretch>
        </p:blipFill>
        <p:spPr>
          <a:xfrm>
            <a:off x="4572000" y="1267272"/>
            <a:ext cx="4164166" cy="2285015"/>
          </a:xfrm>
          <a:prstGeom prst="rect">
            <a:avLst/>
          </a:prstGeom>
        </p:spPr>
      </p:pic>
      <p:pic>
        <p:nvPicPr>
          <p:cNvPr id="14" name="Picture 13">
            <a:extLst>
              <a:ext uri="{FF2B5EF4-FFF2-40B4-BE49-F238E27FC236}">
                <a16:creationId xmlns:a16="http://schemas.microsoft.com/office/drawing/2014/main" id="{FC2369E0-D8A8-17C6-B33B-117CA1283481}"/>
              </a:ext>
            </a:extLst>
          </p:cNvPr>
          <p:cNvPicPr>
            <a:picLocks noChangeAspect="1"/>
          </p:cNvPicPr>
          <p:nvPr/>
        </p:nvPicPr>
        <p:blipFill>
          <a:blip r:embed="rId4"/>
          <a:stretch>
            <a:fillRect/>
          </a:stretch>
        </p:blipFill>
        <p:spPr>
          <a:xfrm>
            <a:off x="277728" y="1267272"/>
            <a:ext cx="4221856" cy="2285015"/>
          </a:xfrm>
          <a:prstGeom prst="rect">
            <a:avLst/>
          </a:prstGeom>
        </p:spPr>
      </p:pic>
    </p:spTree>
    <p:extLst>
      <p:ext uri="{BB962C8B-B14F-4D97-AF65-F5344CB8AC3E}">
        <p14:creationId xmlns:p14="http://schemas.microsoft.com/office/powerpoint/2010/main" val="3882251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67113C64-DD84-EDF1-5F59-99C59192DCFE}"/>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0815C798-64A9-314A-93D9-40013F881B11}"/>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 LFR Benchmark</a:t>
            </a:r>
          </a:p>
        </p:txBody>
      </p:sp>
      <p:sp>
        <p:nvSpPr>
          <p:cNvPr id="5" name="TextBox 4">
            <a:extLst>
              <a:ext uri="{FF2B5EF4-FFF2-40B4-BE49-F238E27FC236}">
                <a16:creationId xmlns:a16="http://schemas.microsoft.com/office/drawing/2014/main" id="{758798D0-DC89-E461-4640-8ADBE0DDCDF8}"/>
              </a:ext>
            </a:extLst>
          </p:cNvPr>
          <p:cNvSpPr txBox="1"/>
          <p:nvPr/>
        </p:nvSpPr>
        <p:spPr>
          <a:xfrm>
            <a:off x="524792" y="800931"/>
            <a:ext cx="4326608" cy="307777"/>
          </a:xfrm>
          <a:prstGeom prst="rect">
            <a:avLst/>
          </a:prstGeom>
          <a:noFill/>
        </p:spPr>
        <p:txBody>
          <a:bodyPr wrap="square" rtlCol="0">
            <a:spAutoFit/>
          </a:bodyPr>
          <a:lstStyle/>
          <a:p>
            <a:r>
              <a:rPr lang="fr-FR" b="1" noProof="0" dirty="0"/>
              <a:t>Métriques de détection de communautés – NMI</a:t>
            </a:r>
            <a:endParaRPr lang="fr-FR" noProof="0" dirty="0"/>
          </a:p>
        </p:txBody>
      </p:sp>
      <p:pic>
        <p:nvPicPr>
          <p:cNvPr id="3" name="Picture 2">
            <a:extLst>
              <a:ext uri="{FF2B5EF4-FFF2-40B4-BE49-F238E27FC236}">
                <a16:creationId xmlns:a16="http://schemas.microsoft.com/office/drawing/2014/main" id="{DFE40C0A-5E0C-29FD-A158-DB51965E5977}"/>
              </a:ext>
            </a:extLst>
          </p:cNvPr>
          <p:cNvPicPr>
            <a:picLocks noChangeAspect="1"/>
          </p:cNvPicPr>
          <p:nvPr/>
        </p:nvPicPr>
        <p:blipFill>
          <a:blip r:embed="rId3"/>
          <a:stretch>
            <a:fillRect/>
          </a:stretch>
        </p:blipFill>
        <p:spPr>
          <a:xfrm>
            <a:off x="206062" y="1267198"/>
            <a:ext cx="6217254" cy="3038899"/>
          </a:xfrm>
          <a:prstGeom prst="rect">
            <a:avLst/>
          </a:prstGeom>
        </p:spPr>
      </p:pic>
      <p:pic>
        <p:nvPicPr>
          <p:cNvPr id="4" name="Picture 3">
            <a:extLst>
              <a:ext uri="{FF2B5EF4-FFF2-40B4-BE49-F238E27FC236}">
                <a16:creationId xmlns:a16="http://schemas.microsoft.com/office/drawing/2014/main" id="{CACDE43E-B4AB-D86E-B30C-9DED5500005D}"/>
              </a:ext>
            </a:extLst>
          </p:cNvPr>
          <p:cNvPicPr>
            <a:picLocks noChangeAspect="1"/>
          </p:cNvPicPr>
          <p:nvPr/>
        </p:nvPicPr>
        <p:blipFill>
          <a:blip r:embed="rId4"/>
          <a:stretch>
            <a:fillRect/>
          </a:stretch>
        </p:blipFill>
        <p:spPr>
          <a:xfrm>
            <a:off x="6349284" y="1230730"/>
            <a:ext cx="2228045" cy="3111837"/>
          </a:xfrm>
          <a:prstGeom prst="rect">
            <a:avLst/>
          </a:prstGeom>
        </p:spPr>
      </p:pic>
    </p:spTree>
    <p:extLst>
      <p:ext uri="{BB962C8B-B14F-4D97-AF65-F5344CB8AC3E}">
        <p14:creationId xmlns:p14="http://schemas.microsoft.com/office/powerpoint/2010/main" val="3197004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F1ED6611-B925-2646-B0E0-722FBB3A86E4}"/>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DE573BBD-D3FA-130C-93D3-9F7F2B8FC990}"/>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 LFR Benchmark</a:t>
            </a:r>
          </a:p>
        </p:txBody>
      </p:sp>
      <p:pic>
        <p:nvPicPr>
          <p:cNvPr id="3" name="Picture 2">
            <a:extLst>
              <a:ext uri="{FF2B5EF4-FFF2-40B4-BE49-F238E27FC236}">
                <a16:creationId xmlns:a16="http://schemas.microsoft.com/office/drawing/2014/main" id="{BD30B2DF-5426-4913-2428-6338B2F0311C}"/>
              </a:ext>
            </a:extLst>
          </p:cNvPr>
          <p:cNvPicPr>
            <a:picLocks noChangeAspect="1"/>
          </p:cNvPicPr>
          <p:nvPr/>
        </p:nvPicPr>
        <p:blipFill>
          <a:blip r:embed="rId3"/>
          <a:stretch>
            <a:fillRect/>
          </a:stretch>
        </p:blipFill>
        <p:spPr>
          <a:xfrm>
            <a:off x="1292941" y="1108708"/>
            <a:ext cx="6675076" cy="3746267"/>
          </a:xfrm>
          <a:prstGeom prst="rect">
            <a:avLst/>
          </a:prstGeom>
        </p:spPr>
      </p:pic>
      <p:sp>
        <p:nvSpPr>
          <p:cNvPr id="4" name="TextBox 3">
            <a:extLst>
              <a:ext uri="{FF2B5EF4-FFF2-40B4-BE49-F238E27FC236}">
                <a16:creationId xmlns:a16="http://schemas.microsoft.com/office/drawing/2014/main" id="{D7505953-9975-E123-DBD2-7BB059AC70E9}"/>
              </a:ext>
            </a:extLst>
          </p:cNvPr>
          <p:cNvSpPr txBox="1"/>
          <p:nvPr/>
        </p:nvSpPr>
        <p:spPr>
          <a:xfrm>
            <a:off x="524792" y="800931"/>
            <a:ext cx="4326608" cy="307777"/>
          </a:xfrm>
          <a:prstGeom prst="rect">
            <a:avLst/>
          </a:prstGeom>
          <a:noFill/>
        </p:spPr>
        <p:txBody>
          <a:bodyPr wrap="square" rtlCol="0">
            <a:spAutoFit/>
          </a:bodyPr>
          <a:lstStyle/>
          <a:p>
            <a:r>
              <a:rPr lang="fr-FR" b="1" noProof="0" dirty="0"/>
              <a:t>Métriques de détection de communautés – NMI</a:t>
            </a:r>
            <a:endParaRPr lang="fr-FR" noProof="0" dirty="0"/>
          </a:p>
        </p:txBody>
      </p:sp>
    </p:spTree>
    <p:extLst>
      <p:ext uri="{BB962C8B-B14F-4D97-AF65-F5344CB8AC3E}">
        <p14:creationId xmlns:p14="http://schemas.microsoft.com/office/powerpoint/2010/main" val="2313429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C13386E3-C290-85D0-B3C4-B3FA7C8D3BE4}"/>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1EDB7142-792A-767E-721F-C034A10C1AAA}"/>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 LFR Benchmark</a:t>
            </a:r>
          </a:p>
        </p:txBody>
      </p:sp>
      <p:pic>
        <p:nvPicPr>
          <p:cNvPr id="3" name="Picture 2">
            <a:extLst>
              <a:ext uri="{FF2B5EF4-FFF2-40B4-BE49-F238E27FC236}">
                <a16:creationId xmlns:a16="http://schemas.microsoft.com/office/drawing/2014/main" id="{E05173C9-DD53-9391-B41E-2A328757F014}"/>
              </a:ext>
            </a:extLst>
          </p:cNvPr>
          <p:cNvPicPr>
            <a:picLocks noChangeAspect="1"/>
          </p:cNvPicPr>
          <p:nvPr/>
        </p:nvPicPr>
        <p:blipFill>
          <a:blip r:embed="rId3"/>
          <a:stretch>
            <a:fillRect/>
          </a:stretch>
        </p:blipFill>
        <p:spPr>
          <a:xfrm>
            <a:off x="1414022" y="1276169"/>
            <a:ext cx="6315956" cy="2591162"/>
          </a:xfrm>
          <a:prstGeom prst="rect">
            <a:avLst/>
          </a:prstGeom>
        </p:spPr>
      </p:pic>
      <p:sp>
        <p:nvSpPr>
          <p:cNvPr id="4" name="TextBox 3">
            <a:extLst>
              <a:ext uri="{FF2B5EF4-FFF2-40B4-BE49-F238E27FC236}">
                <a16:creationId xmlns:a16="http://schemas.microsoft.com/office/drawing/2014/main" id="{2C0DCC6A-F474-E194-2B4B-E69CD0CDD120}"/>
              </a:ext>
            </a:extLst>
          </p:cNvPr>
          <p:cNvSpPr txBox="1"/>
          <p:nvPr/>
        </p:nvSpPr>
        <p:spPr>
          <a:xfrm>
            <a:off x="524792" y="800931"/>
            <a:ext cx="4326608" cy="307777"/>
          </a:xfrm>
          <a:prstGeom prst="rect">
            <a:avLst/>
          </a:prstGeom>
          <a:noFill/>
        </p:spPr>
        <p:txBody>
          <a:bodyPr wrap="square" rtlCol="0">
            <a:spAutoFit/>
          </a:bodyPr>
          <a:lstStyle/>
          <a:p>
            <a:r>
              <a:rPr lang="fr-FR" b="1" noProof="0" dirty="0"/>
              <a:t>Métriques de détection de communautés – NMI</a:t>
            </a:r>
            <a:endParaRPr lang="fr-FR" noProof="0" dirty="0"/>
          </a:p>
        </p:txBody>
      </p:sp>
    </p:spTree>
    <p:extLst>
      <p:ext uri="{BB962C8B-B14F-4D97-AF65-F5344CB8AC3E}">
        <p14:creationId xmlns:p14="http://schemas.microsoft.com/office/powerpoint/2010/main" val="534134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7267403B-BCC4-13CC-98E2-69BD5E317AA2}"/>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8FC45F93-D7AF-915A-3A14-4F422A01B0F6}"/>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a:t>
            </a:r>
            <a:r>
              <a:rPr lang="fr-FR" sz="2400" dirty="0"/>
              <a:t>- Intégration du système de recommandation</a:t>
            </a:r>
            <a:endParaRPr lang="fr-FR" sz="2400" noProof="0" dirty="0"/>
          </a:p>
        </p:txBody>
      </p:sp>
      <p:sp>
        <p:nvSpPr>
          <p:cNvPr id="5" name="TextBox 4">
            <a:extLst>
              <a:ext uri="{FF2B5EF4-FFF2-40B4-BE49-F238E27FC236}">
                <a16:creationId xmlns:a16="http://schemas.microsoft.com/office/drawing/2014/main" id="{AF9A60D3-B908-DF68-2B50-5415AA525A43}"/>
              </a:ext>
            </a:extLst>
          </p:cNvPr>
          <p:cNvSpPr txBox="1"/>
          <p:nvPr/>
        </p:nvSpPr>
        <p:spPr>
          <a:xfrm>
            <a:off x="524792" y="1012597"/>
            <a:ext cx="4174208" cy="307777"/>
          </a:xfrm>
          <a:prstGeom prst="rect">
            <a:avLst/>
          </a:prstGeom>
          <a:noFill/>
        </p:spPr>
        <p:txBody>
          <a:bodyPr wrap="square" rtlCol="0">
            <a:spAutoFit/>
          </a:bodyPr>
          <a:lstStyle/>
          <a:p>
            <a:r>
              <a:rPr lang="fr-FR" b="1" dirty="0"/>
              <a:t>Résultats du réglage des hyperparamètres</a:t>
            </a:r>
            <a:endParaRPr lang="fr-FR" noProof="0" dirty="0"/>
          </a:p>
        </p:txBody>
      </p:sp>
      <p:graphicFrame>
        <p:nvGraphicFramePr>
          <p:cNvPr id="2" name="Table 1">
            <a:extLst>
              <a:ext uri="{FF2B5EF4-FFF2-40B4-BE49-F238E27FC236}">
                <a16:creationId xmlns:a16="http://schemas.microsoft.com/office/drawing/2014/main" id="{1E8CCB06-D633-E3C8-C56D-E4E0355CA239}"/>
              </a:ext>
            </a:extLst>
          </p:cNvPr>
          <p:cNvGraphicFramePr>
            <a:graphicFrameLocks noGrp="1"/>
          </p:cNvGraphicFramePr>
          <p:nvPr>
            <p:extLst>
              <p:ext uri="{D42A27DB-BD31-4B8C-83A1-F6EECF244321}">
                <p14:modId xmlns:p14="http://schemas.microsoft.com/office/powerpoint/2010/main" val="3254486894"/>
              </p:ext>
            </p:extLst>
          </p:nvPr>
        </p:nvGraphicFramePr>
        <p:xfrm>
          <a:off x="618788" y="1779524"/>
          <a:ext cx="7906423" cy="1433259"/>
        </p:xfrm>
        <a:graphic>
          <a:graphicData uri="http://schemas.openxmlformats.org/drawingml/2006/table">
            <a:tbl>
              <a:tblPr>
                <a:tableStyleId>{B6F588F0-DA45-466C-91A0-1F1EBF44E27B}</a:tableStyleId>
              </a:tblPr>
              <a:tblGrid>
                <a:gridCol w="994112">
                  <a:extLst>
                    <a:ext uri="{9D8B030D-6E8A-4147-A177-3AD203B41FA5}">
                      <a16:colId xmlns:a16="http://schemas.microsoft.com/office/drawing/2014/main" val="1829000799"/>
                    </a:ext>
                  </a:extLst>
                </a:gridCol>
                <a:gridCol w="2209800">
                  <a:extLst>
                    <a:ext uri="{9D8B030D-6E8A-4147-A177-3AD203B41FA5}">
                      <a16:colId xmlns:a16="http://schemas.microsoft.com/office/drawing/2014/main" val="1143085909"/>
                    </a:ext>
                  </a:extLst>
                </a:gridCol>
                <a:gridCol w="1257300">
                  <a:extLst>
                    <a:ext uri="{9D8B030D-6E8A-4147-A177-3AD203B41FA5}">
                      <a16:colId xmlns:a16="http://schemas.microsoft.com/office/drawing/2014/main" val="1394736056"/>
                    </a:ext>
                  </a:extLst>
                </a:gridCol>
                <a:gridCol w="1977623">
                  <a:extLst>
                    <a:ext uri="{9D8B030D-6E8A-4147-A177-3AD203B41FA5}">
                      <a16:colId xmlns:a16="http://schemas.microsoft.com/office/drawing/2014/main" val="2202461204"/>
                    </a:ext>
                  </a:extLst>
                </a:gridCol>
                <a:gridCol w="1467588">
                  <a:extLst>
                    <a:ext uri="{9D8B030D-6E8A-4147-A177-3AD203B41FA5}">
                      <a16:colId xmlns:a16="http://schemas.microsoft.com/office/drawing/2014/main" val="3244480532"/>
                    </a:ext>
                  </a:extLst>
                </a:gridCol>
              </a:tblGrid>
              <a:tr h="0">
                <a:tc>
                  <a:txBody>
                    <a:bodyPr/>
                    <a:lstStyle/>
                    <a:p>
                      <a:pPr algn="l">
                        <a:lnSpc>
                          <a:spcPts val="1875"/>
                        </a:lnSpc>
                        <a:buNone/>
                      </a:pPr>
                      <a:r>
                        <a:rPr lang="en-GB" sz="1100" b="1" dirty="0" err="1"/>
                        <a:t>Modèle</a:t>
                      </a:r>
                      <a:endParaRPr lang="fr-FR" sz="1100" b="1" u="sng" noProof="0" dirty="0">
                        <a:effectLst/>
                        <a:latin typeface="Mulish" panose="020B0604020202020204" charset="0"/>
                      </a:endParaRPr>
                    </a:p>
                  </a:txBody>
                  <a:tcPr marR="152400" marT="95250" marB="95250" anchor="ctr"/>
                </a:tc>
                <a:tc>
                  <a:txBody>
                    <a:bodyPr/>
                    <a:lstStyle/>
                    <a:p>
                      <a:pPr algn="l">
                        <a:lnSpc>
                          <a:spcPts val="1875"/>
                        </a:lnSpc>
                        <a:buNone/>
                      </a:pPr>
                      <a:r>
                        <a:rPr lang="en-GB" sz="1100" b="1" dirty="0"/>
                        <a:t>Configuration par </a:t>
                      </a:r>
                      <a:r>
                        <a:rPr lang="en-GB" sz="1100" b="1" dirty="0" err="1"/>
                        <a:t>défaut</a:t>
                      </a:r>
                      <a:endParaRPr lang="fr-FR" sz="1100" b="1" u="sng" noProof="0" dirty="0">
                        <a:effectLst/>
                        <a:latin typeface="Mulish" panose="020B0604020202020204" charset="0"/>
                      </a:endParaRPr>
                    </a:p>
                  </a:txBody>
                  <a:tcPr marL="152400" marR="152400" marT="95250" marB="95250" anchor="ctr"/>
                </a:tc>
                <a:tc>
                  <a:txBody>
                    <a:bodyPr/>
                    <a:lstStyle/>
                    <a:p>
                      <a:pPr algn="l">
                        <a:lnSpc>
                          <a:spcPts val="1875"/>
                        </a:lnSpc>
                        <a:buNone/>
                      </a:pPr>
                      <a:r>
                        <a:rPr lang="en-GB" sz="1100" b="1" dirty="0"/>
                        <a:t>F1@5 (</a:t>
                      </a:r>
                      <a:r>
                        <a:rPr lang="en-GB" sz="1100" b="1" dirty="0" err="1"/>
                        <a:t>défaut</a:t>
                      </a:r>
                      <a:r>
                        <a:rPr lang="en-GB" sz="1100" b="1" dirty="0"/>
                        <a:t>)</a:t>
                      </a:r>
                      <a:endParaRPr lang="fr-FR" sz="1100" b="1" u="sng" noProof="0" dirty="0">
                        <a:effectLst/>
                        <a:latin typeface="Mulish" panose="020B0604020202020204" charset="0"/>
                      </a:endParaRPr>
                    </a:p>
                  </a:txBody>
                  <a:tcPr marL="152400" marR="152400" marT="95250" marB="95250" anchor="ctr"/>
                </a:tc>
                <a:tc>
                  <a:txBody>
                    <a:bodyPr/>
                    <a:lstStyle/>
                    <a:p>
                      <a:pPr algn="l">
                        <a:lnSpc>
                          <a:spcPts val="1875"/>
                        </a:lnSpc>
                        <a:buNone/>
                      </a:pPr>
                      <a:r>
                        <a:rPr lang="en-GB" sz="1100" b="1" dirty="0"/>
                        <a:t>Configuration </a:t>
                      </a:r>
                      <a:r>
                        <a:rPr lang="en-GB" sz="1100" b="1" dirty="0" err="1"/>
                        <a:t>optimisée</a:t>
                      </a:r>
                      <a:endParaRPr lang="fr-FR" sz="1100" b="1" u="sng" noProof="0" dirty="0">
                        <a:effectLst/>
                        <a:latin typeface="Mulish" panose="020B0604020202020204" charset="0"/>
                      </a:endParaRPr>
                    </a:p>
                  </a:txBody>
                  <a:tcPr marL="152400" marR="152400" marT="95250" marB="95250" anchor="ctr"/>
                </a:tc>
                <a:tc>
                  <a:txBody>
                    <a:bodyPr/>
                    <a:lstStyle/>
                    <a:p>
                      <a:pPr algn="l">
                        <a:lnSpc>
                          <a:spcPts val="1875"/>
                        </a:lnSpc>
                        <a:buNone/>
                      </a:pPr>
                      <a:r>
                        <a:rPr lang="en-GB" sz="1100" b="1" dirty="0"/>
                        <a:t>F1@5 (</a:t>
                      </a:r>
                      <a:r>
                        <a:rPr lang="en-GB" sz="1100" b="1" dirty="0" err="1"/>
                        <a:t>optimisé</a:t>
                      </a:r>
                      <a:r>
                        <a:rPr lang="en-GB" sz="1100" b="1" dirty="0"/>
                        <a:t>)</a:t>
                      </a:r>
                      <a:endParaRPr lang="fr-FR" sz="1100" b="1" u="sng" noProof="0" dirty="0">
                        <a:effectLst/>
                        <a:latin typeface="Mulish" panose="020B0604020202020204" charset="0"/>
                      </a:endParaRPr>
                    </a:p>
                  </a:txBody>
                  <a:tcPr marL="152400" marR="152400" marT="95250" marB="95250" anchor="ctr"/>
                </a:tc>
                <a:extLst>
                  <a:ext uri="{0D108BD9-81ED-4DB2-BD59-A6C34878D82A}">
                    <a16:rowId xmlns:a16="http://schemas.microsoft.com/office/drawing/2014/main" val="428300342"/>
                  </a:ext>
                </a:extLst>
              </a:tr>
              <a:tr h="0">
                <a:tc>
                  <a:txBody>
                    <a:bodyPr/>
                    <a:lstStyle/>
                    <a:p>
                      <a:pPr>
                        <a:lnSpc>
                          <a:spcPct val="100000"/>
                        </a:lnSpc>
                        <a:buNone/>
                      </a:pPr>
                      <a:r>
                        <a:rPr lang="fr-FR" sz="1000" b="1" noProof="0" dirty="0">
                          <a:effectLst/>
                          <a:latin typeface="Mulish" panose="020B0604020202020204" charset="0"/>
                        </a:rPr>
                        <a:t>ALS</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err="1">
                          <a:effectLst/>
                          <a:latin typeface="Mulish" panose="020B0604020202020204" charset="0"/>
                        </a:rPr>
                        <a:t>factors</a:t>
                      </a:r>
                      <a:r>
                        <a:rPr lang="fr-FR" sz="1000" b="0" noProof="0" dirty="0">
                          <a:effectLst/>
                          <a:latin typeface="Mulish" panose="020B0604020202020204" charset="0"/>
                        </a:rPr>
                        <a:t>=20, reg=0.1, α=40</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0.149</a:t>
                      </a:r>
                    </a:p>
                  </a:txBody>
                  <a:tcPr marL="152400" marR="152400" marT="95250" marB="95250" anchor="ctr"/>
                </a:tc>
                <a:tc>
                  <a:txBody>
                    <a:bodyPr/>
                    <a:lstStyle/>
                    <a:p>
                      <a:pPr>
                        <a:lnSpc>
                          <a:spcPct val="100000"/>
                        </a:lnSpc>
                        <a:buNone/>
                      </a:pPr>
                      <a:r>
                        <a:rPr lang="fr-FR" sz="1000" b="0" noProof="0" dirty="0" err="1">
                          <a:effectLst/>
                          <a:latin typeface="Mulish" panose="020B0604020202020204" charset="0"/>
                        </a:rPr>
                        <a:t>factors</a:t>
                      </a:r>
                      <a:r>
                        <a:rPr lang="fr-FR" sz="1000" b="0" noProof="0" dirty="0">
                          <a:effectLst/>
                          <a:latin typeface="Mulish" panose="020B0604020202020204" charset="0"/>
                        </a:rPr>
                        <a:t>=100, reg=0.1, α=10</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0.371</a:t>
                      </a:r>
                    </a:p>
                  </a:txBody>
                  <a:tcPr marL="152400" marT="95250" marB="95250" anchor="ctr"/>
                </a:tc>
                <a:extLst>
                  <a:ext uri="{0D108BD9-81ED-4DB2-BD59-A6C34878D82A}">
                    <a16:rowId xmlns:a16="http://schemas.microsoft.com/office/drawing/2014/main" val="183307710"/>
                  </a:ext>
                </a:extLst>
              </a:tr>
              <a:tr h="0">
                <a:tc>
                  <a:txBody>
                    <a:bodyPr/>
                    <a:lstStyle/>
                    <a:p>
                      <a:pPr>
                        <a:lnSpc>
                          <a:spcPct val="100000"/>
                        </a:lnSpc>
                        <a:buNone/>
                      </a:pPr>
                      <a:r>
                        <a:rPr lang="fr-FR" sz="1000" b="1" noProof="0" dirty="0">
                          <a:effectLst/>
                          <a:latin typeface="Mulish" panose="020B0604020202020204" charset="0"/>
                        </a:rPr>
                        <a:t>BM25</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a:effectLst/>
                          <a:latin typeface="Mulish" panose="020B0604020202020204" charset="0"/>
                        </a:rPr>
                        <a:t>k1=1.5, b=0.75</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0.178</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k1=3.0, b=1.0</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0.211</a:t>
                      </a:r>
                    </a:p>
                  </a:txBody>
                  <a:tcPr marL="152400" marT="95250" marB="95250" anchor="ctr"/>
                </a:tc>
                <a:extLst>
                  <a:ext uri="{0D108BD9-81ED-4DB2-BD59-A6C34878D82A}">
                    <a16:rowId xmlns:a16="http://schemas.microsoft.com/office/drawing/2014/main" val="2517509115"/>
                  </a:ext>
                </a:extLst>
              </a:tr>
              <a:tr h="0">
                <a:tc>
                  <a:txBody>
                    <a:bodyPr/>
                    <a:lstStyle/>
                    <a:p>
                      <a:pPr>
                        <a:lnSpc>
                          <a:spcPct val="100000"/>
                        </a:lnSpc>
                        <a:buNone/>
                      </a:pPr>
                      <a:r>
                        <a:rPr lang="fr-FR" sz="1000" b="1" noProof="0" dirty="0">
                          <a:effectLst/>
                          <a:latin typeface="Mulish" panose="020B0604020202020204" charset="0"/>
                        </a:rPr>
                        <a:t>SVD</a:t>
                      </a:r>
                      <a:endParaRPr lang="fr-FR" sz="1000" b="0" noProof="0" dirty="0">
                        <a:effectLst/>
                        <a:latin typeface="Mulish" panose="020B0604020202020204" charset="0"/>
                      </a:endParaRPr>
                    </a:p>
                  </a:txBody>
                  <a:tcPr marR="152400" marT="95250" marB="95250" anchor="ctr"/>
                </a:tc>
                <a:tc>
                  <a:txBody>
                    <a:bodyPr/>
                    <a:lstStyle/>
                    <a:p>
                      <a:pPr>
                        <a:lnSpc>
                          <a:spcPct val="100000"/>
                        </a:lnSpc>
                        <a:buNone/>
                      </a:pPr>
                      <a:r>
                        <a:rPr lang="fr-FR" sz="1000" b="0" noProof="0" dirty="0" err="1">
                          <a:effectLst/>
                          <a:latin typeface="Mulish" panose="020B0604020202020204" charset="0"/>
                        </a:rPr>
                        <a:t>n_components</a:t>
                      </a:r>
                      <a:r>
                        <a:rPr lang="fr-FR" sz="1000" b="0" noProof="0" dirty="0">
                          <a:effectLst/>
                          <a:latin typeface="Mulish" panose="020B0604020202020204" charset="0"/>
                        </a:rPr>
                        <a:t>=50</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0.277</a:t>
                      </a:r>
                    </a:p>
                  </a:txBody>
                  <a:tcPr marL="152400" marR="152400" marT="95250" marB="95250" anchor="ctr"/>
                </a:tc>
                <a:tc>
                  <a:txBody>
                    <a:bodyPr/>
                    <a:lstStyle/>
                    <a:p>
                      <a:pPr>
                        <a:lnSpc>
                          <a:spcPct val="100000"/>
                        </a:lnSpc>
                        <a:buNone/>
                      </a:pPr>
                      <a:r>
                        <a:rPr lang="fr-FR" sz="1000" b="0" noProof="0" dirty="0" err="1">
                          <a:effectLst/>
                          <a:latin typeface="Mulish" panose="020B0604020202020204" charset="0"/>
                        </a:rPr>
                        <a:t>n_components</a:t>
                      </a:r>
                      <a:r>
                        <a:rPr lang="fr-FR" sz="1000" b="0" noProof="0" dirty="0">
                          <a:effectLst/>
                          <a:latin typeface="Mulish" panose="020B0604020202020204" charset="0"/>
                        </a:rPr>
                        <a:t>=50</a:t>
                      </a:r>
                    </a:p>
                  </a:txBody>
                  <a:tcPr marL="152400" marR="152400" marT="95250" marB="95250" anchor="ctr"/>
                </a:tc>
                <a:tc>
                  <a:txBody>
                    <a:bodyPr/>
                    <a:lstStyle/>
                    <a:p>
                      <a:pPr>
                        <a:lnSpc>
                          <a:spcPct val="100000"/>
                        </a:lnSpc>
                        <a:buNone/>
                      </a:pPr>
                      <a:r>
                        <a:rPr lang="fr-FR" sz="1000" b="0" noProof="0" dirty="0">
                          <a:effectLst/>
                          <a:latin typeface="Mulish" panose="020B0604020202020204" charset="0"/>
                        </a:rPr>
                        <a:t>0.277</a:t>
                      </a:r>
                    </a:p>
                  </a:txBody>
                  <a:tcPr marL="152400" marT="95250" marB="95250" anchor="ctr"/>
                </a:tc>
                <a:extLst>
                  <a:ext uri="{0D108BD9-81ED-4DB2-BD59-A6C34878D82A}">
                    <a16:rowId xmlns:a16="http://schemas.microsoft.com/office/drawing/2014/main" val="2351261406"/>
                  </a:ext>
                </a:extLst>
              </a:tr>
            </a:tbl>
          </a:graphicData>
        </a:graphic>
      </p:graphicFrame>
    </p:spTree>
    <p:extLst>
      <p:ext uri="{BB962C8B-B14F-4D97-AF65-F5344CB8AC3E}">
        <p14:creationId xmlns:p14="http://schemas.microsoft.com/office/powerpoint/2010/main" val="496228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F9003DFF-C6BF-4710-AAE4-32A1C7461EF5}"/>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C02207D6-B671-9CA1-46D4-A7679B5D11AB}"/>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a:t>
            </a:r>
            <a:r>
              <a:rPr lang="fr-FR" sz="2400" dirty="0"/>
              <a:t>- Intégration du système de recommandation</a:t>
            </a:r>
            <a:endParaRPr lang="fr-FR" sz="2400" noProof="0" dirty="0"/>
          </a:p>
        </p:txBody>
      </p:sp>
      <p:sp>
        <p:nvSpPr>
          <p:cNvPr id="5" name="TextBox 4">
            <a:extLst>
              <a:ext uri="{FF2B5EF4-FFF2-40B4-BE49-F238E27FC236}">
                <a16:creationId xmlns:a16="http://schemas.microsoft.com/office/drawing/2014/main" id="{3E339749-D715-4BFD-60B7-FC19968FCE67}"/>
              </a:ext>
            </a:extLst>
          </p:cNvPr>
          <p:cNvSpPr txBox="1"/>
          <p:nvPr/>
        </p:nvSpPr>
        <p:spPr>
          <a:xfrm>
            <a:off x="524792" y="783022"/>
            <a:ext cx="3766642" cy="307777"/>
          </a:xfrm>
          <a:prstGeom prst="rect">
            <a:avLst/>
          </a:prstGeom>
          <a:noFill/>
        </p:spPr>
        <p:txBody>
          <a:bodyPr wrap="square" rtlCol="0">
            <a:spAutoFit/>
          </a:bodyPr>
          <a:lstStyle/>
          <a:p>
            <a:r>
              <a:rPr lang="fr-FR" b="1" dirty="0"/>
              <a:t>Résumé des performances</a:t>
            </a:r>
            <a:endParaRPr lang="fr-FR" noProof="0" dirty="0"/>
          </a:p>
        </p:txBody>
      </p:sp>
      <p:pic>
        <p:nvPicPr>
          <p:cNvPr id="10" name="Picture 9">
            <a:extLst>
              <a:ext uri="{FF2B5EF4-FFF2-40B4-BE49-F238E27FC236}">
                <a16:creationId xmlns:a16="http://schemas.microsoft.com/office/drawing/2014/main" id="{23EEF4F9-E35D-6CA9-CC11-687DC7260DFC}"/>
              </a:ext>
            </a:extLst>
          </p:cNvPr>
          <p:cNvPicPr>
            <a:picLocks noChangeAspect="1"/>
          </p:cNvPicPr>
          <p:nvPr/>
        </p:nvPicPr>
        <p:blipFill>
          <a:blip r:embed="rId3"/>
          <a:stretch>
            <a:fillRect/>
          </a:stretch>
        </p:blipFill>
        <p:spPr>
          <a:xfrm>
            <a:off x="271216" y="1090800"/>
            <a:ext cx="8212930" cy="3269678"/>
          </a:xfrm>
          <a:prstGeom prst="rect">
            <a:avLst/>
          </a:prstGeom>
        </p:spPr>
      </p:pic>
    </p:spTree>
    <p:extLst>
      <p:ext uri="{BB962C8B-B14F-4D97-AF65-F5344CB8AC3E}">
        <p14:creationId xmlns:p14="http://schemas.microsoft.com/office/powerpoint/2010/main" val="751735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09BFE3BD-AAAC-77ED-FF08-109F87A6A8AD}"/>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D0A7E519-280B-DDB1-F8BB-396EC2CE3280}"/>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en-GB" sz="2400" dirty="0"/>
              <a:t>Résultats</a:t>
            </a:r>
            <a:r>
              <a:rPr lang="fr-FR" sz="2400" noProof="0" dirty="0"/>
              <a:t> </a:t>
            </a:r>
            <a:r>
              <a:rPr lang="fr-FR" sz="2400" dirty="0"/>
              <a:t>- Intégration du système de recommandation</a:t>
            </a:r>
            <a:endParaRPr lang="fr-FR" sz="2400" noProof="0" dirty="0"/>
          </a:p>
        </p:txBody>
      </p:sp>
      <p:sp>
        <p:nvSpPr>
          <p:cNvPr id="5" name="TextBox 4">
            <a:extLst>
              <a:ext uri="{FF2B5EF4-FFF2-40B4-BE49-F238E27FC236}">
                <a16:creationId xmlns:a16="http://schemas.microsoft.com/office/drawing/2014/main" id="{E67FFFC0-B17B-673E-CABE-DAC7344906CC}"/>
              </a:ext>
            </a:extLst>
          </p:cNvPr>
          <p:cNvSpPr txBox="1"/>
          <p:nvPr/>
        </p:nvSpPr>
        <p:spPr>
          <a:xfrm>
            <a:off x="524792" y="783022"/>
            <a:ext cx="3766642" cy="307777"/>
          </a:xfrm>
          <a:prstGeom prst="rect">
            <a:avLst/>
          </a:prstGeom>
          <a:noFill/>
        </p:spPr>
        <p:txBody>
          <a:bodyPr wrap="square" rtlCol="0">
            <a:spAutoFit/>
          </a:bodyPr>
          <a:lstStyle/>
          <a:p>
            <a:r>
              <a:rPr lang="fr-FR" b="1" dirty="0"/>
              <a:t>Résumé des performances</a:t>
            </a:r>
            <a:endParaRPr lang="fr-FR" noProof="0" dirty="0"/>
          </a:p>
        </p:txBody>
      </p:sp>
      <p:pic>
        <p:nvPicPr>
          <p:cNvPr id="6" name="Picture 5">
            <a:extLst>
              <a:ext uri="{FF2B5EF4-FFF2-40B4-BE49-F238E27FC236}">
                <a16:creationId xmlns:a16="http://schemas.microsoft.com/office/drawing/2014/main" id="{69C95ABC-45F6-CEDC-8195-39D884B76A38}"/>
              </a:ext>
            </a:extLst>
          </p:cNvPr>
          <p:cNvPicPr>
            <a:picLocks noChangeAspect="1"/>
          </p:cNvPicPr>
          <p:nvPr/>
        </p:nvPicPr>
        <p:blipFill>
          <a:blip r:embed="rId3"/>
          <a:stretch>
            <a:fillRect/>
          </a:stretch>
        </p:blipFill>
        <p:spPr>
          <a:xfrm>
            <a:off x="272772" y="1090800"/>
            <a:ext cx="8211374" cy="3269678"/>
          </a:xfrm>
          <a:prstGeom prst="rect">
            <a:avLst/>
          </a:prstGeom>
        </p:spPr>
      </p:pic>
    </p:spTree>
    <p:extLst>
      <p:ext uri="{BB962C8B-B14F-4D97-AF65-F5344CB8AC3E}">
        <p14:creationId xmlns:p14="http://schemas.microsoft.com/office/powerpoint/2010/main" val="828109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31"/>
          <p:cNvSpPr txBox="1">
            <a:spLocks noGrp="1"/>
          </p:cNvSpPr>
          <p:nvPr>
            <p:ph type="title"/>
          </p:nvPr>
        </p:nvSpPr>
        <p:spPr>
          <a:xfrm>
            <a:off x="1463100" y="2113794"/>
            <a:ext cx="6217800" cy="915912"/>
          </a:xfrm>
          <a:prstGeom prst="rect">
            <a:avLst/>
          </a:prstGeom>
        </p:spPr>
        <p:txBody>
          <a:bodyPr spcFirstLastPara="1" wrap="square" lIns="91425" tIns="91425" rIns="91425" bIns="91425" anchor="b" anchorCtr="0">
            <a:noAutofit/>
          </a:bodyPr>
          <a:lstStyle/>
          <a:p>
            <a:pPr lvl="0"/>
            <a:r>
              <a:rPr lang="fr-FR" noProof="0" dirty="0"/>
              <a:t>Démonstration</a:t>
            </a:r>
          </a:p>
        </p:txBody>
      </p:sp>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latin typeface="Lato"/>
                <a:ea typeface="Lato"/>
                <a:cs typeface="Lato"/>
                <a:sym typeface="Lato"/>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3E0F71EF-2C0D-C19C-0855-9AB6EC08F3D9}"/>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FBECB050-3114-BDE7-1FA5-4715E7380D3C}"/>
              </a:ext>
            </a:extLst>
          </p:cNvPr>
          <p:cNvSpPr txBox="1">
            <a:spLocks noGrp="1"/>
          </p:cNvSpPr>
          <p:nvPr>
            <p:ph type="title"/>
          </p:nvPr>
        </p:nvSpPr>
        <p:spPr>
          <a:xfrm>
            <a:off x="524792" y="288525"/>
            <a:ext cx="8211374" cy="572700"/>
          </a:xfrm>
          <a:prstGeom prst="rect">
            <a:avLst/>
          </a:prstGeom>
        </p:spPr>
        <p:txBody>
          <a:bodyPr spcFirstLastPara="1" wrap="square" lIns="91425" tIns="91425" rIns="91425" bIns="91425" anchor="t" anchorCtr="0">
            <a:noAutofit/>
          </a:bodyPr>
          <a:lstStyle/>
          <a:p>
            <a:r>
              <a:rPr lang="fr-FR" sz="2400" noProof="0" dirty="0"/>
              <a:t>Conclusion et perspectives</a:t>
            </a:r>
          </a:p>
        </p:txBody>
      </p:sp>
      <p:graphicFrame>
        <p:nvGraphicFramePr>
          <p:cNvPr id="11" name="Table 10">
            <a:extLst>
              <a:ext uri="{FF2B5EF4-FFF2-40B4-BE49-F238E27FC236}">
                <a16:creationId xmlns:a16="http://schemas.microsoft.com/office/drawing/2014/main" id="{80EE1730-23A6-5CD6-C59D-DB15C0A26619}"/>
              </a:ext>
            </a:extLst>
          </p:cNvPr>
          <p:cNvGraphicFramePr>
            <a:graphicFrameLocks noGrp="1"/>
          </p:cNvGraphicFramePr>
          <p:nvPr>
            <p:extLst>
              <p:ext uri="{D42A27DB-BD31-4B8C-83A1-F6EECF244321}">
                <p14:modId xmlns:p14="http://schemas.microsoft.com/office/powerpoint/2010/main" val="3664584505"/>
              </p:ext>
            </p:extLst>
          </p:nvPr>
        </p:nvGraphicFramePr>
        <p:xfrm>
          <a:off x="760343" y="1404608"/>
          <a:ext cx="7623314" cy="2350644"/>
        </p:xfrm>
        <a:graphic>
          <a:graphicData uri="http://schemas.openxmlformats.org/drawingml/2006/table">
            <a:tbl>
              <a:tblPr>
                <a:tableStyleId>{B6F588F0-DA45-466C-91A0-1F1EBF44E27B}</a:tableStyleId>
              </a:tblPr>
              <a:tblGrid>
                <a:gridCol w="3382618">
                  <a:extLst>
                    <a:ext uri="{9D8B030D-6E8A-4147-A177-3AD203B41FA5}">
                      <a16:colId xmlns:a16="http://schemas.microsoft.com/office/drawing/2014/main" val="253224325"/>
                    </a:ext>
                  </a:extLst>
                </a:gridCol>
                <a:gridCol w="4240696">
                  <a:extLst>
                    <a:ext uri="{9D8B030D-6E8A-4147-A177-3AD203B41FA5}">
                      <a16:colId xmlns:a16="http://schemas.microsoft.com/office/drawing/2014/main" val="3200457109"/>
                    </a:ext>
                  </a:extLst>
                </a:gridCol>
              </a:tblGrid>
              <a:tr h="0">
                <a:tc>
                  <a:txBody>
                    <a:bodyPr/>
                    <a:lstStyle/>
                    <a:p>
                      <a:pPr algn="l">
                        <a:lnSpc>
                          <a:spcPts val="1875"/>
                        </a:lnSpc>
                        <a:buNone/>
                      </a:pPr>
                      <a:r>
                        <a:rPr lang="fr-FR" sz="1100" b="1" noProof="0" dirty="0">
                          <a:solidFill>
                            <a:schemeClr val="tx1"/>
                          </a:solidFill>
                          <a:effectLst/>
                          <a:latin typeface="+mj-lt"/>
                        </a:rPr>
                        <a:t>Orientation</a:t>
                      </a:r>
                      <a:endParaRPr lang="fr-FR" sz="1100" b="1" i="0" noProof="0" dirty="0">
                        <a:solidFill>
                          <a:schemeClr val="tx1"/>
                        </a:solidFill>
                        <a:effectLst/>
                        <a:latin typeface="+mj-lt"/>
                      </a:endParaRPr>
                    </a:p>
                  </a:txBody>
                  <a:tcPr marR="152400" marT="95250" marB="95250" anchor="ctr"/>
                </a:tc>
                <a:tc>
                  <a:txBody>
                    <a:bodyPr/>
                    <a:lstStyle/>
                    <a:p>
                      <a:pPr algn="l">
                        <a:lnSpc>
                          <a:spcPts val="1875"/>
                        </a:lnSpc>
                        <a:buNone/>
                      </a:pPr>
                      <a:r>
                        <a:rPr lang="fr-FR" sz="1100" b="1" noProof="0" dirty="0">
                          <a:solidFill>
                            <a:schemeClr val="tx1"/>
                          </a:solidFill>
                          <a:effectLst/>
                          <a:latin typeface="+mj-lt"/>
                        </a:rPr>
                        <a:t>Objectif</a:t>
                      </a:r>
                      <a:endParaRPr lang="fr-FR" sz="1100" b="1" i="0" noProof="0" dirty="0">
                        <a:solidFill>
                          <a:schemeClr val="tx1"/>
                        </a:solidFill>
                        <a:effectLst/>
                        <a:latin typeface="+mj-lt"/>
                      </a:endParaRPr>
                    </a:p>
                  </a:txBody>
                  <a:tcPr marL="152400" marR="152400" marT="95250" marB="95250" anchor="ctr"/>
                </a:tc>
                <a:extLst>
                  <a:ext uri="{0D108BD9-81ED-4DB2-BD59-A6C34878D82A}">
                    <a16:rowId xmlns:a16="http://schemas.microsoft.com/office/drawing/2014/main" val="2370418667"/>
                  </a:ext>
                </a:extLst>
              </a:tr>
              <a:tr h="0">
                <a:tc>
                  <a:txBody>
                    <a:bodyPr/>
                    <a:lstStyle/>
                    <a:p>
                      <a:pPr algn="l">
                        <a:lnSpc>
                          <a:spcPts val="1875"/>
                        </a:lnSpc>
                        <a:buNone/>
                      </a:pPr>
                      <a:r>
                        <a:rPr lang="fr-FR" sz="1200" b="1" noProof="0" dirty="0">
                          <a:solidFill>
                            <a:schemeClr val="tx1"/>
                          </a:solidFill>
                          <a:effectLst/>
                          <a:latin typeface="Mulish" panose="020B0604020202020204" charset="0"/>
                        </a:rPr>
                        <a:t>Détection dynamique</a:t>
                      </a:r>
                      <a:endParaRPr lang="fr-FR" sz="1200" b="0" i="0" noProof="0" dirty="0">
                        <a:solidFill>
                          <a:schemeClr val="tx1"/>
                        </a:solidFill>
                        <a:effectLst/>
                        <a:latin typeface="Mulish" panose="020B0604020202020204" charset="0"/>
                      </a:endParaRPr>
                    </a:p>
                  </a:txBody>
                  <a:tcPr marR="152400" marT="95250" marB="95250" anchor="ctr"/>
                </a:tc>
                <a:tc>
                  <a:txBody>
                    <a:bodyPr/>
                    <a:lstStyle/>
                    <a:p>
                      <a:pPr algn="l">
                        <a:lnSpc>
                          <a:spcPts val="1875"/>
                        </a:lnSpc>
                        <a:buNone/>
                      </a:pPr>
                      <a:r>
                        <a:rPr lang="fr-FR" sz="1200" b="0" noProof="0" dirty="0">
                          <a:solidFill>
                            <a:schemeClr val="tx1"/>
                          </a:solidFill>
                          <a:effectLst/>
                          <a:latin typeface="Mulish" panose="020B0604020202020204" charset="0"/>
                        </a:rPr>
                        <a:t>Mettre à jour les communautés en temps réel de manière incrémentale.</a:t>
                      </a:r>
                      <a:endParaRPr lang="fr-FR" sz="1200" b="0" i="0" noProof="0" dirty="0">
                        <a:solidFill>
                          <a:schemeClr val="tx1"/>
                        </a:solidFill>
                        <a:effectLst/>
                        <a:latin typeface="Mulish" panose="020B0604020202020204" charset="0"/>
                      </a:endParaRPr>
                    </a:p>
                  </a:txBody>
                  <a:tcPr marL="152400" marT="95250" marB="95250" anchor="ctr"/>
                </a:tc>
                <a:extLst>
                  <a:ext uri="{0D108BD9-81ED-4DB2-BD59-A6C34878D82A}">
                    <a16:rowId xmlns:a16="http://schemas.microsoft.com/office/drawing/2014/main" val="2967948659"/>
                  </a:ext>
                </a:extLst>
              </a:tr>
              <a:tr h="0">
                <a:tc>
                  <a:txBody>
                    <a:bodyPr/>
                    <a:lstStyle/>
                    <a:p>
                      <a:pPr algn="l">
                        <a:lnSpc>
                          <a:spcPts val="1875"/>
                        </a:lnSpc>
                        <a:buNone/>
                      </a:pPr>
                      <a:r>
                        <a:rPr lang="fr-FR" sz="1200" noProof="0" dirty="0"/>
                        <a:t>Approche inter-domaines</a:t>
                      </a:r>
                      <a:endParaRPr lang="fr-FR" sz="1200" b="0" i="0" noProof="0" dirty="0">
                        <a:solidFill>
                          <a:schemeClr val="tx1"/>
                        </a:solidFill>
                        <a:effectLst/>
                        <a:latin typeface="Mulish" panose="020B0604020202020204" charset="0"/>
                      </a:endParaRPr>
                    </a:p>
                  </a:txBody>
                  <a:tcPr marR="152400" marT="95250" marB="95250" anchor="ctr"/>
                </a:tc>
                <a:tc>
                  <a:txBody>
                    <a:bodyPr/>
                    <a:lstStyle/>
                    <a:p>
                      <a:pPr algn="l">
                        <a:lnSpc>
                          <a:spcPts val="1875"/>
                        </a:lnSpc>
                        <a:buNone/>
                      </a:pPr>
                      <a:r>
                        <a:rPr lang="fr-FR" sz="1200" b="0" noProof="0" dirty="0">
                          <a:solidFill>
                            <a:schemeClr val="tx1"/>
                          </a:solidFill>
                          <a:effectLst/>
                          <a:latin typeface="Mulish" panose="020B0604020202020204" charset="0"/>
                        </a:rPr>
                        <a:t>Valider la méthode sur des jeux de données de films, de musique et de réseaux sociaux.</a:t>
                      </a:r>
                      <a:endParaRPr lang="fr-FR" sz="1200" b="0" i="0" noProof="0" dirty="0">
                        <a:solidFill>
                          <a:schemeClr val="tx1"/>
                        </a:solidFill>
                        <a:effectLst/>
                        <a:latin typeface="Mulish" panose="020B0604020202020204" charset="0"/>
                      </a:endParaRPr>
                    </a:p>
                  </a:txBody>
                  <a:tcPr marL="152400" marT="95250" marB="95250" anchor="ctr"/>
                </a:tc>
                <a:extLst>
                  <a:ext uri="{0D108BD9-81ED-4DB2-BD59-A6C34878D82A}">
                    <a16:rowId xmlns:a16="http://schemas.microsoft.com/office/drawing/2014/main" val="2606477272"/>
                  </a:ext>
                </a:extLst>
              </a:tr>
              <a:tr h="0">
                <a:tc>
                  <a:txBody>
                    <a:bodyPr/>
                    <a:lstStyle/>
                    <a:p>
                      <a:pPr algn="l">
                        <a:lnSpc>
                          <a:spcPts val="1875"/>
                        </a:lnSpc>
                        <a:buNone/>
                      </a:pPr>
                      <a:r>
                        <a:rPr lang="fr-FR" sz="1200" noProof="0" dirty="0"/>
                        <a:t>Explicabilité</a:t>
                      </a:r>
                      <a:endParaRPr lang="fr-FR" sz="1200" b="0" i="0" noProof="0" dirty="0">
                        <a:solidFill>
                          <a:schemeClr val="tx1"/>
                        </a:solidFill>
                        <a:effectLst/>
                        <a:latin typeface="Mulish" panose="020B0604020202020204" charset="0"/>
                      </a:endParaRPr>
                    </a:p>
                  </a:txBody>
                  <a:tcPr marR="152400" marT="95250" marB="95250" anchor="ctr"/>
                </a:tc>
                <a:tc>
                  <a:txBody>
                    <a:bodyPr/>
                    <a:lstStyle/>
                    <a:p>
                      <a:pPr algn="l">
                        <a:lnSpc>
                          <a:spcPts val="1875"/>
                        </a:lnSpc>
                        <a:buNone/>
                      </a:pPr>
                      <a:r>
                        <a:rPr lang="fr-FR" sz="1200" noProof="0" dirty="0"/>
                        <a:t>Renforcer la confiance des utilisateurs grâce à des explications basées sur les communautés.</a:t>
                      </a:r>
                      <a:endParaRPr lang="fr-FR" sz="1200" b="0" i="0" noProof="0" dirty="0">
                        <a:solidFill>
                          <a:schemeClr val="tx1"/>
                        </a:solidFill>
                        <a:effectLst/>
                        <a:latin typeface="Mulish" panose="020B0604020202020204" charset="0"/>
                      </a:endParaRPr>
                    </a:p>
                  </a:txBody>
                  <a:tcPr marL="152400" marT="95250" marB="95250" anchor="ctr"/>
                </a:tc>
                <a:extLst>
                  <a:ext uri="{0D108BD9-81ED-4DB2-BD59-A6C34878D82A}">
                    <a16:rowId xmlns:a16="http://schemas.microsoft.com/office/drawing/2014/main" val="4014426703"/>
                  </a:ext>
                </a:extLst>
              </a:tr>
            </a:tbl>
          </a:graphicData>
        </a:graphic>
      </p:graphicFrame>
      <p:sp>
        <p:nvSpPr>
          <p:cNvPr id="13" name="TextBox 12">
            <a:extLst>
              <a:ext uri="{FF2B5EF4-FFF2-40B4-BE49-F238E27FC236}">
                <a16:creationId xmlns:a16="http://schemas.microsoft.com/office/drawing/2014/main" id="{0A6A85B6-6A1D-87EF-C311-31404E36172A}"/>
              </a:ext>
            </a:extLst>
          </p:cNvPr>
          <p:cNvSpPr txBox="1"/>
          <p:nvPr/>
        </p:nvSpPr>
        <p:spPr>
          <a:xfrm>
            <a:off x="524792" y="911278"/>
            <a:ext cx="3766642" cy="307777"/>
          </a:xfrm>
          <a:prstGeom prst="rect">
            <a:avLst/>
          </a:prstGeom>
          <a:noFill/>
        </p:spPr>
        <p:txBody>
          <a:bodyPr wrap="square" rtlCol="0">
            <a:spAutoFit/>
          </a:bodyPr>
          <a:lstStyle/>
          <a:p>
            <a:r>
              <a:rPr lang="fr-FR" b="1" noProof="0" dirty="0"/>
              <a:t>Perspectives futures</a:t>
            </a:r>
            <a:endParaRPr lang="fr-FR" noProof="0" dirty="0"/>
          </a:p>
        </p:txBody>
      </p:sp>
    </p:spTree>
    <p:extLst>
      <p:ext uri="{BB962C8B-B14F-4D97-AF65-F5344CB8AC3E}">
        <p14:creationId xmlns:p14="http://schemas.microsoft.com/office/powerpoint/2010/main" val="99431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70">
          <a:extLst>
            <a:ext uri="{FF2B5EF4-FFF2-40B4-BE49-F238E27FC236}">
              <a16:creationId xmlns:a16="http://schemas.microsoft.com/office/drawing/2014/main" id="{56053F4E-462E-C3CF-87F8-2E2BE57052FC}"/>
            </a:ext>
          </a:extLst>
        </p:cNvPr>
        <p:cNvGrpSpPr/>
        <p:nvPr/>
      </p:nvGrpSpPr>
      <p:grpSpPr>
        <a:xfrm>
          <a:off x="0" y="0"/>
          <a:ext cx="0" cy="0"/>
          <a:chOff x="0" y="0"/>
          <a:chExt cx="0" cy="0"/>
        </a:xfrm>
      </p:grpSpPr>
      <p:sp>
        <p:nvSpPr>
          <p:cNvPr id="7" name="Google Shape;1704;p38">
            <a:extLst>
              <a:ext uri="{FF2B5EF4-FFF2-40B4-BE49-F238E27FC236}">
                <a16:creationId xmlns:a16="http://schemas.microsoft.com/office/drawing/2014/main" id="{1D68F57F-E34D-E233-2B7B-7F0265246BE5}"/>
              </a:ext>
            </a:extLst>
          </p:cNvPr>
          <p:cNvSpPr txBox="1">
            <a:spLocks noGrp="1"/>
          </p:cNvSpPr>
          <p:nvPr>
            <p:ph type="title"/>
          </p:nvPr>
        </p:nvSpPr>
        <p:spPr>
          <a:xfrm>
            <a:off x="1398888" y="1658136"/>
            <a:ext cx="6346223" cy="1827227"/>
          </a:xfrm>
          <a:prstGeom prst="rect">
            <a:avLst/>
          </a:prstGeom>
        </p:spPr>
        <p:txBody>
          <a:bodyPr spcFirstLastPara="1" wrap="square" lIns="91425" tIns="91425" rIns="91425" bIns="91425" anchor="t" anchorCtr="0">
            <a:noAutofit/>
          </a:bodyPr>
          <a:lstStyle/>
          <a:p>
            <a:pPr algn="ctr"/>
            <a:r>
              <a:rPr lang="fr-FR" sz="5400" noProof="0" dirty="0"/>
              <a:t>Merci pour votre attention</a:t>
            </a:r>
            <a:endParaRPr lang="fr-FR" sz="5000" noProof="0" dirty="0"/>
          </a:p>
        </p:txBody>
      </p:sp>
    </p:spTree>
    <p:extLst>
      <p:ext uri="{BB962C8B-B14F-4D97-AF65-F5344CB8AC3E}">
        <p14:creationId xmlns:p14="http://schemas.microsoft.com/office/powerpoint/2010/main" val="2304006932"/>
      </p:ext>
    </p:extLst>
  </p:cSld>
  <p:clrMapOvr>
    <a:masterClrMapping/>
  </p:clrMapOvr>
</p:sld>
</file>

<file path=ppt/theme/theme1.xml><?xml version="1.0" encoding="utf-8"?>
<a:theme xmlns:a="http://schemas.openxmlformats.org/drawingml/2006/main"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1459</TotalTime>
  <Words>1905</Words>
  <Application>Microsoft Office PowerPoint</Application>
  <PresentationFormat>On-screen Show (16:9)</PresentationFormat>
  <Paragraphs>267</Paragraphs>
  <Slides>30</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Mulish</vt:lpstr>
      <vt:lpstr>quote-cjk-patch</vt:lpstr>
      <vt:lpstr>Albert Sans</vt:lpstr>
      <vt:lpstr>Times New Roman</vt:lpstr>
      <vt:lpstr>Arial</vt:lpstr>
      <vt:lpstr>Lato</vt:lpstr>
      <vt:lpstr>DM Sans</vt:lpstr>
      <vt:lpstr>Discrete Mathematics: Graph Theory and Networks - 12th Grade by Slidesgo</vt:lpstr>
      <vt:lpstr>PowerPoint Presentation</vt:lpstr>
      <vt:lpstr>01</vt:lpstr>
      <vt:lpstr>Introduction</vt:lpstr>
      <vt:lpstr>Contexte</vt:lpstr>
      <vt:lpstr>Contexte</vt:lpstr>
      <vt:lpstr>Motivation</vt:lpstr>
      <vt:lpstr>Problématique</vt:lpstr>
      <vt:lpstr>Objectifs de recherche</vt:lpstr>
      <vt:lpstr>État de l'art – Méthodologie</vt:lpstr>
      <vt:lpstr>État de l'art – Algorithmes classiques</vt:lpstr>
      <vt:lpstr>État de l'art – Algorithmes classiques</vt:lpstr>
      <vt:lpstr>PowerPoint Presentation</vt:lpstr>
      <vt:lpstr>État de l'art – Algorithmes modernes </vt:lpstr>
      <vt:lpstr>État de l'art - Applications</vt:lpstr>
      <vt:lpstr>Méthodologie</vt:lpstr>
      <vt:lpstr>Méthodologie – Datasets Utilisées</vt:lpstr>
      <vt:lpstr>Méthodologie – Métriques d’évaluation</vt:lpstr>
      <vt:lpstr>Résultats – Algorithmes classiques</vt:lpstr>
      <vt:lpstr>Résultats – Algorithmes classiques</vt:lpstr>
      <vt:lpstr>Résultats – Algorithmes classiques</vt:lpstr>
      <vt:lpstr>Résultats – Deep Learning Methods </vt:lpstr>
      <vt:lpstr>Résultats - LFR Benchmark</vt:lpstr>
      <vt:lpstr>Résultats - LFR Benchmark</vt:lpstr>
      <vt:lpstr>Résultats - LFR Benchmark</vt:lpstr>
      <vt:lpstr>Résultats - Intégration du système de recommandation</vt:lpstr>
      <vt:lpstr>Résultats - Intégration du système de recommandation</vt:lpstr>
      <vt:lpstr>Résultats - Intégration du système de recommandation</vt:lpstr>
      <vt:lpstr>Démonstration</vt:lpstr>
      <vt:lpstr>Conclusion et perspectives</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hamza moudden</dc:creator>
  <cp:lastModifiedBy>moudden hamza</cp:lastModifiedBy>
  <cp:revision>31</cp:revision>
  <dcterms:modified xsi:type="dcterms:W3CDTF">2026-07-13T16:12:41Z</dcterms:modified>
</cp:coreProperties>
</file>
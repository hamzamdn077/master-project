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30"/>
  </p:notesMasterIdLst>
  <p:sldIdLst>
    <p:sldId id="298" r:id="rId2"/>
    <p:sldId id="297" r:id="rId3"/>
    <p:sldId id="299" r:id="rId4"/>
    <p:sldId id="339" r:id="rId5"/>
    <p:sldId id="340" r:id="rId6"/>
    <p:sldId id="341" r:id="rId7"/>
    <p:sldId id="300" r:id="rId8"/>
    <p:sldId id="338" r:id="rId9"/>
    <p:sldId id="335" r:id="rId10"/>
    <p:sldId id="257" r:id="rId11"/>
    <p:sldId id="303" r:id="rId12"/>
    <p:sldId id="304" r:id="rId13"/>
    <p:sldId id="305" r:id="rId14"/>
    <p:sldId id="307" r:id="rId15"/>
    <p:sldId id="311" r:id="rId16"/>
    <p:sldId id="313" r:id="rId17"/>
    <p:sldId id="312" r:id="rId18"/>
    <p:sldId id="314" r:id="rId19"/>
    <p:sldId id="318" r:id="rId20"/>
    <p:sldId id="322" r:id="rId21"/>
    <p:sldId id="325" r:id="rId22"/>
    <p:sldId id="324" r:id="rId23"/>
    <p:sldId id="326" r:id="rId24"/>
    <p:sldId id="337" r:id="rId25"/>
    <p:sldId id="329" r:id="rId26"/>
    <p:sldId id="260" r:id="rId27"/>
    <p:sldId id="330" r:id="rId28"/>
    <p:sldId id="336" r:id="rId29"/>
  </p:sldIdLst>
  <p:sldSz cx="9144000" cy="5143500" type="screen16x9"/>
  <p:notesSz cx="6858000" cy="9144000"/>
  <p:embeddedFontLst>
    <p:embeddedFont>
      <p:font typeface="Albert Sans" panose="020B0604020202020204" charset="0"/>
      <p:regular r:id="rId31"/>
      <p:bold r:id="rId32"/>
      <p:italic r:id="rId33"/>
      <p:boldItalic r:id="rId34"/>
    </p:embeddedFont>
    <p:embeddedFont>
      <p:font typeface="DM Sans" pitchFamily="2" charset="0"/>
      <p:regular r:id="rId35"/>
      <p:bold r:id="rId36"/>
      <p:italic r:id="rId37"/>
      <p:boldItalic r:id="rId38"/>
    </p:embeddedFont>
    <p:embeddedFont>
      <p:font typeface="Lato" panose="020F0502020204030203" pitchFamily="34" charset="0"/>
      <p:regular r:id="rId39"/>
      <p:bold r:id="rId40"/>
      <p:italic r:id="rId41"/>
      <p:boldItalic r:id="rId42"/>
    </p:embeddedFont>
    <p:embeddedFont>
      <p:font typeface="Mulish" panose="020B0604020202020204"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E00A097-0C75-493B-BA82-CAC8FEF640B5}">
  <a:tblStyle styleId="{AE00A097-0C75-493B-BA82-CAC8FEF640B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B6F588F0-DA45-466C-91A0-1F1EBF44E27B}"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32" autoAdjust="0"/>
    <p:restoredTop sz="82490" autoAdjust="0"/>
  </p:normalViewPr>
  <p:slideViewPr>
    <p:cSldViewPr snapToGrid="0">
      <p:cViewPr varScale="1">
        <p:scale>
          <a:sx n="75" d="100"/>
          <a:sy n="75" d="100"/>
        </p:scale>
        <p:origin x="1170" y="54"/>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GB"/>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8">
          <a:extLst>
            <a:ext uri="{FF2B5EF4-FFF2-40B4-BE49-F238E27FC236}">
              <a16:creationId xmlns:a16="http://schemas.microsoft.com/office/drawing/2014/main" id="{45B905F5-F714-446B-B518-4A07DC46B74B}"/>
            </a:ext>
          </a:extLst>
        </p:cNvPr>
        <p:cNvGrpSpPr/>
        <p:nvPr/>
      </p:nvGrpSpPr>
      <p:grpSpPr>
        <a:xfrm>
          <a:off x="0" y="0"/>
          <a:ext cx="0" cy="0"/>
          <a:chOff x="0" y="0"/>
          <a:chExt cx="0" cy="0"/>
        </a:xfrm>
      </p:grpSpPr>
      <p:sp>
        <p:nvSpPr>
          <p:cNvPr id="1759" name="Google Shape;1759;g1e71a4a866a_0_12:notes">
            <a:extLst>
              <a:ext uri="{FF2B5EF4-FFF2-40B4-BE49-F238E27FC236}">
                <a16:creationId xmlns:a16="http://schemas.microsoft.com/office/drawing/2014/main" id="{A0E2B628-7B45-EC9E-9B23-9D5573B74B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760" name="Google Shape;1760;g1e71a4a866a_0_12:notes">
            <a:extLst>
              <a:ext uri="{FF2B5EF4-FFF2-40B4-BE49-F238E27FC236}">
                <a16:creationId xmlns:a16="http://schemas.microsoft.com/office/drawing/2014/main" id="{3234F645-EB06-4496-22CE-EF9746F3F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dirty="0"/>
              <a:t>Bonjour à tous. Je vous remercie de m'accueillir aujourd'hui pour la soutenance de mon projet de fin d'études qui porte sur la détection de communautés dans les réseaux sociaux, et son application aux systèmes de recommandation et au marketing ciblé.</a:t>
            </a:r>
          </a:p>
          <a:p>
            <a:pPr marL="0" lvl="0" indent="0" algn="l" rtl="0">
              <a:spcBef>
                <a:spcPts val="0"/>
              </a:spcBef>
              <a:spcAft>
                <a:spcPts val="0"/>
              </a:spcAft>
              <a:buNone/>
            </a:pPr>
            <a:r>
              <a:rPr lang="fr-FR" dirty="0"/>
              <a:t>Je suis encadré par le Professeur </a:t>
            </a:r>
            <a:r>
              <a:rPr lang="fr-FR" dirty="0" err="1"/>
              <a:t>Akachar</a:t>
            </a:r>
            <a:r>
              <a:rPr lang="fr-FR" dirty="0"/>
              <a:t> </a:t>
            </a:r>
            <a:r>
              <a:rPr lang="fr-FR" dirty="0" err="1"/>
              <a:t>Elyazid</a:t>
            </a:r>
            <a:r>
              <a:rPr lang="fr-FR" dirty="0"/>
              <a:t>, que je remercie pour son accompagnement , et je tiens à vous remercier pour l'attention que vous accordez à ce travail.</a:t>
            </a:r>
            <a:endParaRPr dirty="0"/>
          </a:p>
        </p:txBody>
      </p:sp>
    </p:spTree>
    <p:extLst>
      <p:ext uri="{BB962C8B-B14F-4D97-AF65-F5344CB8AC3E}">
        <p14:creationId xmlns:p14="http://schemas.microsoft.com/office/powerpoint/2010/main" val="20519962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6">
          <a:extLst>
            <a:ext uri="{FF2B5EF4-FFF2-40B4-BE49-F238E27FC236}">
              <a16:creationId xmlns:a16="http://schemas.microsoft.com/office/drawing/2014/main" id="{E9DC1C4B-E59E-A48A-C933-A38EFFCB5A82}"/>
            </a:ext>
          </a:extLst>
        </p:cNvPr>
        <p:cNvGrpSpPr/>
        <p:nvPr/>
      </p:nvGrpSpPr>
      <p:grpSpPr>
        <a:xfrm>
          <a:off x="0" y="0"/>
          <a:ext cx="0" cy="0"/>
          <a:chOff x="0" y="0"/>
          <a:chExt cx="0" cy="0"/>
        </a:xfrm>
      </p:grpSpPr>
      <p:sp>
        <p:nvSpPr>
          <p:cNvPr id="1477" name="Google Shape;1477;gd431007ba2_0_215:notes">
            <a:extLst>
              <a:ext uri="{FF2B5EF4-FFF2-40B4-BE49-F238E27FC236}">
                <a16:creationId xmlns:a16="http://schemas.microsoft.com/office/drawing/2014/main" id="{6A42FEB4-386D-CA29-9EBF-D0A47B9453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78" name="Google Shape;1478;gd431007ba2_0_215:notes">
            <a:extLst>
              <a:ext uri="{FF2B5EF4-FFF2-40B4-BE49-F238E27FC236}">
                <a16:creationId xmlns:a16="http://schemas.microsoft.com/office/drawing/2014/main" id="{691A4304-8D87-62F9-AE9F-8B46AED06E5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Ma présentation se déroulera en huit points : l'introduction et le contexte, la problématique et les objectifs, l'état de l'art, la méthodologie, les résultats, l'intégration du système de recommandation, la démonstration de l'application web, et enfin la conclusion.</a:t>
            </a:r>
            <a:endParaRPr dirty="0"/>
          </a:p>
        </p:txBody>
      </p:sp>
    </p:spTree>
    <p:extLst>
      <p:ext uri="{BB962C8B-B14F-4D97-AF65-F5344CB8AC3E}">
        <p14:creationId xmlns:p14="http://schemas.microsoft.com/office/powerpoint/2010/main" val="2650363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7">
          <a:extLst>
            <a:ext uri="{FF2B5EF4-FFF2-40B4-BE49-F238E27FC236}">
              <a16:creationId xmlns:a16="http://schemas.microsoft.com/office/drawing/2014/main" id="{4D7C3CF2-5EAD-1061-C4E3-3146F3AE618A}"/>
            </a:ext>
          </a:extLst>
        </p:cNvPr>
        <p:cNvGrpSpPr/>
        <p:nvPr/>
      </p:nvGrpSpPr>
      <p:grpSpPr>
        <a:xfrm>
          <a:off x="0" y="0"/>
          <a:ext cx="0" cy="0"/>
          <a:chOff x="0" y="0"/>
          <a:chExt cx="0" cy="0"/>
        </a:xfrm>
      </p:grpSpPr>
      <p:sp>
        <p:nvSpPr>
          <p:cNvPr id="1698" name="Google Shape;1698;g54dda1946d_4_2689:notes">
            <a:extLst>
              <a:ext uri="{FF2B5EF4-FFF2-40B4-BE49-F238E27FC236}">
                <a16:creationId xmlns:a16="http://schemas.microsoft.com/office/drawing/2014/main" id="{F85B0FA1-1C99-212E-2812-3FEE170C6D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699" name="Google Shape;1699;g54dda1946d_4_2689:notes">
            <a:extLst>
              <a:ext uri="{FF2B5EF4-FFF2-40B4-BE49-F238E27FC236}">
                <a16:creationId xmlns:a16="http://schemas.microsoft.com/office/drawing/2014/main" id="{4B996221-55AF-C4D0-1F29-D720A576F3E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0" u="none" strike="noStrike" cap="none" dirty="0">
                <a:solidFill>
                  <a:srgbClr val="000000"/>
                </a:solidFill>
                <a:effectLst/>
                <a:latin typeface="Arial"/>
                <a:ea typeface="Arial"/>
                <a:cs typeface="Arial"/>
                <a:sym typeface="Arial"/>
              </a:rPr>
              <a:t>Comme vous le </a:t>
            </a:r>
            <a:r>
              <a:rPr lang="en-GB" sz="1100" b="0" i="0" u="none" strike="noStrike" cap="none" dirty="0" err="1">
                <a:solidFill>
                  <a:srgbClr val="000000"/>
                </a:solidFill>
                <a:effectLst/>
                <a:latin typeface="Arial"/>
                <a:ea typeface="Arial"/>
                <a:cs typeface="Arial"/>
                <a:sym typeface="Arial"/>
              </a:rPr>
              <a:t>savez</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aujourd'hui</a:t>
            </a:r>
            <a:r>
              <a:rPr lang="en-GB" sz="1100" b="0" i="0" u="none" strike="noStrike" cap="none" dirty="0">
                <a:solidFill>
                  <a:srgbClr val="000000"/>
                </a:solidFill>
                <a:effectLst/>
                <a:latin typeface="Arial"/>
                <a:ea typeface="Arial"/>
                <a:cs typeface="Arial"/>
                <a:sym typeface="Arial"/>
              </a:rPr>
              <a:t>, les réseaux </a:t>
            </a:r>
            <a:r>
              <a:rPr lang="en-GB" sz="1100" b="0" i="0" u="none" strike="noStrike" cap="none" dirty="0" err="1">
                <a:solidFill>
                  <a:srgbClr val="000000"/>
                </a:solidFill>
                <a:effectLst/>
                <a:latin typeface="Arial"/>
                <a:ea typeface="Arial"/>
                <a:cs typeface="Arial"/>
                <a:sym typeface="Arial"/>
              </a:rPr>
              <a:t>sociaux</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génèrent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d'énormes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quantités</a:t>
            </a:r>
            <a:r>
              <a:rPr lang="en-GB" sz="1100" b="0" i="0" u="none" strike="noStrike" cap="none" dirty="0">
                <a:solidFill>
                  <a:srgbClr val="000000"/>
                </a:solidFill>
                <a:effectLst/>
                <a:latin typeface="Arial"/>
                <a:ea typeface="Arial"/>
                <a:cs typeface="Arial"/>
                <a:sym typeface="Arial"/>
              </a:rPr>
              <a:t> de données, </a:t>
            </a:r>
            <a:r>
              <a:rPr lang="en-GB" sz="1100" b="0" i="0" u="none" strike="noStrike" cap="none" dirty="0" err="1">
                <a:solidFill>
                  <a:srgbClr val="000000"/>
                </a:solidFill>
                <a:effectLst/>
                <a:latin typeface="Arial"/>
                <a:ea typeface="Arial"/>
                <a:cs typeface="Arial"/>
                <a:sym typeface="Arial"/>
              </a:rPr>
              <a:t>comme</a:t>
            </a:r>
            <a:r>
              <a:rPr lang="en-GB" sz="1100" b="0" i="0" u="none" strike="noStrike" cap="none" dirty="0">
                <a:solidFill>
                  <a:srgbClr val="000000"/>
                </a:solidFill>
                <a:effectLst/>
                <a:latin typeface="Arial"/>
                <a:ea typeface="Arial"/>
                <a:cs typeface="Arial"/>
                <a:sym typeface="Arial"/>
              </a:rPr>
              <a:t> des mentions </a:t>
            </a:r>
            <a:r>
              <a:rPr lang="en-GB" sz="1100" b="0" i="0" u="none" strike="noStrike" cap="none" dirty="0" err="1">
                <a:solidFill>
                  <a:srgbClr val="000000"/>
                </a:solidFill>
                <a:effectLst/>
                <a:latin typeface="Arial"/>
                <a:ea typeface="Arial"/>
                <a:cs typeface="Arial"/>
                <a:sym typeface="Arial"/>
              </a:rPr>
              <a:t>j'aime</a:t>
            </a:r>
            <a:r>
              <a:rPr lang="en-GB" sz="1100" b="0" i="0" u="none" strike="noStrike" cap="none" dirty="0">
                <a:solidFill>
                  <a:srgbClr val="000000"/>
                </a:solidFill>
                <a:effectLst/>
                <a:latin typeface="Arial"/>
                <a:ea typeface="Arial"/>
                <a:cs typeface="Arial"/>
                <a:sym typeface="Arial"/>
              </a:rPr>
              <a:t>, des partages </a:t>
            </a:r>
            <a:r>
              <a:rPr lang="en-GB" sz="1100" b="0" i="0" u="none" strike="noStrike" cap="none" dirty="0" err="1">
                <a:solidFill>
                  <a:srgbClr val="000000"/>
                </a:solidFill>
                <a:effectLst/>
                <a:latin typeface="Arial"/>
                <a:ea typeface="Arial"/>
                <a:cs typeface="Arial"/>
                <a:sym typeface="Arial"/>
              </a:rPr>
              <a:t>ou</a:t>
            </a:r>
            <a:r>
              <a:rPr lang="en-GB" sz="1100" b="0" i="0" u="none" strike="noStrike" cap="none" dirty="0">
                <a:solidFill>
                  <a:srgbClr val="000000"/>
                </a:solidFill>
                <a:effectLst/>
                <a:latin typeface="Arial"/>
                <a:ea typeface="Arial"/>
                <a:cs typeface="Arial"/>
                <a:sym typeface="Arial"/>
              </a:rPr>
              <a:t> des </a:t>
            </a:r>
            <a:r>
              <a:rPr lang="en-GB" sz="1100" b="0" i="0" u="none" strike="noStrike" cap="none" dirty="0" err="1">
                <a:solidFill>
                  <a:srgbClr val="000000"/>
                </a:solidFill>
                <a:effectLst/>
                <a:latin typeface="Arial"/>
                <a:ea typeface="Arial"/>
                <a:cs typeface="Arial"/>
                <a:sym typeface="Arial"/>
              </a:rPr>
              <a:t>commentaires</a:t>
            </a:r>
            <a:r>
              <a:rPr lang="en-GB" sz="1100" b="0" i="0" u="none" strike="noStrike" cap="none" dirty="0">
                <a:solidFill>
                  <a:srgbClr val="000000"/>
                </a:solidFill>
                <a:effectLst/>
                <a:latin typeface="Arial"/>
                <a:ea typeface="Arial"/>
                <a:cs typeface="Arial"/>
                <a:sym typeface="Arial"/>
              </a:rPr>
              <a:t>. </a:t>
            </a:r>
            <a:r>
              <a:rPr lang="en-GB" dirty="0" err="1"/>
              <a:t>Ces</a:t>
            </a:r>
            <a:r>
              <a:rPr lang="en-GB" dirty="0"/>
              <a:t> interactions </a:t>
            </a:r>
            <a:r>
              <a:rPr lang="en-GB" dirty="0" err="1"/>
              <a:t>forment</a:t>
            </a:r>
            <a:r>
              <a:rPr lang="en-GB" dirty="0"/>
              <a:t> des réseaux complexes </a:t>
            </a:r>
            <a:r>
              <a:rPr lang="en-GB" dirty="0" err="1"/>
              <a:t>que</a:t>
            </a:r>
            <a:r>
              <a:rPr lang="en-GB" dirty="0"/>
              <a:t> </a:t>
            </a:r>
            <a:r>
              <a:rPr lang="en-GB" dirty="0" err="1"/>
              <a:t>l'on</a:t>
            </a:r>
            <a:r>
              <a:rPr lang="en-GB" dirty="0"/>
              <a:t> </a:t>
            </a:r>
            <a:r>
              <a:rPr lang="en-GB" dirty="0" err="1"/>
              <a:t>peut</a:t>
            </a:r>
            <a:r>
              <a:rPr lang="en-GB" dirty="0"/>
              <a:t> </a:t>
            </a:r>
            <a:r>
              <a:rPr lang="en-GB" dirty="0" err="1"/>
              <a:t>modéliser</a:t>
            </a:r>
            <a:r>
              <a:rPr lang="en-GB" dirty="0"/>
              <a:t> </a:t>
            </a:r>
            <a:r>
              <a:rPr lang="en-GB" dirty="0" err="1"/>
              <a:t>mathématiquement</a:t>
            </a:r>
            <a:r>
              <a:rPr lang="en-GB" dirty="0"/>
              <a:t> sous </a:t>
            </a:r>
            <a:r>
              <a:rPr lang="en-GB" dirty="0" err="1"/>
              <a:t>forme</a:t>
            </a:r>
            <a:r>
              <a:rPr lang="en-GB" dirty="0"/>
              <a:t> de </a:t>
            </a:r>
            <a:r>
              <a:rPr lang="en-GB" dirty="0" err="1"/>
              <a:t>graphes</a:t>
            </a:r>
            <a:r>
              <a:rPr lang="en-GB" dirty="0"/>
              <a:t>.</a:t>
            </a:r>
            <a:endParaRPr lang="en-GB" b="0" dirty="0"/>
          </a:p>
          <a:p>
            <a:pPr marL="0" lvl="0" indent="0" algn="l" rtl="0">
              <a:spcBef>
                <a:spcPts val="0"/>
              </a:spcBef>
              <a:spcAft>
                <a:spcPts val="0"/>
              </a:spcAft>
              <a:buNone/>
            </a:pPr>
            <a:endParaRPr lang="en-GB" dirty="0"/>
          </a:p>
        </p:txBody>
      </p:sp>
    </p:spTree>
    <p:extLst>
      <p:ext uri="{BB962C8B-B14F-4D97-AF65-F5344CB8AC3E}">
        <p14:creationId xmlns:p14="http://schemas.microsoft.com/office/powerpoint/2010/main" val="9439077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7">
          <a:extLst>
            <a:ext uri="{FF2B5EF4-FFF2-40B4-BE49-F238E27FC236}">
              <a16:creationId xmlns:a16="http://schemas.microsoft.com/office/drawing/2014/main" id="{53023842-FAEC-E484-B41D-B524C099446F}"/>
            </a:ext>
          </a:extLst>
        </p:cNvPr>
        <p:cNvGrpSpPr/>
        <p:nvPr/>
      </p:nvGrpSpPr>
      <p:grpSpPr>
        <a:xfrm>
          <a:off x="0" y="0"/>
          <a:ext cx="0" cy="0"/>
          <a:chOff x="0" y="0"/>
          <a:chExt cx="0" cy="0"/>
        </a:xfrm>
      </p:grpSpPr>
      <p:sp>
        <p:nvSpPr>
          <p:cNvPr id="1698" name="Google Shape;1698;g54dda1946d_4_2689:notes">
            <a:extLst>
              <a:ext uri="{FF2B5EF4-FFF2-40B4-BE49-F238E27FC236}">
                <a16:creationId xmlns:a16="http://schemas.microsoft.com/office/drawing/2014/main" id="{4635B186-3DCD-44E6-C7F8-1B3238E58F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699" name="Google Shape;1699;g54dda1946d_4_2689:notes">
            <a:extLst>
              <a:ext uri="{FF2B5EF4-FFF2-40B4-BE49-F238E27FC236}">
                <a16:creationId xmlns:a16="http://schemas.microsoft.com/office/drawing/2014/main" id="{9E7DDF8F-F5A4-2F4B-4287-3FBD71447D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0" i="0" dirty="0" err="1"/>
              <a:t>chaque</a:t>
            </a:r>
            <a:r>
              <a:rPr lang="en-GB" b="0" i="0" dirty="0"/>
              <a:t> </a:t>
            </a:r>
            <a:r>
              <a:rPr lang="en-GB" b="0" i="0" dirty="0" err="1"/>
              <a:t>utilisateur</a:t>
            </a:r>
            <a:r>
              <a:rPr lang="en-GB" b="0" i="0" dirty="0"/>
              <a:t> est un </a:t>
            </a:r>
            <a:r>
              <a:rPr lang="en-GB" b="0" i="0" dirty="0" err="1"/>
              <a:t>nœud</a:t>
            </a:r>
            <a:r>
              <a:rPr lang="en-GB" b="0" i="0" dirty="0"/>
              <a:t>, </a:t>
            </a:r>
            <a:r>
              <a:rPr lang="en-GB" b="0" i="0" dirty="0" err="1"/>
              <a:t>chaque</a:t>
            </a:r>
            <a:r>
              <a:rPr lang="en-GB" b="0" i="0" dirty="0"/>
              <a:t> interaction est un lien.</a:t>
            </a:r>
          </a:p>
          <a:p>
            <a:pPr marL="0" lvl="0" indent="0" algn="l" rtl="0">
              <a:spcBef>
                <a:spcPts val="0"/>
              </a:spcBef>
              <a:spcAft>
                <a:spcPts val="0"/>
              </a:spcAft>
              <a:buNone/>
            </a:pPr>
            <a:r>
              <a:rPr lang="en-GB" b="0" i="0" dirty="0"/>
              <a:t>Dans </a:t>
            </a:r>
            <a:r>
              <a:rPr lang="en-GB" b="0" i="0" dirty="0" err="1"/>
              <a:t>ces</a:t>
            </a:r>
            <a:r>
              <a:rPr lang="en-GB" b="0" i="0" dirty="0"/>
              <a:t> </a:t>
            </a:r>
            <a:r>
              <a:rPr lang="en-GB" b="0" i="0" dirty="0" err="1"/>
              <a:t>graphes</a:t>
            </a:r>
            <a:r>
              <a:rPr lang="en-GB" b="0" i="0" dirty="0"/>
              <a:t>, on observe </a:t>
            </a:r>
            <a:r>
              <a:rPr lang="en-GB" b="0" i="0" dirty="0" err="1"/>
              <a:t>naturellement</a:t>
            </a:r>
            <a:r>
              <a:rPr lang="en-GB" b="0" i="0" dirty="0"/>
              <a:t> des </a:t>
            </a:r>
            <a:r>
              <a:rPr lang="en-GB" b="0" i="0" dirty="0" err="1"/>
              <a:t>groupes</a:t>
            </a:r>
            <a:r>
              <a:rPr lang="en-GB" b="0" i="0" dirty="0"/>
              <a:t> </a:t>
            </a:r>
            <a:r>
              <a:rPr lang="en-GB" b="0" i="0" dirty="0" err="1"/>
              <a:t>d'utilisateurs</a:t>
            </a:r>
            <a:r>
              <a:rPr lang="en-GB" b="0" i="0" dirty="0"/>
              <a:t> très </a:t>
            </a:r>
            <a:r>
              <a:rPr lang="en-GB" b="0" i="0" dirty="0" err="1"/>
              <a:t>connectés</a:t>
            </a:r>
            <a:r>
              <a:rPr lang="en-GB" b="0" i="0" dirty="0"/>
              <a:t> entre </a:t>
            </a:r>
            <a:r>
              <a:rPr lang="en-GB" b="0" i="0" dirty="0" err="1"/>
              <a:t>eux</a:t>
            </a:r>
            <a:r>
              <a:rPr lang="en-GB" b="0" i="0" dirty="0"/>
              <a:t> </a:t>
            </a:r>
            <a:r>
              <a:rPr lang="en-GB" b="0" i="0" dirty="0" err="1"/>
              <a:t>ce</a:t>
            </a:r>
            <a:r>
              <a:rPr lang="en-GB" b="0" i="0" dirty="0"/>
              <a:t> </a:t>
            </a:r>
            <a:r>
              <a:rPr lang="en-GB" b="0" i="0" dirty="0" err="1"/>
              <a:t>qu'on</a:t>
            </a:r>
            <a:r>
              <a:rPr lang="en-GB" b="0" i="0" dirty="0"/>
              <a:t> </a:t>
            </a:r>
            <a:r>
              <a:rPr lang="en-GB" b="0" i="0" dirty="0" err="1"/>
              <a:t>appelle</a:t>
            </a:r>
            <a:r>
              <a:rPr lang="en-GB" b="0" i="0" dirty="0"/>
              <a:t> des </a:t>
            </a:r>
            <a:r>
              <a:rPr lang="en-GB" b="0" i="0" dirty="0" err="1"/>
              <a:t>communautés</a:t>
            </a:r>
            <a:r>
              <a:rPr lang="en-GB" b="0" i="0" dirty="0"/>
              <a:t>. La </a:t>
            </a:r>
            <a:r>
              <a:rPr lang="en-GB" b="0" i="0" dirty="0" err="1"/>
              <a:t>détection</a:t>
            </a:r>
            <a:r>
              <a:rPr lang="en-GB" b="0" i="0" dirty="0"/>
              <a:t> de </a:t>
            </a:r>
            <a:r>
              <a:rPr lang="en-GB" b="0" i="0" dirty="0" err="1"/>
              <a:t>communautés</a:t>
            </a:r>
            <a:r>
              <a:rPr lang="en-GB" b="0" i="0" dirty="0"/>
              <a:t>, </a:t>
            </a:r>
            <a:r>
              <a:rPr lang="en-GB" b="0" i="0" dirty="0" err="1"/>
              <a:t>c'est</a:t>
            </a:r>
            <a:r>
              <a:rPr lang="en-GB" b="0" i="0" dirty="0"/>
              <a:t> </a:t>
            </a:r>
            <a:r>
              <a:rPr lang="en-GB" b="0" i="0" dirty="0" err="1"/>
              <a:t>l'art</a:t>
            </a:r>
            <a:r>
              <a:rPr lang="en-GB" b="0" i="0" dirty="0"/>
              <a:t> de </a:t>
            </a:r>
            <a:r>
              <a:rPr lang="en-GB" b="0" i="0" dirty="0" err="1"/>
              <a:t>trouver</a:t>
            </a:r>
            <a:r>
              <a:rPr lang="en-GB" b="0" i="0" dirty="0"/>
              <a:t> </a:t>
            </a:r>
            <a:r>
              <a:rPr lang="en-GB" b="0" i="0" dirty="0" err="1"/>
              <a:t>ces</a:t>
            </a:r>
            <a:r>
              <a:rPr lang="en-GB" b="0" i="0" dirty="0"/>
              <a:t> </a:t>
            </a:r>
            <a:r>
              <a:rPr lang="en-GB" b="0" i="0" dirty="0" err="1"/>
              <a:t>groupes</a:t>
            </a:r>
            <a:r>
              <a:rPr lang="en-GB" b="0" i="0" dirty="0"/>
              <a:t> </a:t>
            </a:r>
            <a:r>
              <a:rPr lang="en-GB" b="0" i="0" dirty="0" err="1"/>
              <a:t>automatiquement</a:t>
            </a:r>
            <a:r>
              <a:rPr lang="en-GB" b="0" i="0" dirty="0"/>
              <a: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46633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7">
          <a:extLst>
            <a:ext uri="{FF2B5EF4-FFF2-40B4-BE49-F238E27FC236}">
              <a16:creationId xmlns:a16="http://schemas.microsoft.com/office/drawing/2014/main" id="{D6EAA29A-6713-E7BE-E21A-E5392D4ED3C8}"/>
            </a:ext>
          </a:extLst>
        </p:cNvPr>
        <p:cNvGrpSpPr/>
        <p:nvPr/>
      </p:nvGrpSpPr>
      <p:grpSpPr>
        <a:xfrm>
          <a:off x="0" y="0"/>
          <a:ext cx="0" cy="0"/>
          <a:chOff x="0" y="0"/>
          <a:chExt cx="0" cy="0"/>
        </a:xfrm>
      </p:grpSpPr>
      <p:sp>
        <p:nvSpPr>
          <p:cNvPr id="1698" name="Google Shape;1698;g54dda1946d_4_2689:notes">
            <a:extLst>
              <a:ext uri="{FF2B5EF4-FFF2-40B4-BE49-F238E27FC236}">
                <a16:creationId xmlns:a16="http://schemas.microsoft.com/office/drawing/2014/main" id="{629625E4-032E-CA3D-4319-18FBA20AC0D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699" name="Google Shape;1699;g54dda1946d_4_2689:notes">
            <a:extLst>
              <a:ext uri="{FF2B5EF4-FFF2-40B4-BE49-F238E27FC236}">
                <a16:creationId xmlns:a16="http://schemas.microsoft.com/office/drawing/2014/main" id="{0F61C2CD-6740-F3C8-D080-AC8CA32903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GB" dirty="0" err="1"/>
              <a:t>Ces</a:t>
            </a:r>
            <a:r>
              <a:rPr lang="en-GB" dirty="0"/>
              <a:t> </a:t>
            </a:r>
            <a:r>
              <a:rPr lang="en-GB" dirty="0" err="1"/>
              <a:t>groupes</a:t>
            </a:r>
            <a:r>
              <a:rPr lang="en-GB" dirty="0"/>
              <a:t> </a:t>
            </a:r>
            <a:r>
              <a:rPr lang="en-GB" dirty="0" err="1"/>
              <a:t>fortement</a:t>
            </a:r>
            <a:r>
              <a:rPr lang="en-GB" dirty="0"/>
              <a:t> </a:t>
            </a:r>
            <a:r>
              <a:rPr lang="en-GB" dirty="0" err="1"/>
              <a:t>connectés</a:t>
            </a:r>
            <a:r>
              <a:rPr lang="en-GB" dirty="0"/>
              <a:t> </a:t>
            </a:r>
            <a:r>
              <a:rPr lang="en-GB" dirty="0" err="1"/>
              <a:t>partagent</a:t>
            </a:r>
            <a:r>
              <a:rPr lang="en-GB" dirty="0"/>
              <a:t> </a:t>
            </a:r>
            <a:r>
              <a:rPr lang="en-GB" dirty="0" err="1"/>
              <a:t>souvent</a:t>
            </a:r>
            <a:r>
              <a:rPr lang="en-GB" dirty="0"/>
              <a:t> des </a:t>
            </a:r>
            <a:r>
              <a:rPr lang="en-GB" dirty="0" err="1"/>
              <a:t>goûts</a:t>
            </a:r>
            <a:r>
              <a:rPr lang="en-GB" dirty="0"/>
              <a:t> </a:t>
            </a:r>
            <a:r>
              <a:rPr lang="en-GB" dirty="0" err="1"/>
              <a:t>similaires</a:t>
            </a:r>
            <a:r>
              <a:rPr lang="en-GB" dirty="0"/>
              <a:t>, </a:t>
            </a:r>
            <a:r>
              <a:rPr lang="en-GB" dirty="0" err="1"/>
              <a:t>que</a:t>
            </a:r>
            <a:r>
              <a:rPr lang="en-GB" dirty="0"/>
              <a:t> </a:t>
            </a:r>
            <a:r>
              <a:rPr lang="en-GB" dirty="0" err="1"/>
              <a:t>ce</a:t>
            </a:r>
            <a:r>
              <a:rPr lang="en-GB" dirty="0"/>
              <a:t> soit pour le sport, la </a:t>
            </a:r>
            <a:r>
              <a:rPr lang="en-GB" dirty="0" err="1"/>
              <a:t>technologie</a:t>
            </a:r>
            <a:r>
              <a:rPr lang="en-GB" dirty="0"/>
              <a:t> </a:t>
            </a:r>
            <a:r>
              <a:rPr lang="en-GB" dirty="0" err="1"/>
              <a:t>ou</a:t>
            </a:r>
            <a:r>
              <a:rPr lang="en-GB" dirty="0"/>
              <a:t> </a:t>
            </a:r>
            <a:r>
              <a:rPr lang="en-GB" dirty="0" err="1"/>
              <a:t>d'autres</a:t>
            </a:r>
            <a:r>
              <a:rPr lang="en-GB" dirty="0"/>
              <a:t> centres </a:t>
            </a:r>
            <a:r>
              <a:rPr lang="en-GB" dirty="0" err="1"/>
              <a:t>d'intérêt</a:t>
            </a:r>
            <a:r>
              <a:rPr lang="en-GB" dirty="0"/>
              <a:t>, </a:t>
            </a:r>
            <a:r>
              <a:rPr lang="en-GB" dirty="0" err="1"/>
              <a:t>ainsi</a:t>
            </a:r>
            <a:r>
              <a:rPr lang="en-GB" dirty="0"/>
              <a:t> </a:t>
            </a:r>
            <a:r>
              <a:rPr lang="en-GB" dirty="0" err="1"/>
              <a:t>que</a:t>
            </a:r>
            <a:r>
              <a:rPr lang="en-GB" dirty="0"/>
              <a:t> des </a:t>
            </a:r>
            <a:r>
              <a:rPr lang="en-GB" dirty="0" err="1"/>
              <a:t>comportements</a:t>
            </a:r>
            <a:r>
              <a:rPr lang="en-GB" dirty="0"/>
              <a:t> </a:t>
            </a:r>
            <a:r>
              <a:rPr lang="en-GB" dirty="0" err="1"/>
              <a:t>d'achat</a:t>
            </a:r>
            <a:r>
              <a:rPr lang="en-GB" dirty="0"/>
              <a:t> comparables.</a:t>
            </a:r>
            <a:endParaRPr dirty="0"/>
          </a:p>
        </p:txBody>
      </p:sp>
    </p:spTree>
    <p:extLst>
      <p:ext uri="{BB962C8B-B14F-4D97-AF65-F5344CB8AC3E}">
        <p14:creationId xmlns:p14="http://schemas.microsoft.com/office/powerpoint/2010/main" val="42439094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7">
          <a:extLst>
            <a:ext uri="{FF2B5EF4-FFF2-40B4-BE49-F238E27FC236}">
              <a16:creationId xmlns:a16="http://schemas.microsoft.com/office/drawing/2014/main" id="{D1470CA9-A804-2F10-7340-25FA2ECE7857}"/>
            </a:ext>
          </a:extLst>
        </p:cNvPr>
        <p:cNvGrpSpPr/>
        <p:nvPr/>
      </p:nvGrpSpPr>
      <p:grpSpPr>
        <a:xfrm>
          <a:off x="0" y="0"/>
          <a:ext cx="0" cy="0"/>
          <a:chOff x="0" y="0"/>
          <a:chExt cx="0" cy="0"/>
        </a:xfrm>
      </p:grpSpPr>
      <p:sp>
        <p:nvSpPr>
          <p:cNvPr id="1698" name="Google Shape;1698;g54dda1946d_4_2689:notes">
            <a:extLst>
              <a:ext uri="{FF2B5EF4-FFF2-40B4-BE49-F238E27FC236}">
                <a16:creationId xmlns:a16="http://schemas.microsoft.com/office/drawing/2014/main" id="{38C26BEB-B9AB-62C5-0B09-8853A653AE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699" name="Google Shape;1699;g54dda1946d_4_2689:notes">
            <a:extLst>
              <a:ext uri="{FF2B5EF4-FFF2-40B4-BE49-F238E27FC236}">
                <a16:creationId xmlns:a16="http://schemas.microsoft.com/office/drawing/2014/main" id="{D30F083C-1A56-A634-38AF-5FE623C371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dirty="0"/>
              <a:t>Lorsqu'un nouvel utilisateur rejoint une plateforme, aucune information n'est disponible sur ses préférences. Les approches traditionnelles sont incapables de générer des recommandations pertinentes. Ce défi constitue la principale motivation de notre travail. Notre approche consiste à exploiter la structure des communautés afin de recommander les produits les plus appréciés par les membres de la communauté de cet utilisateur.</a:t>
            </a:r>
            <a:endParaRPr lang="en-GB" dirty="0"/>
          </a:p>
        </p:txBody>
      </p:sp>
    </p:spTree>
    <p:extLst>
      <p:ext uri="{BB962C8B-B14F-4D97-AF65-F5344CB8AC3E}">
        <p14:creationId xmlns:p14="http://schemas.microsoft.com/office/powerpoint/2010/main" val="8012464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7">
          <a:extLst>
            <a:ext uri="{FF2B5EF4-FFF2-40B4-BE49-F238E27FC236}">
              <a16:creationId xmlns:a16="http://schemas.microsoft.com/office/drawing/2014/main" id="{90B5F510-6561-CA8D-CFCD-539C7B2EA420}"/>
            </a:ext>
          </a:extLst>
        </p:cNvPr>
        <p:cNvGrpSpPr/>
        <p:nvPr/>
      </p:nvGrpSpPr>
      <p:grpSpPr>
        <a:xfrm>
          <a:off x="0" y="0"/>
          <a:ext cx="0" cy="0"/>
          <a:chOff x="0" y="0"/>
          <a:chExt cx="0" cy="0"/>
        </a:xfrm>
      </p:grpSpPr>
      <p:sp>
        <p:nvSpPr>
          <p:cNvPr id="1698" name="Google Shape;1698;g54dda1946d_4_2689:notes">
            <a:extLst>
              <a:ext uri="{FF2B5EF4-FFF2-40B4-BE49-F238E27FC236}">
                <a16:creationId xmlns:a16="http://schemas.microsoft.com/office/drawing/2014/main" id="{4B12656E-E2D1-58A7-467B-610FDBB831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699" name="Google Shape;1699;g54dda1946d_4_2689:notes">
            <a:extLst>
              <a:ext uri="{FF2B5EF4-FFF2-40B4-BE49-F238E27FC236}">
                <a16:creationId xmlns:a16="http://schemas.microsoft.com/office/drawing/2014/main" id="{1CC45689-1CCD-69C3-DBB9-DA4E0470DC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1100" b="0" i="0" u="none" strike="noStrike" cap="none" dirty="0">
                <a:solidFill>
                  <a:srgbClr val="000000"/>
                </a:solidFill>
                <a:effectLst/>
                <a:latin typeface="Arial"/>
                <a:ea typeface="Arial"/>
                <a:cs typeface="Arial"/>
                <a:sym typeface="Arial"/>
              </a:rPr>
              <a:t>Cependant, le domaine de la détection de communautés présente plusieurs défis importants. Il existe une grande diversité de méthodes modularité, marches aléatoires, </a:t>
            </a:r>
            <a:r>
              <a:rPr lang="fr-FR" sz="1100" b="0" i="0" u="none" strike="noStrike" cap="none" dirty="0" err="1">
                <a:solidFill>
                  <a:srgbClr val="000000"/>
                </a:solidFill>
                <a:effectLst/>
                <a:latin typeface="Arial"/>
                <a:ea typeface="Arial"/>
                <a:cs typeface="Arial"/>
                <a:sym typeface="Arial"/>
              </a:rPr>
              <a:t>deep</a:t>
            </a:r>
            <a:r>
              <a:rPr lang="fr-FR" sz="1100" b="0" i="0" u="none" strike="noStrike" cap="none" dirty="0">
                <a:solidFill>
                  <a:srgbClr val="000000"/>
                </a:solidFill>
                <a:effectLst/>
                <a:latin typeface="Arial"/>
                <a:ea typeface="Arial"/>
                <a:cs typeface="Arial"/>
                <a:sym typeface="Arial"/>
              </a:rPr>
              <a:t> </a:t>
            </a:r>
            <a:r>
              <a:rPr lang="fr-FR" sz="1100" b="0" i="0" u="none" strike="noStrike" cap="none" dirty="0" err="1">
                <a:solidFill>
                  <a:srgbClr val="000000"/>
                </a:solidFill>
                <a:effectLst/>
                <a:latin typeface="Arial"/>
                <a:ea typeface="Arial"/>
                <a:cs typeface="Arial"/>
                <a:sym typeface="Arial"/>
              </a:rPr>
              <a:t>learning</a:t>
            </a:r>
            <a:r>
              <a:rPr lang="fr-FR" sz="1100" b="0" i="0" u="none" strike="noStrike" cap="none" dirty="0">
                <a:solidFill>
                  <a:srgbClr val="000000"/>
                </a:solidFill>
                <a:effectLst/>
                <a:latin typeface="Arial"/>
                <a:ea typeface="Arial"/>
                <a:cs typeface="Arial"/>
                <a:sym typeface="Arial"/>
              </a:rPr>
              <a:t> mais peu d'études les comparent de manière systématique. La métrique la plus utilisée, la modularité, ne reflète pas toujours l'utilité réelle des communautés, et il n'existe pas de cadre unifié pour évaluer ces méthodes en pratique. Notre question de recherche est donc : comment les différentes approches se comparent-elles en termes d'efficacité et d'utilité pour la recommandation ?</a:t>
            </a:r>
          </a:p>
        </p:txBody>
      </p:sp>
    </p:spTree>
    <p:extLst>
      <p:ext uri="{BB962C8B-B14F-4D97-AF65-F5344CB8AC3E}">
        <p14:creationId xmlns:p14="http://schemas.microsoft.com/office/powerpoint/2010/main" val="5307285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GB" sz="1100" b="0" i="0" u="none" strike="noStrike" cap="none" dirty="0">
                <a:solidFill>
                  <a:srgbClr val="000000"/>
                </a:solidFill>
                <a:effectLst/>
                <a:latin typeface="Arial"/>
                <a:ea typeface="Arial"/>
                <a:cs typeface="Arial"/>
                <a:sym typeface="Arial"/>
              </a:rPr>
              <a:t>Pour </a:t>
            </a:r>
            <a:r>
              <a:rPr lang="en-GB" sz="1100" b="0" i="0" u="none" strike="noStrike" cap="none" dirty="0" err="1">
                <a:solidFill>
                  <a:srgbClr val="000000"/>
                </a:solidFill>
                <a:effectLst/>
                <a:latin typeface="Arial"/>
                <a:ea typeface="Arial"/>
                <a:cs typeface="Arial"/>
                <a:sym typeface="Arial"/>
              </a:rPr>
              <a:t>répondre</a:t>
            </a:r>
            <a:r>
              <a:rPr lang="en-GB" sz="1100" b="0" i="0" u="none" strike="noStrike" cap="none" dirty="0">
                <a:solidFill>
                  <a:srgbClr val="000000"/>
                </a:solidFill>
                <a:effectLst/>
                <a:latin typeface="Arial"/>
                <a:ea typeface="Arial"/>
                <a:cs typeface="Arial"/>
                <a:sym typeface="Arial"/>
              </a:rPr>
              <a:t> à </a:t>
            </a:r>
            <a:r>
              <a:rPr lang="en-GB" sz="1100" b="0" i="0" u="none" strike="noStrike" cap="none" dirty="0" err="1">
                <a:solidFill>
                  <a:srgbClr val="000000"/>
                </a:solidFill>
                <a:effectLst/>
                <a:latin typeface="Arial"/>
                <a:ea typeface="Arial"/>
                <a:cs typeface="Arial"/>
                <a:sym typeface="Arial"/>
              </a:rPr>
              <a:t>cette</a:t>
            </a:r>
            <a:r>
              <a:rPr lang="en-GB" sz="1100" b="0" i="0" u="none" strike="noStrike" cap="none" dirty="0">
                <a:solidFill>
                  <a:srgbClr val="000000"/>
                </a:solidFill>
                <a:effectLst/>
                <a:latin typeface="Arial"/>
                <a:ea typeface="Arial"/>
                <a:cs typeface="Arial"/>
                <a:sym typeface="Arial"/>
              </a:rPr>
              <a:t> question, 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fixé</a:t>
            </a:r>
            <a:r>
              <a:rPr lang="en-GB" sz="1100" b="0" i="0" u="none" strike="noStrike" cap="none" dirty="0">
                <a:solidFill>
                  <a:srgbClr val="000000"/>
                </a:solidFill>
                <a:effectLst/>
                <a:latin typeface="Arial"/>
                <a:ea typeface="Arial"/>
                <a:cs typeface="Arial"/>
                <a:sym typeface="Arial"/>
              </a:rPr>
              <a:t> quatre </a:t>
            </a:r>
            <a:r>
              <a:rPr lang="en-GB" sz="1100" b="0" i="0" u="none" strike="noStrike" cap="none" dirty="0" err="1">
                <a:solidFill>
                  <a:srgbClr val="000000"/>
                </a:solidFill>
                <a:effectLst/>
                <a:latin typeface="Arial"/>
                <a:ea typeface="Arial"/>
                <a:cs typeface="Arial"/>
                <a:sym typeface="Arial"/>
              </a:rPr>
              <a:t>objectifs</a:t>
            </a:r>
            <a:r>
              <a:rPr lang="en-GB" sz="1100" b="0" i="0" u="none" strike="noStrike" cap="none" dirty="0">
                <a:solidFill>
                  <a:srgbClr val="000000"/>
                </a:solidFill>
                <a:effectLst/>
                <a:latin typeface="Arial"/>
                <a:ea typeface="Arial"/>
                <a:cs typeface="Arial"/>
                <a:sym typeface="Arial"/>
              </a:rPr>
              <a:t> : comparer 17 </a:t>
            </a:r>
            <a:r>
              <a:rPr lang="en-GB" sz="1100" b="0" i="0" u="none" strike="noStrike" cap="none" dirty="0" err="1">
                <a:solidFill>
                  <a:srgbClr val="000000"/>
                </a:solidFill>
                <a:effectLst/>
                <a:latin typeface="Arial"/>
                <a:ea typeface="Arial"/>
                <a:cs typeface="Arial"/>
                <a:sym typeface="Arial"/>
              </a:rPr>
              <a:t>algorithmes</a:t>
            </a:r>
            <a:r>
              <a:rPr lang="en-GB" sz="1100" b="0" i="0" u="none" strike="noStrike" cap="none" dirty="0">
                <a:solidFill>
                  <a:srgbClr val="000000"/>
                </a:solidFill>
                <a:effectLst/>
                <a:latin typeface="Arial"/>
                <a:ea typeface="Arial"/>
                <a:cs typeface="Arial"/>
                <a:sym typeface="Arial"/>
              </a:rPr>
              <a:t> sur des réseaux </a:t>
            </a:r>
            <a:r>
              <a:rPr lang="en-GB" sz="1100" b="0" i="0" u="none" strike="noStrike" cap="none" dirty="0" err="1">
                <a:solidFill>
                  <a:srgbClr val="000000"/>
                </a:solidFill>
                <a:effectLst/>
                <a:latin typeface="Arial"/>
                <a:ea typeface="Arial"/>
                <a:cs typeface="Arial"/>
                <a:sym typeface="Arial"/>
              </a:rPr>
              <a:t>réels</a:t>
            </a:r>
            <a:r>
              <a:rPr lang="en-GB" sz="1100" b="0" i="0" u="none" strike="noStrike" cap="none" dirty="0">
                <a:solidFill>
                  <a:srgbClr val="000000"/>
                </a:solidFill>
                <a:effectLst/>
                <a:latin typeface="Arial"/>
                <a:ea typeface="Arial"/>
                <a:cs typeface="Arial"/>
                <a:sym typeface="Arial"/>
              </a:rPr>
              <a:t> et </a:t>
            </a:r>
            <a:r>
              <a:rPr lang="en-GB" sz="1100" b="0" i="0" u="none" strike="noStrike" cap="none" dirty="0" err="1">
                <a:solidFill>
                  <a:srgbClr val="000000"/>
                </a:solidFill>
                <a:effectLst/>
                <a:latin typeface="Arial"/>
                <a:ea typeface="Arial"/>
                <a:cs typeface="Arial"/>
                <a:sym typeface="Arial"/>
              </a:rPr>
              <a:t>synthétiques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évaluer</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leurs</a:t>
            </a:r>
            <a:r>
              <a:rPr lang="en-GB" sz="1100" b="0" i="0" u="none" strike="noStrike" cap="none" dirty="0">
                <a:solidFill>
                  <a:srgbClr val="000000"/>
                </a:solidFill>
                <a:effectLst/>
                <a:latin typeface="Arial"/>
                <a:ea typeface="Arial"/>
                <a:cs typeface="Arial"/>
                <a:sym typeface="Arial"/>
              </a:rPr>
              <a:t> performances avec trois </a:t>
            </a:r>
            <a:r>
              <a:rPr lang="en-GB" sz="1100" b="0" i="0" u="none" strike="noStrike" cap="none" dirty="0" err="1">
                <a:solidFill>
                  <a:srgbClr val="000000"/>
                </a:solidFill>
                <a:effectLst/>
                <a:latin typeface="Arial"/>
                <a:ea typeface="Arial"/>
                <a:cs typeface="Arial"/>
                <a:sym typeface="Arial"/>
              </a:rPr>
              <a:t>métriques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modularité</a:t>
            </a:r>
            <a:r>
              <a:rPr lang="en-GB" sz="1100" b="0" i="0" u="none" strike="noStrike" cap="none" dirty="0">
                <a:solidFill>
                  <a:srgbClr val="000000"/>
                </a:solidFill>
                <a:effectLst/>
                <a:latin typeface="Arial"/>
                <a:ea typeface="Arial"/>
                <a:cs typeface="Arial"/>
                <a:sym typeface="Arial"/>
              </a:rPr>
              <a:t>, NMI, ARI), </a:t>
            </a:r>
            <a:r>
              <a:rPr lang="en-GB" sz="1100" b="0" i="0" u="none" strike="noStrike" cap="none" dirty="0" err="1">
                <a:solidFill>
                  <a:srgbClr val="000000"/>
                </a:solidFill>
                <a:effectLst/>
                <a:latin typeface="Arial"/>
                <a:ea typeface="Arial"/>
                <a:cs typeface="Arial"/>
                <a:sym typeface="Arial"/>
              </a:rPr>
              <a:t>intégrer</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meilleurs</a:t>
            </a:r>
            <a:r>
              <a:rPr lang="en-GB" sz="1100" b="0" i="0" u="none" strike="noStrike" cap="none" dirty="0">
                <a:solidFill>
                  <a:srgbClr val="000000"/>
                </a:solidFill>
                <a:effectLst/>
                <a:latin typeface="Arial"/>
                <a:ea typeface="Arial"/>
                <a:cs typeface="Arial"/>
                <a:sym typeface="Arial"/>
              </a:rPr>
              <a:t> dans un </a:t>
            </a:r>
            <a:r>
              <a:rPr lang="en-GB" sz="1100" b="0" i="0" u="none" strike="noStrike" cap="none" dirty="0" err="1">
                <a:solidFill>
                  <a:srgbClr val="000000"/>
                </a:solidFill>
                <a:effectLst/>
                <a:latin typeface="Arial"/>
                <a:ea typeface="Arial"/>
                <a:cs typeface="Arial"/>
                <a:sym typeface="Arial"/>
              </a:rPr>
              <a:t>système</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hybride</a:t>
            </a:r>
            <a:r>
              <a:rPr lang="en-GB" sz="1100" b="0" i="0" u="none" strike="noStrike" cap="none" dirty="0">
                <a:solidFill>
                  <a:srgbClr val="000000"/>
                </a:solidFill>
                <a:effectLst/>
                <a:latin typeface="Arial"/>
                <a:ea typeface="Arial"/>
                <a:cs typeface="Arial"/>
                <a:sym typeface="Arial"/>
              </a:rPr>
              <a:t>, et visualiser les </a:t>
            </a:r>
            <a:r>
              <a:rPr lang="en-GB" sz="1100" b="0" i="0" u="none" strike="noStrike" cap="none" dirty="0" err="1">
                <a:solidFill>
                  <a:srgbClr val="000000"/>
                </a:solidFill>
                <a:effectLst/>
                <a:latin typeface="Arial"/>
                <a:ea typeface="Arial"/>
                <a:cs typeface="Arial"/>
                <a:sym typeface="Arial"/>
              </a:rPr>
              <a:t>résultats</a:t>
            </a:r>
            <a:r>
              <a:rPr lang="en-GB" sz="1100" b="0" i="0" u="none" strike="noStrike" cap="none" dirty="0">
                <a:solidFill>
                  <a:srgbClr val="000000"/>
                </a:solidFill>
                <a:effectLst/>
                <a:latin typeface="Arial"/>
                <a:ea typeface="Arial"/>
                <a:cs typeface="Arial"/>
                <a:sym typeface="Arial"/>
              </a:rPr>
              <a:t> via </a:t>
            </a:r>
            <a:r>
              <a:rPr lang="en-GB" sz="1100" b="0" i="0" u="none" strike="noStrike" cap="none" dirty="0" err="1">
                <a:solidFill>
                  <a:srgbClr val="000000"/>
                </a:solidFill>
                <a:effectLst/>
                <a:latin typeface="Arial"/>
                <a:ea typeface="Arial"/>
                <a:cs typeface="Arial"/>
                <a:sym typeface="Arial"/>
              </a:rPr>
              <a:t>une</a:t>
            </a:r>
            <a:r>
              <a:rPr lang="en-GB" sz="1100" b="0" i="0" u="none" strike="noStrike" cap="none" dirty="0">
                <a:solidFill>
                  <a:srgbClr val="000000"/>
                </a:solidFill>
                <a:effectLst/>
                <a:latin typeface="Arial"/>
                <a:ea typeface="Arial"/>
                <a:cs typeface="Arial"/>
                <a:sym typeface="Arial"/>
              </a:rPr>
              <a:t> application web interactive.</a:t>
            </a:r>
            <a:endParaRPr lang="en-GB" i="0" dirty="0"/>
          </a:p>
        </p:txBody>
      </p:sp>
    </p:spTree>
    <p:extLst>
      <p:ext uri="{BB962C8B-B14F-4D97-AF65-F5344CB8AC3E}">
        <p14:creationId xmlns:p14="http://schemas.microsoft.com/office/powerpoint/2010/main" val="15778188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0352F52E-EC91-96D1-5A23-98AA57F21F8E}"/>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68ACDD40-A875-D0DB-3A46-67F8AD895C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535FBD3F-6480-E399-020C-092D0A7C9E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dirty="0"/>
              <a:t>Nous </a:t>
            </a:r>
            <a:r>
              <a:rPr lang="en-GB" dirty="0" err="1"/>
              <a:t>avons</a:t>
            </a:r>
            <a:r>
              <a:rPr lang="en-GB" dirty="0"/>
              <a:t> </a:t>
            </a:r>
            <a:r>
              <a:rPr lang="en-GB" dirty="0" err="1"/>
              <a:t>utilisé</a:t>
            </a:r>
            <a:r>
              <a:rPr lang="en-GB" dirty="0"/>
              <a:t> le </a:t>
            </a:r>
            <a:r>
              <a:rPr lang="en-GB" dirty="0" err="1"/>
              <a:t>protocole</a:t>
            </a:r>
            <a:r>
              <a:rPr lang="en-GB" dirty="0"/>
              <a:t> PRISMA pour </a:t>
            </a:r>
            <a:r>
              <a:rPr lang="en-GB" dirty="0" err="1"/>
              <a:t>réaliser</a:t>
            </a:r>
            <a:r>
              <a:rPr lang="en-GB" dirty="0"/>
              <a:t> </a:t>
            </a:r>
            <a:r>
              <a:rPr lang="en-GB" dirty="0" err="1"/>
              <a:t>notre</a:t>
            </a:r>
            <a:r>
              <a:rPr lang="en-GB" dirty="0"/>
              <a:t> revue de </a:t>
            </a:r>
            <a:r>
              <a:rPr lang="en-GB" dirty="0" err="1"/>
              <a:t>littérature</a:t>
            </a:r>
            <a:r>
              <a:rPr lang="en-GB" dirty="0"/>
              <a:t>. Nous </a:t>
            </a:r>
            <a:r>
              <a:rPr lang="en-GB" dirty="0" err="1"/>
              <a:t>avons</a:t>
            </a:r>
            <a:r>
              <a:rPr lang="en-GB" dirty="0"/>
              <a:t> </a:t>
            </a:r>
            <a:r>
              <a:rPr lang="en-GB" dirty="0" err="1"/>
              <a:t>d'abord</a:t>
            </a:r>
            <a:r>
              <a:rPr lang="en-GB" dirty="0"/>
              <a:t> </a:t>
            </a:r>
            <a:r>
              <a:rPr lang="en-GB" dirty="0" err="1"/>
              <a:t>identifié</a:t>
            </a:r>
            <a:r>
              <a:rPr lang="en-GB" dirty="0"/>
              <a:t> 425 articles, </a:t>
            </a:r>
            <a:r>
              <a:rPr lang="en-GB" dirty="0" err="1"/>
              <a:t>puis</a:t>
            </a:r>
            <a:r>
              <a:rPr lang="en-GB" dirty="0"/>
              <a:t> </a:t>
            </a:r>
            <a:r>
              <a:rPr lang="en-GB" dirty="0" err="1"/>
              <a:t>trié</a:t>
            </a:r>
            <a:r>
              <a:rPr lang="en-GB" dirty="0"/>
              <a:t> les résumés, </a:t>
            </a:r>
            <a:r>
              <a:rPr lang="en-GB" dirty="0" err="1"/>
              <a:t>récupéré</a:t>
            </a:r>
            <a:r>
              <a:rPr lang="en-GB" dirty="0"/>
              <a:t> 57 articles </a:t>
            </a:r>
            <a:r>
              <a:rPr lang="en-GB" dirty="0" err="1"/>
              <a:t>en</a:t>
            </a:r>
            <a:r>
              <a:rPr lang="en-GB" dirty="0"/>
              <a:t> </a:t>
            </a:r>
            <a:r>
              <a:rPr lang="en-GB" dirty="0" err="1"/>
              <a:t>texte</a:t>
            </a:r>
            <a:r>
              <a:rPr lang="en-GB" dirty="0"/>
              <a:t> </a:t>
            </a:r>
            <a:r>
              <a:rPr lang="en-GB" dirty="0" err="1"/>
              <a:t>intégral</a:t>
            </a:r>
            <a:r>
              <a:rPr lang="en-GB" dirty="0"/>
              <a:t> et </a:t>
            </a:r>
            <a:r>
              <a:rPr lang="en-GB" dirty="0" err="1"/>
              <a:t>finalement</a:t>
            </a:r>
            <a:r>
              <a:rPr lang="en-GB" dirty="0"/>
              <a:t> </a:t>
            </a:r>
            <a:r>
              <a:rPr lang="en-GB" dirty="0" err="1"/>
              <a:t>retenu</a:t>
            </a:r>
            <a:r>
              <a:rPr lang="en-GB" dirty="0"/>
              <a:t> les 52 études les plus </a:t>
            </a:r>
            <a:r>
              <a:rPr lang="en-GB" dirty="0" err="1"/>
              <a:t>pertinentes</a:t>
            </a:r>
            <a:r>
              <a:rPr lang="en-GB" dirty="0"/>
              <a:t> pour </a:t>
            </a:r>
            <a:r>
              <a:rPr lang="en-GB" dirty="0" err="1"/>
              <a:t>notre</a:t>
            </a:r>
            <a:r>
              <a:rPr lang="en-GB" dirty="0"/>
              <a:t> recherche.</a:t>
            </a:r>
            <a:endParaRPr i="0" dirty="0"/>
          </a:p>
        </p:txBody>
      </p:sp>
    </p:spTree>
    <p:extLst>
      <p:ext uri="{BB962C8B-B14F-4D97-AF65-F5344CB8AC3E}">
        <p14:creationId xmlns:p14="http://schemas.microsoft.com/office/powerpoint/2010/main" val="35046260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b="0" dirty="0"/>
              <a:t>Nous avons étudié cinq familles d'algorithmes classiques. D'abord les approches basées sur la modularité : Louvain, rapide et efficace, et Leiden, qui améliore la qualité des partitions. Ensuite les approches par marches aléatoires : </a:t>
            </a:r>
            <a:r>
              <a:rPr lang="fr-FR" b="0" dirty="0" err="1"/>
              <a:t>Walktrap</a:t>
            </a:r>
            <a:r>
              <a:rPr lang="fr-FR" b="0" dirty="0"/>
              <a:t>, </a:t>
            </a:r>
            <a:r>
              <a:rPr lang="fr-FR" b="0" dirty="0" err="1"/>
              <a:t>Infomap</a:t>
            </a:r>
            <a:r>
              <a:rPr lang="fr-FR" b="0" dirty="0"/>
              <a:t> et MCL.</a:t>
            </a: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22D5DDE8-46A0-F41A-2E2A-17DD12ED8DC0}"/>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53CE2D27-B0AF-9C4F-223A-6D983271DB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A11C19B9-9F80-315F-D2C7-F1F05F7B79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GB" sz="1100" b="0" i="0" u="none" strike="noStrike" cap="none" dirty="0">
                <a:solidFill>
                  <a:srgbClr val="000000"/>
                </a:solidFill>
                <a:effectLst/>
                <a:latin typeface="Arial"/>
                <a:ea typeface="Arial"/>
                <a:cs typeface="Arial"/>
                <a:sym typeface="Arial"/>
              </a:rPr>
              <a:t>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également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étudié</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méthodes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divisives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comme</a:t>
            </a:r>
            <a:r>
              <a:rPr lang="en-GB" sz="1100" b="0" i="0" u="none" strike="noStrike" cap="none" dirty="0">
                <a:solidFill>
                  <a:srgbClr val="000000"/>
                </a:solidFill>
                <a:effectLst/>
                <a:latin typeface="Arial"/>
                <a:ea typeface="Arial"/>
                <a:cs typeface="Arial"/>
                <a:sym typeface="Arial"/>
              </a:rPr>
              <a:t> Girvan-Newman, qui </a:t>
            </a:r>
            <a:r>
              <a:rPr lang="en-GB" sz="1100" b="0" i="0" u="none" strike="noStrike" cap="none" dirty="0" err="1">
                <a:solidFill>
                  <a:srgbClr val="000000"/>
                </a:solidFill>
                <a:effectLst/>
                <a:latin typeface="Arial"/>
                <a:ea typeface="Arial"/>
                <a:cs typeface="Arial"/>
                <a:sym typeface="Arial"/>
              </a:rPr>
              <a:t>supprime</a:t>
            </a:r>
            <a:r>
              <a:rPr lang="en-GB" sz="1100" b="0" i="0" u="none" strike="noStrike" cap="none" dirty="0">
                <a:solidFill>
                  <a:srgbClr val="000000"/>
                </a:solidFill>
                <a:effectLst/>
                <a:latin typeface="Arial"/>
                <a:ea typeface="Arial"/>
                <a:cs typeface="Arial"/>
                <a:sym typeface="Arial"/>
              </a:rPr>
              <a:t> les liens </a:t>
            </a:r>
            <a:r>
              <a:rPr lang="en-GB" sz="1100" b="0" i="0" u="none" strike="noStrike" cap="none" dirty="0" err="1">
                <a:solidFill>
                  <a:srgbClr val="000000"/>
                </a:solidFill>
                <a:effectLst/>
                <a:latin typeface="Arial"/>
                <a:ea typeface="Arial"/>
                <a:cs typeface="Arial"/>
                <a:sym typeface="Arial"/>
              </a:rPr>
              <a:t>stratégiques</a:t>
            </a:r>
            <a:r>
              <a:rPr lang="en-GB" sz="1100" b="0" i="0" u="none" strike="noStrike" cap="none" dirty="0">
                <a:solidFill>
                  <a:srgbClr val="000000"/>
                </a:solidFill>
                <a:effectLst/>
                <a:latin typeface="Arial"/>
                <a:ea typeface="Arial"/>
                <a:cs typeface="Arial"/>
                <a:sym typeface="Arial"/>
              </a:rPr>
              <a:t> pour </a:t>
            </a:r>
            <a:r>
              <a:rPr lang="en-GB" sz="1100" b="0" i="0" u="none" strike="noStrike" cap="none" dirty="0" err="1">
                <a:solidFill>
                  <a:srgbClr val="000000"/>
                </a:solidFill>
                <a:effectLst/>
                <a:latin typeface="Arial"/>
                <a:ea typeface="Arial"/>
                <a:cs typeface="Arial"/>
                <a:sym typeface="Arial"/>
              </a:rPr>
              <a:t>révéler</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communautés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mais</a:t>
            </a:r>
            <a:r>
              <a:rPr lang="en-GB" sz="1100" b="0" i="0" u="none" strike="noStrike" cap="none" dirty="0">
                <a:solidFill>
                  <a:srgbClr val="000000"/>
                </a:solidFill>
                <a:effectLst/>
                <a:latin typeface="Arial"/>
                <a:ea typeface="Arial"/>
                <a:cs typeface="Arial"/>
                <a:sym typeface="Arial"/>
              </a:rPr>
              <a:t> trop lent (O(n³)). Et les </a:t>
            </a:r>
            <a:r>
              <a:rPr lang="en-GB" sz="1100" b="0" i="0" u="none" strike="noStrike" cap="none" dirty="0" err="1">
                <a:solidFill>
                  <a:srgbClr val="000000"/>
                </a:solidFill>
                <a:effectLst/>
                <a:latin typeface="Arial"/>
                <a:ea typeface="Arial"/>
                <a:cs typeface="Arial"/>
                <a:sym typeface="Arial"/>
              </a:rPr>
              <a:t>approches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inspirées</a:t>
            </a:r>
            <a:r>
              <a:rPr lang="en-GB" sz="1100" b="0" i="0" u="none" strike="noStrike" cap="none" dirty="0">
                <a:solidFill>
                  <a:srgbClr val="000000"/>
                </a:solidFill>
                <a:effectLst/>
                <a:latin typeface="Arial"/>
                <a:ea typeface="Arial"/>
                <a:cs typeface="Arial"/>
                <a:sym typeface="Arial"/>
              </a:rPr>
              <a:t> de la physique </a:t>
            </a:r>
            <a:r>
              <a:rPr lang="en-GB" sz="1100" b="0" i="0" u="none" strike="noStrike" cap="none" dirty="0" err="1">
                <a:solidFill>
                  <a:srgbClr val="000000"/>
                </a:solidFill>
                <a:effectLst/>
                <a:latin typeface="Arial"/>
                <a:ea typeface="Arial"/>
                <a:cs typeface="Arial"/>
                <a:sym typeface="Arial"/>
              </a:rPr>
              <a:t>statistique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comme</a:t>
            </a:r>
            <a:r>
              <a:rPr lang="en-GB" sz="1100" b="0" i="0" u="none" strike="noStrike" cap="none" dirty="0">
                <a:solidFill>
                  <a:srgbClr val="000000"/>
                </a:solidFill>
                <a:effectLst/>
                <a:latin typeface="Arial"/>
                <a:ea typeface="Arial"/>
                <a:cs typeface="Arial"/>
                <a:sym typeface="Arial"/>
              </a:rPr>
              <a:t> Spin </a:t>
            </a:r>
            <a:r>
              <a:rPr lang="en-GB" sz="1100" b="0" i="0" u="none" strike="noStrike" cap="none" dirty="0" err="1">
                <a:solidFill>
                  <a:srgbClr val="000000"/>
                </a:solidFill>
                <a:effectLst/>
                <a:latin typeface="Arial"/>
                <a:ea typeface="Arial"/>
                <a:cs typeface="Arial"/>
                <a:sym typeface="Arial"/>
              </a:rPr>
              <a:t>Glass,il</a:t>
            </a:r>
            <a:r>
              <a:rPr lang="en-GB" sz="1100" b="0" i="0" u="none" strike="noStrike" cap="none" dirty="0">
                <a:solidFill>
                  <a:srgbClr val="000000"/>
                </a:solidFill>
                <a:effectLst/>
                <a:latin typeface="Arial"/>
                <a:ea typeface="Arial"/>
                <a:cs typeface="Arial"/>
                <a:sym typeface="Arial"/>
              </a:rPr>
              <a:t> est </a:t>
            </a:r>
            <a:r>
              <a:rPr lang="en-GB" sz="1100" b="0" i="0" u="none" strike="noStrike" cap="none" dirty="0" err="1">
                <a:solidFill>
                  <a:srgbClr val="000000"/>
                </a:solidFill>
                <a:effectLst/>
                <a:latin typeface="Arial"/>
                <a:ea typeface="Arial"/>
                <a:cs typeface="Arial"/>
                <a:sym typeface="Arial"/>
              </a:rPr>
              <a:t>puissante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mais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limitée</a:t>
            </a:r>
            <a:r>
              <a:rPr lang="en-GB" sz="1100" b="0" i="0" u="none" strike="noStrike" cap="none" dirty="0">
                <a:solidFill>
                  <a:srgbClr val="000000"/>
                </a:solidFill>
                <a:effectLst/>
                <a:latin typeface="Arial"/>
                <a:ea typeface="Arial"/>
                <a:cs typeface="Arial"/>
                <a:sym typeface="Arial"/>
              </a:rPr>
              <a:t> aux petits réseaux (&lt; 10 000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a:t>
            </a:r>
            <a:endParaRPr dirty="0"/>
          </a:p>
        </p:txBody>
      </p:sp>
    </p:spTree>
    <p:extLst>
      <p:ext uri="{BB962C8B-B14F-4D97-AF65-F5344CB8AC3E}">
        <p14:creationId xmlns:p14="http://schemas.microsoft.com/office/powerpoint/2010/main" val="912725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15EB777B-020B-30A1-8B86-06A2570BC2EC}"/>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A67A30DF-E9FD-A0B9-753A-F2CBD03DF3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1A10037D-7EB4-29E4-4907-1DD6E86062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sz="1100" b="0" i="0" u="none" strike="noStrike" cap="none" dirty="0">
                <a:solidFill>
                  <a:srgbClr val="000000"/>
                </a:solidFill>
                <a:effectLst/>
                <a:latin typeface="Arial"/>
                <a:ea typeface="Arial"/>
                <a:cs typeface="Arial"/>
                <a:sym typeface="Arial"/>
              </a:rPr>
              <a:t>La cinquième famille est la propagation d'étiquettes : chaque nœud adopte l'étiquette majoritaire de ses voisins. Nous avons comparé cinq variantes : LPA (base), FLPA (asynchrone), LPA-MNI (influence des voisins), CLPA (contraintes) et </a:t>
            </a:r>
            <a:r>
              <a:rPr lang="fr-FR" sz="1100" b="0" i="0" u="none" strike="noStrike" cap="none" dirty="0" err="1">
                <a:solidFill>
                  <a:srgbClr val="000000"/>
                </a:solidFill>
                <a:effectLst/>
                <a:latin typeface="Arial"/>
                <a:ea typeface="Arial"/>
                <a:cs typeface="Arial"/>
                <a:sym typeface="Arial"/>
              </a:rPr>
              <a:t>FluidC</a:t>
            </a:r>
            <a:r>
              <a:rPr lang="fr-FR" sz="1100" b="0" i="0" u="none" strike="noStrike" cap="none" dirty="0">
                <a:solidFill>
                  <a:srgbClr val="000000"/>
                </a:solidFill>
                <a:effectLst/>
                <a:latin typeface="Arial"/>
                <a:ea typeface="Arial"/>
                <a:cs typeface="Arial"/>
                <a:sym typeface="Arial"/>
              </a:rPr>
              <a:t> (fluides).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fr-FR" sz="1100" b="0" i="0" u="none" strike="noStrike" cap="none" dirty="0">
              <a:solidFill>
                <a:srgbClr val="000000"/>
              </a:solidFill>
              <a:effectLst/>
              <a:latin typeface="Arial"/>
              <a:ea typeface="Arial"/>
              <a:cs typeface="Arial"/>
              <a:sym typeface="Arial"/>
            </a:endParaRPr>
          </a:p>
        </p:txBody>
      </p:sp>
    </p:spTree>
    <p:extLst>
      <p:ext uri="{BB962C8B-B14F-4D97-AF65-F5344CB8AC3E}">
        <p14:creationId xmlns:p14="http://schemas.microsoft.com/office/powerpoint/2010/main" val="36904298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584567BC-281E-084A-EE01-67CED498D1A1}"/>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B657BA4A-514E-C1CB-9E85-C62CFB3D87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5A4A1550-4EB8-6BC6-C3E8-9349389980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0" u="none" strike="noStrike" cap="none" dirty="0">
                <a:solidFill>
                  <a:srgbClr val="000000"/>
                </a:solidFill>
                <a:effectLst/>
                <a:latin typeface="Arial"/>
                <a:ea typeface="Arial"/>
                <a:cs typeface="Arial"/>
                <a:sym typeface="Arial"/>
              </a:rPr>
              <a:t>Pour les </a:t>
            </a:r>
            <a:r>
              <a:rPr lang="en-GB" sz="1100" b="0" i="0" u="none" strike="noStrike" cap="none" dirty="0" err="1">
                <a:solidFill>
                  <a:srgbClr val="000000"/>
                </a:solidFill>
                <a:effectLst/>
                <a:latin typeface="Arial"/>
                <a:ea typeface="Arial"/>
                <a:cs typeface="Arial"/>
                <a:sym typeface="Arial"/>
              </a:rPr>
              <a:t>méthodes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modernes</a:t>
            </a:r>
            <a:r>
              <a:rPr lang="en-GB" sz="1100" b="0" i="0" u="none" strike="noStrike" cap="none" dirty="0">
                <a:solidFill>
                  <a:srgbClr val="000000"/>
                </a:solidFill>
                <a:effectLst/>
                <a:latin typeface="Arial"/>
                <a:ea typeface="Arial"/>
                <a:cs typeface="Arial"/>
                <a:sym typeface="Arial"/>
              </a:rPr>
              <a:t>, 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exploré</a:t>
            </a:r>
            <a:r>
              <a:rPr lang="en-GB" sz="1100" b="0" i="0" u="none" strike="noStrike" cap="none" dirty="0">
                <a:solidFill>
                  <a:srgbClr val="000000"/>
                </a:solidFill>
                <a:effectLst/>
                <a:latin typeface="Arial"/>
                <a:ea typeface="Arial"/>
                <a:cs typeface="Arial"/>
                <a:sym typeface="Arial"/>
              </a:rPr>
              <a:t> les GNN avec quatre architectures : GCN, GAT, VGAE et Autoencoder. Elles </a:t>
            </a:r>
            <a:r>
              <a:rPr lang="en-GB" sz="1100" b="0" i="0" u="none" strike="noStrike" cap="none" dirty="0" err="1">
                <a:solidFill>
                  <a:srgbClr val="000000"/>
                </a:solidFill>
                <a:effectLst/>
                <a:latin typeface="Arial"/>
                <a:ea typeface="Arial"/>
                <a:cs typeface="Arial"/>
                <a:sym typeface="Arial"/>
              </a:rPr>
              <a:t>apprennent</a:t>
            </a:r>
            <a:r>
              <a:rPr lang="en-GB" sz="1100" b="0" i="0" u="none" strike="noStrike" cap="none" dirty="0">
                <a:solidFill>
                  <a:srgbClr val="000000"/>
                </a:solidFill>
                <a:effectLst/>
                <a:latin typeface="Arial"/>
                <a:ea typeface="Arial"/>
                <a:cs typeface="Arial"/>
                <a:sym typeface="Arial"/>
              </a:rPr>
              <a:t> des </a:t>
            </a:r>
            <a:r>
              <a:rPr lang="en-GB" sz="1100" b="0" i="0" u="none" strike="noStrike" cap="none" dirty="0" err="1">
                <a:solidFill>
                  <a:srgbClr val="000000"/>
                </a:solidFill>
                <a:effectLst/>
                <a:latin typeface="Arial"/>
                <a:ea typeface="Arial"/>
                <a:cs typeface="Arial"/>
                <a:sym typeface="Arial"/>
              </a:rPr>
              <a:t>représentations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vectorielles</a:t>
            </a:r>
            <a:r>
              <a:rPr lang="en-GB" sz="1100" b="0" i="0" u="none" strike="noStrike" cap="none" dirty="0">
                <a:solidFill>
                  <a:srgbClr val="000000"/>
                </a:solidFill>
                <a:effectLst/>
                <a:latin typeface="Arial"/>
                <a:ea typeface="Arial"/>
                <a:cs typeface="Arial"/>
                <a:sym typeface="Arial"/>
              </a:rPr>
              <a:t> des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 pour </a:t>
            </a:r>
            <a:r>
              <a:rPr lang="en-GB" sz="1100" b="0" i="0" u="none" strike="noStrike" cap="none" dirty="0" err="1">
                <a:solidFill>
                  <a:srgbClr val="000000"/>
                </a:solidFill>
                <a:effectLst/>
                <a:latin typeface="Arial"/>
                <a:ea typeface="Arial"/>
                <a:cs typeface="Arial"/>
                <a:sym typeface="Arial"/>
              </a:rPr>
              <a:t>regrouper</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similaires</a:t>
            </a:r>
            <a:r>
              <a:rPr lang="en-GB" sz="1100" b="0" i="0" u="none" strike="noStrike" cap="none" dirty="0">
                <a:solidFill>
                  <a:srgbClr val="000000"/>
                </a:solidFill>
                <a:effectLst/>
                <a:latin typeface="Arial"/>
                <a:ea typeface="Arial"/>
                <a:cs typeface="Arial"/>
                <a:sym typeface="Arial"/>
              </a:rPr>
              <a:t>. Elles </a:t>
            </a:r>
            <a:r>
              <a:rPr lang="en-GB" sz="1100" b="0" i="0" u="none" strike="noStrike" cap="none" dirty="0" err="1">
                <a:solidFill>
                  <a:srgbClr val="000000"/>
                </a:solidFill>
                <a:effectLst/>
                <a:latin typeface="Arial"/>
                <a:ea typeface="Arial"/>
                <a:cs typeface="Arial"/>
                <a:sym typeface="Arial"/>
              </a:rPr>
              <a:t>sont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performantes</a:t>
            </a:r>
            <a:r>
              <a:rPr lang="en-GB" sz="1100" b="0" i="0" u="none" strike="noStrike" cap="none" dirty="0">
                <a:solidFill>
                  <a:srgbClr val="000000"/>
                </a:solidFill>
                <a:effectLst/>
                <a:latin typeface="Arial"/>
                <a:ea typeface="Arial"/>
                <a:cs typeface="Arial"/>
                <a:sym typeface="Arial"/>
              </a:rPr>
              <a:t> sur petits réseaux </a:t>
            </a:r>
            <a:r>
              <a:rPr lang="en-GB" sz="1100" b="0" i="0" u="none" strike="noStrike" cap="none" dirty="0" err="1">
                <a:solidFill>
                  <a:srgbClr val="000000"/>
                </a:solidFill>
                <a:effectLst/>
                <a:latin typeface="Arial"/>
                <a:ea typeface="Arial"/>
                <a:cs typeface="Arial"/>
                <a:sym typeface="Arial"/>
              </a:rPr>
              <a:t>mais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coûteuses</a:t>
            </a:r>
            <a:r>
              <a:rPr lang="en-GB" sz="1100" b="0" i="0" u="none" strike="noStrike" cap="none" dirty="0">
                <a:solidFill>
                  <a:srgbClr val="000000"/>
                </a:solidFill>
                <a:effectLst/>
                <a:latin typeface="Arial"/>
                <a:ea typeface="Arial"/>
                <a:cs typeface="Arial"/>
                <a:sym typeface="Arial"/>
              </a:rPr>
              <a:t> à grande </a:t>
            </a:r>
            <a:r>
              <a:rPr lang="en-GB" sz="1100" b="0" i="0" u="none" strike="noStrike" cap="none" dirty="0" err="1">
                <a:solidFill>
                  <a:srgbClr val="000000"/>
                </a:solidFill>
                <a:effectLst/>
                <a:latin typeface="Arial"/>
                <a:ea typeface="Arial"/>
                <a:cs typeface="Arial"/>
                <a:sym typeface="Arial"/>
              </a:rPr>
              <a:t>échelle</a:t>
            </a:r>
            <a:r>
              <a:rPr lang="en-GB" sz="1100" b="0" i="0" u="none" strike="noStrike" cap="none" dirty="0">
                <a:solidFill>
                  <a:srgbClr val="000000"/>
                </a:solidFill>
                <a:effectLst/>
                <a:latin typeface="Arial"/>
                <a:ea typeface="Arial"/>
                <a:cs typeface="Arial"/>
                <a:sym typeface="Arial"/>
              </a:rPr>
              <a:t>.</a:t>
            </a:r>
            <a:br>
              <a:rPr lang="en-GB" b="0" dirty="0"/>
            </a:br>
            <a:endParaRPr b="0" dirty="0"/>
          </a:p>
        </p:txBody>
      </p:sp>
    </p:spTree>
    <p:extLst>
      <p:ext uri="{BB962C8B-B14F-4D97-AF65-F5344CB8AC3E}">
        <p14:creationId xmlns:p14="http://schemas.microsoft.com/office/powerpoint/2010/main" val="18065260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6B7503C7-3186-F207-9B65-9569C5568CD5}"/>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78432F40-4912-0A87-4566-2C77ECF815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98F19A89-3C92-1A2E-F7D7-EF311851D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GB" sz="1100" b="0" i="0" u="none" strike="noStrike" cap="none" dirty="0">
                <a:solidFill>
                  <a:srgbClr val="000000"/>
                </a:solidFill>
                <a:effectLst/>
                <a:latin typeface="Arial"/>
                <a:ea typeface="Arial"/>
                <a:cs typeface="Arial"/>
                <a:sym typeface="Arial"/>
              </a:rPr>
              <a:t>La </a:t>
            </a:r>
            <a:r>
              <a:rPr lang="en-GB" sz="1100" b="0" i="0" u="none" strike="noStrike" cap="none" dirty="0" err="1">
                <a:solidFill>
                  <a:srgbClr val="000000"/>
                </a:solidFill>
                <a:effectLst/>
                <a:latin typeface="Arial"/>
                <a:ea typeface="Arial"/>
                <a:cs typeface="Arial"/>
                <a:sym typeface="Arial"/>
              </a:rPr>
              <a:t>détection</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communautés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s'applique</a:t>
            </a:r>
            <a:r>
              <a:rPr lang="en-GB" sz="1100" b="0" i="0" u="none" strike="noStrike" cap="none" dirty="0">
                <a:solidFill>
                  <a:srgbClr val="000000"/>
                </a:solidFill>
                <a:effectLst/>
                <a:latin typeface="Arial"/>
                <a:ea typeface="Arial"/>
                <a:cs typeface="Arial"/>
                <a:sym typeface="Arial"/>
              </a:rPr>
              <a:t> dans de </a:t>
            </a:r>
            <a:r>
              <a:rPr lang="en-GB" sz="1100" b="0" i="0" u="none" strike="noStrike" cap="none" dirty="0" err="1">
                <a:solidFill>
                  <a:srgbClr val="000000"/>
                </a:solidFill>
                <a:effectLst/>
                <a:latin typeface="Arial"/>
                <a:ea typeface="Arial"/>
                <a:cs typeface="Arial"/>
                <a:sym typeface="Arial"/>
              </a:rPr>
              <a:t>nombreux</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domaines</a:t>
            </a:r>
            <a:r>
              <a:rPr lang="en-GB" sz="1100" b="0" i="0" u="none" strike="noStrike" cap="none" dirty="0">
                <a:solidFill>
                  <a:srgbClr val="000000"/>
                </a:solidFill>
                <a:effectLst/>
                <a:latin typeface="Arial"/>
                <a:ea typeface="Arial"/>
                <a:cs typeface="Arial"/>
                <a:sym typeface="Arial"/>
              </a:rPr>
              <a:t> :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(films, livres), </a:t>
            </a:r>
            <a:r>
              <a:rPr lang="en-GB" sz="1100" b="0" i="0" u="none" strike="noStrike" cap="none" dirty="0" err="1">
                <a:solidFill>
                  <a:srgbClr val="000000"/>
                </a:solidFill>
                <a:effectLst/>
                <a:latin typeface="Arial"/>
                <a:ea typeface="Arial"/>
                <a:cs typeface="Arial"/>
                <a:sym typeface="Arial"/>
              </a:rPr>
              <a:t>publicité</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ciblée</a:t>
            </a:r>
            <a:r>
              <a:rPr lang="en-GB" sz="1100" b="0" i="0" u="none" strike="noStrike" cap="none" dirty="0">
                <a:solidFill>
                  <a:srgbClr val="000000"/>
                </a:solidFill>
                <a:effectLst/>
                <a:latin typeface="Arial"/>
                <a:ea typeface="Arial"/>
                <a:cs typeface="Arial"/>
                <a:sym typeface="Arial"/>
              </a:rPr>
              <a:t>, réseaux </a:t>
            </a:r>
            <a:r>
              <a:rPr lang="en-GB" sz="1100" b="0" i="0" u="none" strike="noStrike" cap="none" dirty="0" err="1">
                <a:solidFill>
                  <a:srgbClr val="000000"/>
                </a:solidFill>
                <a:effectLst/>
                <a:latin typeface="Arial"/>
                <a:ea typeface="Arial"/>
                <a:cs typeface="Arial"/>
                <a:sym typeface="Arial"/>
              </a:rPr>
              <a:t>sociaux</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ainsi</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qu'en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biochimie</a:t>
            </a:r>
            <a:r>
              <a:rPr lang="en-GB" sz="1100" b="0" i="0" u="none" strike="noStrike" cap="none" dirty="0">
                <a:solidFill>
                  <a:srgbClr val="000000"/>
                </a:solidFill>
                <a:effectLst/>
                <a:latin typeface="Arial"/>
                <a:ea typeface="Arial"/>
                <a:cs typeface="Arial"/>
                <a:sym typeface="Arial"/>
              </a:rPr>
              <a:t> (analyse des </a:t>
            </a:r>
            <a:r>
              <a:rPr lang="en-GB" sz="1100" b="0" i="0" u="none" strike="noStrike" cap="none" dirty="0" err="1">
                <a:solidFill>
                  <a:srgbClr val="000000"/>
                </a:solidFill>
                <a:effectLst/>
                <a:latin typeface="Arial"/>
                <a:ea typeface="Arial"/>
                <a:cs typeface="Arial"/>
                <a:sym typeface="Arial"/>
              </a:rPr>
              <a:t>gènes</a:t>
            </a:r>
            <a:r>
              <a:rPr lang="en-GB" sz="1100" b="0" i="0" u="none" strike="noStrike" cap="none" dirty="0">
                <a:solidFill>
                  <a:srgbClr val="000000"/>
                </a:solidFill>
                <a:effectLst/>
                <a:latin typeface="Arial"/>
                <a:ea typeface="Arial"/>
                <a:cs typeface="Arial"/>
                <a:sym typeface="Arial"/>
              </a:rPr>
              <a:t>) et </a:t>
            </a:r>
            <a:r>
              <a:rPr lang="en-GB" sz="1100" b="0" i="0" u="none" strike="noStrike" cap="none" dirty="0" err="1">
                <a:solidFill>
                  <a:srgbClr val="000000"/>
                </a:solidFill>
                <a:effectLst/>
                <a:latin typeface="Arial"/>
                <a:ea typeface="Arial"/>
                <a:cs typeface="Arial"/>
                <a:sym typeface="Arial"/>
              </a:rPr>
              <a:t>criminologie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groupes</a:t>
            </a:r>
            <a:r>
              <a:rPr lang="en-GB" sz="1100" b="0" i="0" u="none" strike="noStrike" cap="none" dirty="0">
                <a:solidFill>
                  <a:srgbClr val="000000"/>
                </a:solidFill>
                <a:effectLst/>
                <a:latin typeface="Arial"/>
                <a:ea typeface="Arial"/>
                <a:cs typeface="Arial"/>
                <a:sym typeface="Arial"/>
              </a:rPr>
              <a:t> suspects).</a:t>
            </a:r>
            <a:br>
              <a:rPr lang="en-GB" dirty="0"/>
            </a:br>
            <a:endParaRPr lang="en-GB" b="0" dirty="0"/>
          </a:p>
        </p:txBody>
      </p:sp>
    </p:spTree>
    <p:extLst>
      <p:ext uri="{BB962C8B-B14F-4D97-AF65-F5344CB8AC3E}">
        <p14:creationId xmlns:p14="http://schemas.microsoft.com/office/powerpoint/2010/main" val="30151939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0D6C2766-E02C-1695-732A-B7025E0507A3}"/>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31DE47D1-6633-645E-F936-0FB5B988B5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75F5CBA8-5CB1-2D70-2A85-D9020C0E2C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GB" dirty="0"/>
              <a:t>Notre </a:t>
            </a:r>
            <a:r>
              <a:rPr lang="en-GB" dirty="0" err="1"/>
              <a:t>méthodologie</a:t>
            </a:r>
            <a:r>
              <a:rPr lang="en-GB" dirty="0"/>
              <a:t> est </a:t>
            </a:r>
            <a:r>
              <a:rPr lang="en-GB" dirty="0" err="1"/>
              <a:t>structurée</a:t>
            </a:r>
            <a:r>
              <a:rPr lang="en-GB" dirty="0"/>
              <a:t> </a:t>
            </a:r>
            <a:r>
              <a:rPr lang="en-GB" dirty="0" err="1"/>
              <a:t>en</a:t>
            </a:r>
            <a:r>
              <a:rPr lang="en-GB" dirty="0"/>
              <a:t> </a:t>
            </a:r>
            <a:r>
              <a:rPr lang="en-GB" b="1" dirty="0"/>
              <a:t>trois phases</a:t>
            </a:r>
            <a:r>
              <a:rPr lang="en-GB" dirty="0"/>
              <a:t>.</a:t>
            </a:r>
          </a:p>
          <a:p>
            <a:r>
              <a:rPr lang="en-GB" b="1" dirty="0"/>
              <a:t>Phase 1</a:t>
            </a:r>
            <a:r>
              <a:rPr lang="en-GB" dirty="0"/>
              <a:t> : </a:t>
            </a:r>
            <a:r>
              <a:rPr lang="en-GB" dirty="0" err="1"/>
              <a:t>évaluation</a:t>
            </a:r>
            <a:r>
              <a:rPr lang="en-GB" dirty="0"/>
              <a:t> de 13 </a:t>
            </a:r>
            <a:r>
              <a:rPr lang="en-GB" dirty="0" err="1"/>
              <a:t>algorithmes</a:t>
            </a:r>
            <a:r>
              <a:rPr lang="en-GB" dirty="0"/>
              <a:t> </a:t>
            </a:r>
            <a:r>
              <a:rPr lang="en-GB" dirty="0" err="1"/>
              <a:t>classiques</a:t>
            </a:r>
            <a:r>
              <a:rPr lang="en-GB" dirty="0"/>
              <a:t> et 4 </a:t>
            </a:r>
            <a:r>
              <a:rPr lang="en-GB" dirty="0" err="1"/>
              <a:t>algorithmes</a:t>
            </a:r>
            <a:r>
              <a:rPr lang="en-GB" dirty="0"/>
              <a:t> de deep learning, sur 7 datasets </a:t>
            </a:r>
            <a:r>
              <a:rPr lang="en-GB" dirty="0" err="1"/>
              <a:t>réels</a:t>
            </a:r>
            <a:r>
              <a:rPr lang="en-GB" dirty="0"/>
              <a:t> et des réseaux </a:t>
            </a:r>
            <a:r>
              <a:rPr lang="en-GB" dirty="0" err="1"/>
              <a:t>synthétiques</a:t>
            </a:r>
            <a:r>
              <a:rPr lang="en-GB" dirty="0"/>
              <a:t> LFR, avec trois </a:t>
            </a:r>
            <a:r>
              <a:rPr lang="en-GB" dirty="0" err="1"/>
              <a:t>métriques</a:t>
            </a:r>
            <a:r>
              <a:rPr lang="en-GB" dirty="0"/>
              <a:t> : </a:t>
            </a:r>
            <a:r>
              <a:rPr lang="en-GB" dirty="0" err="1"/>
              <a:t>modularité</a:t>
            </a:r>
            <a:r>
              <a:rPr lang="en-GB" dirty="0"/>
              <a:t>, NMI et ARI.</a:t>
            </a:r>
          </a:p>
          <a:p>
            <a:r>
              <a:rPr lang="en-GB" b="1" dirty="0"/>
              <a:t>Phase 2</a:t>
            </a:r>
            <a:r>
              <a:rPr lang="en-GB" dirty="0"/>
              <a:t> : </a:t>
            </a:r>
            <a:r>
              <a:rPr lang="en-GB" dirty="0" err="1"/>
              <a:t>intégration</a:t>
            </a:r>
            <a:r>
              <a:rPr lang="en-GB" dirty="0"/>
              <a:t> des </a:t>
            </a:r>
            <a:r>
              <a:rPr lang="en-GB" dirty="0" err="1"/>
              <a:t>meilleurs</a:t>
            </a:r>
            <a:r>
              <a:rPr lang="en-GB" dirty="0"/>
              <a:t> </a:t>
            </a:r>
            <a:r>
              <a:rPr lang="en-GB" dirty="0" err="1"/>
              <a:t>algorithmes</a:t>
            </a:r>
            <a:r>
              <a:rPr lang="en-GB" dirty="0"/>
              <a:t> dans un </a:t>
            </a:r>
            <a:r>
              <a:rPr lang="en-GB" dirty="0" err="1"/>
              <a:t>système</a:t>
            </a:r>
            <a:r>
              <a:rPr lang="en-GB" dirty="0"/>
              <a:t> de </a:t>
            </a:r>
            <a:r>
              <a:rPr lang="en-GB" dirty="0" err="1"/>
              <a:t>recommandation</a:t>
            </a:r>
            <a:r>
              <a:rPr lang="en-GB" dirty="0"/>
              <a:t> </a:t>
            </a:r>
            <a:r>
              <a:rPr lang="en-GB" dirty="0" err="1"/>
              <a:t>hybride</a:t>
            </a:r>
            <a:r>
              <a:rPr lang="en-GB" dirty="0"/>
              <a:t>, </a:t>
            </a:r>
            <a:r>
              <a:rPr lang="en-GB" dirty="0" err="1"/>
              <a:t>testé</a:t>
            </a:r>
            <a:r>
              <a:rPr lang="en-GB" dirty="0"/>
              <a:t> sur le dataset UCI Online Retail avec 541 000 transactions, </a:t>
            </a:r>
            <a:r>
              <a:rPr lang="en-GB" dirty="0" err="1"/>
              <a:t>en</a:t>
            </a:r>
            <a:r>
              <a:rPr lang="en-GB" dirty="0"/>
              <a:t> </a:t>
            </a:r>
            <a:r>
              <a:rPr lang="en-GB" dirty="0" err="1"/>
              <a:t>mesurant</a:t>
            </a:r>
            <a:r>
              <a:rPr lang="en-GB" dirty="0"/>
              <a:t> F1@10 et Recall@10.</a:t>
            </a:r>
          </a:p>
          <a:p>
            <a:r>
              <a:rPr lang="en-GB" b="1" dirty="0"/>
              <a:t>Phase 3</a:t>
            </a:r>
            <a:r>
              <a:rPr lang="en-GB" dirty="0"/>
              <a:t> : </a:t>
            </a:r>
            <a:r>
              <a:rPr lang="en-GB" dirty="0" err="1"/>
              <a:t>développement</a:t>
            </a:r>
            <a:r>
              <a:rPr lang="en-GB" dirty="0"/>
              <a:t> </a:t>
            </a:r>
            <a:r>
              <a:rPr lang="en-GB" dirty="0" err="1"/>
              <a:t>d'une</a:t>
            </a:r>
            <a:r>
              <a:rPr lang="en-GB" dirty="0"/>
              <a:t> application web interactive pour visualiser </a:t>
            </a:r>
            <a:r>
              <a:rPr lang="en-GB" dirty="0" err="1"/>
              <a:t>tous</a:t>
            </a:r>
            <a:r>
              <a:rPr lang="en-GB" dirty="0"/>
              <a:t> les </a:t>
            </a:r>
            <a:r>
              <a:rPr lang="en-GB" dirty="0" err="1"/>
              <a:t>résultats</a:t>
            </a:r>
            <a:r>
              <a:rPr lang="en-GB" dirty="0"/>
              <a:t>.</a:t>
            </a:r>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10434397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1F4A6230-6AF9-0E8D-A4ED-D0B9F4B5451F}"/>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893D469C-1E93-9B5F-3AFE-20610D255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586E8AE4-BFA7-CEDC-A4AE-5C1FB729F9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0" u="none" strike="noStrike" cap="none" dirty="0">
                <a:solidFill>
                  <a:srgbClr val="000000"/>
                </a:solidFill>
                <a:effectLst/>
                <a:latin typeface="Arial"/>
                <a:ea typeface="Arial"/>
                <a:cs typeface="Arial"/>
                <a:sym typeface="Arial"/>
              </a:rPr>
              <a:t>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utilisé</a:t>
            </a:r>
            <a:r>
              <a:rPr lang="en-GB" sz="1100" b="0" i="0" u="none" strike="noStrike" cap="none" dirty="0">
                <a:solidFill>
                  <a:srgbClr val="000000"/>
                </a:solidFill>
                <a:effectLst/>
                <a:latin typeface="Arial"/>
                <a:ea typeface="Arial"/>
                <a:cs typeface="Arial"/>
                <a:sym typeface="Arial"/>
              </a:rPr>
              <a:t> 7 datasets </a:t>
            </a:r>
            <a:r>
              <a:rPr lang="en-GB" sz="1100" b="0" i="0" u="none" strike="noStrike" cap="none" dirty="0" err="1">
                <a:solidFill>
                  <a:srgbClr val="000000"/>
                </a:solidFill>
                <a:effectLst/>
                <a:latin typeface="Arial"/>
                <a:ea typeface="Arial"/>
                <a:cs typeface="Arial"/>
                <a:sym typeface="Arial"/>
              </a:rPr>
              <a:t>réels</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tailles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variées</a:t>
            </a:r>
            <a:r>
              <a:rPr lang="en-GB" sz="1100" b="0" i="0" u="none" strike="noStrike" cap="none" dirty="0">
                <a:solidFill>
                  <a:srgbClr val="000000"/>
                </a:solidFill>
                <a:effectLst/>
                <a:latin typeface="Arial"/>
                <a:ea typeface="Arial"/>
                <a:cs typeface="Arial"/>
                <a:sym typeface="Arial"/>
              </a:rPr>
              <a:t>, du Karate Club (34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 à </a:t>
            </a:r>
            <a:r>
              <a:rPr lang="en-GB" sz="1100" b="0" i="0" u="none" strike="noStrike" cap="none" dirty="0" err="1">
                <a:solidFill>
                  <a:srgbClr val="000000"/>
                </a:solidFill>
                <a:effectLst/>
                <a:latin typeface="Arial"/>
                <a:ea typeface="Arial"/>
                <a:cs typeface="Arial"/>
                <a:sym typeface="Arial"/>
              </a:rPr>
              <a:t>LastFM</a:t>
            </a:r>
            <a:r>
              <a:rPr lang="en-GB" sz="1100" b="0" i="0" u="none" strike="noStrike" cap="none" dirty="0">
                <a:solidFill>
                  <a:srgbClr val="000000"/>
                </a:solidFill>
                <a:effectLst/>
                <a:latin typeface="Arial"/>
                <a:ea typeface="Arial"/>
                <a:cs typeface="Arial"/>
                <a:sym typeface="Arial"/>
              </a:rPr>
              <a:t> (28 000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 pour tester la </a:t>
            </a:r>
            <a:r>
              <a:rPr lang="en-GB" sz="1100" b="0" i="0" u="none" strike="noStrike" cap="none" dirty="0" err="1">
                <a:solidFill>
                  <a:srgbClr val="000000"/>
                </a:solidFill>
                <a:effectLst/>
                <a:latin typeface="Arial"/>
                <a:ea typeface="Arial"/>
                <a:cs typeface="Arial"/>
                <a:sym typeface="Arial"/>
              </a:rPr>
              <a:t>robustesse</a:t>
            </a:r>
            <a:r>
              <a:rPr lang="en-GB" sz="1100" b="0" i="0" u="none" strike="noStrike" cap="none" dirty="0">
                <a:solidFill>
                  <a:srgbClr val="000000"/>
                </a:solidFill>
                <a:effectLst/>
                <a:latin typeface="Arial"/>
                <a:ea typeface="Arial"/>
                <a:cs typeface="Arial"/>
                <a:sym typeface="Arial"/>
              </a:rPr>
              <a:t> des </a:t>
            </a:r>
            <a:r>
              <a:rPr lang="en-GB" sz="1100" b="0" i="0" u="none" strike="noStrike" cap="none" dirty="0" err="1">
                <a:solidFill>
                  <a:srgbClr val="000000"/>
                </a:solidFill>
                <a:effectLst/>
                <a:latin typeface="Arial"/>
                <a:ea typeface="Arial"/>
                <a:cs typeface="Arial"/>
                <a:sym typeface="Arial"/>
              </a:rPr>
              <a:t>algorithmes</a:t>
            </a:r>
            <a:r>
              <a:rPr lang="en-GB" sz="1100" b="0" i="0" u="none" strike="noStrike" cap="none" dirty="0">
                <a:solidFill>
                  <a:srgbClr val="000000"/>
                </a:solidFill>
                <a:effectLst/>
                <a:latin typeface="Arial"/>
                <a:ea typeface="Arial"/>
                <a:cs typeface="Arial"/>
                <a:sym typeface="Arial"/>
              </a:rPr>
              <a:t>. 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aussi</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généré</a:t>
            </a:r>
            <a:r>
              <a:rPr lang="en-GB" sz="1100" b="0" i="0" u="none" strike="noStrike" cap="none" dirty="0">
                <a:solidFill>
                  <a:srgbClr val="000000"/>
                </a:solidFill>
                <a:effectLst/>
                <a:latin typeface="Arial"/>
                <a:ea typeface="Arial"/>
                <a:cs typeface="Arial"/>
                <a:sym typeface="Arial"/>
              </a:rPr>
              <a:t> des réseaux </a:t>
            </a:r>
            <a:r>
              <a:rPr lang="en-GB" sz="1100" b="0" i="0" u="none" strike="noStrike" cap="none" dirty="0" err="1">
                <a:solidFill>
                  <a:srgbClr val="000000"/>
                </a:solidFill>
                <a:effectLst/>
                <a:latin typeface="Arial"/>
                <a:ea typeface="Arial"/>
                <a:cs typeface="Arial"/>
                <a:sym typeface="Arial"/>
              </a:rPr>
              <a:t>synthétiques</a:t>
            </a:r>
            <a:r>
              <a:rPr lang="en-GB" sz="1100" b="0" i="0" u="none" strike="noStrike" cap="none" dirty="0">
                <a:solidFill>
                  <a:srgbClr val="000000"/>
                </a:solidFill>
                <a:effectLst/>
                <a:latin typeface="Arial"/>
                <a:ea typeface="Arial"/>
                <a:cs typeface="Arial"/>
                <a:sym typeface="Arial"/>
              </a:rPr>
              <a:t> LFR de 500 à 100 000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 avec un </a:t>
            </a:r>
            <a:r>
              <a:rPr lang="en-GB" sz="1100" b="0" i="0" u="none" strike="noStrike" cap="none" dirty="0" err="1">
                <a:solidFill>
                  <a:srgbClr val="000000"/>
                </a:solidFill>
                <a:effectLst/>
                <a:latin typeface="Arial"/>
                <a:ea typeface="Arial"/>
                <a:cs typeface="Arial"/>
                <a:sym typeface="Arial"/>
              </a:rPr>
              <a:t>paramètre</a:t>
            </a:r>
            <a:r>
              <a:rPr lang="en-GB" sz="1100" b="0" i="0" u="none" strike="noStrike" cap="none" dirty="0">
                <a:solidFill>
                  <a:srgbClr val="000000"/>
                </a:solidFill>
                <a:effectLst/>
                <a:latin typeface="Arial"/>
                <a:ea typeface="Arial"/>
                <a:cs typeface="Arial"/>
                <a:sym typeface="Arial"/>
              </a:rPr>
              <a:t> μ de 0,3 à 0,7 — plus μ est </a:t>
            </a:r>
            <a:r>
              <a:rPr lang="en-GB" sz="1100" b="0" i="0" u="none" strike="noStrike" cap="none" dirty="0" err="1">
                <a:solidFill>
                  <a:srgbClr val="000000"/>
                </a:solidFill>
                <a:effectLst/>
                <a:latin typeface="Arial"/>
                <a:ea typeface="Arial"/>
                <a:cs typeface="Arial"/>
                <a:sym typeface="Arial"/>
              </a:rPr>
              <a:t>élevé</a:t>
            </a:r>
            <a:r>
              <a:rPr lang="en-GB" sz="1100" b="0" i="0" u="none" strike="noStrike" cap="none" dirty="0">
                <a:solidFill>
                  <a:srgbClr val="000000"/>
                </a:solidFill>
                <a:effectLst/>
                <a:latin typeface="Arial"/>
                <a:ea typeface="Arial"/>
                <a:cs typeface="Arial"/>
                <a:sym typeface="Arial"/>
              </a:rPr>
              <a:t>, plus la </a:t>
            </a:r>
            <a:r>
              <a:rPr lang="en-GB" sz="1100" b="0" i="0" u="none" strike="noStrike" cap="none" dirty="0" err="1">
                <a:solidFill>
                  <a:srgbClr val="000000"/>
                </a:solidFill>
                <a:effectLst/>
                <a:latin typeface="Arial"/>
                <a:ea typeface="Arial"/>
                <a:cs typeface="Arial"/>
                <a:sym typeface="Arial"/>
              </a:rPr>
              <a:t>détection</a:t>
            </a:r>
            <a:r>
              <a:rPr lang="en-GB" sz="1100" b="0" i="0" u="none" strike="noStrike" cap="none" dirty="0">
                <a:solidFill>
                  <a:srgbClr val="000000"/>
                </a:solidFill>
                <a:effectLst/>
                <a:latin typeface="Arial"/>
                <a:ea typeface="Arial"/>
                <a:cs typeface="Arial"/>
                <a:sym typeface="Arial"/>
              </a:rPr>
              <a:t> est difficile.</a:t>
            </a:r>
            <a:endParaRPr i="0" dirty="0"/>
          </a:p>
        </p:txBody>
      </p:sp>
    </p:spTree>
    <p:extLst>
      <p:ext uri="{BB962C8B-B14F-4D97-AF65-F5344CB8AC3E}">
        <p14:creationId xmlns:p14="http://schemas.microsoft.com/office/powerpoint/2010/main" val="4214582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839C09F6-0205-8C1D-16B8-C59D9C09404B}"/>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74FBB44E-4939-D3FA-445D-2E2D4B2563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E5F5EB4B-AFD4-2257-C6D0-B7CB4F44A4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GB" sz="1100" b="0" i="0" u="none" strike="noStrike" cap="none" dirty="0">
                <a:solidFill>
                  <a:srgbClr val="000000"/>
                </a:solidFill>
                <a:effectLst/>
                <a:latin typeface="Arial"/>
                <a:ea typeface="Arial"/>
                <a:cs typeface="Arial"/>
                <a:sym typeface="Arial"/>
              </a:rPr>
              <a:t>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utilisé</a:t>
            </a:r>
            <a:r>
              <a:rPr lang="en-GB" sz="1100" b="0" i="0" u="none" strike="noStrike" cap="none" dirty="0">
                <a:solidFill>
                  <a:srgbClr val="000000"/>
                </a:solidFill>
                <a:effectLst/>
                <a:latin typeface="Arial"/>
                <a:ea typeface="Arial"/>
                <a:cs typeface="Arial"/>
                <a:sym typeface="Arial"/>
              </a:rPr>
              <a:t> trois </a:t>
            </a:r>
            <a:r>
              <a:rPr lang="en-GB" sz="1100" b="0" i="0" u="none" strike="noStrike" cap="none" dirty="0" err="1">
                <a:solidFill>
                  <a:srgbClr val="000000"/>
                </a:solidFill>
                <a:effectLst/>
                <a:latin typeface="Arial"/>
                <a:ea typeface="Arial"/>
                <a:cs typeface="Arial"/>
                <a:sym typeface="Arial"/>
              </a:rPr>
              <a:t>métriques</a:t>
            </a:r>
            <a:r>
              <a:rPr lang="en-GB" sz="1100" b="0" i="0" u="none" strike="noStrike" cap="none" dirty="0">
                <a:solidFill>
                  <a:srgbClr val="000000"/>
                </a:solidFill>
                <a:effectLst/>
                <a:latin typeface="Arial"/>
                <a:ea typeface="Arial"/>
                <a:cs typeface="Arial"/>
                <a:sym typeface="Arial"/>
              </a:rPr>
              <a:t> : la </a:t>
            </a:r>
            <a:r>
              <a:rPr lang="en-GB" sz="1100" b="0" i="0" u="none" strike="noStrike" cap="none" dirty="0" err="1">
                <a:solidFill>
                  <a:srgbClr val="000000"/>
                </a:solidFill>
                <a:effectLst/>
                <a:latin typeface="Arial"/>
                <a:ea typeface="Arial"/>
                <a:cs typeface="Arial"/>
                <a:sym typeface="Arial"/>
              </a:rPr>
              <a:t>modularité</a:t>
            </a:r>
            <a:r>
              <a:rPr lang="en-GB" sz="1100" b="0" i="0" u="none" strike="noStrike" cap="none" dirty="0">
                <a:solidFill>
                  <a:srgbClr val="000000"/>
                </a:solidFill>
                <a:effectLst/>
                <a:latin typeface="Arial"/>
                <a:ea typeface="Arial"/>
                <a:cs typeface="Arial"/>
                <a:sym typeface="Arial"/>
              </a:rPr>
              <a:t> Q, qui compare les liens internes aux </a:t>
            </a:r>
            <a:r>
              <a:rPr lang="en-GB" sz="1100" b="0" i="0" u="none" strike="noStrike" cap="none" dirty="0" err="1">
                <a:solidFill>
                  <a:srgbClr val="000000"/>
                </a:solidFill>
                <a:effectLst/>
                <a:latin typeface="Arial"/>
                <a:ea typeface="Arial"/>
                <a:cs typeface="Arial"/>
                <a:sym typeface="Arial"/>
              </a:rPr>
              <a:t>communautés</a:t>
            </a:r>
            <a:r>
              <a:rPr lang="en-GB" sz="1100" b="0" i="0" u="none" strike="noStrike" cap="none" dirty="0">
                <a:solidFill>
                  <a:srgbClr val="000000"/>
                </a:solidFill>
                <a:effectLst/>
                <a:latin typeface="Arial"/>
                <a:ea typeface="Arial"/>
                <a:cs typeface="Arial"/>
                <a:sym typeface="Arial"/>
              </a:rPr>
              <a:t> avec un réseau </a:t>
            </a:r>
            <a:r>
              <a:rPr lang="en-GB" sz="1100" b="0" i="0" u="none" strike="noStrike" cap="none" dirty="0" err="1">
                <a:solidFill>
                  <a:srgbClr val="000000"/>
                </a:solidFill>
                <a:effectLst/>
                <a:latin typeface="Arial"/>
                <a:ea typeface="Arial"/>
                <a:cs typeface="Arial"/>
                <a:sym typeface="Arial"/>
              </a:rPr>
              <a:t>aléatoire</a:t>
            </a:r>
            <a:r>
              <a:rPr lang="en-GB" sz="1100" b="0" i="0" u="none" strike="noStrike" cap="none" dirty="0">
                <a:solidFill>
                  <a:srgbClr val="000000"/>
                </a:solidFill>
                <a:effectLst/>
                <a:latin typeface="Arial"/>
                <a:ea typeface="Arial"/>
                <a:cs typeface="Arial"/>
                <a:sym typeface="Arial"/>
              </a:rPr>
              <a:t> ; le NMI et </a:t>
            </a:r>
            <a:r>
              <a:rPr lang="en-GB" sz="1100" b="0" i="0" u="none" strike="noStrike" cap="none" dirty="0" err="1">
                <a:solidFill>
                  <a:srgbClr val="000000"/>
                </a:solidFill>
                <a:effectLst/>
                <a:latin typeface="Arial"/>
                <a:ea typeface="Arial"/>
                <a:cs typeface="Arial"/>
                <a:sym typeface="Arial"/>
              </a:rPr>
              <a:t>l'ARI</a:t>
            </a:r>
            <a:r>
              <a:rPr lang="en-GB" sz="1100" b="0" i="0" u="none" strike="noStrike" cap="none" dirty="0">
                <a:solidFill>
                  <a:srgbClr val="000000"/>
                </a:solidFill>
                <a:effectLst/>
                <a:latin typeface="Arial"/>
                <a:ea typeface="Arial"/>
                <a:cs typeface="Arial"/>
                <a:sym typeface="Arial"/>
              </a:rPr>
              <a:t>, qui </a:t>
            </a:r>
            <a:r>
              <a:rPr lang="en-GB" sz="1100" b="0" i="0" u="none" strike="noStrike" cap="none" dirty="0" err="1">
                <a:solidFill>
                  <a:srgbClr val="000000"/>
                </a:solidFill>
                <a:effectLst/>
                <a:latin typeface="Arial"/>
                <a:ea typeface="Arial"/>
                <a:cs typeface="Arial"/>
                <a:sym typeface="Arial"/>
              </a:rPr>
              <a:t>comparent</a:t>
            </a:r>
            <a:r>
              <a:rPr lang="en-GB" sz="1100" b="0" i="0" u="none" strike="noStrike" cap="none" dirty="0">
                <a:solidFill>
                  <a:srgbClr val="000000"/>
                </a:solidFill>
                <a:effectLst/>
                <a:latin typeface="Arial"/>
                <a:ea typeface="Arial"/>
                <a:cs typeface="Arial"/>
                <a:sym typeface="Arial"/>
              </a:rPr>
              <a:t> le </a:t>
            </a:r>
            <a:r>
              <a:rPr lang="en-GB" sz="1100" b="0" i="0" u="none" strike="noStrike" cap="none" dirty="0" err="1">
                <a:solidFill>
                  <a:srgbClr val="000000"/>
                </a:solidFill>
                <a:effectLst/>
                <a:latin typeface="Arial"/>
                <a:ea typeface="Arial"/>
                <a:cs typeface="Arial"/>
                <a:sym typeface="Arial"/>
              </a:rPr>
              <a:t>résultat</a:t>
            </a:r>
            <a:r>
              <a:rPr lang="en-GB" sz="1100" b="0" i="0" u="none" strike="noStrike" cap="none" dirty="0">
                <a:solidFill>
                  <a:srgbClr val="000000"/>
                </a:solidFill>
                <a:effectLst/>
                <a:latin typeface="Arial"/>
                <a:ea typeface="Arial"/>
                <a:cs typeface="Arial"/>
                <a:sym typeface="Arial"/>
              </a:rPr>
              <a:t> avec la </a:t>
            </a:r>
            <a:r>
              <a:rPr lang="en-GB" sz="1100" b="0" i="0" u="none" strike="noStrike" cap="none" dirty="0" err="1">
                <a:solidFill>
                  <a:srgbClr val="000000"/>
                </a:solidFill>
                <a:effectLst/>
                <a:latin typeface="Arial"/>
                <a:ea typeface="Arial"/>
                <a:cs typeface="Arial"/>
                <a:sym typeface="Arial"/>
              </a:rPr>
              <a:t>vraie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étiquette</a:t>
            </a:r>
            <a:r>
              <a:rPr lang="en-GB" sz="1100" b="0" i="0" u="none" strike="noStrike" cap="none" dirty="0">
                <a:solidFill>
                  <a:srgbClr val="000000"/>
                </a:solidFill>
                <a:effectLst/>
                <a:latin typeface="Arial"/>
                <a:ea typeface="Arial"/>
                <a:cs typeface="Arial"/>
                <a:sym typeface="Arial"/>
              </a:rPr>
              <a:t>. Pour la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utilisé</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Precision@K</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Recall@K</a:t>
            </a:r>
            <a:r>
              <a:rPr lang="en-GB" sz="1100" b="0" i="0" u="none" strike="noStrike" cap="none" dirty="0">
                <a:solidFill>
                  <a:srgbClr val="000000"/>
                </a:solidFill>
                <a:effectLst/>
                <a:latin typeface="Arial"/>
                <a:ea typeface="Arial"/>
                <a:cs typeface="Arial"/>
                <a:sym typeface="Arial"/>
              </a:rPr>
              <a:t> et F1@K pour </a:t>
            </a:r>
            <a:r>
              <a:rPr lang="en-GB" sz="1100" b="0" i="0" u="none" strike="noStrike" cap="none" dirty="0" err="1">
                <a:solidFill>
                  <a:srgbClr val="000000"/>
                </a:solidFill>
                <a:effectLst/>
                <a:latin typeface="Arial"/>
                <a:ea typeface="Arial"/>
                <a:cs typeface="Arial"/>
                <a:sym typeface="Arial"/>
              </a:rPr>
              <a:t>mesurer</a:t>
            </a:r>
            <a:r>
              <a:rPr lang="en-GB" sz="1100" b="0" i="0" u="none" strike="noStrike" cap="none" dirty="0">
                <a:solidFill>
                  <a:srgbClr val="000000"/>
                </a:solidFill>
                <a:effectLst/>
                <a:latin typeface="Arial"/>
                <a:ea typeface="Arial"/>
                <a:cs typeface="Arial"/>
                <a:sym typeface="Arial"/>
              </a:rPr>
              <a:t> la pertinence des K </a:t>
            </a:r>
            <a:r>
              <a:rPr lang="en-GB" sz="1100" b="0" i="0" u="none" strike="noStrike" cap="none" dirty="0" err="1">
                <a:solidFill>
                  <a:srgbClr val="000000"/>
                </a:solidFill>
                <a:effectLst/>
                <a:latin typeface="Arial"/>
                <a:ea typeface="Arial"/>
                <a:cs typeface="Arial"/>
                <a:sym typeface="Arial"/>
              </a:rPr>
              <a:t>recommandations</a:t>
            </a:r>
            <a:r>
              <a:rPr lang="en-GB" sz="1100" b="0" i="0" u="none" strike="noStrike" cap="none" dirty="0">
                <a:solidFill>
                  <a:srgbClr val="000000"/>
                </a:solidFill>
                <a:effectLst/>
                <a:latin typeface="Arial"/>
                <a:ea typeface="Arial"/>
                <a:cs typeface="Arial"/>
                <a:sym typeface="Arial"/>
              </a:rPr>
              <a:t>.</a:t>
            </a:r>
            <a:br>
              <a:rPr lang="en-GB" dirty="0"/>
            </a:br>
            <a:endParaRPr dirty="0"/>
          </a:p>
        </p:txBody>
      </p:sp>
    </p:spTree>
    <p:extLst>
      <p:ext uri="{BB962C8B-B14F-4D97-AF65-F5344CB8AC3E}">
        <p14:creationId xmlns:p14="http://schemas.microsoft.com/office/powerpoint/2010/main" val="41323067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637D0A42-34CA-1CCE-1D72-D57C73DEF1A8}"/>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EA87B306-2E74-8F3C-0AB9-DF4E4703E8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996D9F47-32D1-06E3-4D2C-D68DE52EFB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Sur </a:t>
            </a:r>
            <a:r>
              <a:rPr lang="en-GB" dirty="0" err="1"/>
              <a:t>ces</a:t>
            </a:r>
            <a:r>
              <a:rPr lang="en-GB" dirty="0"/>
              <a:t> datasets </a:t>
            </a:r>
            <a:r>
              <a:rPr lang="en-GB" dirty="0" err="1"/>
              <a:t>réels</a:t>
            </a:r>
            <a:r>
              <a:rPr lang="en-GB" dirty="0"/>
              <a:t>, on constate </a:t>
            </a:r>
            <a:r>
              <a:rPr lang="en-GB" dirty="0" err="1"/>
              <a:t>que</a:t>
            </a:r>
            <a:r>
              <a:rPr lang="en-GB" dirty="0"/>
              <a:t> la </a:t>
            </a:r>
            <a:r>
              <a:rPr lang="en-GB" dirty="0" err="1"/>
              <a:t>modularité</a:t>
            </a:r>
            <a:r>
              <a:rPr lang="en-GB" dirty="0"/>
              <a:t> est </a:t>
            </a:r>
            <a:r>
              <a:rPr lang="en-GB" dirty="0" err="1"/>
              <a:t>systématiquement</a:t>
            </a:r>
            <a:r>
              <a:rPr lang="en-GB" dirty="0"/>
              <a:t> plus </a:t>
            </a:r>
            <a:r>
              <a:rPr lang="en-GB" dirty="0" err="1"/>
              <a:t>élevée</a:t>
            </a:r>
            <a:r>
              <a:rPr lang="en-GB" dirty="0"/>
              <a:t> sur les grands réseaux (</a:t>
            </a:r>
            <a:r>
              <a:rPr lang="en-GB" dirty="0" err="1"/>
              <a:t>en</a:t>
            </a:r>
            <a:r>
              <a:rPr lang="en-GB" dirty="0"/>
              <a:t> rouge) </a:t>
            </a:r>
            <a:r>
              <a:rPr lang="en-GB" dirty="0" err="1"/>
              <a:t>que</a:t>
            </a:r>
            <a:r>
              <a:rPr lang="en-GB" dirty="0"/>
              <a:t> sur les petits (</a:t>
            </a:r>
            <a:r>
              <a:rPr lang="en-GB" dirty="0" err="1"/>
              <a:t>en</a:t>
            </a:r>
            <a:r>
              <a:rPr lang="en-GB" dirty="0"/>
              <a:t> bleu). Pour les grands réseaux, Louvain et Leiden se </a:t>
            </a:r>
            <a:r>
              <a:rPr lang="en-GB" dirty="0" err="1"/>
              <a:t>distinguent</a:t>
            </a:r>
            <a:r>
              <a:rPr lang="en-GB" dirty="0"/>
              <a:t> </a:t>
            </a:r>
            <a:r>
              <a:rPr lang="en-GB" dirty="0" err="1"/>
              <a:t>nettement</a:t>
            </a:r>
            <a:r>
              <a:rPr lang="en-GB" dirty="0"/>
              <a:t> </a:t>
            </a:r>
            <a:r>
              <a:rPr lang="en-GB" dirty="0" err="1"/>
              <a:t>en</a:t>
            </a:r>
            <a:r>
              <a:rPr lang="en-GB" dirty="0"/>
              <a:t> tête avec les </a:t>
            </a:r>
            <a:r>
              <a:rPr lang="en-GB" dirty="0" err="1"/>
              <a:t>meilleurs</a:t>
            </a:r>
            <a:r>
              <a:rPr lang="en-GB" dirty="0"/>
              <a:t> scores, </a:t>
            </a:r>
            <a:r>
              <a:rPr lang="en-GB" dirty="0" err="1"/>
              <a:t>tandis</a:t>
            </a:r>
            <a:r>
              <a:rPr lang="en-GB" dirty="0"/>
              <a:t> </a:t>
            </a:r>
            <a:r>
              <a:rPr lang="en-GB" dirty="0" err="1"/>
              <a:t>que</a:t>
            </a:r>
            <a:r>
              <a:rPr lang="en-GB" dirty="0"/>
              <a:t> MCL affiche la performance la plus </a:t>
            </a:r>
            <a:r>
              <a:rPr lang="en-GB" dirty="0" err="1"/>
              <a:t>faible</a:t>
            </a:r>
            <a:r>
              <a:rPr lang="en-GB" dirty="0"/>
              <a:t>.</a:t>
            </a:r>
            <a:endParaRPr lang="fr-FR" dirty="0"/>
          </a:p>
        </p:txBody>
      </p:sp>
    </p:spTree>
    <p:extLst>
      <p:ext uri="{BB962C8B-B14F-4D97-AF65-F5344CB8AC3E}">
        <p14:creationId xmlns:p14="http://schemas.microsoft.com/office/powerpoint/2010/main" val="2054538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D0AD48DC-B3F7-4A72-D09A-3E8F1EFB50E7}"/>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F41B0AF2-69D2-3374-F76D-9E5E2F6D67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7CD46180-35D1-7527-8394-CB9D710731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dirty="0"/>
              <a:t>Pour la NMI(</a:t>
            </a:r>
            <a:r>
              <a:rPr lang="en-GB" dirty="0" err="1"/>
              <a:t>en</a:t>
            </a:r>
            <a:r>
              <a:rPr lang="en-GB" dirty="0"/>
              <a:t> bleu)  et l ARI (</a:t>
            </a:r>
            <a:r>
              <a:rPr lang="en-GB" dirty="0" err="1"/>
              <a:t>en</a:t>
            </a:r>
            <a:r>
              <a:rPr lang="en-GB" dirty="0"/>
              <a:t> rouge) les scores </a:t>
            </a:r>
            <a:r>
              <a:rPr lang="en-GB" dirty="0" err="1"/>
              <a:t>sont</a:t>
            </a:r>
            <a:r>
              <a:rPr lang="en-GB" dirty="0"/>
              <a:t> bien </a:t>
            </a:r>
            <a:r>
              <a:rPr lang="en-GB" dirty="0" err="1"/>
              <a:t>meilleurs</a:t>
            </a:r>
            <a:r>
              <a:rPr lang="en-GB" dirty="0"/>
              <a:t> sur les petits réseaux </a:t>
            </a:r>
            <a:r>
              <a:rPr lang="en-GB" dirty="0" err="1"/>
              <a:t>que</a:t>
            </a:r>
            <a:r>
              <a:rPr lang="en-GB" dirty="0"/>
              <a:t> sur les grands, avec un-NMI </a:t>
            </a:r>
            <a:r>
              <a:rPr lang="en-GB" dirty="0" err="1"/>
              <a:t>toujours</a:t>
            </a:r>
            <a:r>
              <a:rPr lang="en-GB" dirty="0"/>
              <a:t> supérieur à </a:t>
            </a:r>
            <a:r>
              <a:rPr lang="en-GB" dirty="0" err="1"/>
              <a:t>l'ARI</a:t>
            </a:r>
            <a:r>
              <a:rPr lang="en-GB" dirty="0"/>
              <a:t>. De plus, sur les grands réseaux, le deep learning </a:t>
            </a:r>
            <a:r>
              <a:rPr lang="en-GB" dirty="0" err="1"/>
              <a:t>comme</a:t>
            </a:r>
            <a:r>
              <a:rPr lang="en-GB" dirty="0"/>
              <a:t> VGAE </a:t>
            </a:r>
            <a:r>
              <a:rPr lang="en-GB" dirty="0" err="1"/>
              <a:t>ou</a:t>
            </a:r>
            <a:r>
              <a:rPr lang="en-GB" dirty="0"/>
              <a:t> GAT </a:t>
            </a:r>
            <a:r>
              <a:rPr lang="en-GB" dirty="0" err="1"/>
              <a:t>s'effondre</a:t>
            </a:r>
            <a:r>
              <a:rPr lang="en-GB" dirty="0"/>
              <a:t> </a:t>
            </a:r>
            <a:r>
              <a:rPr lang="en-GB" dirty="0" err="1"/>
              <a:t>proche</a:t>
            </a:r>
            <a:r>
              <a:rPr lang="en-GB" dirty="0"/>
              <a:t> de </a:t>
            </a:r>
            <a:r>
              <a:rPr lang="en-GB" dirty="0" err="1"/>
              <a:t>zéro</a:t>
            </a:r>
            <a:r>
              <a:rPr lang="en-GB" dirty="0"/>
              <a:t>, </a:t>
            </a:r>
            <a:r>
              <a:rPr lang="en-GB" dirty="0" err="1"/>
              <a:t>alors</a:t>
            </a:r>
            <a:r>
              <a:rPr lang="en-GB" dirty="0"/>
              <a:t> </a:t>
            </a:r>
            <a:r>
              <a:rPr lang="en-GB" dirty="0" err="1"/>
              <a:t>que</a:t>
            </a:r>
            <a:r>
              <a:rPr lang="en-GB" dirty="0"/>
              <a:t> les </a:t>
            </a:r>
            <a:r>
              <a:rPr lang="en-GB" dirty="0" err="1"/>
              <a:t>algorithmes</a:t>
            </a:r>
            <a:r>
              <a:rPr lang="en-GB" dirty="0"/>
              <a:t> </a:t>
            </a:r>
            <a:r>
              <a:rPr lang="en-GB" dirty="0" err="1"/>
              <a:t>traditionnels</a:t>
            </a:r>
            <a:r>
              <a:rPr lang="en-GB" dirty="0"/>
              <a:t> </a:t>
            </a:r>
            <a:r>
              <a:rPr lang="en-GB" dirty="0" err="1"/>
              <a:t>comme</a:t>
            </a:r>
            <a:r>
              <a:rPr lang="en-GB" dirty="0"/>
              <a:t> LPA, </a:t>
            </a:r>
            <a:r>
              <a:rPr lang="en-GB" dirty="0" err="1"/>
              <a:t>Walktrap</a:t>
            </a:r>
            <a:r>
              <a:rPr lang="en-GB" dirty="0"/>
              <a:t> </a:t>
            </a:r>
            <a:r>
              <a:rPr lang="en-GB" dirty="0" err="1"/>
              <a:t>ou</a:t>
            </a:r>
            <a:r>
              <a:rPr lang="en-GB" dirty="0"/>
              <a:t> Louvain </a:t>
            </a:r>
            <a:r>
              <a:rPr lang="en-GB" dirty="0" err="1"/>
              <a:t>gardent</a:t>
            </a:r>
            <a:r>
              <a:rPr lang="en-GB" dirty="0"/>
              <a:t> la tête.</a:t>
            </a:r>
            <a:endParaRPr i="0" dirty="0"/>
          </a:p>
        </p:txBody>
      </p:sp>
    </p:spTree>
    <p:extLst>
      <p:ext uri="{BB962C8B-B14F-4D97-AF65-F5344CB8AC3E}">
        <p14:creationId xmlns:p14="http://schemas.microsoft.com/office/powerpoint/2010/main" val="1716714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6DB5B7D1-4B86-5BF7-C04C-62A3E771EF8D}"/>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A67E0920-02E3-28E0-AF5F-B04F7990CA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5FDC1A06-E431-7496-4C6D-7FB65014BC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0" dirty="0"/>
              <a:t>Sur les réseaux de 5000 </a:t>
            </a:r>
            <a:r>
              <a:rPr lang="en-GB" b="0" dirty="0" err="1"/>
              <a:t>nœuds</a:t>
            </a:r>
            <a:r>
              <a:rPr lang="en-GB" b="0" dirty="0"/>
              <a:t>, pour μ=0,3 </a:t>
            </a:r>
            <a:r>
              <a:rPr lang="en-GB" b="0" dirty="0" err="1"/>
              <a:t>presque</a:t>
            </a:r>
            <a:r>
              <a:rPr lang="en-GB" b="0" dirty="0"/>
              <a:t> </a:t>
            </a:r>
            <a:r>
              <a:rPr lang="en-GB" b="0" dirty="0" err="1"/>
              <a:t>tous</a:t>
            </a:r>
            <a:r>
              <a:rPr lang="en-GB" b="0" dirty="0"/>
              <a:t> les </a:t>
            </a:r>
            <a:r>
              <a:rPr lang="en-GB" b="0" dirty="0" err="1"/>
              <a:t>algorithmes</a:t>
            </a:r>
            <a:r>
              <a:rPr lang="en-GB" b="0" dirty="0"/>
              <a:t> </a:t>
            </a:r>
            <a:r>
              <a:rPr lang="en-GB" b="0" dirty="0" err="1"/>
              <a:t>classiques</a:t>
            </a:r>
            <a:r>
              <a:rPr lang="en-GB" b="0" dirty="0"/>
              <a:t> </a:t>
            </a:r>
            <a:r>
              <a:rPr lang="en-GB" b="0" dirty="0" err="1"/>
              <a:t>atteignent</a:t>
            </a:r>
            <a:r>
              <a:rPr lang="en-GB" b="0" dirty="0"/>
              <a:t> un NMI </a:t>
            </a:r>
            <a:r>
              <a:rPr lang="en-GB" b="0" dirty="0" err="1"/>
              <a:t>proche</a:t>
            </a:r>
            <a:r>
              <a:rPr lang="en-GB" b="0" dirty="0"/>
              <a:t> de 1. </a:t>
            </a:r>
            <a:r>
              <a:rPr lang="en-GB" b="0" dirty="0" err="1"/>
              <a:t>Dès</a:t>
            </a:r>
            <a:r>
              <a:rPr lang="en-GB" b="0" dirty="0"/>
              <a:t> </a:t>
            </a:r>
            <a:r>
              <a:rPr lang="en-GB" b="0" dirty="0" err="1"/>
              <a:t>que</a:t>
            </a:r>
            <a:r>
              <a:rPr lang="en-GB" b="0" dirty="0"/>
              <a:t> μ monte à 0,5, </a:t>
            </a:r>
            <a:r>
              <a:rPr lang="en-GB" b="0" dirty="0" err="1"/>
              <a:t>Infomap</a:t>
            </a:r>
            <a:r>
              <a:rPr lang="en-GB" b="0" dirty="0"/>
              <a:t> </a:t>
            </a:r>
            <a:r>
              <a:rPr lang="en-GB" b="0" dirty="0" err="1"/>
              <a:t>reste</a:t>
            </a:r>
            <a:r>
              <a:rPr lang="en-GB" b="0" dirty="0"/>
              <a:t> leader à 0,953, </a:t>
            </a:r>
            <a:r>
              <a:rPr lang="en-GB" b="0" dirty="0" err="1"/>
              <a:t>suivi</a:t>
            </a:r>
            <a:r>
              <a:rPr lang="en-GB" b="0" dirty="0"/>
              <a:t> de Leiden à 0,903 et Louvain à 0,899. Pour μ=0,7 tout le monde </a:t>
            </a:r>
            <a:r>
              <a:rPr lang="en-GB" b="0" dirty="0" err="1"/>
              <a:t>chutent</a:t>
            </a:r>
            <a:r>
              <a:rPr lang="en-GB" b="0" dirty="0"/>
              <a:t> : seuls </a:t>
            </a:r>
            <a:r>
              <a:rPr lang="en-GB" b="0" dirty="0" err="1"/>
              <a:t>Walktrap</a:t>
            </a:r>
            <a:r>
              <a:rPr lang="en-GB" b="0" dirty="0"/>
              <a:t> et </a:t>
            </a:r>
            <a:r>
              <a:rPr lang="en-GB" b="0" dirty="0" err="1"/>
              <a:t>Infomap</a:t>
            </a:r>
            <a:r>
              <a:rPr lang="en-GB" b="0" dirty="0"/>
              <a:t> </a:t>
            </a:r>
            <a:r>
              <a:rPr lang="en-GB" b="0" dirty="0" err="1"/>
              <a:t>dépassent</a:t>
            </a:r>
            <a:r>
              <a:rPr lang="en-GB" b="0" dirty="0"/>
              <a:t> 0,19. </a:t>
            </a:r>
            <a:endParaRPr b="0" dirty="0"/>
          </a:p>
        </p:txBody>
      </p:sp>
    </p:spTree>
    <p:extLst>
      <p:ext uri="{BB962C8B-B14F-4D97-AF65-F5344CB8AC3E}">
        <p14:creationId xmlns:p14="http://schemas.microsoft.com/office/powerpoint/2010/main" val="2749835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7AA4D23F-EF66-0823-168E-0C1E09896196}"/>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272DDC15-0A7C-94D5-473B-5DB571D237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7C81F72E-950A-A536-D351-32D1B527B7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fr-FR" dirty="0"/>
              <a:t>Sur 10 000 et 50 000 nœuds, pour μ=0,3, Louvain, Leiden et </a:t>
            </a:r>
            <a:r>
              <a:rPr lang="fr-FR" dirty="0" err="1"/>
              <a:t>Infomap</a:t>
            </a:r>
            <a:r>
              <a:rPr lang="fr-FR" dirty="0"/>
              <a:t> atteignent un NMI parfait de 1,000. Pour μ=0,5, </a:t>
            </a:r>
            <a:r>
              <a:rPr lang="fr-FR" dirty="0" err="1"/>
              <a:t>Infomap</a:t>
            </a:r>
            <a:r>
              <a:rPr lang="fr-FR" dirty="0"/>
              <a:t> est le meilleur. Louvain et Leiden suivent de près, mais </a:t>
            </a:r>
            <a:r>
              <a:rPr lang="fr-FR" dirty="0" err="1"/>
              <a:t>FluidC</a:t>
            </a:r>
            <a:r>
              <a:rPr lang="fr-FR" dirty="0"/>
              <a:t> décroche sur les grands réseaux.</a:t>
            </a:r>
            <a:endParaRPr dirty="0"/>
          </a:p>
        </p:txBody>
      </p:sp>
    </p:spTree>
    <p:extLst>
      <p:ext uri="{BB962C8B-B14F-4D97-AF65-F5344CB8AC3E}">
        <p14:creationId xmlns:p14="http://schemas.microsoft.com/office/powerpoint/2010/main" val="4870892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424754DB-2432-CF24-6064-17285EE2809E}"/>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A466B3B7-C8F8-D900-DAA8-C237FA3E83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07FC917F-54D3-C8AF-633A-AF30FD9437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0" u="none" strike="noStrike" cap="none" dirty="0">
                <a:solidFill>
                  <a:srgbClr val="000000"/>
                </a:solidFill>
                <a:effectLst/>
                <a:latin typeface="Arial"/>
                <a:ea typeface="Arial"/>
                <a:cs typeface="Arial"/>
                <a:sym typeface="Arial"/>
              </a:rPr>
              <a:t>Sur 100 000 </a:t>
            </a:r>
            <a:r>
              <a:rPr lang="en-GB" sz="1100" b="0" i="0" u="none" strike="noStrike" cap="none" dirty="0" err="1">
                <a:solidFill>
                  <a:srgbClr val="000000"/>
                </a:solidFill>
                <a:effectLst/>
                <a:latin typeface="Arial"/>
                <a:ea typeface="Arial"/>
                <a:cs typeface="Arial"/>
                <a:sym typeface="Arial"/>
              </a:rPr>
              <a:t>nœuds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Infomap</a:t>
            </a:r>
            <a:r>
              <a:rPr lang="en-GB" sz="1100" b="0" i="0" u="none" strike="noStrike" cap="none" dirty="0">
                <a:solidFill>
                  <a:srgbClr val="000000"/>
                </a:solidFill>
                <a:effectLst/>
                <a:latin typeface="Arial"/>
                <a:ea typeface="Arial"/>
                <a:cs typeface="Arial"/>
                <a:sym typeface="Arial"/>
              </a:rPr>
              <a:t> est le </a:t>
            </a:r>
            <a:r>
              <a:rPr lang="en-GB" sz="1100" b="0" i="0" u="none" strike="noStrike" cap="none" dirty="0" err="1">
                <a:solidFill>
                  <a:srgbClr val="000000"/>
                </a:solidFill>
                <a:effectLst/>
                <a:latin typeface="Arial"/>
                <a:ea typeface="Arial"/>
                <a:cs typeface="Arial"/>
                <a:sym typeface="Arial"/>
              </a:rPr>
              <a:t>meilleur</a:t>
            </a:r>
            <a:r>
              <a:rPr lang="en-GB" sz="1100" b="0" i="0" u="none" strike="noStrike" cap="none" dirty="0">
                <a:solidFill>
                  <a:srgbClr val="000000"/>
                </a:solidFill>
                <a:effectLst/>
                <a:latin typeface="Arial"/>
                <a:ea typeface="Arial"/>
                <a:cs typeface="Arial"/>
                <a:sym typeface="Arial"/>
              </a:rPr>
              <a:t> (0,998 à μ=0,3 et 0,911 à μ=0,5). Louvain et Leiden </a:t>
            </a:r>
            <a:r>
              <a:rPr lang="en-GB" sz="1100" b="0" i="0" u="none" strike="noStrike" cap="none" dirty="0" err="1">
                <a:solidFill>
                  <a:srgbClr val="000000"/>
                </a:solidFill>
                <a:effectLst/>
                <a:latin typeface="Arial"/>
                <a:ea typeface="Arial"/>
                <a:cs typeface="Arial"/>
                <a:sym typeface="Arial"/>
              </a:rPr>
              <a:t>suivent</a:t>
            </a:r>
            <a:r>
              <a:rPr lang="en-GB" sz="1100" b="0" i="0" u="none" strike="noStrike" cap="none" dirty="0">
                <a:solidFill>
                  <a:srgbClr val="000000"/>
                </a:solidFill>
                <a:effectLst/>
                <a:latin typeface="Arial"/>
                <a:ea typeface="Arial"/>
                <a:cs typeface="Arial"/>
                <a:sym typeface="Arial"/>
              </a:rPr>
              <a:t> de près. </a:t>
            </a:r>
            <a:r>
              <a:rPr lang="en-GB" sz="1100" b="0" i="0" u="none" strike="noStrike" cap="none" dirty="0" err="1">
                <a:solidFill>
                  <a:srgbClr val="000000"/>
                </a:solidFill>
                <a:effectLst/>
                <a:latin typeface="Arial"/>
                <a:ea typeface="Arial"/>
                <a:cs typeface="Arial"/>
                <a:sym typeface="Arial"/>
              </a:rPr>
              <a:t>FluidC</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décroche</a:t>
            </a:r>
            <a:r>
              <a:rPr lang="en-GB" sz="1100" b="0" i="0" u="none" strike="noStrike" cap="none" dirty="0">
                <a:solidFill>
                  <a:srgbClr val="000000"/>
                </a:solidFill>
                <a:effectLst/>
                <a:latin typeface="Arial"/>
                <a:ea typeface="Arial"/>
                <a:cs typeface="Arial"/>
                <a:sym typeface="Arial"/>
              </a:rPr>
              <a:t> à 0,172. </a:t>
            </a:r>
            <a:r>
              <a:rPr lang="en-GB" sz="1100" b="0" i="0" u="none" strike="noStrike" cap="none" dirty="0" err="1">
                <a:solidFill>
                  <a:srgbClr val="000000"/>
                </a:solidFill>
                <a:effectLst/>
                <a:latin typeface="Arial"/>
                <a:ea typeface="Arial"/>
                <a:cs typeface="Arial"/>
                <a:sym typeface="Arial"/>
              </a:rPr>
              <a:t>Ces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résultats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ont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orienté</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notre</a:t>
            </a:r>
            <a:r>
              <a:rPr lang="en-GB" sz="1100" b="0" i="0" u="none" strike="noStrike" cap="none" dirty="0">
                <a:solidFill>
                  <a:srgbClr val="000000"/>
                </a:solidFill>
                <a:effectLst/>
                <a:latin typeface="Arial"/>
                <a:ea typeface="Arial"/>
                <a:cs typeface="Arial"/>
                <a:sym typeface="Arial"/>
              </a:rPr>
              <a:t> choix pour la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a:t>
            </a:r>
            <a:endParaRPr i="0" dirty="0"/>
          </a:p>
        </p:txBody>
      </p:sp>
    </p:spTree>
    <p:extLst>
      <p:ext uri="{BB962C8B-B14F-4D97-AF65-F5344CB8AC3E}">
        <p14:creationId xmlns:p14="http://schemas.microsoft.com/office/powerpoint/2010/main" val="24345865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020B11AC-E9F6-6D9A-2AD3-052EB78B7395}"/>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5B37AFF2-EE67-B839-8B49-411FB0AD36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732CCA73-8E0F-5FE7-72B7-C8FB30A27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0" u="none" strike="noStrike" cap="none" dirty="0">
                <a:solidFill>
                  <a:srgbClr val="000000"/>
                </a:solidFill>
                <a:effectLst/>
                <a:latin typeface="Arial"/>
                <a:ea typeface="Arial"/>
                <a:cs typeface="Arial"/>
                <a:sym typeface="Arial"/>
              </a:rPr>
              <a:t>Nous </a:t>
            </a:r>
            <a:r>
              <a:rPr lang="en-GB" sz="1100" b="0" i="0" u="none" strike="noStrike" cap="none" dirty="0" err="1">
                <a:solidFill>
                  <a:srgbClr val="000000"/>
                </a:solidFill>
                <a:effectLst/>
                <a:latin typeface="Arial"/>
                <a:ea typeface="Arial"/>
                <a:cs typeface="Arial"/>
                <a:sym typeface="Arial"/>
              </a:rPr>
              <a:t>avons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optimisé</a:t>
            </a:r>
            <a:r>
              <a:rPr lang="en-GB" sz="1100" b="0" i="0" u="none" strike="noStrike" cap="none" dirty="0">
                <a:solidFill>
                  <a:srgbClr val="000000"/>
                </a:solidFill>
                <a:effectLst/>
                <a:latin typeface="Arial"/>
                <a:ea typeface="Arial"/>
                <a:cs typeface="Arial"/>
                <a:sym typeface="Arial"/>
              </a:rPr>
              <a:t> trois </a:t>
            </a:r>
            <a:r>
              <a:rPr lang="en-GB" sz="1100" b="0" i="0" u="none" strike="noStrike" cap="none" dirty="0" err="1">
                <a:solidFill>
                  <a:srgbClr val="000000"/>
                </a:solidFill>
                <a:effectLst/>
                <a:latin typeface="Arial"/>
                <a:ea typeface="Arial"/>
                <a:cs typeface="Arial"/>
                <a:sym typeface="Arial"/>
              </a:rPr>
              <a:t>modèles</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ALS a le plus </a:t>
            </a:r>
            <a:r>
              <a:rPr lang="en-GB" sz="1100" b="0" i="0" u="none" strike="noStrike" cap="none" dirty="0" err="1">
                <a:solidFill>
                  <a:srgbClr val="000000"/>
                </a:solidFill>
                <a:effectLst/>
                <a:latin typeface="Arial"/>
                <a:ea typeface="Arial"/>
                <a:cs typeface="Arial"/>
                <a:sym typeface="Arial"/>
              </a:rPr>
              <a:t>progressé</a:t>
            </a:r>
            <a:r>
              <a:rPr lang="en-GB" sz="1100" b="0" i="0" u="none" strike="noStrike" cap="none" dirty="0">
                <a:solidFill>
                  <a:srgbClr val="000000"/>
                </a:solidFill>
                <a:effectLst/>
                <a:latin typeface="Arial"/>
                <a:ea typeface="Arial"/>
                <a:cs typeface="Arial"/>
                <a:sym typeface="Arial"/>
              </a:rPr>
              <a:t> : le F1@5 est passé de 0,149 à 0,371 </a:t>
            </a:r>
            <a:r>
              <a:rPr lang="en-GB" sz="1100" b="0" i="0" u="none" strike="noStrike" cap="none" dirty="0" err="1">
                <a:solidFill>
                  <a:srgbClr val="000000"/>
                </a:solidFill>
                <a:effectLst/>
                <a:latin typeface="Arial"/>
                <a:ea typeface="Arial"/>
                <a:cs typeface="Arial"/>
                <a:sym typeface="Arial"/>
              </a:rPr>
              <a:t>en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augmentant</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facteurs</a:t>
            </a:r>
            <a:r>
              <a:rPr lang="en-GB" sz="1100" b="0" i="0" u="none" strike="noStrike" cap="none" dirty="0">
                <a:solidFill>
                  <a:srgbClr val="000000"/>
                </a:solidFill>
                <a:effectLst/>
                <a:latin typeface="Arial"/>
                <a:ea typeface="Arial"/>
                <a:cs typeface="Arial"/>
                <a:sym typeface="Arial"/>
              </a:rPr>
              <a:t> de 20 à 100. BM25 a </a:t>
            </a:r>
            <a:r>
              <a:rPr lang="en-GB" sz="1100" b="0" i="0" u="none" strike="noStrike" cap="none" dirty="0" err="1">
                <a:solidFill>
                  <a:srgbClr val="000000"/>
                </a:solidFill>
                <a:effectLst/>
                <a:latin typeface="Arial"/>
                <a:ea typeface="Arial"/>
                <a:cs typeface="Arial"/>
                <a:sym typeface="Arial"/>
              </a:rPr>
              <a:t>légèrement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augmenté</a:t>
            </a:r>
            <a:r>
              <a:rPr lang="en-GB" sz="1100" b="0" i="0" u="none" strike="noStrike" cap="none" dirty="0">
                <a:solidFill>
                  <a:srgbClr val="000000"/>
                </a:solidFill>
                <a:effectLst/>
                <a:latin typeface="Arial"/>
                <a:ea typeface="Arial"/>
                <a:cs typeface="Arial"/>
                <a:sym typeface="Arial"/>
              </a:rPr>
              <a:t> (0,178 à 0,211). SVD est </a:t>
            </a:r>
            <a:r>
              <a:rPr lang="en-GB" sz="1100" b="0" i="0" u="none" strike="noStrike" cap="none" dirty="0" err="1">
                <a:solidFill>
                  <a:srgbClr val="000000"/>
                </a:solidFill>
                <a:effectLst/>
                <a:latin typeface="Arial"/>
                <a:ea typeface="Arial"/>
                <a:cs typeface="Arial"/>
                <a:sym typeface="Arial"/>
              </a:rPr>
              <a:t>resté</a:t>
            </a:r>
            <a:r>
              <a:rPr lang="en-GB" sz="1100" b="0" i="0" u="none" strike="noStrike" cap="none" dirty="0">
                <a:solidFill>
                  <a:srgbClr val="000000"/>
                </a:solidFill>
                <a:effectLst/>
                <a:latin typeface="Arial"/>
                <a:ea typeface="Arial"/>
                <a:cs typeface="Arial"/>
                <a:sym typeface="Arial"/>
              </a:rPr>
              <a:t> stable à 0,277, </a:t>
            </a:r>
            <a:r>
              <a:rPr lang="en-GB" sz="1100" b="0" i="0" u="none" strike="noStrike" cap="none" dirty="0" err="1">
                <a:solidFill>
                  <a:srgbClr val="000000"/>
                </a:solidFill>
                <a:effectLst/>
                <a:latin typeface="Arial"/>
                <a:ea typeface="Arial"/>
                <a:cs typeface="Arial"/>
                <a:sym typeface="Arial"/>
              </a:rPr>
              <a:t>moins</a:t>
            </a:r>
            <a:r>
              <a:rPr lang="en-GB" sz="1100" b="0" i="0" u="none" strike="noStrike" cap="none" dirty="0">
                <a:solidFill>
                  <a:srgbClr val="000000"/>
                </a:solidFill>
                <a:effectLst/>
                <a:latin typeface="Arial"/>
                <a:ea typeface="Arial"/>
                <a:cs typeface="Arial"/>
                <a:sym typeface="Arial"/>
              </a:rPr>
              <a:t> sensible aux </a:t>
            </a:r>
            <a:r>
              <a:rPr lang="en-GB" sz="1100" b="0" i="0" u="none" strike="noStrike" cap="none" dirty="0" err="1">
                <a:solidFill>
                  <a:srgbClr val="000000"/>
                </a:solidFill>
                <a:effectLst/>
                <a:latin typeface="Arial"/>
                <a:ea typeface="Arial"/>
                <a:cs typeface="Arial"/>
                <a:sym typeface="Arial"/>
              </a:rPr>
              <a:t>réglages</a:t>
            </a:r>
            <a:r>
              <a:rPr lang="en-GB" sz="1100" b="0" i="0" u="none" strike="noStrike" cap="none" dirty="0">
                <a:solidFill>
                  <a:srgbClr val="000000"/>
                </a:solidFill>
                <a:effectLst/>
                <a:latin typeface="Arial"/>
                <a:ea typeface="Arial"/>
                <a:cs typeface="Arial"/>
                <a:sym typeface="Arial"/>
              </a:rPr>
              <a:t>.</a:t>
            </a:r>
            <a:endParaRPr i="0" dirty="0"/>
          </a:p>
        </p:txBody>
      </p:sp>
    </p:spTree>
    <p:extLst>
      <p:ext uri="{BB962C8B-B14F-4D97-AF65-F5344CB8AC3E}">
        <p14:creationId xmlns:p14="http://schemas.microsoft.com/office/powerpoint/2010/main" val="33158662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225FE6A0-F71D-2A35-1B3F-0F68700A3B76}"/>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7EA0E642-4375-8C6D-265F-FD3028B00C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A4D27BB1-40DA-8135-C6BB-B6B704F438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b="0" dirty="0"/>
              <a:t>Sur ce graphique, nous mesurons le Recall@10, c'est-à-dire la capacité du système à retrouver les articles pertinents parmi les recommandations. Nous avons deux lignes de référence : la ligne verte représente le modèle User-User avec 0,218, et la ligne rouge Item-Item avec 0,177. Tout ce qui dépasse ces lignes est un gain réel. ALS hybride, en violet avec Louvain et Leiden, atteint 0,395, soit +80,7 % au-dessus de la référence User-User. Même BM25 et SVD dépassent les deux références dans tous les cas.</a:t>
            </a:r>
            <a:endParaRPr b="0" dirty="0"/>
          </a:p>
        </p:txBody>
      </p:sp>
    </p:spTree>
    <p:extLst>
      <p:ext uri="{BB962C8B-B14F-4D97-AF65-F5344CB8AC3E}">
        <p14:creationId xmlns:p14="http://schemas.microsoft.com/office/powerpoint/2010/main" val="8975381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08984B35-E1CC-34C6-896D-1441236D35BC}"/>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BD67B7B6-A23B-D9CC-E421-D3FB76E365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3DE13C0B-380F-9454-ED05-03295DA5155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sz="1100" b="0" i="1" u="none" strike="noStrike" cap="none" dirty="0">
                <a:solidFill>
                  <a:srgbClr val="000000"/>
                </a:solidFill>
                <a:effectLst/>
                <a:latin typeface="Arial"/>
                <a:ea typeface="Arial"/>
                <a:cs typeface="Arial"/>
                <a:sym typeface="Arial"/>
              </a:rPr>
              <a:t>Ce </a:t>
            </a:r>
            <a:r>
              <a:rPr lang="en-GB" sz="1100" b="0" i="1" u="none" strike="noStrike" cap="none" dirty="0" err="1">
                <a:solidFill>
                  <a:srgbClr val="000000"/>
                </a:solidFill>
                <a:effectLst/>
                <a:latin typeface="Arial"/>
                <a:ea typeface="Arial"/>
                <a:cs typeface="Arial"/>
                <a:sym typeface="Arial"/>
              </a:rPr>
              <a:t>graphique</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mesure</a:t>
            </a:r>
            <a:r>
              <a:rPr lang="en-GB" sz="1100" b="0" i="1" u="none" strike="noStrike" cap="none" dirty="0">
                <a:solidFill>
                  <a:srgbClr val="000000"/>
                </a:solidFill>
                <a:effectLst/>
                <a:latin typeface="Arial"/>
                <a:ea typeface="Arial"/>
                <a:cs typeface="Arial"/>
                <a:sym typeface="Arial"/>
              </a:rPr>
              <a:t> le F1@10, qui </a:t>
            </a:r>
            <a:r>
              <a:rPr lang="en-GB" sz="1100" b="0" i="1" u="none" strike="noStrike" cap="none" dirty="0" err="1">
                <a:solidFill>
                  <a:srgbClr val="000000"/>
                </a:solidFill>
                <a:effectLst/>
                <a:latin typeface="Arial"/>
                <a:ea typeface="Arial"/>
                <a:cs typeface="Arial"/>
                <a:sym typeface="Arial"/>
              </a:rPr>
              <a:t>équilibre</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précision</a:t>
            </a:r>
            <a:r>
              <a:rPr lang="en-GB" sz="1100" b="0" i="1" u="none" strike="noStrike" cap="none" dirty="0">
                <a:solidFill>
                  <a:srgbClr val="000000"/>
                </a:solidFill>
                <a:effectLst/>
                <a:latin typeface="Arial"/>
                <a:ea typeface="Arial"/>
                <a:cs typeface="Arial"/>
                <a:sym typeface="Arial"/>
              </a:rPr>
              <a:t> et rappel. Les </a:t>
            </a:r>
            <a:r>
              <a:rPr lang="en-GB" sz="1100" b="0" i="1" u="none" strike="noStrike" cap="none" dirty="0" err="1">
                <a:solidFill>
                  <a:srgbClr val="000000"/>
                </a:solidFill>
                <a:effectLst/>
                <a:latin typeface="Arial"/>
                <a:ea typeface="Arial"/>
                <a:cs typeface="Arial"/>
                <a:sym typeface="Arial"/>
              </a:rPr>
              <a:t>références</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sont</a:t>
            </a:r>
            <a:r>
              <a:rPr lang="en-GB" sz="1100" b="0" i="1" u="none" strike="noStrike" cap="none" dirty="0">
                <a:solidFill>
                  <a:srgbClr val="000000"/>
                </a:solidFill>
                <a:effectLst/>
                <a:latin typeface="Arial"/>
                <a:ea typeface="Arial"/>
                <a:cs typeface="Arial"/>
                <a:sym typeface="Arial"/>
              </a:rPr>
              <a:t> User-User à 0,268 et Item-Item à 0,238. ALS </a:t>
            </a:r>
            <a:r>
              <a:rPr lang="en-GB" sz="1100" b="0" i="1" u="none" strike="noStrike" cap="none" dirty="0" err="1">
                <a:solidFill>
                  <a:srgbClr val="000000"/>
                </a:solidFill>
                <a:effectLst/>
                <a:latin typeface="Arial"/>
                <a:ea typeface="Arial"/>
                <a:cs typeface="Arial"/>
                <a:sym typeface="Arial"/>
              </a:rPr>
              <a:t>hybride</a:t>
            </a:r>
            <a:r>
              <a:rPr lang="en-GB" sz="1100" b="0" i="1" u="none" strike="noStrike" cap="none" dirty="0">
                <a:solidFill>
                  <a:srgbClr val="000000"/>
                </a:solidFill>
                <a:effectLst/>
                <a:latin typeface="Arial"/>
                <a:ea typeface="Arial"/>
                <a:cs typeface="Arial"/>
                <a:sym typeface="Arial"/>
              </a:rPr>
              <a:t> (violet) les </a:t>
            </a:r>
            <a:r>
              <a:rPr lang="en-GB" sz="1100" b="0" i="1" u="none" strike="noStrike" cap="none" dirty="0" err="1">
                <a:solidFill>
                  <a:srgbClr val="000000"/>
                </a:solidFill>
                <a:effectLst/>
                <a:latin typeface="Arial"/>
                <a:ea typeface="Arial"/>
                <a:cs typeface="Arial"/>
                <a:sym typeface="Arial"/>
              </a:rPr>
              <a:t>dépasse</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largement</a:t>
            </a:r>
            <a:r>
              <a:rPr lang="en-GB" sz="1100" b="0" i="1" u="none" strike="noStrike" cap="none" dirty="0">
                <a:solidFill>
                  <a:srgbClr val="000000"/>
                </a:solidFill>
                <a:effectLst/>
                <a:latin typeface="Arial"/>
                <a:ea typeface="Arial"/>
                <a:cs typeface="Arial"/>
                <a:sym typeface="Arial"/>
              </a:rPr>
              <a:t> avec 0,478, soit +78,2 %. SVD </a:t>
            </a:r>
            <a:r>
              <a:rPr lang="en-GB" sz="1100" b="0" i="1" u="none" strike="noStrike" cap="none" dirty="0" err="1">
                <a:solidFill>
                  <a:srgbClr val="000000"/>
                </a:solidFill>
                <a:effectLst/>
                <a:latin typeface="Arial"/>
                <a:ea typeface="Arial"/>
                <a:cs typeface="Arial"/>
                <a:sym typeface="Arial"/>
              </a:rPr>
              <a:t>atteint</a:t>
            </a:r>
            <a:r>
              <a:rPr lang="en-GB" sz="1100" b="0" i="1" u="none" strike="noStrike" cap="none" dirty="0">
                <a:solidFill>
                  <a:srgbClr val="000000"/>
                </a:solidFill>
                <a:effectLst/>
                <a:latin typeface="Arial"/>
                <a:ea typeface="Arial"/>
                <a:cs typeface="Arial"/>
                <a:sym typeface="Arial"/>
              </a:rPr>
              <a:t> 0,339 avec Louvain (+26,4 %). </a:t>
            </a:r>
            <a:r>
              <a:rPr lang="en-GB" sz="1100" b="0" i="1" u="none" strike="noStrike" cap="none" dirty="0" err="1">
                <a:solidFill>
                  <a:srgbClr val="000000"/>
                </a:solidFill>
                <a:effectLst/>
                <a:latin typeface="Arial"/>
                <a:ea typeface="Arial"/>
                <a:cs typeface="Arial"/>
                <a:sym typeface="Arial"/>
              </a:rPr>
              <a:t>L'intégration</a:t>
            </a:r>
            <a:r>
              <a:rPr lang="en-GB" sz="1100" b="0" i="1" u="none" strike="noStrike" cap="none" dirty="0">
                <a:solidFill>
                  <a:srgbClr val="000000"/>
                </a:solidFill>
                <a:effectLst/>
                <a:latin typeface="Arial"/>
                <a:ea typeface="Arial"/>
                <a:cs typeface="Arial"/>
                <a:sym typeface="Arial"/>
              </a:rPr>
              <a:t> des </a:t>
            </a:r>
            <a:r>
              <a:rPr lang="en-GB" sz="1100" b="0" i="1" u="none" strike="noStrike" cap="none" dirty="0" err="1">
                <a:solidFill>
                  <a:srgbClr val="000000"/>
                </a:solidFill>
                <a:effectLst/>
                <a:latin typeface="Arial"/>
                <a:ea typeface="Arial"/>
                <a:cs typeface="Arial"/>
                <a:sym typeface="Arial"/>
              </a:rPr>
              <a:t>communautés</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améliore</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donc</a:t>
            </a:r>
            <a:r>
              <a:rPr lang="en-GB" sz="1100" b="0" i="1" u="none" strike="noStrike" cap="none" dirty="0">
                <a:solidFill>
                  <a:srgbClr val="000000"/>
                </a:solidFill>
                <a:effectLst/>
                <a:latin typeface="Arial"/>
                <a:ea typeface="Arial"/>
                <a:cs typeface="Arial"/>
                <a:sym typeface="Arial"/>
              </a:rPr>
              <a:t> </a:t>
            </a:r>
            <a:r>
              <a:rPr lang="en-GB" sz="1100" b="0" i="1" u="none" strike="noStrike" cap="none" dirty="0" err="1">
                <a:solidFill>
                  <a:srgbClr val="000000"/>
                </a:solidFill>
                <a:effectLst/>
                <a:latin typeface="Arial"/>
                <a:ea typeface="Arial"/>
                <a:cs typeface="Arial"/>
                <a:sym typeface="Arial"/>
              </a:rPr>
              <a:t>tous</a:t>
            </a:r>
            <a:r>
              <a:rPr lang="en-GB" sz="1100" b="0" i="1" u="none" strike="noStrike" cap="none" dirty="0">
                <a:solidFill>
                  <a:srgbClr val="000000"/>
                </a:solidFill>
                <a:effectLst/>
                <a:latin typeface="Arial"/>
                <a:ea typeface="Arial"/>
                <a:cs typeface="Arial"/>
                <a:sym typeface="Arial"/>
              </a:rPr>
              <a:t> les </a:t>
            </a:r>
            <a:r>
              <a:rPr lang="en-GB" sz="1100" b="0" i="1" u="none" strike="noStrike" cap="none" dirty="0" err="1">
                <a:solidFill>
                  <a:srgbClr val="000000"/>
                </a:solidFill>
                <a:effectLst/>
                <a:latin typeface="Arial"/>
                <a:ea typeface="Arial"/>
                <a:cs typeface="Arial"/>
                <a:sym typeface="Arial"/>
              </a:rPr>
              <a:t>modèles</a:t>
            </a:r>
            <a:r>
              <a:rPr lang="en-GB" sz="1100" b="0" i="1" u="none" strike="noStrike" cap="none" dirty="0">
                <a:solidFill>
                  <a:srgbClr val="000000"/>
                </a:solidFill>
                <a:effectLst/>
                <a:latin typeface="Arial"/>
                <a:ea typeface="Arial"/>
                <a:cs typeface="Arial"/>
                <a:sym typeface="Arial"/>
              </a:rPr>
              <a:t>, sans exception</a:t>
            </a:r>
            <a:endParaRPr dirty="0"/>
          </a:p>
        </p:txBody>
      </p:sp>
    </p:spTree>
    <p:extLst>
      <p:ext uri="{BB962C8B-B14F-4D97-AF65-F5344CB8AC3E}">
        <p14:creationId xmlns:p14="http://schemas.microsoft.com/office/powerpoint/2010/main" val="903905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0"/>
        <p:cNvGrpSpPr/>
        <p:nvPr/>
      </p:nvGrpSpPr>
      <p:grpSpPr>
        <a:xfrm>
          <a:off x="0" y="0"/>
          <a:ext cx="0" cy="0"/>
          <a:chOff x="0" y="0"/>
          <a:chExt cx="0" cy="0"/>
        </a:xfrm>
      </p:grpSpPr>
      <p:sp>
        <p:nvSpPr>
          <p:cNvPr id="1501" name="Google Shape;1501;g54dda1946d_6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502" name="Google Shape;1502;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GB" b="0" i="0" dirty="0"/>
              <a:t>Nous </a:t>
            </a:r>
            <a:r>
              <a:rPr lang="en-GB" b="0" i="0" dirty="0" err="1"/>
              <a:t>allons</a:t>
            </a:r>
            <a:r>
              <a:rPr lang="en-GB" b="0" i="0" dirty="0"/>
              <a:t> </a:t>
            </a:r>
            <a:r>
              <a:rPr lang="en-GB" b="0" i="0" dirty="0" err="1"/>
              <a:t>maintenant</a:t>
            </a:r>
            <a:r>
              <a:rPr lang="en-GB" b="0" i="0" dirty="0"/>
              <a:t> passer à la </a:t>
            </a:r>
            <a:r>
              <a:rPr lang="en-GB" b="0" i="0" dirty="0" err="1"/>
              <a:t>démonstration</a:t>
            </a:r>
            <a:r>
              <a:rPr lang="en-GB" b="0" i="0" dirty="0"/>
              <a:t> de </a:t>
            </a:r>
            <a:r>
              <a:rPr lang="en-GB" b="0" i="0" dirty="0" err="1"/>
              <a:t>l'application</a:t>
            </a:r>
            <a:r>
              <a:rPr lang="en-GB" b="0" i="0" dirty="0"/>
              <a:t> web </a:t>
            </a:r>
            <a:r>
              <a:rPr lang="en-GB" b="0" i="0" dirty="0" err="1"/>
              <a:t>que</a:t>
            </a:r>
            <a:r>
              <a:rPr lang="en-GB" b="0" i="0" dirty="0"/>
              <a:t> </a:t>
            </a:r>
            <a:r>
              <a:rPr lang="en-GB" b="0" i="0" dirty="0" err="1"/>
              <a:t>j'ai</a:t>
            </a:r>
            <a:r>
              <a:rPr lang="en-GB" b="0" i="0" dirty="0"/>
              <a:t> </a:t>
            </a:r>
            <a:r>
              <a:rPr lang="en-GB" b="0" i="0" dirty="0" err="1"/>
              <a:t>développée</a:t>
            </a:r>
            <a:r>
              <a:rPr lang="en-GB" b="0" i="0" dirty="0"/>
              <a:t>.</a:t>
            </a:r>
            <a:endParaRPr b="0" i="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20E8FD6F-8521-D1D8-29BB-1EFD815BC0DB}"/>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022C031E-AE89-8020-8C1B-5CDD05730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5BB7FDB2-BEE1-80AF-AEE8-BE2CDD105B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GB" sz="1100" b="0" i="0" u="none" strike="noStrike" cap="none" dirty="0">
                <a:solidFill>
                  <a:srgbClr val="000000"/>
                </a:solidFill>
                <a:effectLst/>
                <a:latin typeface="Arial"/>
                <a:ea typeface="Arial"/>
                <a:cs typeface="Arial"/>
                <a:sym typeface="Arial"/>
              </a:rPr>
              <a:t>Pour </a:t>
            </a:r>
            <a:r>
              <a:rPr lang="en-GB" sz="1100" b="0" i="0" u="none" strike="noStrike" cap="none" dirty="0" err="1">
                <a:solidFill>
                  <a:srgbClr val="000000"/>
                </a:solidFill>
                <a:effectLst/>
                <a:latin typeface="Arial"/>
                <a:ea typeface="Arial"/>
                <a:cs typeface="Arial"/>
                <a:sym typeface="Arial"/>
              </a:rPr>
              <a:t>conclure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projet</a:t>
            </a:r>
            <a:r>
              <a:rPr lang="en-GB" sz="1100" b="0" i="0" u="none" strike="noStrike" cap="none" dirty="0">
                <a:solidFill>
                  <a:srgbClr val="000000"/>
                </a:solidFill>
                <a:effectLst/>
                <a:latin typeface="Arial"/>
                <a:ea typeface="Arial"/>
                <a:cs typeface="Arial"/>
                <a:sym typeface="Arial"/>
              </a:rPr>
              <a:t> a </a:t>
            </a:r>
            <a:r>
              <a:rPr lang="en-GB" sz="1100" b="0" i="0" u="none" strike="noStrike" cap="none" dirty="0" err="1">
                <a:solidFill>
                  <a:srgbClr val="000000"/>
                </a:solidFill>
                <a:effectLst/>
                <a:latin typeface="Arial"/>
                <a:ea typeface="Arial"/>
                <a:cs typeface="Arial"/>
                <a:sym typeface="Arial"/>
              </a:rPr>
              <a:t>permis</a:t>
            </a:r>
            <a:r>
              <a:rPr lang="en-GB" sz="1100" b="0" i="0" u="none" strike="noStrike" cap="none" dirty="0">
                <a:solidFill>
                  <a:srgbClr val="000000"/>
                </a:solidFill>
                <a:effectLst/>
                <a:latin typeface="Arial"/>
                <a:ea typeface="Arial"/>
                <a:cs typeface="Arial"/>
                <a:sym typeface="Arial"/>
              </a:rPr>
              <a:t> de comparer </a:t>
            </a:r>
            <a:r>
              <a:rPr lang="en-GB" sz="1100" b="0" i="0" u="none" strike="noStrike" cap="none" dirty="0" err="1">
                <a:solidFill>
                  <a:srgbClr val="000000"/>
                </a:solidFill>
                <a:effectLst/>
                <a:latin typeface="Arial"/>
                <a:ea typeface="Arial"/>
                <a:cs typeface="Arial"/>
                <a:sym typeface="Arial"/>
              </a:rPr>
              <a:t>systématiquement</a:t>
            </a:r>
            <a:r>
              <a:rPr lang="en-GB" sz="1100" b="0" i="0" u="none" strike="noStrike" cap="none" dirty="0">
                <a:solidFill>
                  <a:srgbClr val="000000"/>
                </a:solidFill>
                <a:effectLst/>
                <a:latin typeface="Arial"/>
                <a:ea typeface="Arial"/>
                <a:cs typeface="Arial"/>
                <a:sym typeface="Arial"/>
              </a:rPr>
              <a:t> 17 </a:t>
            </a:r>
            <a:r>
              <a:rPr lang="en-GB" sz="1100" b="0" i="0" u="none" strike="noStrike" cap="none" dirty="0" err="1">
                <a:solidFill>
                  <a:srgbClr val="000000"/>
                </a:solidFill>
                <a:effectLst/>
                <a:latin typeface="Arial"/>
                <a:ea typeface="Arial"/>
                <a:cs typeface="Arial"/>
                <a:sym typeface="Arial"/>
              </a:rPr>
              <a:t>algorithmes</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détection</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communautés</a:t>
            </a:r>
            <a:r>
              <a:rPr lang="en-GB" sz="1100" b="0" i="0" u="none" strike="noStrike" cap="none" dirty="0">
                <a:solidFill>
                  <a:srgbClr val="000000"/>
                </a:solidFill>
                <a:effectLst/>
                <a:latin typeface="Arial"/>
                <a:ea typeface="Arial"/>
                <a:cs typeface="Arial"/>
                <a:sym typeface="Arial"/>
              </a:rPr>
              <a:t> sur des données </a:t>
            </a:r>
            <a:r>
              <a:rPr lang="en-GB" sz="1100" b="0" i="0" u="none" strike="noStrike" cap="none" dirty="0" err="1">
                <a:solidFill>
                  <a:srgbClr val="000000"/>
                </a:solidFill>
                <a:effectLst/>
                <a:latin typeface="Arial"/>
                <a:ea typeface="Arial"/>
                <a:cs typeface="Arial"/>
                <a:sym typeface="Arial"/>
              </a:rPr>
              <a:t>réelles</a:t>
            </a:r>
            <a:r>
              <a:rPr lang="en-GB" sz="1100" b="0" i="0" u="none" strike="noStrike" cap="none" dirty="0">
                <a:solidFill>
                  <a:srgbClr val="000000"/>
                </a:solidFill>
                <a:effectLst/>
                <a:latin typeface="Arial"/>
                <a:ea typeface="Arial"/>
                <a:cs typeface="Arial"/>
                <a:sym typeface="Arial"/>
              </a:rPr>
              <a:t> et </a:t>
            </a:r>
            <a:r>
              <a:rPr lang="en-GB" sz="1100" b="0" i="0" u="none" strike="noStrike" cap="none" dirty="0" err="1">
                <a:solidFill>
                  <a:srgbClr val="000000"/>
                </a:solidFill>
                <a:effectLst/>
                <a:latin typeface="Arial"/>
                <a:ea typeface="Arial"/>
                <a:cs typeface="Arial"/>
                <a:sym typeface="Arial"/>
              </a:rPr>
              <a:t>synthétiques</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résultats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montrent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que</a:t>
            </a:r>
            <a:r>
              <a:rPr lang="en-GB" sz="1100" b="0" i="0" u="none" strike="noStrike" cap="none" dirty="0">
                <a:solidFill>
                  <a:srgbClr val="000000"/>
                </a:solidFill>
                <a:effectLst/>
                <a:latin typeface="Arial"/>
                <a:ea typeface="Arial"/>
                <a:cs typeface="Arial"/>
                <a:sym typeface="Arial"/>
              </a:rPr>
              <a:t> Leiden, Louvain et </a:t>
            </a:r>
            <a:r>
              <a:rPr lang="en-GB" sz="1100" b="0" i="0" u="none" strike="noStrike" cap="none" dirty="0" err="1">
                <a:solidFill>
                  <a:srgbClr val="000000"/>
                </a:solidFill>
                <a:effectLst/>
                <a:latin typeface="Arial"/>
                <a:ea typeface="Arial"/>
                <a:cs typeface="Arial"/>
                <a:sym typeface="Arial"/>
              </a:rPr>
              <a:t>Infomap</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sont</a:t>
            </a:r>
            <a:r>
              <a:rPr lang="en-GB" sz="1100" b="0" i="0" u="none" strike="noStrike" cap="none" dirty="0">
                <a:solidFill>
                  <a:srgbClr val="000000"/>
                </a:solidFill>
                <a:effectLst/>
                <a:latin typeface="Arial"/>
                <a:ea typeface="Arial"/>
                <a:cs typeface="Arial"/>
                <a:sym typeface="Arial"/>
              </a:rPr>
              <a:t> les plus </a:t>
            </a:r>
            <a:r>
              <a:rPr lang="en-GB" sz="1100" b="0" i="0" u="none" strike="noStrike" cap="none" dirty="0" err="1">
                <a:solidFill>
                  <a:srgbClr val="000000"/>
                </a:solidFill>
                <a:effectLst/>
                <a:latin typeface="Arial"/>
                <a:ea typeface="Arial"/>
                <a:cs typeface="Arial"/>
                <a:sym typeface="Arial"/>
              </a:rPr>
              <a:t>robustes</a:t>
            </a:r>
            <a:r>
              <a:rPr lang="en-GB" sz="1100" b="0" i="0" u="none" strike="noStrike" cap="none" dirty="0">
                <a:solidFill>
                  <a:srgbClr val="000000"/>
                </a:solidFill>
                <a:effectLst/>
                <a:latin typeface="Arial"/>
                <a:ea typeface="Arial"/>
                <a:cs typeface="Arial"/>
                <a:sym typeface="Arial"/>
              </a:rPr>
              <a:t>, surtout sur les grands réseaux. Leur </a:t>
            </a:r>
            <a:r>
              <a:rPr lang="en-GB" sz="1100" b="0" i="0" u="none" strike="noStrike" cap="none" dirty="0" err="1">
                <a:solidFill>
                  <a:srgbClr val="000000"/>
                </a:solidFill>
                <a:effectLst/>
                <a:latin typeface="Arial"/>
                <a:ea typeface="Arial"/>
                <a:cs typeface="Arial"/>
                <a:sym typeface="Arial"/>
              </a:rPr>
              <a:t>intégration</a:t>
            </a:r>
            <a:r>
              <a:rPr lang="en-GB" sz="1100" b="0" i="0" u="none" strike="noStrike" cap="none" dirty="0">
                <a:solidFill>
                  <a:srgbClr val="000000"/>
                </a:solidFill>
                <a:effectLst/>
                <a:latin typeface="Arial"/>
                <a:ea typeface="Arial"/>
                <a:cs typeface="Arial"/>
                <a:sym typeface="Arial"/>
              </a:rPr>
              <a:t> dans un </a:t>
            </a:r>
            <a:r>
              <a:rPr lang="en-GB" sz="1100" b="0" i="0" u="none" strike="noStrike" cap="none" dirty="0" err="1">
                <a:solidFill>
                  <a:srgbClr val="000000"/>
                </a:solidFill>
                <a:effectLst/>
                <a:latin typeface="Arial"/>
                <a:ea typeface="Arial"/>
                <a:cs typeface="Arial"/>
                <a:sym typeface="Arial"/>
              </a:rPr>
              <a:t>système</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hybride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apporte</a:t>
            </a:r>
            <a:r>
              <a:rPr lang="en-GB" sz="1100" b="0" i="0" u="none" strike="noStrike" cap="none" dirty="0">
                <a:solidFill>
                  <a:srgbClr val="000000"/>
                </a:solidFill>
                <a:effectLst/>
                <a:latin typeface="Arial"/>
                <a:ea typeface="Arial"/>
                <a:cs typeface="Arial"/>
                <a:sym typeface="Arial"/>
              </a:rPr>
              <a:t> des gains </a:t>
            </a:r>
            <a:r>
              <a:rPr lang="en-GB" sz="1100" b="0" i="0" u="none" strike="noStrike" cap="none" dirty="0" err="1">
                <a:solidFill>
                  <a:srgbClr val="000000"/>
                </a:solidFill>
                <a:effectLst/>
                <a:latin typeface="Arial"/>
                <a:ea typeface="Arial"/>
                <a:cs typeface="Arial"/>
                <a:sym typeface="Arial"/>
              </a:rPr>
              <a:t>significatifs</a:t>
            </a:r>
            <a:r>
              <a:rPr lang="en-GB" sz="1100" b="0" i="0" u="none" strike="noStrike" cap="none" dirty="0">
                <a:solidFill>
                  <a:srgbClr val="000000"/>
                </a:solidFill>
                <a:effectLst/>
                <a:latin typeface="Arial"/>
                <a:ea typeface="Arial"/>
                <a:cs typeface="Arial"/>
                <a:sym typeface="Arial"/>
              </a:rPr>
              <a:t> : </a:t>
            </a:r>
            <a:r>
              <a:rPr lang="en-GB" sz="1100" b="0" i="0" u="none" strike="noStrike" cap="none" dirty="0" err="1">
                <a:solidFill>
                  <a:srgbClr val="000000"/>
                </a:solidFill>
                <a:effectLst/>
                <a:latin typeface="Arial"/>
                <a:ea typeface="Arial"/>
                <a:cs typeface="Arial"/>
                <a:sym typeface="Arial"/>
              </a:rPr>
              <a:t>jusqu'à</a:t>
            </a:r>
            <a:r>
              <a:rPr lang="en-GB" sz="1100" b="0" i="0" u="none" strike="noStrike" cap="none" dirty="0">
                <a:solidFill>
                  <a:srgbClr val="000000"/>
                </a:solidFill>
                <a:effectLst/>
                <a:latin typeface="Arial"/>
                <a:ea typeface="Arial"/>
                <a:cs typeface="Arial"/>
                <a:sym typeface="Arial"/>
              </a:rPr>
              <a:t> +80 % </a:t>
            </a:r>
            <a:r>
              <a:rPr lang="en-GB" sz="1100" b="0" i="0" u="none" strike="noStrike" cap="none" dirty="0" err="1">
                <a:solidFill>
                  <a:srgbClr val="000000"/>
                </a:solidFill>
                <a:effectLst/>
                <a:latin typeface="Arial"/>
                <a:ea typeface="Arial"/>
                <a:cs typeface="Arial"/>
                <a:sym typeface="Arial"/>
              </a:rPr>
              <a:t>en</a:t>
            </a:r>
            <a:r>
              <a:rPr lang="en-GB" sz="1100" b="0" i="0" u="none" strike="noStrike" cap="none" dirty="0">
                <a:solidFill>
                  <a:srgbClr val="000000"/>
                </a:solidFill>
                <a:effectLst/>
                <a:latin typeface="Arial"/>
                <a:ea typeface="Arial"/>
                <a:cs typeface="Arial"/>
                <a:sym typeface="Arial"/>
              </a:rPr>
              <a:t> Recall@10 et +78 % </a:t>
            </a:r>
            <a:r>
              <a:rPr lang="en-GB" sz="1100" b="0" i="0" u="none" strike="noStrike" cap="none" dirty="0" err="1">
                <a:solidFill>
                  <a:srgbClr val="000000"/>
                </a:solidFill>
                <a:effectLst/>
                <a:latin typeface="Arial"/>
                <a:ea typeface="Arial"/>
                <a:cs typeface="Arial"/>
                <a:sym typeface="Arial"/>
              </a:rPr>
              <a:t>en</a:t>
            </a:r>
            <a:r>
              <a:rPr lang="en-GB" sz="1100" b="0" i="0" u="none" strike="noStrike" cap="none" dirty="0">
                <a:solidFill>
                  <a:srgbClr val="000000"/>
                </a:solidFill>
                <a:effectLst/>
                <a:latin typeface="Arial"/>
                <a:ea typeface="Arial"/>
                <a:cs typeface="Arial"/>
                <a:sym typeface="Arial"/>
              </a:rPr>
              <a:t> F1@10 par rapport aux </a:t>
            </a:r>
            <a:r>
              <a:rPr lang="en-GB" sz="1100" b="0" i="0" u="none" strike="noStrike" cap="none" dirty="0" err="1">
                <a:solidFill>
                  <a:srgbClr val="000000"/>
                </a:solidFill>
                <a:effectLst/>
                <a:latin typeface="Arial"/>
                <a:ea typeface="Arial"/>
                <a:cs typeface="Arial"/>
                <a:sym typeface="Arial"/>
              </a:rPr>
              <a:t>modèles</a:t>
            </a:r>
            <a:r>
              <a:rPr lang="en-GB" sz="1100" b="0" i="0" u="none" strike="noStrike" cap="none" dirty="0">
                <a:solidFill>
                  <a:srgbClr val="000000"/>
                </a:solidFill>
                <a:effectLst/>
                <a:latin typeface="Arial"/>
                <a:ea typeface="Arial"/>
                <a:cs typeface="Arial"/>
                <a:sym typeface="Arial"/>
              </a:rPr>
              <a:t> de </a:t>
            </a:r>
            <a:r>
              <a:rPr lang="en-GB" sz="1100" b="0" i="0" u="none" strike="noStrike" cap="none" dirty="0" err="1">
                <a:solidFill>
                  <a:srgbClr val="000000"/>
                </a:solidFill>
                <a:effectLst/>
                <a:latin typeface="Arial"/>
                <a:ea typeface="Arial"/>
                <a:cs typeface="Arial"/>
                <a:sym typeface="Arial"/>
              </a:rPr>
              <a:t>référence</a:t>
            </a:r>
            <a:r>
              <a:rPr lang="en-GB" sz="1100" b="0" i="0" u="none" strike="noStrike" cap="none" dirty="0">
                <a:solidFill>
                  <a:srgbClr val="000000"/>
                </a:solidFill>
                <a:effectLst/>
                <a:latin typeface="Arial"/>
                <a:ea typeface="Arial"/>
                <a:cs typeface="Arial"/>
                <a:sym typeface="Arial"/>
              </a:rPr>
              <a:t>.</a:t>
            </a:r>
          </a:p>
          <a:p>
            <a:pPr marL="158750" indent="0">
              <a:buNone/>
            </a:pPr>
            <a:r>
              <a:rPr lang="en-GB" sz="1100" b="0" i="0" u="none" strike="noStrike" cap="none" dirty="0">
                <a:solidFill>
                  <a:srgbClr val="000000"/>
                </a:solidFill>
                <a:effectLst/>
                <a:latin typeface="Arial"/>
                <a:ea typeface="Arial"/>
                <a:cs typeface="Arial"/>
                <a:sym typeface="Arial"/>
              </a:rPr>
              <a:t>Les perspectives futures </a:t>
            </a:r>
            <a:r>
              <a:rPr lang="en-GB" sz="1100" b="0" i="0" u="none" strike="noStrike" cap="none" dirty="0" err="1">
                <a:solidFill>
                  <a:srgbClr val="000000"/>
                </a:solidFill>
                <a:effectLst/>
                <a:latin typeface="Arial"/>
                <a:ea typeface="Arial"/>
                <a:cs typeface="Arial"/>
                <a:sym typeface="Arial"/>
              </a:rPr>
              <a:t>sont</a:t>
            </a:r>
            <a:r>
              <a:rPr lang="en-GB" sz="1100" b="0" i="0" u="none" strike="noStrike" cap="none" dirty="0">
                <a:solidFill>
                  <a:srgbClr val="000000"/>
                </a:solidFill>
                <a:effectLst/>
                <a:latin typeface="Arial"/>
                <a:ea typeface="Arial"/>
                <a:cs typeface="Arial"/>
                <a:sym typeface="Arial"/>
              </a:rPr>
              <a:t> au </a:t>
            </a:r>
            <a:r>
              <a:rPr lang="en-GB" sz="1100" b="0" i="0" u="none" strike="noStrike" cap="none" dirty="0" err="1">
                <a:solidFill>
                  <a:srgbClr val="000000"/>
                </a:solidFill>
                <a:effectLst/>
                <a:latin typeface="Arial"/>
                <a:ea typeface="Arial"/>
                <a:cs typeface="Arial"/>
                <a:sym typeface="Arial"/>
              </a:rPr>
              <a:t>nombre</a:t>
            </a:r>
            <a:r>
              <a:rPr lang="en-GB" sz="1100" b="0" i="0" u="none" strike="noStrike" cap="none" dirty="0">
                <a:solidFill>
                  <a:srgbClr val="000000"/>
                </a:solidFill>
                <a:effectLst/>
                <a:latin typeface="Arial"/>
                <a:ea typeface="Arial"/>
                <a:cs typeface="Arial"/>
                <a:sym typeface="Arial"/>
              </a:rPr>
              <a:t> de trois. </a:t>
            </a:r>
            <a:r>
              <a:rPr lang="en-GB" sz="1100" b="0" i="0" u="none" strike="noStrike" cap="none" dirty="0" err="1">
                <a:solidFill>
                  <a:srgbClr val="000000"/>
                </a:solidFill>
                <a:effectLst/>
                <a:latin typeface="Arial"/>
                <a:ea typeface="Arial"/>
                <a:cs typeface="Arial"/>
                <a:sym typeface="Arial"/>
              </a:rPr>
              <a:t>Premièrement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une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détection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dynamique</a:t>
            </a:r>
            <a:r>
              <a:rPr lang="en-GB" sz="1100" b="0" i="0" u="none" strike="noStrike" cap="none" dirty="0">
                <a:solidFill>
                  <a:srgbClr val="000000"/>
                </a:solidFill>
                <a:effectLst/>
                <a:latin typeface="Arial"/>
                <a:ea typeface="Arial"/>
                <a:cs typeface="Arial"/>
                <a:sym typeface="Arial"/>
              </a:rPr>
              <a:t> pour </a:t>
            </a:r>
            <a:r>
              <a:rPr lang="en-GB" sz="1100" b="0" i="0" u="none" strike="noStrike" cap="none" dirty="0" err="1">
                <a:solidFill>
                  <a:srgbClr val="000000"/>
                </a:solidFill>
                <a:effectLst/>
                <a:latin typeface="Arial"/>
                <a:ea typeface="Arial"/>
                <a:cs typeface="Arial"/>
                <a:sym typeface="Arial"/>
              </a:rPr>
              <a:t>mettre</a:t>
            </a:r>
            <a:r>
              <a:rPr lang="en-GB" sz="1100" b="0" i="0" u="none" strike="noStrike" cap="none" dirty="0">
                <a:solidFill>
                  <a:srgbClr val="000000"/>
                </a:solidFill>
                <a:effectLst/>
                <a:latin typeface="Arial"/>
                <a:ea typeface="Arial"/>
                <a:cs typeface="Arial"/>
                <a:sym typeface="Arial"/>
              </a:rPr>
              <a:t> à jour les </a:t>
            </a:r>
            <a:r>
              <a:rPr lang="en-GB" sz="1100" b="0" i="0" u="none" strike="noStrike" cap="none" dirty="0" err="1">
                <a:solidFill>
                  <a:srgbClr val="000000"/>
                </a:solidFill>
                <a:effectLst/>
                <a:latin typeface="Arial"/>
                <a:ea typeface="Arial"/>
                <a:cs typeface="Arial"/>
                <a:sym typeface="Arial"/>
              </a:rPr>
              <a:t>communautés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en</a:t>
            </a:r>
            <a:r>
              <a:rPr lang="en-GB" sz="1100" b="0" i="0" u="none" strike="noStrike" cap="none" dirty="0">
                <a:solidFill>
                  <a:srgbClr val="000000"/>
                </a:solidFill>
                <a:effectLst/>
                <a:latin typeface="Arial"/>
                <a:ea typeface="Arial"/>
                <a:cs typeface="Arial"/>
                <a:sym typeface="Arial"/>
              </a:rPr>
              <a:t> temps </a:t>
            </a:r>
            <a:r>
              <a:rPr lang="en-GB" sz="1100" b="0" i="0" u="none" strike="noStrike" cap="none" dirty="0" err="1">
                <a:solidFill>
                  <a:srgbClr val="000000"/>
                </a:solidFill>
                <a:effectLst/>
                <a:latin typeface="Arial"/>
                <a:ea typeface="Arial"/>
                <a:cs typeface="Arial"/>
                <a:sym typeface="Arial"/>
              </a:rPr>
              <a:t>réel</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Deuxièmement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valider</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l'approche</a:t>
            </a:r>
            <a:r>
              <a:rPr lang="en-GB" sz="1100" b="0" i="0" u="none" strike="noStrike" cap="none" dirty="0">
                <a:solidFill>
                  <a:srgbClr val="000000"/>
                </a:solidFill>
                <a:effectLst/>
                <a:latin typeface="Arial"/>
                <a:ea typeface="Arial"/>
                <a:cs typeface="Arial"/>
                <a:sym typeface="Arial"/>
              </a:rPr>
              <a:t> sur </a:t>
            </a:r>
            <a:r>
              <a:rPr lang="en-GB" sz="1100" b="0" i="0" u="none" strike="noStrike" cap="none" dirty="0" err="1">
                <a:solidFill>
                  <a:srgbClr val="000000"/>
                </a:solidFill>
                <a:effectLst/>
                <a:latin typeface="Arial"/>
                <a:ea typeface="Arial"/>
                <a:cs typeface="Arial"/>
                <a:sym typeface="Arial"/>
              </a:rPr>
              <a:t>d'autres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domaines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comme</a:t>
            </a:r>
            <a:r>
              <a:rPr lang="en-GB" sz="1100" b="0" i="0" u="none" strike="noStrike" cap="none" dirty="0">
                <a:solidFill>
                  <a:srgbClr val="000000"/>
                </a:solidFill>
                <a:effectLst/>
                <a:latin typeface="Arial"/>
                <a:ea typeface="Arial"/>
                <a:cs typeface="Arial"/>
                <a:sym typeface="Arial"/>
              </a:rPr>
              <a:t> les films </a:t>
            </a:r>
            <a:r>
              <a:rPr lang="en-GB" sz="1100" b="0" i="0" u="none" strike="noStrike" cap="none" dirty="0" err="1">
                <a:solidFill>
                  <a:srgbClr val="000000"/>
                </a:solidFill>
                <a:effectLst/>
                <a:latin typeface="Arial"/>
                <a:ea typeface="Arial"/>
                <a:cs typeface="Arial"/>
                <a:sym typeface="Arial"/>
              </a:rPr>
              <a:t>ou</a:t>
            </a:r>
            <a:r>
              <a:rPr lang="en-GB" sz="1100" b="0" i="0" u="none" strike="noStrike" cap="none" dirty="0">
                <a:solidFill>
                  <a:srgbClr val="000000"/>
                </a:solidFill>
                <a:effectLst/>
                <a:latin typeface="Arial"/>
                <a:ea typeface="Arial"/>
                <a:cs typeface="Arial"/>
                <a:sym typeface="Arial"/>
              </a:rPr>
              <a:t> la musique. </a:t>
            </a:r>
            <a:r>
              <a:rPr lang="en-GB" sz="1100" b="0" i="0" u="none" strike="noStrike" cap="none" dirty="0" err="1">
                <a:solidFill>
                  <a:srgbClr val="000000"/>
                </a:solidFill>
                <a:effectLst/>
                <a:latin typeface="Arial"/>
                <a:ea typeface="Arial"/>
                <a:cs typeface="Arial"/>
                <a:sym typeface="Arial"/>
              </a:rPr>
              <a:t>Troisièmement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améliorer</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l'explicabilité</a:t>
            </a:r>
            <a:r>
              <a:rPr lang="en-GB" sz="1100" b="0" i="0" u="none" strike="noStrike" cap="none" dirty="0">
                <a:solidFill>
                  <a:srgbClr val="000000"/>
                </a:solidFill>
                <a:effectLst/>
                <a:latin typeface="Arial"/>
                <a:ea typeface="Arial"/>
                <a:cs typeface="Arial"/>
                <a:sym typeface="Arial"/>
              </a:rPr>
              <a:t> du </a:t>
            </a:r>
            <a:r>
              <a:rPr lang="en-GB" sz="1100" b="0" i="0" u="none" strike="noStrike" cap="none" dirty="0" err="1">
                <a:solidFill>
                  <a:srgbClr val="000000"/>
                </a:solidFill>
                <a:effectLst/>
                <a:latin typeface="Arial"/>
                <a:ea typeface="Arial"/>
                <a:cs typeface="Arial"/>
                <a:sym typeface="Arial"/>
              </a:rPr>
              <a:t>système</a:t>
            </a:r>
            <a:r>
              <a:rPr lang="en-GB" sz="1100" b="0" i="0" u="none" strike="noStrike" cap="none" dirty="0">
                <a:solidFill>
                  <a:srgbClr val="000000"/>
                </a:solidFill>
                <a:effectLst/>
                <a:latin typeface="Arial"/>
                <a:ea typeface="Arial"/>
                <a:cs typeface="Arial"/>
                <a:sym typeface="Arial"/>
              </a:rPr>
              <a:t> pour </a:t>
            </a:r>
            <a:r>
              <a:rPr lang="en-GB" sz="1100" b="0" i="0" u="none" strike="noStrike" cap="none" dirty="0" err="1">
                <a:solidFill>
                  <a:srgbClr val="000000"/>
                </a:solidFill>
                <a:effectLst/>
                <a:latin typeface="Arial"/>
                <a:ea typeface="Arial"/>
                <a:cs typeface="Arial"/>
                <a:sym typeface="Arial"/>
              </a:rPr>
              <a:t>que</a:t>
            </a:r>
            <a:r>
              <a:rPr lang="en-GB" sz="1100" b="0" i="0" u="none" strike="noStrike" cap="none" dirty="0">
                <a:solidFill>
                  <a:srgbClr val="000000"/>
                </a:solidFill>
                <a:effectLst/>
                <a:latin typeface="Arial"/>
                <a:ea typeface="Arial"/>
                <a:cs typeface="Arial"/>
                <a:sym typeface="Arial"/>
              </a:rPr>
              <a:t> les </a:t>
            </a:r>
            <a:r>
              <a:rPr lang="en-GB" sz="1100" b="0" i="0" u="none" strike="noStrike" cap="none" dirty="0" err="1">
                <a:solidFill>
                  <a:srgbClr val="000000"/>
                </a:solidFill>
                <a:effectLst/>
                <a:latin typeface="Arial"/>
                <a:ea typeface="Arial"/>
                <a:cs typeface="Arial"/>
                <a:sym typeface="Arial"/>
              </a:rPr>
              <a:t>utilisateurs</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comprennent</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pourquoi</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une</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recommandation</a:t>
            </a:r>
            <a:r>
              <a:rPr lang="en-GB" sz="1100" b="0" i="0" u="none" strike="noStrike" cap="none" dirty="0">
                <a:solidFill>
                  <a:srgbClr val="000000"/>
                </a:solidFill>
                <a:effectLst/>
                <a:latin typeface="Arial"/>
                <a:ea typeface="Arial"/>
                <a:cs typeface="Arial"/>
                <a:sym typeface="Arial"/>
              </a:rPr>
              <a:t> </a:t>
            </a:r>
            <a:r>
              <a:rPr lang="en-GB" sz="1100" b="0" i="0" u="none" strike="noStrike" cap="none" dirty="0" err="1">
                <a:solidFill>
                  <a:srgbClr val="000000"/>
                </a:solidFill>
                <a:effectLst/>
                <a:latin typeface="Arial"/>
                <a:ea typeface="Arial"/>
                <a:cs typeface="Arial"/>
                <a:sym typeface="Arial"/>
              </a:rPr>
              <a:t>leur</a:t>
            </a:r>
            <a:r>
              <a:rPr lang="en-GB" sz="1100" b="0" i="0" u="none" strike="noStrike" cap="none" dirty="0">
                <a:solidFill>
                  <a:srgbClr val="000000"/>
                </a:solidFill>
                <a:effectLst/>
                <a:latin typeface="Arial"/>
                <a:ea typeface="Arial"/>
                <a:cs typeface="Arial"/>
                <a:sym typeface="Arial"/>
              </a:rPr>
              <a:t> est </a:t>
            </a:r>
            <a:r>
              <a:rPr lang="en-GB" sz="1100" b="0" i="0" u="none" strike="noStrike" cap="none" dirty="0" err="1">
                <a:solidFill>
                  <a:srgbClr val="000000"/>
                </a:solidFill>
                <a:effectLst/>
                <a:latin typeface="Arial"/>
                <a:ea typeface="Arial"/>
                <a:cs typeface="Arial"/>
                <a:sym typeface="Arial"/>
              </a:rPr>
              <a:t>proposée</a:t>
            </a:r>
            <a:r>
              <a:rPr lang="en-GB" sz="1100" b="0" i="0" u="none" strike="noStrike" cap="none" dirty="0">
                <a:solidFill>
                  <a:srgbClr val="000000"/>
                </a:solidFill>
                <a:effectLst/>
                <a:latin typeface="Arial"/>
                <a:ea typeface="Arial"/>
                <a:cs typeface="Arial"/>
                <a:sym typeface="Arial"/>
              </a:rPr>
              <a:t>.</a:t>
            </a:r>
          </a:p>
          <a:p>
            <a:pPr marL="0" lvl="0" indent="0" algn="l" rtl="0">
              <a:spcBef>
                <a:spcPts val="0"/>
              </a:spcBef>
              <a:spcAft>
                <a:spcPts val="0"/>
              </a:spcAft>
              <a:buNone/>
            </a:pPr>
            <a:endParaRPr b="0" i="0" dirty="0"/>
          </a:p>
        </p:txBody>
      </p:sp>
    </p:spTree>
    <p:extLst>
      <p:ext uri="{BB962C8B-B14F-4D97-AF65-F5344CB8AC3E}">
        <p14:creationId xmlns:p14="http://schemas.microsoft.com/office/powerpoint/2010/main" val="29191309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a:extLst>
            <a:ext uri="{FF2B5EF4-FFF2-40B4-BE49-F238E27FC236}">
              <a16:creationId xmlns:a16="http://schemas.microsoft.com/office/drawing/2014/main" id="{AC4C05D1-103D-2F53-843B-48DE4A1257C2}"/>
            </a:ext>
          </a:extLst>
        </p:cNvPr>
        <p:cNvGrpSpPr/>
        <p:nvPr/>
      </p:nvGrpSpPr>
      <p:grpSpPr>
        <a:xfrm>
          <a:off x="0" y="0"/>
          <a:ext cx="0" cy="0"/>
          <a:chOff x="0" y="0"/>
          <a:chExt cx="0" cy="0"/>
        </a:xfrm>
      </p:grpSpPr>
      <p:sp>
        <p:nvSpPr>
          <p:cNvPr id="1468" name="Google Shape;1468;gd431007ba2_0_208:notes">
            <a:extLst>
              <a:ext uri="{FF2B5EF4-FFF2-40B4-BE49-F238E27FC236}">
                <a16:creationId xmlns:a16="http://schemas.microsoft.com/office/drawing/2014/main" id="{152A83E6-6B6C-559E-AD87-06543E8075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GB"/>
          </a:p>
        </p:txBody>
      </p:sp>
      <p:sp>
        <p:nvSpPr>
          <p:cNvPr id="1469" name="Google Shape;1469;gd431007ba2_0_208:notes">
            <a:extLst>
              <a:ext uri="{FF2B5EF4-FFF2-40B4-BE49-F238E27FC236}">
                <a16:creationId xmlns:a16="http://schemas.microsoft.com/office/drawing/2014/main" id="{7C11040C-5D80-C349-1E54-799BBAC9E7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342073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0"/>
        <p:cNvGrpSpPr/>
        <p:nvPr/>
      </p:nvGrpSpPr>
      <p:grpSpPr>
        <a:xfrm>
          <a:off x="0" y="0"/>
          <a:ext cx="0" cy="0"/>
          <a:chOff x="0" y="0"/>
          <a:chExt cx="0" cy="0"/>
        </a:xfrm>
      </p:grpSpPr>
      <p:sp>
        <p:nvSpPr>
          <p:cNvPr id="81" name="Google Shape;81;p3"/>
          <p:cNvSpPr txBox="1">
            <a:spLocks noGrp="1"/>
          </p:cNvSpPr>
          <p:nvPr>
            <p:ph type="title"/>
          </p:nvPr>
        </p:nvSpPr>
        <p:spPr>
          <a:xfrm>
            <a:off x="1463100" y="2046250"/>
            <a:ext cx="6217800" cy="1676400"/>
          </a:xfrm>
          <a:prstGeom prst="rect">
            <a:avLst/>
          </a:prstGeom>
        </p:spPr>
        <p:txBody>
          <a:bodyPr spcFirstLastPara="1" wrap="square" lIns="91425" tIns="91425" rIns="91425" bIns="91425" anchor="b" anchorCtr="0">
            <a:noAutofit/>
          </a:bodyPr>
          <a:lstStyle>
            <a:lvl1pPr lvl="0" algn="ctr">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82" name="Google Shape;82;p3"/>
          <p:cNvSpPr txBox="1">
            <a:spLocks noGrp="1"/>
          </p:cNvSpPr>
          <p:nvPr>
            <p:ph type="title" idx="2" hasCustomPrompt="1"/>
          </p:nvPr>
        </p:nvSpPr>
        <p:spPr>
          <a:xfrm>
            <a:off x="3745950" y="809625"/>
            <a:ext cx="1652100" cy="11289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8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83" name="Google Shape;83;p3"/>
          <p:cNvSpPr txBox="1">
            <a:spLocks noGrp="1"/>
          </p:cNvSpPr>
          <p:nvPr>
            <p:ph type="subTitle" idx="1"/>
          </p:nvPr>
        </p:nvSpPr>
        <p:spPr>
          <a:xfrm>
            <a:off x="1463100" y="3797250"/>
            <a:ext cx="6217800" cy="430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4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grpSp>
        <p:nvGrpSpPr>
          <p:cNvPr id="84" name="Google Shape;84;p3"/>
          <p:cNvGrpSpPr/>
          <p:nvPr/>
        </p:nvGrpSpPr>
        <p:grpSpPr>
          <a:xfrm>
            <a:off x="-1196147" y="-548842"/>
            <a:ext cx="13880920" cy="6874700"/>
            <a:chOff x="-1196147" y="-548842"/>
            <a:chExt cx="13880920" cy="6874700"/>
          </a:xfrm>
        </p:grpSpPr>
        <p:grpSp>
          <p:nvGrpSpPr>
            <p:cNvPr id="85" name="Google Shape;85;p3"/>
            <p:cNvGrpSpPr/>
            <p:nvPr/>
          </p:nvGrpSpPr>
          <p:grpSpPr>
            <a:xfrm>
              <a:off x="-1196147" y="-548842"/>
              <a:ext cx="3657841" cy="4417628"/>
              <a:chOff x="-1196147" y="-548842"/>
              <a:chExt cx="3657841" cy="4417628"/>
            </a:xfrm>
          </p:grpSpPr>
          <p:sp>
            <p:nvSpPr>
              <p:cNvPr id="86" name="Google Shape;86;p3"/>
              <p:cNvSpPr/>
              <p:nvPr/>
            </p:nvSpPr>
            <p:spPr>
              <a:xfrm rot="10359365">
                <a:off x="2255245" y="146021"/>
                <a:ext cx="194798" cy="194798"/>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7" name="Google Shape;87;p3"/>
              <p:cNvSpPr/>
              <p:nvPr/>
            </p:nvSpPr>
            <p:spPr>
              <a:xfrm rot="10359365">
                <a:off x="-841304" y="2200605"/>
                <a:ext cx="194798" cy="194798"/>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8" name="Google Shape;88;p3"/>
              <p:cNvSpPr/>
              <p:nvPr/>
            </p:nvSpPr>
            <p:spPr>
              <a:xfrm rot="10361981">
                <a:off x="352993" y="-214656"/>
                <a:ext cx="401353" cy="401353"/>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9" name="Google Shape;89;p3"/>
              <p:cNvSpPr/>
              <p:nvPr/>
            </p:nvSpPr>
            <p:spPr>
              <a:xfrm rot="10355821">
                <a:off x="274120" y="560515"/>
                <a:ext cx="130387" cy="130387"/>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90" name="Google Shape;90;p3"/>
              <p:cNvSpPr/>
              <p:nvPr/>
            </p:nvSpPr>
            <p:spPr>
              <a:xfrm rot="10360416">
                <a:off x="1106270" y="873580"/>
                <a:ext cx="254074" cy="254074"/>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91" name="Google Shape;91;p3"/>
              <p:cNvSpPr/>
              <p:nvPr/>
            </p:nvSpPr>
            <p:spPr>
              <a:xfrm rot="10355821">
                <a:off x="424057" y="2400495"/>
                <a:ext cx="130387" cy="130387"/>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92" name="Google Shape;92;p3"/>
              <p:cNvSpPr/>
              <p:nvPr/>
            </p:nvSpPr>
            <p:spPr>
              <a:xfrm rot="9969336">
                <a:off x="1746927" y="9840"/>
                <a:ext cx="130388" cy="130388"/>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93" name="Google Shape;93;p3"/>
              <p:cNvSpPr/>
              <p:nvPr/>
            </p:nvSpPr>
            <p:spPr>
              <a:xfrm rot="10360567">
                <a:off x="-737089" y="906043"/>
                <a:ext cx="96487" cy="96487"/>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94" name="Google Shape;94;p3"/>
              <p:cNvCxnSpPr>
                <a:stCxn id="90" idx="5"/>
                <a:endCxn id="89" idx="1"/>
              </p:cNvCxnSpPr>
              <p:nvPr/>
            </p:nvCxnSpPr>
            <p:spPr>
              <a:xfrm rot="10800000">
                <a:off x="390857" y="665576"/>
                <a:ext cx="741900" cy="257400"/>
              </a:xfrm>
              <a:prstGeom prst="straightConnector1">
                <a:avLst/>
              </a:prstGeom>
              <a:noFill/>
              <a:ln w="9525" cap="flat" cmpd="sng">
                <a:solidFill>
                  <a:schemeClr val="dk2"/>
                </a:solidFill>
                <a:prstDash val="solid"/>
                <a:round/>
                <a:headEnd type="none" w="med" len="med"/>
                <a:tailEnd type="none" w="med" len="med"/>
              </a:ln>
            </p:spPr>
          </p:cxnSp>
          <p:cxnSp>
            <p:nvCxnSpPr>
              <p:cNvPr id="95" name="Google Shape;95;p3"/>
              <p:cNvCxnSpPr>
                <a:stCxn id="91" idx="4"/>
                <a:endCxn id="89" idx="0"/>
              </p:cNvCxnSpPr>
              <p:nvPr/>
            </p:nvCxnSpPr>
            <p:spPr>
              <a:xfrm rot="10800000">
                <a:off x="347650" y="690439"/>
                <a:ext cx="133200" cy="1710600"/>
              </a:xfrm>
              <a:prstGeom prst="straightConnector1">
                <a:avLst/>
              </a:prstGeom>
              <a:noFill/>
              <a:ln w="9525" cap="flat" cmpd="sng">
                <a:solidFill>
                  <a:schemeClr val="dk2"/>
                </a:solidFill>
                <a:prstDash val="solid"/>
                <a:round/>
                <a:headEnd type="none" w="med" len="med"/>
                <a:tailEnd type="none" w="med" len="med"/>
              </a:ln>
            </p:spPr>
          </p:cxnSp>
          <p:cxnSp>
            <p:nvCxnSpPr>
              <p:cNvPr id="96" name="Google Shape;96;p3"/>
              <p:cNvCxnSpPr>
                <a:stCxn id="86" idx="6"/>
                <a:endCxn id="90" idx="3"/>
              </p:cNvCxnSpPr>
              <p:nvPr/>
            </p:nvCxnSpPr>
            <p:spPr>
              <a:xfrm flipH="1">
                <a:off x="1311044" y="255870"/>
                <a:ext cx="945000" cy="644100"/>
              </a:xfrm>
              <a:prstGeom prst="straightConnector1">
                <a:avLst/>
              </a:prstGeom>
              <a:noFill/>
              <a:ln w="9525" cap="flat" cmpd="sng">
                <a:solidFill>
                  <a:schemeClr val="dk2"/>
                </a:solidFill>
                <a:prstDash val="solid"/>
                <a:round/>
                <a:headEnd type="none" w="med" len="med"/>
                <a:tailEnd type="none" w="med" len="med"/>
              </a:ln>
            </p:spPr>
          </p:cxnSp>
          <p:cxnSp>
            <p:nvCxnSpPr>
              <p:cNvPr id="97" name="Google Shape;97;p3"/>
              <p:cNvCxnSpPr>
                <a:stCxn id="90" idx="7"/>
                <a:endCxn id="91" idx="2"/>
              </p:cNvCxnSpPr>
              <p:nvPr/>
            </p:nvCxnSpPr>
            <p:spPr>
              <a:xfrm flipH="1">
                <a:off x="553867" y="1101167"/>
                <a:ext cx="601800" cy="1356000"/>
              </a:xfrm>
              <a:prstGeom prst="straightConnector1">
                <a:avLst/>
              </a:prstGeom>
              <a:noFill/>
              <a:ln w="9525" cap="flat" cmpd="sng">
                <a:solidFill>
                  <a:schemeClr val="dk2"/>
                </a:solidFill>
                <a:prstDash val="solid"/>
                <a:round/>
                <a:headEnd type="none" w="med" len="med"/>
                <a:tailEnd type="none" w="med" len="med"/>
              </a:ln>
            </p:spPr>
          </p:cxnSp>
          <p:cxnSp>
            <p:nvCxnSpPr>
              <p:cNvPr id="98" name="Google Shape;98;p3"/>
              <p:cNvCxnSpPr>
                <a:stCxn id="91" idx="6"/>
                <a:endCxn id="87" idx="1"/>
              </p:cNvCxnSpPr>
              <p:nvPr/>
            </p:nvCxnSpPr>
            <p:spPr>
              <a:xfrm rot="10800000">
                <a:off x="-666800" y="2357389"/>
                <a:ext cx="1091400" cy="116700"/>
              </a:xfrm>
              <a:prstGeom prst="straightConnector1">
                <a:avLst/>
              </a:prstGeom>
              <a:noFill/>
              <a:ln w="9525" cap="flat" cmpd="sng">
                <a:solidFill>
                  <a:schemeClr val="dk2"/>
                </a:solidFill>
                <a:prstDash val="solid"/>
                <a:round/>
                <a:headEnd type="none" w="med" len="med"/>
                <a:tailEnd type="none" w="med" len="med"/>
              </a:ln>
            </p:spPr>
          </p:cxnSp>
          <p:cxnSp>
            <p:nvCxnSpPr>
              <p:cNvPr id="99" name="Google Shape;99;p3"/>
              <p:cNvCxnSpPr>
                <a:stCxn id="89" idx="7"/>
                <a:endCxn id="87" idx="3"/>
              </p:cNvCxnSpPr>
              <p:nvPr/>
            </p:nvCxnSpPr>
            <p:spPr>
              <a:xfrm flipH="1">
                <a:off x="-684462" y="677363"/>
                <a:ext cx="984000" cy="1543500"/>
              </a:xfrm>
              <a:prstGeom prst="straightConnector1">
                <a:avLst/>
              </a:prstGeom>
              <a:noFill/>
              <a:ln w="9525" cap="flat" cmpd="sng">
                <a:solidFill>
                  <a:schemeClr val="dk2"/>
                </a:solidFill>
                <a:prstDash val="solid"/>
                <a:round/>
                <a:headEnd type="none" w="med" len="med"/>
                <a:tailEnd type="none" w="med" len="med"/>
              </a:ln>
            </p:spPr>
          </p:cxnSp>
          <p:cxnSp>
            <p:nvCxnSpPr>
              <p:cNvPr id="100" name="Google Shape;100;p3"/>
              <p:cNvCxnSpPr>
                <a:stCxn id="86" idx="6"/>
                <a:endCxn id="92" idx="1"/>
              </p:cNvCxnSpPr>
              <p:nvPr/>
            </p:nvCxnSpPr>
            <p:spPr>
              <a:xfrm rot="10800000">
                <a:off x="1867844" y="108870"/>
                <a:ext cx="388200" cy="147000"/>
              </a:xfrm>
              <a:prstGeom prst="straightConnector1">
                <a:avLst/>
              </a:prstGeom>
              <a:noFill/>
              <a:ln w="9525" cap="flat" cmpd="sng">
                <a:solidFill>
                  <a:schemeClr val="dk2"/>
                </a:solidFill>
                <a:prstDash val="solid"/>
                <a:round/>
                <a:headEnd type="none" w="med" len="med"/>
                <a:tailEnd type="none" w="med" len="med"/>
              </a:ln>
            </p:spPr>
          </p:cxnSp>
          <p:cxnSp>
            <p:nvCxnSpPr>
              <p:cNvPr id="101" name="Google Shape;101;p3"/>
              <p:cNvCxnSpPr>
                <a:stCxn id="92" idx="6"/>
                <a:endCxn id="89" idx="2"/>
              </p:cNvCxnSpPr>
              <p:nvPr/>
            </p:nvCxnSpPr>
            <p:spPr>
              <a:xfrm flipH="1">
                <a:off x="403921" y="90634"/>
                <a:ext cx="1344900" cy="526800"/>
              </a:xfrm>
              <a:prstGeom prst="straightConnector1">
                <a:avLst/>
              </a:prstGeom>
              <a:noFill/>
              <a:ln w="9525" cap="flat" cmpd="sng">
                <a:solidFill>
                  <a:schemeClr val="dk2"/>
                </a:solidFill>
                <a:prstDash val="solid"/>
                <a:round/>
                <a:headEnd type="none" w="med" len="med"/>
                <a:tailEnd type="none" w="med" len="med"/>
              </a:ln>
            </p:spPr>
          </p:cxnSp>
          <p:cxnSp>
            <p:nvCxnSpPr>
              <p:cNvPr id="102" name="Google Shape;102;p3"/>
              <p:cNvCxnSpPr>
                <a:stCxn id="92" idx="6"/>
                <a:endCxn id="88" idx="1"/>
              </p:cNvCxnSpPr>
              <p:nvPr/>
            </p:nvCxnSpPr>
            <p:spPr>
              <a:xfrm flipH="1">
                <a:off x="712321" y="90634"/>
                <a:ext cx="1036500" cy="18000"/>
              </a:xfrm>
              <a:prstGeom prst="straightConnector1">
                <a:avLst/>
              </a:prstGeom>
              <a:noFill/>
              <a:ln w="9525" cap="flat" cmpd="sng">
                <a:solidFill>
                  <a:schemeClr val="dk2"/>
                </a:solidFill>
                <a:prstDash val="solid"/>
                <a:round/>
                <a:headEnd type="none" w="med" len="med"/>
                <a:tailEnd type="none" w="med" len="med"/>
              </a:ln>
            </p:spPr>
          </p:cxnSp>
          <p:cxnSp>
            <p:nvCxnSpPr>
              <p:cNvPr id="103" name="Google Shape;103;p3"/>
              <p:cNvCxnSpPr>
                <a:stCxn id="88" idx="7"/>
                <a:endCxn id="93" idx="3"/>
              </p:cNvCxnSpPr>
              <p:nvPr/>
            </p:nvCxnSpPr>
            <p:spPr>
              <a:xfrm flipH="1">
                <a:off x="-659248" y="144801"/>
                <a:ext cx="1090200" cy="771300"/>
              </a:xfrm>
              <a:prstGeom prst="straightConnector1">
                <a:avLst/>
              </a:prstGeom>
              <a:noFill/>
              <a:ln w="9525" cap="flat" cmpd="sng">
                <a:solidFill>
                  <a:schemeClr val="dk2"/>
                </a:solidFill>
                <a:prstDash val="solid"/>
                <a:round/>
                <a:headEnd type="none" w="med" len="med"/>
                <a:tailEnd type="none" w="med" len="med"/>
              </a:ln>
            </p:spPr>
          </p:cxnSp>
          <p:cxnSp>
            <p:nvCxnSpPr>
              <p:cNvPr id="104" name="Google Shape;104;p3"/>
              <p:cNvCxnSpPr>
                <a:stCxn id="89" idx="6"/>
                <a:endCxn id="93" idx="2"/>
              </p:cNvCxnSpPr>
              <p:nvPr/>
            </p:nvCxnSpPr>
            <p:spPr>
              <a:xfrm flipH="1">
                <a:off x="-640937" y="634109"/>
                <a:ext cx="915600" cy="314100"/>
              </a:xfrm>
              <a:prstGeom prst="straightConnector1">
                <a:avLst/>
              </a:prstGeom>
              <a:noFill/>
              <a:ln w="9525" cap="flat" cmpd="sng">
                <a:solidFill>
                  <a:schemeClr val="dk2"/>
                </a:solidFill>
                <a:prstDash val="solid"/>
                <a:round/>
                <a:headEnd type="none" w="med" len="med"/>
                <a:tailEnd type="none" w="med" len="med"/>
              </a:ln>
            </p:spPr>
          </p:cxnSp>
          <p:cxnSp>
            <p:nvCxnSpPr>
              <p:cNvPr id="105" name="Google Shape;105;p3"/>
              <p:cNvCxnSpPr>
                <a:stCxn id="93" idx="0"/>
                <a:endCxn id="87" idx="5"/>
              </p:cNvCxnSpPr>
              <p:nvPr/>
            </p:nvCxnSpPr>
            <p:spPr>
              <a:xfrm flipH="1">
                <a:off x="-820996" y="1002137"/>
                <a:ext cx="138300" cy="1236300"/>
              </a:xfrm>
              <a:prstGeom prst="straightConnector1">
                <a:avLst/>
              </a:prstGeom>
              <a:noFill/>
              <a:ln w="9525" cap="flat" cmpd="sng">
                <a:solidFill>
                  <a:schemeClr val="dk2"/>
                </a:solidFill>
                <a:prstDash val="solid"/>
                <a:round/>
                <a:headEnd type="none" w="med" len="med"/>
                <a:tailEnd type="none" w="med" len="med"/>
              </a:ln>
            </p:spPr>
          </p:cxnSp>
          <p:cxnSp>
            <p:nvCxnSpPr>
              <p:cNvPr id="106" name="Google Shape;106;p3"/>
              <p:cNvCxnSpPr>
                <a:stCxn id="91" idx="5"/>
                <a:endCxn id="93" idx="1"/>
              </p:cNvCxnSpPr>
              <p:nvPr/>
            </p:nvCxnSpPr>
            <p:spPr>
              <a:xfrm rot="10800000">
                <a:off x="-650804" y="983814"/>
                <a:ext cx="1088400" cy="1442100"/>
              </a:xfrm>
              <a:prstGeom prst="straightConnector1">
                <a:avLst/>
              </a:prstGeom>
              <a:noFill/>
              <a:ln w="9525" cap="flat" cmpd="sng">
                <a:solidFill>
                  <a:schemeClr val="dk2"/>
                </a:solidFill>
                <a:prstDash val="solid"/>
                <a:round/>
                <a:headEnd type="none" w="med" len="med"/>
                <a:tailEnd type="none" w="med" len="med"/>
              </a:ln>
            </p:spPr>
          </p:cxnSp>
          <p:cxnSp>
            <p:nvCxnSpPr>
              <p:cNvPr id="107" name="Google Shape;107;p3"/>
              <p:cNvCxnSpPr>
                <a:stCxn id="90" idx="6"/>
                <a:endCxn id="93" idx="1"/>
              </p:cNvCxnSpPr>
              <p:nvPr/>
            </p:nvCxnSpPr>
            <p:spPr>
              <a:xfrm rot="10800000">
                <a:off x="-650693" y="983817"/>
                <a:ext cx="1758000" cy="33000"/>
              </a:xfrm>
              <a:prstGeom prst="straightConnector1">
                <a:avLst/>
              </a:prstGeom>
              <a:noFill/>
              <a:ln w="9525" cap="flat" cmpd="sng">
                <a:solidFill>
                  <a:schemeClr val="dk2"/>
                </a:solidFill>
                <a:prstDash val="solid"/>
                <a:round/>
                <a:headEnd type="none" w="med" len="med"/>
                <a:tailEnd type="none" w="med" len="med"/>
              </a:ln>
            </p:spPr>
          </p:cxnSp>
          <p:cxnSp>
            <p:nvCxnSpPr>
              <p:cNvPr id="108" name="Google Shape;108;p3"/>
              <p:cNvCxnSpPr>
                <a:stCxn id="90" idx="4"/>
                <a:endCxn id="88" idx="1"/>
              </p:cNvCxnSpPr>
              <p:nvPr/>
            </p:nvCxnSpPr>
            <p:spPr>
              <a:xfrm rot="10800000">
                <a:off x="712507" y="108717"/>
                <a:ext cx="504600" cy="765900"/>
              </a:xfrm>
              <a:prstGeom prst="straightConnector1">
                <a:avLst/>
              </a:prstGeom>
              <a:noFill/>
              <a:ln w="9525" cap="flat" cmpd="sng">
                <a:solidFill>
                  <a:schemeClr val="dk2"/>
                </a:solidFill>
                <a:prstDash val="solid"/>
                <a:round/>
                <a:headEnd type="none" w="med" len="med"/>
                <a:tailEnd type="none" w="med" len="med"/>
              </a:ln>
            </p:spPr>
          </p:cxnSp>
          <p:sp>
            <p:nvSpPr>
              <p:cNvPr id="109" name="Google Shape;109;p3"/>
              <p:cNvSpPr/>
              <p:nvPr/>
            </p:nvSpPr>
            <p:spPr>
              <a:xfrm rot="10355821">
                <a:off x="-1188290" y="-540986"/>
                <a:ext cx="130387" cy="130387"/>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0" name="Google Shape;110;p3"/>
              <p:cNvCxnSpPr>
                <a:stCxn id="93" idx="4"/>
                <a:endCxn id="109" idx="1"/>
              </p:cNvCxnSpPr>
              <p:nvPr/>
            </p:nvCxnSpPr>
            <p:spPr>
              <a:xfrm rot="10800000">
                <a:off x="-1071496" y="-436063"/>
                <a:ext cx="376500" cy="1342500"/>
              </a:xfrm>
              <a:prstGeom prst="straightConnector1">
                <a:avLst/>
              </a:prstGeom>
              <a:noFill/>
              <a:ln w="9525" cap="flat" cmpd="sng">
                <a:solidFill>
                  <a:schemeClr val="dk2"/>
                </a:solidFill>
                <a:prstDash val="solid"/>
                <a:round/>
                <a:headEnd type="none" w="med" len="med"/>
                <a:tailEnd type="none" w="med" len="med"/>
              </a:ln>
            </p:spPr>
          </p:cxnSp>
          <p:cxnSp>
            <p:nvCxnSpPr>
              <p:cNvPr id="111" name="Google Shape;111;p3"/>
              <p:cNvCxnSpPr>
                <a:stCxn id="109" idx="1"/>
                <a:endCxn id="88" idx="5"/>
              </p:cNvCxnSpPr>
              <p:nvPr/>
            </p:nvCxnSpPr>
            <p:spPr>
              <a:xfrm>
                <a:off x="-1071443" y="-436018"/>
                <a:ext cx="1466400" cy="299400"/>
              </a:xfrm>
              <a:prstGeom prst="straightConnector1">
                <a:avLst/>
              </a:prstGeom>
              <a:noFill/>
              <a:ln w="9525" cap="flat" cmpd="sng">
                <a:solidFill>
                  <a:schemeClr val="dk2"/>
                </a:solidFill>
                <a:prstDash val="solid"/>
                <a:round/>
                <a:headEnd type="none" w="med" len="med"/>
                <a:tailEnd type="none" w="med" len="med"/>
              </a:ln>
            </p:spPr>
          </p:cxnSp>
          <p:cxnSp>
            <p:nvCxnSpPr>
              <p:cNvPr id="112" name="Google Shape;112;p3"/>
              <p:cNvCxnSpPr>
                <a:stCxn id="109" idx="1"/>
                <a:endCxn id="89" idx="5"/>
              </p:cNvCxnSpPr>
              <p:nvPr/>
            </p:nvCxnSpPr>
            <p:spPr>
              <a:xfrm>
                <a:off x="-1071443" y="-436018"/>
                <a:ext cx="1359000" cy="1022100"/>
              </a:xfrm>
              <a:prstGeom prst="straightConnector1">
                <a:avLst/>
              </a:prstGeom>
              <a:noFill/>
              <a:ln w="9525" cap="flat" cmpd="sng">
                <a:solidFill>
                  <a:schemeClr val="dk2"/>
                </a:solidFill>
                <a:prstDash val="solid"/>
                <a:round/>
                <a:headEnd type="none" w="med" len="med"/>
                <a:tailEnd type="none" w="med" len="med"/>
              </a:ln>
            </p:spPr>
          </p:cxnSp>
          <p:sp>
            <p:nvSpPr>
              <p:cNvPr id="113" name="Google Shape;113;p3"/>
              <p:cNvSpPr/>
              <p:nvPr/>
            </p:nvSpPr>
            <p:spPr>
              <a:xfrm rot="10361165">
                <a:off x="-233691" y="3414341"/>
                <a:ext cx="428890" cy="42889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4" name="Google Shape;114;p3"/>
              <p:cNvCxnSpPr>
                <a:stCxn id="91" idx="0"/>
                <a:endCxn id="113" idx="3"/>
              </p:cNvCxnSpPr>
              <p:nvPr/>
            </p:nvCxnSpPr>
            <p:spPr>
              <a:xfrm flipH="1">
                <a:off x="111850" y="2530339"/>
                <a:ext cx="385800" cy="928800"/>
              </a:xfrm>
              <a:prstGeom prst="straightConnector1">
                <a:avLst/>
              </a:prstGeom>
              <a:noFill/>
              <a:ln w="9525" cap="flat" cmpd="sng">
                <a:solidFill>
                  <a:schemeClr val="dk2"/>
                </a:solidFill>
                <a:prstDash val="solid"/>
                <a:round/>
                <a:headEnd type="none" w="med" len="med"/>
                <a:tailEnd type="none" w="med" len="med"/>
              </a:ln>
            </p:spPr>
          </p:cxnSp>
          <p:cxnSp>
            <p:nvCxnSpPr>
              <p:cNvPr id="115" name="Google Shape;115;p3"/>
              <p:cNvCxnSpPr>
                <a:stCxn id="87" idx="0"/>
                <a:endCxn id="113" idx="5"/>
              </p:cNvCxnSpPr>
              <p:nvPr/>
            </p:nvCxnSpPr>
            <p:spPr>
              <a:xfrm>
                <a:off x="-731455" y="2394604"/>
                <a:ext cx="542400" cy="1103100"/>
              </a:xfrm>
              <a:prstGeom prst="straightConnector1">
                <a:avLst/>
              </a:prstGeom>
              <a:noFill/>
              <a:ln w="9525" cap="flat" cmpd="sng">
                <a:solidFill>
                  <a:schemeClr val="dk2"/>
                </a:solidFill>
                <a:prstDash val="solid"/>
                <a:round/>
                <a:headEnd type="none" w="med" len="med"/>
                <a:tailEnd type="none" w="med" len="med"/>
              </a:ln>
            </p:spPr>
          </p:cxnSp>
        </p:grpSp>
        <p:grpSp>
          <p:nvGrpSpPr>
            <p:cNvPr id="116" name="Google Shape;116;p3"/>
            <p:cNvGrpSpPr/>
            <p:nvPr/>
          </p:nvGrpSpPr>
          <p:grpSpPr>
            <a:xfrm>
              <a:off x="6988759" y="2308882"/>
              <a:ext cx="5696014" cy="4016976"/>
              <a:chOff x="6988759" y="2308882"/>
              <a:chExt cx="5696014" cy="4016976"/>
            </a:xfrm>
          </p:grpSpPr>
          <p:sp>
            <p:nvSpPr>
              <p:cNvPr id="117" name="Google Shape;117;p3"/>
              <p:cNvSpPr/>
              <p:nvPr/>
            </p:nvSpPr>
            <p:spPr>
              <a:xfrm rot="10800000" flipH="1">
                <a:off x="6988759" y="4811408"/>
                <a:ext cx="194400" cy="194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8" name="Google Shape;118;p3"/>
              <p:cNvSpPr/>
              <p:nvPr/>
            </p:nvSpPr>
            <p:spPr>
              <a:xfrm rot="10800000" flipH="1">
                <a:off x="9708881" y="5924735"/>
                <a:ext cx="194400" cy="194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9" name="Google Shape;119;p3"/>
              <p:cNvSpPr/>
              <p:nvPr/>
            </p:nvSpPr>
            <p:spPr>
              <a:xfrm rot="10800000" flipH="1">
                <a:off x="9274463" y="3379603"/>
                <a:ext cx="401400" cy="4014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20" name="Google Shape;120;p3"/>
              <p:cNvSpPr/>
              <p:nvPr/>
            </p:nvSpPr>
            <p:spPr>
              <a:xfrm rot="10800000" flipH="1">
                <a:off x="8847429" y="5037312"/>
                <a:ext cx="130500" cy="130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21" name="Google Shape;121;p3"/>
              <p:cNvSpPr/>
              <p:nvPr/>
            </p:nvSpPr>
            <p:spPr>
              <a:xfrm rot="10800000" flipH="1">
                <a:off x="7696942" y="5973758"/>
                <a:ext cx="96300" cy="963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22" name="Google Shape;122;p3"/>
              <p:cNvSpPr/>
              <p:nvPr/>
            </p:nvSpPr>
            <p:spPr>
              <a:xfrm rot="10800000" flipH="1">
                <a:off x="8847429" y="6195358"/>
                <a:ext cx="130500" cy="130500"/>
              </a:xfrm>
              <a:prstGeom prst="ellipse">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23" name="Google Shape;123;p3"/>
              <p:cNvSpPr/>
              <p:nvPr/>
            </p:nvSpPr>
            <p:spPr>
              <a:xfrm rot="10800000" flipH="1">
                <a:off x="7958998" y="4095690"/>
                <a:ext cx="130500" cy="130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24" name="Google Shape;124;p3"/>
              <p:cNvSpPr/>
              <p:nvPr/>
            </p:nvSpPr>
            <p:spPr>
              <a:xfrm rot="10800000" flipH="1">
                <a:off x="12588473" y="4375765"/>
                <a:ext cx="96300" cy="96300"/>
              </a:xfrm>
              <a:prstGeom prst="ellipse">
                <a:avLst/>
              </a:prstGeom>
              <a:solidFill>
                <a:srgbClr val="86CF6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25" name="Google Shape;125;p3"/>
              <p:cNvCxnSpPr>
                <a:stCxn id="121" idx="5"/>
                <a:endCxn id="120" idx="1"/>
              </p:cNvCxnSpPr>
              <p:nvPr/>
            </p:nvCxnSpPr>
            <p:spPr>
              <a:xfrm rot="10800000" flipH="1">
                <a:off x="7779139" y="5148761"/>
                <a:ext cx="1087500" cy="839100"/>
              </a:xfrm>
              <a:prstGeom prst="straightConnector1">
                <a:avLst/>
              </a:prstGeom>
              <a:noFill/>
              <a:ln w="9525" cap="flat" cmpd="sng">
                <a:solidFill>
                  <a:schemeClr val="dk2"/>
                </a:solidFill>
                <a:prstDash val="solid"/>
                <a:round/>
                <a:headEnd type="none" w="med" len="med"/>
                <a:tailEnd type="none" w="med" len="med"/>
              </a:ln>
            </p:spPr>
          </p:cxnSp>
          <p:cxnSp>
            <p:nvCxnSpPr>
              <p:cNvPr id="126" name="Google Shape;126;p3"/>
              <p:cNvCxnSpPr>
                <a:stCxn id="122" idx="4"/>
                <a:endCxn id="120" idx="0"/>
              </p:cNvCxnSpPr>
              <p:nvPr/>
            </p:nvCxnSpPr>
            <p:spPr>
              <a:xfrm rot="10800000">
                <a:off x="8912679" y="5167858"/>
                <a:ext cx="0" cy="1027500"/>
              </a:xfrm>
              <a:prstGeom prst="straightConnector1">
                <a:avLst/>
              </a:prstGeom>
              <a:noFill/>
              <a:ln w="9525" cap="flat" cmpd="sng">
                <a:solidFill>
                  <a:schemeClr val="dk2"/>
                </a:solidFill>
                <a:prstDash val="solid"/>
                <a:round/>
                <a:headEnd type="none" w="med" len="med"/>
                <a:tailEnd type="none" w="med" len="med"/>
              </a:ln>
            </p:spPr>
          </p:cxnSp>
          <p:cxnSp>
            <p:nvCxnSpPr>
              <p:cNvPr id="127" name="Google Shape;127;p3"/>
              <p:cNvCxnSpPr>
                <a:stCxn id="117" idx="6"/>
                <a:endCxn id="120" idx="2"/>
              </p:cNvCxnSpPr>
              <p:nvPr/>
            </p:nvCxnSpPr>
            <p:spPr>
              <a:xfrm>
                <a:off x="7183159" y="4908608"/>
                <a:ext cx="1664400" cy="194100"/>
              </a:xfrm>
              <a:prstGeom prst="straightConnector1">
                <a:avLst/>
              </a:prstGeom>
              <a:noFill/>
              <a:ln w="9525" cap="flat" cmpd="sng">
                <a:solidFill>
                  <a:schemeClr val="dk2"/>
                </a:solidFill>
                <a:prstDash val="solid"/>
                <a:round/>
                <a:headEnd type="none" w="med" len="med"/>
                <a:tailEnd type="none" w="med" len="med"/>
              </a:ln>
            </p:spPr>
          </p:cxnSp>
          <p:cxnSp>
            <p:nvCxnSpPr>
              <p:cNvPr id="128" name="Google Shape;128;p3"/>
              <p:cNvCxnSpPr>
                <a:stCxn id="117" idx="0"/>
                <a:endCxn id="121" idx="3"/>
              </p:cNvCxnSpPr>
              <p:nvPr/>
            </p:nvCxnSpPr>
            <p:spPr>
              <a:xfrm>
                <a:off x="7085959" y="5005808"/>
                <a:ext cx="625200" cy="982200"/>
              </a:xfrm>
              <a:prstGeom prst="straightConnector1">
                <a:avLst/>
              </a:prstGeom>
              <a:noFill/>
              <a:ln w="9525" cap="flat" cmpd="sng">
                <a:solidFill>
                  <a:schemeClr val="dk2"/>
                </a:solidFill>
                <a:prstDash val="solid"/>
                <a:round/>
                <a:headEnd type="none" w="med" len="med"/>
                <a:tailEnd type="none" w="med" len="med"/>
              </a:ln>
            </p:spPr>
          </p:cxnSp>
          <p:cxnSp>
            <p:nvCxnSpPr>
              <p:cNvPr id="129" name="Google Shape;129;p3"/>
              <p:cNvCxnSpPr>
                <a:stCxn id="121" idx="7"/>
                <a:endCxn id="122" idx="2"/>
              </p:cNvCxnSpPr>
              <p:nvPr/>
            </p:nvCxnSpPr>
            <p:spPr>
              <a:xfrm>
                <a:off x="7779139" y="6055955"/>
                <a:ext cx="1068300" cy="204600"/>
              </a:xfrm>
              <a:prstGeom prst="straightConnector1">
                <a:avLst/>
              </a:prstGeom>
              <a:noFill/>
              <a:ln w="9525" cap="flat" cmpd="sng">
                <a:solidFill>
                  <a:schemeClr val="dk2"/>
                </a:solidFill>
                <a:prstDash val="solid"/>
                <a:round/>
                <a:headEnd type="none" w="med" len="med"/>
                <a:tailEnd type="none" w="med" len="med"/>
              </a:ln>
            </p:spPr>
          </p:cxnSp>
          <p:cxnSp>
            <p:nvCxnSpPr>
              <p:cNvPr id="130" name="Google Shape;130;p3"/>
              <p:cNvCxnSpPr>
                <a:stCxn id="122" idx="6"/>
                <a:endCxn id="118" idx="2"/>
              </p:cNvCxnSpPr>
              <p:nvPr/>
            </p:nvCxnSpPr>
            <p:spPr>
              <a:xfrm rot="10800000" flipH="1">
                <a:off x="8977929" y="6021808"/>
                <a:ext cx="731100" cy="238800"/>
              </a:xfrm>
              <a:prstGeom prst="straightConnector1">
                <a:avLst/>
              </a:prstGeom>
              <a:noFill/>
              <a:ln w="9525" cap="flat" cmpd="sng">
                <a:solidFill>
                  <a:schemeClr val="dk2"/>
                </a:solidFill>
                <a:prstDash val="solid"/>
                <a:round/>
                <a:headEnd type="none" w="med" len="med"/>
                <a:tailEnd type="none" w="med" len="med"/>
              </a:ln>
            </p:spPr>
          </p:cxnSp>
          <p:cxnSp>
            <p:nvCxnSpPr>
              <p:cNvPr id="131" name="Google Shape;131;p3"/>
              <p:cNvCxnSpPr>
                <a:stCxn id="120" idx="7"/>
                <a:endCxn id="118" idx="3"/>
              </p:cNvCxnSpPr>
              <p:nvPr/>
            </p:nvCxnSpPr>
            <p:spPr>
              <a:xfrm>
                <a:off x="8958818" y="5148700"/>
                <a:ext cx="778500" cy="804600"/>
              </a:xfrm>
              <a:prstGeom prst="straightConnector1">
                <a:avLst/>
              </a:prstGeom>
              <a:noFill/>
              <a:ln w="9525" cap="flat" cmpd="sng">
                <a:solidFill>
                  <a:schemeClr val="dk2"/>
                </a:solidFill>
                <a:prstDash val="solid"/>
                <a:round/>
                <a:headEnd type="none" w="med" len="med"/>
                <a:tailEnd type="none" w="med" len="med"/>
              </a:ln>
            </p:spPr>
          </p:cxnSp>
          <p:cxnSp>
            <p:nvCxnSpPr>
              <p:cNvPr id="132" name="Google Shape;132;p3"/>
              <p:cNvCxnSpPr>
                <a:stCxn id="117" idx="5"/>
                <a:endCxn id="123" idx="1"/>
              </p:cNvCxnSpPr>
              <p:nvPr/>
            </p:nvCxnSpPr>
            <p:spPr>
              <a:xfrm rot="10800000" flipH="1">
                <a:off x="7154690" y="4207177"/>
                <a:ext cx="823500" cy="632700"/>
              </a:xfrm>
              <a:prstGeom prst="straightConnector1">
                <a:avLst/>
              </a:prstGeom>
              <a:noFill/>
              <a:ln w="9525" cap="flat" cmpd="sng">
                <a:solidFill>
                  <a:schemeClr val="dk2"/>
                </a:solidFill>
                <a:prstDash val="solid"/>
                <a:round/>
                <a:headEnd type="none" w="med" len="med"/>
                <a:tailEnd type="none" w="med" len="med"/>
              </a:ln>
            </p:spPr>
          </p:cxnSp>
          <p:cxnSp>
            <p:nvCxnSpPr>
              <p:cNvPr id="133" name="Google Shape;133;p3"/>
              <p:cNvCxnSpPr>
                <a:stCxn id="123" idx="7"/>
                <a:endCxn id="120" idx="3"/>
              </p:cNvCxnSpPr>
              <p:nvPr/>
            </p:nvCxnSpPr>
            <p:spPr>
              <a:xfrm>
                <a:off x="8070387" y="4207078"/>
                <a:ext cx="796200" cy="849300"/>
              </a:xfrm>
              <a:prstGeom prst="straightConnector1">
                <a:avLst/>
              </a:prstGeom>
              <a:noFill/>
              <a:ln w="9525" cap="flat" cmpd="sng">
                <a:solidFill>
                  <a:schemeClr val="dk2"/>
                </a:solidFill>
                <a:prstDash val="solid"/>
                <a:round/>
                <a:headEnd type="none" w="med" len="med"/>
                <a:tailEnd type="none" w="med" len="med"/>
              </a:ln>
            </p:spPr>
          </p:cxnSp>
          <p:cxnSp>
            <p:nvCxnSpPr>
              <p:cNvPr id="134" name="Google Shape;134;p3"/>
              <p:cNvCxnSpPr>
                <a:stCxn id="123" idx="7"/>
                <a:endCxn id="119" idx="1"/>
              </p:cNvCxnSpPr>
              <p:nvPr/>
            </p:nvCxnSpPr>
            <p:spPr>
              <a:xfrm rot="10800000" flipH="1">
                <a:off x="8070387" y="3722278"/>
                <a:ext cx="1263000" cy="484800"/>
              </a:xfrm>
              <a:prstGeom prst="straightConnector1">
                <a:avLst/>
              </a:prstGeom>
              <a:noFill/>
              <a:ln w="9525" cap="flat" cmpd="sng">
                <a:solidFill>
                  <a:schemeClr val="dk2"/>
                </a:solidFill>
                <a:prstDash val="solid"/>
                <a:round/>
                <a:headEnd type="none" w="med" len="med"/>
                <a:tailEnd type="none" w="med" len="med"/>
              </a:ln>
            </p:spPr>
          </p:cxnSp>
          <p:cxnSp>
            <p:nvCxnSpPr>
              <p:cNvPr id="135" name="Google Shape;135;p3"/>
              <p:cNvCxnSpPr>
                <a:stCxn id="119" idx="0"/>
                <a:endCxn id="120" idx="5"/>
              </p:cNvCxnSpPr>
              <p:nvPr/>
            </p:nvCxnSpPr>
            <p:spPr>
              <a:xfrm flipH="1">
                <a:off x="8958863" y="3781003"/>
                <a:ext cx="516300" cy="1275300"/>
              </a:xfrm>
              <a:prstGeom prst="straightConnector1">
                <a:avLst/>
              </a:prstGeom>
              <a:noFill/>
              <a:ln w="9525" cap="flat" cmpd="sng">
                <a:solidFill>
                  <a:schemeClr val="dk2"/>
                </a:solidFill>
                <a:prstDash val="solid"/>
                <a:round/>
                <a:headEnd type="none" w="med" len="med"/>
                <a:tailEnd type="none" w="med" len="med"/>
              </a:ln>
            </p:spPr>
          </p:cxnSp>
          <p:cxnSp>
            <p:nvCxnSpPr>
              <p:cNvPr id="136" name="Google Shape;136;p3"/>
              <p:cNvCxnSpPr>
                <a:stCxn id="124" idx="1"/>
                <a:endCxn id="118" idx="5"/>
              </p:cNvCxnSpPr>
              <p:nvPr/>
            </p:nvCxnSpPr>
            <p:spPr>
              <a:xfrm flipH="1">
                <a:off x="9874676" y="4457962"/>
                <a:ext cx="2727900" cy="1495200"/>
              </a:xfrm>
              <a:prstGeom prst="straightConnector1">
                <a:avLst/>
              </a:prstGeom>
              <a:noFill/>
              <a:ln w="9525" cap="flat" cmpd="sng">
                <a:solidFill>
                  <a:schemeClr val="dk2"/>
                </a:solidFill>
                <a:prstDash val="solid"/>
                <a:round/>
                <a:headEnd type="none" w="med" len="med"/>
                <a:tailEnd type="none" w="med" len="med"/>
              </a:ln>
            </p:spPr>
          </p:cxnSp>
          <p:cxnSp>
            <p:nvCxnSpPr>
              <p:cNvPr id="137" name="Google Shape;137;p3"/>
              <p:cNvCxnSpPr>
                <a:stCxn id="121" idx="6"/>
                <a:endCxn id="124" idx="1"/>
              </p:cNvCxnSpPr>
              <p:nvPr/>
            </p:nvCxnSpPr>
            <p:spPr>
              <a:xfrm rot="10800000" flipH="1">
                <a:off x="7793242" y="4458008"/>
                <a:ext cx="4809300" cy="1563900"/>
              </a:xfrm>
              <a:prstGeom prst="straightConnector1">
                <a:avLst/>
              </a:prstGeom>
              <a:noFill/>
              <a:ln w="9525" cap="flat" cmpd="sng">
                <a:solidFill>
                  <a:schemeClr val="dk2"/>
                </a:solidFill>
                <a:prstDash val="solid"/>
                <a:round/>
                <a:headEnd type="none" w="med" len="med"/>
                <a:tailEnd type="none" w="med" len="med"/>
              </a:ln>
            </p:spPr>
          </p:cxnSp>
          <p:cxnSp>
            <p:nvCxnSpPr>
              <p:cNvPr id="138" name="Google Shape;138;p3"/>
              <p:cNvCxnSpPr>
                <a:stCxn id="118" idx="4"/>
                <a:endCxn id="119" idx="0"/>
              </p:cNvCxnSpPr>
              <p:nvPr/>
            </p:nvCxnSpPr>
            <p:spPr>
              <a:xfrm rot="10800000">
                <a:off x="9475181" y="3780935"/>
                <a:ext cx="330900" cy="2143800"/>
              </a:xfrm>
              <a:prstGeom prst="straightConnector1">
                <a:avLst/>
              </a:prstGeom>
              <a:noFill/>
              <a:ln w="9525" cap="flat" cmpd="sng">
                <a:solidFill>
                  <a:schemeClr val="dk2"/>
                </a:solidFill>
                <a:prstDash val="solid"/>
                <a:round/>
                <a:headEnd type="none" w="med" len="med"/>
                <a:tailEnd type="none" w="med" len="med"/>
              </a:ln>
            </p:spPr>
          </p:cxnSp>
          <p:sp>
            <p:nvSpPr>
              <p:cNvPr id="139" name="Google Shape;139;p3"/>
              <p:cNvSpPr/>
              <p:nvPr/>
            </p:nvSpPr>
            <p:spPr>
              <a:xfrm rot="10800000" flipH="1">
                <a:off x="11005448" y="3761850"/>
                <a:ext cx="130500" cy="130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0" name="Google Shape;140;p3"/>
              <p:cNvCxnSpPr>
                <a:stCxn id="124" idx="2"/>
                <a:endCxn id="139" idx="7"/>
              </p:cNvCxnSpPr>
              <p:nvPr/>
            </p:nvCxnSpPr>
            <p:spPr>
              <a:xfrm rot="10800000">
                <a:off x="11116973" y="3873115"/>
                <a:ext cx="1471500" cy="550800"/>
              </a:xfrm>
              <a:prstGeom prst="straightConnector1">
                <a:avLst/>
              </a:prstGeom>
              <a:noFill/>
              <a:ln w="9525" cap="flat" cmpd="sng">
                <a:solidFill>
                  <a:srgbClr val="434343"/>
                </a:solidFill>
                <a:prstDash val="solid"/>
                <a:round/>
                <a:headEnd type="none" w="med" len="med"/>
                <a:tailEnd type="none" w="med" len="med"/>
              </a:ln>
            </p:spPr>
          </p:cxnSp>
          <p:cxnSp>
            <p:nvCxnSpPr>
              <p:cNvPr id="141" name="Google Shape;141;p3"/>
              <p:cNvCxnSpPr>
                <a:stCxn id="139" idx="2"/>
                <a:endCxn id="119" idx="6"/>
              </p:cNvCxnSpPr>
              <p:nvPr/>
            </p:nvCxnSpPr>
            <p:spPr>
              <a:xfrm rot="10800000">
                <a:off x="9675848" y="3580200"/>
                <a:ext cx="1329600" cy="246900"/>
              </a:xfrm>
              <a:prstGeom prst="straightConnector1">
                <a:avLst/>
              </a:prstGeom>
              <a:noFill/>
              <a:ln w="9525" cap="flat" cmpd="sng">
                <a:solidFill>
                  <a:schemeClr val="dk2"/>
                </a:solidFill>
                <a:prstDash val="solid"/>
                <a:round/>
                <a:headEnd type="none" w="med" len="med"/>
                <a:tailEnd type="none" w="med" len="med"/>
              </a:ln>
            </p:spPr>
          </p:cxnSp>
          <p:cxnSp>
            <p:nvCxnSpPr>
              <p:cNvPr id="142" name="Google Shape;142;p3"/>
              <p:cNvCxnSpPr>
                <a:stCxn id="139" idx="0"/>
                <a:endCxn id="118" idx="4"/>
              </p:cNvCxnSpPr>
              <p:nvPr/>
            </p:nvCxnSpPr>
            <p:spPr>
              <a:xfrm flipH="1">
                <a:off x="9806198" y="3892350"/>
                <a:ext cx="1264500" cy="2032500"/>
              </a:xfrm>
              <a:prstGeom prst="straightConnector1">
                <a:avLst/>
              </a:prstGeom>
              <a:noFill/>
              <a:ln w="9525" cap="flat" cmpd="sng">
                <a:solidFill>
                  <a:schemeClr val="dk2"/>
                </a:solidFill>
                <a:prstDash val="solid"/>
                <a:round/>
                <a:headEnd type="none" w="med" len="med"/>
                <a:tailEnd type="none" w="med" len="med"/>
              </a:ln>
            </p:spPr>
          </p:cxnSp>
          <p:cxnSp>
            <p:nvCxnSpPr>
              <p:cNvPr id="143" name="Google Shape;143;p3"/>
              <p:cNvCxnSpPr>
                <a:stCxn id="139" idx="1"/>
                <a:endCxn id="120" idx="5"/>
              </p:cNvCxnSpPr>
              <p:nvPr/>
            </p:nvCxnSpPr>
            <p:spPr>
              <a:xfrm flipH="1">
                <a:off x="8958759" y="3873239"/>
                <a:ext cx="2065800" cy="1183200"/>
              </a:xfrm>
              <a:prstGeom prst="straightConnector1">
                <a:avLst/>
              </a:prstGeom>
              <a:noFill/>
              <a:ln w="9525" cap="flat" cmpd="sng">
                <a:solidFill>
                  <a:schemeClr val="dk2"/>
                </a:solidFill>
                <a:prstDash val="solid"/>
                <a:round/>
                <a:headEnd type="none" w="med" len="med"/>
                <a:tailEnd type="none" w="med" len="med"/>
              </a:ln>
            </p:spPr>
          </p:cxnSp>
          <p:sp>
            <p:nvSpPr>
              <p:cNvPr id="144" name="Google Shape;144;p3"/>
              <p:cNvSpPr/>
              <p:nvPr/>
            </p:nvSpPr>
            <p:spPr>
              <a:xfrm rot="10800000" flipH="1">
                <a:off x="8260191" y="2787257"/>
                <a:ext cx="194400" cy="1944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5" name="Google Shape;145;p3"/>
              <p:cNvCxnSpPr>
                <a:stCxn id="119" idx="3"/>
                <a:endCxn id="144" idx="7"/>
              </p:cNvCxnSpPr>
              <p:nvPr/>
            </p:nvCxnSpPr>
            <p:spPr>
              <a:xfrm rot="10800000">
                <a:off x="8426047" y="2953287"/>
                <a:ext cx="907200" cy="485100"/>
              </a:xfrm>
              <a:prstGeom prst="straightConnector1">
                <a:avLst/>
              </a:prstGeom>
              <a:noFill/>
              <a:ln w="9525" cap="flat" cmpd="sng">
                <a:solidFill>
                  <a:schemeClr val="dk2"/>
                </a:solidFill>
                <a:prstDash val="solid"/>
                <a:round/>
                <a:headEnd type="none" w="med" len="med"/>
                <a:tailEnd type="none" w="med" len="med"/>
              </a:ln>
            </p:spPr>
          </p:cxnSp>
          <p:cxnSp>
            <p:nvCxnSpPr>
              <p:cNvPr id="146" name="Google Shape;146;p3"/>
              <p:cNvCxnSpPr>
                <a:stCxn id="144" idx="0"/>
                <a:endCxn id="123" idx="4"/>
              </p:cNvCxnSpPr>
              <p:nvPr/>
            </p:nvCxnSpPr>
            <p:spPr>
              <a:xfrm flipH="1">
                <a:off x="8024391" y="2981657"/>
                <a:ext cx="333000" cy="1113900"/>
              </a:xfrm>
              <a:prstGeom prst="straightConnector1">
                <a:avLst/>
              </a:prstGeom>
              <a:noFill/>
              <a:ln w="9525" cap="flat" cmpd="sng">
                <a:solidFill>
                  <a:schemeClr val="dk2"/>
                </a:solidFill>
                <a:prstDash val="solid"/>
                <a:round/>
                <a:headEnd type="none" w="med" len="med"/>
                <a:tailEnd type="none" w="med" len="med"/>
              </a:ln>
            </p:spPr>
          </p:cxnSp>
          <p:sp>
            <p:nvSpPr>
              <p:cNvPr id="147" name="Google Shape;147;p3"/>
              <p:cNvSpPr/>
              <p:nvPr/>
            </p:nvSpPr>
            <p:spPr>
              <a:xfrm rot="10800000" flipH="1">
                <a:off x="7973826" y="4652423"/>
                <a:ext cx="249300" cy="2493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8" name="Google Shape;148;p3"/>
              <p:cNvCxnSpPr>
                <a:stCxn id="117" idx="6"/>
                <a:endCxn id="147" idx="2"/>
              </p:cNvCxnSpPr>
              <p:nvPr/>
            </p:nvCxnSpPr>
            <p:spPr>
              <a:xfrm rot="10800000" flipH="1">
                <a:off x="7183159" y="4777208"/>
                <a:ext cx="790800" cy="131400"/>
              </a:xfrm>
              <a:prstGeom prst="straightConnector1">
                <a:avLst/>
              </a:prstGeom>
              <a:noFill/>
              <a:ln w="9525" cap="flat" cmpd="sng">
                <a:solidFill>
                  <a:schemeClr val="dk2"/>
                </a:solidFill>
                <a:prstDash val="solid"/>
                <a:round/>
                <a:headEnd type="none" w="med" len="med"/>
                <a:tailEnd type="none" w="med" len="med"/>
              </a:ln>
            </p:spPr>
          </p:cxnSp>
          <p:cxnSp>
            <p:nvCxnSpPr>
              <p:cNvPr id="149" name="Google Shape;149;p3"/>
              <p:cNvCxnSpPr>
                <a:stCxn id="123" idx="0"/>
                <a:endCxn id="147" idx="4"/>
              </p:cNvCxnSpPr>
              <p:nvPr/>
            </p:nvCxnSpPr>
            <p:spPr>
              <a:xfrm>
                <a:off x="8024248" y="4226190"/>
                <a:ext cx="74100" cy="426300"/>
              </a:xfrm>
              <a:prstGeom prst="straightConnector1">
                <a:avLst/>
              </a:prstGeom>
              <a:noFill/>
              <a:ln w="9525" cap="flat" cmpd="sng">
                <a:solidFill>
                  <a:schemeClr val="dk2"/>
                </a:solidFill>
                <a:prstDash val="solid"/>
                <a:round/>
                <a:headEnd type="none" w="med" len="med"/>
                <a:tailEnd type="none" w="med" len="med"/>
              </a:ln>
            </p:spPr>
          </p:cxnSp>
          <p:cxnSp>
            <p:nvCxnSpPr>
              <p:cNvPr id="150" name="Google Shape;150;p3"/>
              <p:cNvCxnSpPr>
                <a:stCxn id="147" idx="6"/>
                <a:endCxn id="120" idx="3"/>
              </p:cNvCxnSpPr>
              <p:nvPr/>
            </p:nvCxnSpPr>
            <p:spPr>
              <a:xfrm>
                <a:off x="8223126" y="4777073"/>
                <a:ext cx="643500" cy="279300"/>
              </a:xfrm>
              <a:prstGeom prst="straightConnector1">
                <a:avLst/>
              </a:prstGeom>
              <a:noFill/>
              <a:ln w="9525" cap="flat" cmpd="sng">
                <a:solidFill>
                  <a:schemeClr val="dk2"/>
                </a:solidFill>
                <a:prstDash val="solid"/>
                <a:round/>
                <a:headEnd type="none" w="med" len="med"/>
                <a:tailEnd type="none" w="med" len="med"/>
              </a:ln>
            </p:spPr>
          </p:cxnSp>
          <p:sp>
            <p:nvSpPr>
              <p:cNvPr id="151" name="Google Shape;151;p3"/>
              <p:cNvSpPr/>
              <p:nvPr/>
            </p:nvSpPr>
            <p:spPr>
              <a:xfrm rot="10800000" flipH="1">
                <a:off x="8782441" y="2308882"/>
                <a:ext cx="194400" cy="194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52" name="Google Shape;152;p3"/>
              <p:cNvCxnSpPr>
                <a:stCxn id="144" idx="5"/>
                <a:endCxn id="151" idx="1"/>
              </p:cNvCxnSpPr>
              <p:nvPr/>
            </p:nvCxnSpPr>
            <p:spPr>
              <a:xfrm rot="10800000" flipH="1">
                <a:off x="8426122" y="2474926"/>
                <a:ext cx="384900" cy="340800"/>
              </a:xfrm>
              <a:prstGeom prst="straightConnector1">
                <a:avLst/>
              </a:prstGeom>
              <a:noFill/>
              <a:ln w="9525" cap="flat" cmpd="sng">
                <a:solidFill>
                  <a:schemeClr val="dk2"/>
                </a:solidFill>
                <a:prstDash val="solid"/>
                <a:round/>
                <a:headEnd type="none" w="med" len="med"/>
                <a:tailEnd type="none" w="med" len="med"/>
              </a:ln>
            </p:spPr>
          </p:cxnSp>
          <p:cxnSp>
            <p:nvCxnSpPr>
              <p:cNvPr id="153" name="Google Shape;153;p3"/>
              <p:cNvCxnSpPr>
                <a:stCxn id="151" idx="7"/>
                <a:endCxn id="119" idx="3"/>
              </p:cNvCxnSpPr>
              <p:nvPr/>
            </p:nvCxnSpPr>
            <p:spPr>
              <a:xfrm>
                <a:off x="8948372" y="2474812"/>
                <a:ext cx="384900" cy="963600"/>
              </a:xfrm>
              <a:prstGeom prst="straightConnector1">
                <a:avLst/>
              </a:prstGeom>
              <a:noFill/>
              <a:ln w="9525" cap="flat" cmpd="sng">
                <a:solidFill>
                  <a:schemeClr val="dk2"/>
                </a:solidFill>
                <a:prstDash val="solid"/>
                <a:round/>
                <a:headEnd type="none" w="med" len="med"/>
                <a:tailEnd type="none" w="med" len="med"/>
              </a:ln>
            </p:spPr>
          </p:cxnSp>
          <p:sp>
            <p:nvSpPr>
              <p:cNvPr id="154" name="Google Shape;154;p3"/>
              <p:cNvSpPr/>
              <p:nvPr/>
            </p:nvSpPr>
            <p:spPr>
              <a:xfrm rot="10800000" flipH="1">
                <a:off x="8521366" y="3414207"/>
                <a:ext cx="194400" cy="1944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55" name="Google Shape;155;p3"/>
              <p:cNvCxnSpPr>
                <a:stCxn id="144" idx="0"/>
                <a:endCxn id="154" idx="3"/>
              </p:cNvCxnSpPr>
              <p:nvPr/>
            </p:nvCxnSpPr>
            <p:spPr>
              <a:xfrm>
                <a:off x="8357391" y="2981657"/>
                <a:ext cx="192300" cy="461100"/>
              </a:xfrm>
              <a:prstGeom prst="straightConnector1">
                <a:avLst/>
              </a:prstGeom>
              <a:noFill/>
              <a:ln w="9525" cap="flat" cmpd="sng">
                <a:solidFill>
                  <a:schemeClr val="dk2"/>
                </a:solidFill>
                <a:prstDash val="solid"/>
                <a:round/>
                <a:headEnd type="none" w="med" len="med"/>
                <a:tailEnd type="none" w="med" len="med"/>
              </a:ln>
            </p:spPr>
          </p:cxnSp>
          <p:cxnSp>
            <p:nvCxnSpPr>
              <p:cNvPr id="156" name="Google Shape;156;p3"/>
              <p:cNvCxnSpPr>
                <a:stCxn id="154" idx="1"/>
                <a:endCxn id="123" idx="5"/>
              </p:cNvCxnSpPr>
              <p:nvPr/>
            </p:nvCxnSpPr>
            <p:spPr>
              <a:xfrm flipH="1">
                <a:off x="8070435" y="3580137"/>
                <a:ext cx="479400" cy="534600"/>
              </a:xfrm>
              <a:prstGeom prst="straightConnector1">
                <a:avLst/>
              </a:prstGeom>
              <a:noFill/>
              <a:ln w="9525" cap="flat" cmpd="sng">
                <a:solidFill>
                  <a:schemeClr val="dk2"/>
                </a:solidFill>
                <a:prstDash val="solid"/>
                <a:round/>
                <a:headEnd type="none" w="med" len="med"/>
                <a:tailEnd type="none" w="med" len="med"/>
              </a:ln>
            </p:spPr>
          </p:cxnSp>
          <p:cxnSp>
            <p:nvCxnSpPr>
              <p:cNvPr id="157" name="Google Shape;157;p3"/>
              <p:cNvCxnSpPr>
                <a:stCxn id="154" idx="6"/>
                <a:endCxn id="119" idx="2"/>
              </p:cNvCxnSpPr>
              <p:nvPr/>
            </p:nvCxnSpPr>
            <p:spPr>
              <a:xfrm>
                <a:off x="8715766" y="3511407"/>
                <a:ext cx="558600" cy="6900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0"/>
        <p:cNvGrpSpPr/>
        <p:nvPr/>
      </p:nvGrpSpPr>
      <p:grpSpPr>
        <a:xfrm>
          <a:off x="0" y="0"/>
          <a:ext cx="0" cy="0"/>
          <a:chOff x="0" y="0"/>
          <a:chExt cx="0" cy="0"/>
        </a:xfrm>
      </p:grpSpPr>
      <p:sp>
        <p:nvSpPr>
          <p:cNvPr id="311" name="Google Shape;311;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cxnSp>
        <p:nvCxnSpPr>
          <p:cNvPr id="312" name="Google Shape;312;p6"/>
          <p:cNvCxnSpPr>
            <a:stCxn id="313" idx="6"/>
            <a:endCxn id="314" idx="2"/>
          </p:cNvCxnSpPr>
          <p:nvPr/>
        </p:nvCxnSpPr>
        <p:spPr>
          <a:xfrm rot="10800000" flipH="1">
            <a:off x="193201" y="280868"/>
            <a:ext cx="388800" cy="117000"/>
          </a:xfrm>
          <a:prstGeom prst="straightConnector1">
            <a:avLst/>
          </a:prstGeom>
          <a:noFill/>
          <a:ln w="9525" cap="flat" cmpd="sng">
            <a:solidFill>
              <a:schemeClr val="dk2"/>
            </a:solidFill>
            <a:prstDash val="solid"/>
            <a:round/>
            <a:headEnd type="none" w="med" len="med"/>
            <a:tailEnd type="none" w="med" len="med"/>
          </a:ln>
        </p:spPr>
      </p:cxnSp>
      <p:grpSp>
        <p:nvGrpSpPr>
          <p:cNvPr id="315" name="Google Shape;315;p6"/>
          <p:cNvGrpSpPr/>
          <p:nvPr/>
        </p:nvGrpSpPr>
        <p:grpSpPr>
          <a:xfrm>
            <a:off x="-378324" y="-207277"/>
            <a:ext cx="9969999" cy="5712728"/>
            <a:chOff x="-378324" y="-207277"/>
            <a:chExt cx="9969999" cy="5712728"/>
          </a:xfrm>
        </p:grpSpPr>
        <p:grpSp>
          <p:nvGrpSpPr>
            <p:cNvPr id="316" name="Google Shape;316;p6"/>
            <p:cNvGrpSpPr/>
            <p:nvPr/>
          </p:nvGrpSpPr>
          <p:grpSpPr>
            <a:xfrm>
              <a:off x="-378324" y="-207277"/>
              <a:ext cx="1762174" cy="2641456"/>
              <a:chOff x="-149724" y="-192037"/>
              <a:chExt cx="1762174" cy="2641456"/>
            </a:xfrm>
          </p:grpSpPr>
          <p:cxnSp>
            <p:nvCxnSpPr>
              <p:cNvPr id="317" name="Google Shape;317;p6"/>
              <p:cNvCxnSpPr>
                <a:stCxn id="314" idx="7"/>
                <a:endCxn id="318" idx="2"/>
              </p:cNvCxnSpPr>
              <p:nvPr/>
            </p:nvCxnSpPr>
            <p:spPr>
              <a:xfrm rot="10800000" flipH="1">
                <a:off x="936740" y="3228"/>
                <a:ext cx="518100" cy="240600"/>
              </a:xfrm>
              <a:prstGeom prst="straightConnector1">
                <a:avLst/>
              </a:prstGeom>
              <a:noFill/>
              <a:ln w="9525" cap="flat" cmpd="sng">
                <a:solidFill>
                  <a:schemeClr val="dk2"/>
                </a:solidFill>
                <a:prstDash val="solid"/>
                <a:round/>
                <a:headEnd type="none" w="med" len="med"/>
                <a:tailEnd type="none" w="med" len="med"/>
              </a:ln>
            </p:spPr>
          </p:cxnSp>
          <p:sp>
            <p:nvSpPr>
              <p:cNvPr id="318" name="Google Shape;318;p6"/>
              <p:cNvSpPr/>
              <p:nvPr/>
            </p:nvSpPr>
            <p:spPr>
              <a:xfrm>
                <a:off x="1454950" y="-75631"/>
                <a:ext cx="157500" cy="157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19" name="Google Shape;319;p6"/>
              <p:cNvSpPr/>
              <p:nvPr/>
            </p:nvSpPr>
            <p:spPr>
              <a:xfrm>
                <a:off x="-149724" y="-192037"/>
                <a:ext cx="99900" cy="99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20" name="Google Shape;320;p6"/>
              <p:cNvSpPr/>
              <p:nvPr/>
            </p:nvSpPr>
            <p:spPr>
              <a:xfrm>
                <a:off x="253800" y="229191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14" name="Google Shape;314;p6"/>
              <p:cNvSpPr/>
              <p:nvPr/>
            </p:nvSpPr>
            <p:spPr>
              <a:xfrm>
                <a:off x="810500" y="222169"/>
                <a:ext cx="147900" cy="1479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21" name="Google Shape;321;p6"/>
              <p:cNvSpPr/>
              <p:nvPr/>
            </p:nvSpPr>
            <p:spPr>
              <a:xfrm>
                <a:off x="64625" y="886726"/>
                <a:ext cx="147900" cy="1479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22" name="Google Shape;322;p6"/>
              <p:cNvSpPr/>
              <p:nvPr/>
            </p:nvSpPr>
            <p:spPr>
              <a:xfrm>
                <a:off x="368276" y="1058087"/>
                <a:ext cx="86700" cy="867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323" name="Google Shape;323;p6"/>
              <p:cNvCxnSpPr>
                <a:stCxn id="322" idx="4"/>
                <a:endCxn id="320" idx="0"/>
              </p:cNvCxnSpPr>
              <p:nvPr/>
            </p:nvCxnSpPr>
            <p:spPr>
              <a:xfrm flipH="1">
                <a:off x="332426" y="1144787"/>
                <a:ext cx="79200" cy="1147200"/>
              </a:xfrm>
              <a:prstGeom prst="straightConnector1">
                <a:avLst/>
              </a:prstGeom>
              <a:noFill/>
              <a:ln w="9525" cap="flat" cmpd="sng">
                <a:solidFill>
                  <a:schemeClr val="dk2"/>
                </a:solidFill>
                <a:prstDash val="solid"/>
                <a:round/>
                <a:headEnd type="none" w="med" len="med"/>
                <a:tailEnd type="none" w="med" len="med"/>
              </a:ln>
            </p:spPr>
          </p:cxnSp>
          <p:cxnSp>
            <p:nvCxnSpPr>
              <p:cNvPr id="324" name="Google Shape;324;p6"/>
              <p:cNvCxnSpPr>
                <a:stCxn id="321" idx="4"/>
                <a:endCxn id="320" idx="0"/>
              </p:cNvCxnSpPr>
              <p:nvPr/>
            </p:nvCxnSpPr>
            <p:spPr>
              <a:xfrm>
                <a:off x="138575" y="1034626"/>
                <a:ext cx="194100" cy="1257300"/>
              </a:xfrm>
              <a:prstGeom prst="straightConnector1">
                <a:avLst/>
              </a:prstGeom>
              <a:noFill/>
              <a:ln w="9525" cap="flat" cmpd="sng">
                <a:solidFill>
                  <a:schemeClr val="dk2"/>
                </a:solidFill>
                <a:prstDash val="solid"/>
                <a:round/>
                <a:headEnd type="none" w="med" len="med"/>
                <a:tailEnd type="none" w="med" len="med"/>
              </a:ln>
            </p:spPr>
          </p:cxnSp>
          <p:cxnSp>
            <p:nvCxnSpPr>
              <p:cNvPr id="325" name="Google Shape;325;p6"/>
              <p:cNvCxnSpPr>
                <a:stCxn id="321" idx="5"/>
                <a:endCxn id="322" idx="1"/>
              </p:cNvCxnSpPr>
              <p:nvPr/>
            </p:nvCxnSpPr>
            <p:spPr>
              <a:xfrm>
                <a:off x="190866" y="1012967"/>
                <a:ext cx="190200" cy="57900"/>
              </a:xfrm>
              <a:prstGeom prst="straightConnector1">
                <a:avLst/>
              </a:prstGeom>
              <a:noFill/>
              <a:ln w="9525" cap="flat" cmpd="sng">
                <a:solidFill>
                  <a:schemeClr val="dk2"/>
                </a:solidFill>
                <a:prstDash val="solid"/>
                <a:round/>
                <a:headEnd type="none" w="med" len="med"/>
                <a:tailEnd type="none" w="med" len="med"/>
              </a:ln>
            </p:spPr>
          </p:cxnSp>
          <p:cxnSp>
            <p:nvCxnSpPr>
              <p:cNvPr id="326" name="Google Shape;326;p6"/>
              <p:cNvCxnSpPr>
                <a:stCxn id="321" idx="0"/>
                <a:endCxn id="319" idx="4"/>
              </p:cNvCxnSpPr>
              <p:nvPr/>
            </p:nvCxnSpPr>
            <p:spPr>
              <a:xfrm rot="10800000">
                <a:off x="-99625" y="-92174"/>
                <a:ext cx="238200" cy="978900"/>
              </a:xfrm>
              <a:prstGeom prst="straightConnector1">
                <a:avLst/>
              </a:prstGeom>
              <a:noFill/>
              <a:ln w="9525" cap="flat" cmpd="sng">
                <a:solidFill>
                  <a:schemeClr val="dk2"/>
                </a:solidFill>
                <a:prstDash val="solid"/>
                <a:round/>
                <a:headEnd type="none" w="med" len="med"/>
                <a:tailEnd type="none" w="med" len="med"/>
              </a:ln>
            </p:spPr>
          </p:cxnSp>
          <p:cxnSp>
            <p:nvCxnSpPr>
              <p:cNvPr id="327" name="Google Shape;327;p6"/>
              <p:cNvCxnSpPr>
                <a:stCxn id="321" idx="0"/>
                <a:endCxn id="313" idx="3"/>
              </p:cNvCxnSpPr>
              <p:nvPr/>
            </p:nvCxnSpPr>
            <p:spPr>
              <a:xfrm rot="10800000" flipH="1">
                <a:off x="138575" y="443626"/>
                <a:ext cx="209100" cy="443100"/>
              </a:xfrm>
              <a:prstGeom prst="straightConnector1">
                <a:avLst/>
              </a:prstGeom>
              <a:noFill/>
              <a:ln w="9525" cap="flat" cmpd="sng">
                <a:solidFill>
                  <a:schemeClr val="dk2"/>
                </a:solidFill>
                <a:prstDash val="solid"/>
                <a:round/>
                <a:headEnd type="none" w="med" len="med"/>
                <a:tailEnd type="none" w="med" len="med"/>
              </a:ln>
            </p:spPr>
          </p:cxnSp>
          <p:cxnSp>
            <p:nvCxnSpPr>
              <p:cNvPr id="328" name="Google Shape;328;p6"/>
              <p:cNvCxnSpPr>
                <a:stCxn id="319" idx="5"/>
                <a:endCxn id="313" idx="1"/>
              </p:cNvCxnSpPr>
              <p:nvPr/>
            </p:nvCxnSpPr>
            <p:spPr>
              <a:xfrm>
                <a:off x="-64454" y="-106767"/>
                <a:ext cx="412200" cy="489300"/>
              </a:xfrm>
              <a:prstGeom prst="straightConnector1">
                <a:avLst/>
              </a:prstGeom>
              <a:noFill/>
              <a:ln w="9525" cap="flat" cmpd="sng">
                <a:solidFill>
                  <a:schemeClr val="dk2"/>
                </a:solidFill>
                <a:prstDash val="solid"/>
                <a:round/>
                <a:headEnd type="none" w="med" len="med"/>
                <a:tailEnd type="none" w="med" len="med"/>
              </a:ln>
            </p:spPr>
          </p:cxnSp>
          <p:cxnSp>
            <p:nvCxnSpPr>
              <p:cNvPr id="329" name="Google Shape;329;p6"/>
              <p:cNvCxnSpPr>
                <a:stCxn id="319" idx="6"/>
                <a:endCxn id="318" idx="2"/>
              </p:cNvCxnSpPr>
              <p:nvPr/>
            </p:nvCxnSpPr>
            <p:spPr>
              <a:xfrm>
                <a:off x="-49824" y="-142087"/>
                <a:ext cx="1504800" cy="145200"/>
              </a:xfrm>
              <a:prstGeom prst="straightConnector1">
                <a:avLst/>
              </a:prstGeom>
              <a:noFill/>
              <a:ln w="9525" cap="flat" cmpd="sng">
                <a:solidFill>
                  <a:schemeClr val="dk2"/>
                </a:solidFill>
                <a:prstDash val="solid"/>
                <a:round/>
                <a:headEnd type="none" w="med" len="med"/>
                <a:tailEnd type="none" w="med" len="med"/>
              </a:ln>
            </p:spPr>
          </p:cxnSp>
          <p:cxnSp>
            <p:nvCxnSpPr>
              <p:cNvPr id="330" name="Google Shape;330;p6"/>
              <p:cNvCxnSpPr>
                <a:stCxn id="314" idx="1"/>
                <a:endCxn id="319" idx="5"/>
              </p:cNvCxnSpPr>
              <p:nvPr/>
            </p:nvCxnSpPr>
            <p:spPr>
              <a:xfrm rot="10800000">
                <a:off x="-64541" y="-106872"/>
                <a:ext cx="896700" cy="350700"/>
              </a:xfrm>
              <a:prstGeom prst="straightConnector1">
                <a:avLst/>
              </a:prstGeom>
              <a:noFill/>
              <a:ln w="9525" cap="flat" cmpd="sng">
                <a:solidFill>
                  <a:schemeClr val="dk2"/>
                </a:solidFill>
                <a:prstDash val="solid"/>
                <a:round/>
                <a:headEnd type="none" w="med" len="med"/>
                <a:tailEnd type="none" w="med" len="med"/>
              </a:ln>
            </p:spPr>
          </p:cxnSp>
          <p:cxnSp>
            <p:nvCxnSpPr>
              <p:cNvPr id="331" name="Google Shape;331;p6"/>
              <p:cNvCxnSpPr>
                <a:stCxn id="322" idx="0"/>
                <a:endCxn id="313" idx="4"/>
              </p:cNvCxnSpPr>
              <p:nvPr/>
            </p:nvCxnSpPr>
            <p:spPr>
              <a:xfrm rot="10800000">
                <a:off x="378326" y="456587"/>
                <a:ext cx="33300" cy="601500"/>
              </a:xfrm>
              <a:prstGeom prst="straightConnector1">
                <a:avLst/>
              </a:prstGeom>
              <a:noFill/>
              <a:ln w="9525" cap="flat" cmpd="sng">
                <a:solidFill>
                  <a:schemeClr val="dk2"/>
                </a:solidFill>
                <a:prstDash val="solid"/>
                <a:round/>
                <a:headEnd type="none" w="med" len="med"/>
                <a:tailEnd type="none" w="med" len="med"/>
              </a:ln>
            </p:spPr>
          </p:cxnSp>
          <p:cxnSp>
            <p:nvCxnSpPr>
              <p:cNvPr id="332" name="Google Shape;332;p6"/>
              <p:cNvCxnSpPr>
                <a:stCxn id="322" idx="0"/>
                <a:endCxn id="314" idx="3"/>
              </p:cNvCxnSpPr>
              <p:nvPr/>
            </p:nvCxnSpPr>
            <p:spPr>
              <a:xfrm rot="10800000" flipH="1">
                <a:off x="411626" y="348287"/>
                <a:ext cx="420600" cy="709800"/>
              </a:xfrm>
              <a:prstGeom prst="straightConnector1">
                <a:avLst/>
              </a:prstGeom>
              <a:noFill/>
              <a:ln w="9525" cap="flat" cmpd="sng">
                <a:solidFill>
                  <a:schemeClr val="dk2"/>
                </a:solidFill>
                <a:prstDash val="solid"/>
                <a:round/>
                <a:headEnd type="none" w="med" len="med"/>
                <a:tailEnd type="none" w="med" len="med"/>
              </a:ln>
            </p:spPr>
          </p:cxnSp>
          <p:sp>
            <p:nvSpPr>
              <p:cNvPr id="313" name="Google Shape;313;p6"/>
              <p:cNvSpPr/>
              <p:nvPr/>
            </p:nvSpPr>
            <p:spPr>
              <a:xfrm>
                <a:off x="335101" y="369758"/>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333" name="Google Shape;333;p6"/>
            <p:cNvGrpSpPr/>
            <p:nvPr/>
          </p:nvGrpSpPr>
          <p:grpSpPr>
            <a:xfrm>
              <a:off x="7337626" y="2995575"/>
              <a:ext cx="2254049" cy="2509875"/>
              <a:chOff x="7261426" y="2919375"/>
              <a:chExt cx="2254049" cy="2509875"/>
            </a:xfrm>
          </p:grpSpPr>
          <p:sp>
            <p:nvSpPr>
              <p:cNvPr id="334" name="Google Shape;334;p6"/>
              <p:cNvSpPr/>
              <p:nvPr/>
            </p:nvSpPr>
            <p:spPr>
              <a:xfrm rot="10800000">
                <a:off x="7261426" y="4782419"/>
                <a:ext cx="157500" cy="1575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35" name="Google Shape;335;p6"/>
              <p:cNvSpPr/>
              <p:nvPr/>
            </p:nvSpPr>
            <p:spPr>
              <a:xfrm rot="10800000">
                <a:off x="8680175" y="3577975"/>
                <a:ext cx="99900" cy="999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36" name="Google Shape;336;p6"/>
              <p:cNvSpPr/>
              <p:nvPr/>
            </p:nvSpPr>
            <p:spPr>
              <a:xfrm rot="10800000">
                <a:off x="8751276" y="4850969"/>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37" name="Google Shape;337;p6"/>
              <p:cNvSpPr/>
              <p:nvPr/>
            </p:nvSpPr>
            <p:spPr>
              <a:xfrm rot="10800000">
                <a:off x="7746475" y="5224950"/>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38" name="Google Shape;338;p6"/>
              <p:cNvSpPr/>
              <p:nvPr/>
            </p:nvSpPr>
            <p:spPr>
              <a:xfrm rot="10800000">
                <a:off x="8236400" y="4653675"/>
                <a:ext cx="137400" cy="1374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39" name="Google Shape;339;p6"/>
              <p:cNvSpPr/>
              <p:nvPr/>
            </p:nvSpPr>
            <p:spPr>
              <a:xfrm rot="10800000">
                <a:off x="8814525" y="4221650"/>
                <a:ext cx="129900" cy="1302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40" name="Google Shape;340;p6"/>
              <p:cNvSpPr/>
              <p:nvPr/>
            </p:nvSpPr>
            <p:spPr>
              <a:xfrm rot="10800000">
                <a:off x="8879025" y="2919375"/>
                <a:ext cx="141600" cy="1416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341" name="Google Shape;341;p6"/>
              <p:cNvCxnSpPr>
                <a:stCxn id="340" idx="7"/>
                <a:endCxn id="335" idx="4"/>
              </p:cNvCxnSpPr>
              <p:nvPr/>
            </p:nvCxnSpPr>
            <p:spPr>
              <a:xfrm flipH="1">
                <a:off x="8730262" y="3040238"/>
                <a:ext cx="169500" cy="537600"/>
              </a:xfrm>
              <a:prstGeom prst="straightConnector1">
                <a:avLst/>
              </a:prstGeom>
              <a:noFill/>
              <a:ln w="9525" cap="flat" cmpd="sng">
                <a:solidFill>
                  <a:schemeClr val="dk2"/>
                </a:solidFill>
                <a:prstDash val="solid"/>
                <a:round/>
                <a:headEnd type="none" w="med" len="med"/>
                <a:tailEnd type="none" w="med" len="med"/>
              </a:ln>
            </p:spPr>
          </p:cxnSp>
          <p:cxnSp>
            <p:nvCxnSpPr>
              <p:cNvPr id="342" name="Google Shape;342;p6"/>
              <p:cNvCxnSpPr>
                <a:stCxn id="335" idx="0"/>
                <a:endCxn id="339" idx="5"/>
              </p:cNvCxnSpPr>
              <p:nvPr/>
            </p:nvCxnSpPr>
            <p:spPr>
              <a:xfrm>
                <a:off x="8730125" y="3677875"/>
                <a:ext cx="103500" cy="562800"/>
              </a:xfrm>
              <a:prstGeom prst="straightConnector1">
                <a:avLst/>
              </a:prstGeom>
              <a:noFill/>
              <a:ln w="9525" cap="flat" cmpd="sng">
                <a:solidFill>
                  <a:schemeClr val="dk2"/>
                </a:solidFill>
                <a:prstDash val="solid"/>
                <a:round/>
                <a:headEnd type="none" w="med" len="med"/>
                <a:tailEnd type="none" w="med" len="med"/>
              </a:ln>
            </p:spPr>
          </p:cxnSp>
          <p:cxnSp>
            <p:nvCxnSpPr>
              <p:cNvPr id="343" name="Google Shape;343;p6"/>
              <p:cNvCxnSpPr>
                <a:stCxn id="340" idx="0"/>
                <a:endCxn id="339" idx="4"/>
              </p:cNvCxnSpPr>
              <p:nvPr/>
            </p:nvCxnSpPr>
            <p:spPr>
              <a:xfrm flipH="1">
                <a:off x="8879625" y="3060975"/>
                <a:ext cx="70200" cy="1160700"/>
              </a:xfrm>
              <a:prstGeom prst="straightConnector1">
                <a:avLst/>
              </a:prstGeom>
              <a:noFill/>
              <a:ln w="9525" cap="flat" cmpd="sng">
                <a:solidFill>
                  <a:schemeClr val="dk2"/>
                </a:solidFill>
                <a:prstDash val="solid"/>
                <a:round/>
                <a:headEnd type="none" w="med" len="med"/>
                <a:tailEnd type="none" w="med" len="med"/>
              </a:ln>
            </p:spPr>
          </p:cxnSp>
          <p:cxnSp>
            <p:nvCxnSpPr>
              <p:cNvPr id="344" name="Google Shape;344;p6"/>
              <p:cNvCxnSpPr>
                <a:stCxn id="336" idx="4"/>
                <a:endCxn id="339" idx="0"/>
              </p:cNvCxnSpPr>
              <p:nvPr/>
            </p:nvCxnSpPr>
            <p:spPr>
              <a:xfrm rot="10800000" flipH="1">
                <a:off x="8830026" y="4351769"/>
                <a:ext cx="49500" cy="499200"/>
              </a:xfrm>
              <a:prstGeom prst="straightConnector1">
                <a:avLst/>
              </a:prstGeom>
              <a:noFill/>
              <a:ln w="9525" cap="flat" cmpd="sng">
                <a:solidFill>
                  <a:schemeClr val="dk2"/>
                </a:solidFill>
                <a:prstDash val="solid"/>
                <a:round/>
                <a:headEnd type="none" w="med" len="med"/>
                <a:tailEnd type="none" w="med" len="med"/>
              </a:ln>
            </p:spPr>
          </p:cxnSp>
          <p:cxnSp>
            <p:nvCxnSpPr>
              <p:cNvPr id="345" name="Google Shape;345;p6"/>
              <p:cNvCxnSpPr>
                <a:stCxn id="338" idx="2"/>
                <a:endCxn id="336" idx="6"/>
              </p:cNvCxnSpPr>
              <p:nvPr/>
            </p:nvCxnSpPr>
            <p:spPr>
              <a:xfrm>
                <a:off x="8373800" y="4722375"/>
                <a:ext cx="377400" cy="207300"/>
              </a:xfrm>
              <a:prstGeom prst="straightConnector1">
                <a:avLst/>
              </a:prstGeom>
              <a:noFill/>
              <a:ln w="9525" cap="flat" cmpd="sng">
                <a:solidFill>
                  <a:schemeClr val="dk2"/>
                </a:solidFill>
                <a:prstDash val="solid"/>
                <a:round/>
                <a:headEnd type="none" w="med" len="med"/>
                <a:tailEnd type="none" w="med" len="med"/>
              </a:ln>
            </p:spPr>
          </p:cxnSp>
          <p:cxnSp>
            <p:nvCxnSpPr>
              <p:cNvPr id="346" name="Google Shape;346;p6"/>
              <p:cNvCxnSpPr>
                <a:stCxn id="337" idx="2"/>
                <a:endCxn id="336" idx="6"/>
              </p:cNvCxnSpPr>
              <p:nvPr/>
            </p:nvCxnSpPr>
            <p:spPr>
              <a:xfrm rot="10800000" flipH="1">
                <a:off x="7833175" y="4929600"/>
                <a:ext cx="918000" cy="338700"/>
              </a:xfrm>
              <a:prstGeom prst="straightConnector1">
                <a:avLst/>
              </a:prstGeom>
              <a:noFill/>
              <a:ln w="9525" cap="flat" cmpd="sng">
                <a:solidFill>
                  <a:schemeClr val="dk2"/>
                </a:solidFill>
                <a:prstDash val="solid"/>
                <a:round/>
                <a:headEnd type="none" w="med" len="med"/>
                <a:tailEnd type="none" w="med" len="med"/>
              </a:ln>
            </p:spPr>
          </p:cxnSp>
          <p:cxnSp>
            <p:nvCxnSpPr>
              <p:cNvPr id="347" name="Google Shape;347;p6"/>
              <p:cNvCxnSpPr>
                <a:stCxn id="334" idx="1"/>
                <a:endCxn id="337" idx="5"/>
              </p:cNvCxnSpPr>
              <p:nvPr/>
            </p:nvCxnSpPr>
            <p:spPr>
              <a:xfrm>
                <a:off x="7395861" y="4916854"/>
                <a:ext cx="363300" cy="320700"/>
              </a:xfrm>
              <a:prstGeom prst="straightConnector1">
                <a:avLst/>
              </a:prstGeom>
              <a:noFill/>
              <a:ln w="9525" cap="flat" cmpd="sng">
                <a:solidFill>
                  <a:schemeClr val="dk2"/>
                </a:solidFill>
                <a:prstDash val="solid"/>
                <a:round/>
                <a:headEnd type="none" w="med" len="med"/>
                <a:tailEnd type="none" w="med" len="med"/>
              </a:ln>
            </p:spPr>
          </p:cxnSp>
          <p:cxnSp>
            <p:nvCxnSpPr>
              <p:cNvPr id="348" name="Google Shape;348;p6"/>
              <p:cNvCxnSpPr>
                <a:stCxn id="334" idx="2"/>
                <a:endCxn id="338" idx="6"/>
              </p:cNvCxnSpPr>
              <p:nvPr/>
            </p:nvCxnSpPr>
            <p:spPr>
              <a:xfrm rot="10800000" flipH="1">
                <a:off x="7418926" y="4722269"/>
                <a:ext cx="817500" cy="138900"/>
              </a:xfrm>
              <a:prstGeom prst="straightConnector1">
                <a:avLst/>
              </a:prstGeom>
              <a:noFill/>
              <a:ln w="9525" cap="flat" cmpd="sng">
                <a:solidFill>
                  <a:schemeClr val="dk2"/>
                </a:solidFill>
                <a:prstDash val="solid"/>
                <a:round/>
                <a:headEnd type="none" w="med" len="med"/>
                <a:tailEnd type="none" w="med" len="med"/>
              </a:ln>
            </p:spPr>
          </p:cxnSp>
          <p:cxnSp>
            <p:nvCxnSpPr>
              <p:cNvPr id="349" name="Google Shape;349;p6"/>
              <p:cNvCxnSpPr>
                <a:stCxn id="337" idx="3"/>
                <a:endCxn id="338" idx="7"/>
              </p:cNvCxnSpPr>
              <p:nvPr/>
            </p:nvCxnSpPr>
            <p:spPr>
              <a:xfrm rot="10800000" flipH="1">
                <a:off x="7820478" y="4770847"/>
                <a:ext cx="435900" cy="466800"/>
              </a:xfrm>
              <a:prstGeom prst="straightConnector1">
                <a:avLst/>
              </a:prstGeom>
              <a:noFill/>
              <a:ln w="9525" cap="flat" cmpd="sng">
                <a:solidFill>
                  <a:schemeClr val="dk2"/>
                </a:solidFill>
                <a:prstDash val="solid"/>
                <a:round/>
                <a:headEnd type="none" w="med" len="med"/>
                <a:tailEnd type="none" w="med" len="med"/>
              </a:ln>
            </p:spPr>
          </p:cxnSp>
          <p:cxnSp>
            <p:nvCxnSpPr>
              <p:cNvPr id="350" name="Google Shape;350;p6"/>
              <p:cNvCxnSpPr>
                <a:stCxn id="338" idx="3"/>
                <a:endCxn id="335" idx="7"/>
              </p:cNvCxnSpPr>
              <p:nvPr/>
            </p:nvCxnSpPr>
            <p:spPr>
              <a:xfrm rot="10800000" flipH="1">
                <a:off x="8353678" y="3663097"/>
                <a:ext cx="341100" cy="1010700"/>
              </a:xfrm>
              <a:prstGeom prst="straightConnector1">
                <a:avLst/>
              </a:prstGeom>
              <a:noFill/>
              <a:ln w="9525" cap="flat" cmpd="sng">
                <a:solidFill>
                  <a:schemeClr val="dk2"/>
                </a:solidFill>
                <a:prstDash val="solid"/>
                <a:round/>
                <a:headEnd type="none" w="med" len="med"/>
                <a:tailEnd type="none" w="med" len="med"/>
              </a:ln>
            </p:spPr>
          </p:cxnSp>
          <p:sp>
            <p:nvSpPr>
              <p:cNvPr id="351" name="Google Shape;351;p6"/>
              <p:cNvSpPr/>
              <p:nvPr/>
            </p:nvSpPr>
            <p:spPr>
              <a:xfrm rot="10800000">
                <a:off x="9220200" y="3517875"/>
                <a:ext cx="99900" cy="99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352" name="Google Shape;352;p6"/>
              <p:cNvCxnSpPr>
                <a:endCxn id="351" idx="5"/>
              </p:cNvCxnSpPr>
              <p:nvPr/>
            </p:nvCxnSpPr>
            <p:spPr>
              <a:xfrm>
                <a:off x="9001130" y="3057605"/>
                <a:ext cx="233700" cy="474900"/>
              </a:xfrm>
              <a:prstGeom prst="straightConnector1">
                <a:avLst/>
              </a:prstGeom>
              <a:noFill/>
              <a:ln w="9525" cap="flat" cmpd="sng">
                <a:solidFill>
                  <a:schemeClr val="dk2"/>
                </a:solidFill>
                <a:prstDash val="solid"/>
                <a:round/>
                <a:headEnd type="none" w="med" len="med"/>
                <a:tailEnd type="none" w="med" len="med"/>
              </a:ln>
            </p:spPr>
          </p:cxnSp>
          <p:cxnSp>
            <p:nvCxnSpPr>
              <p:cNvPr id="353" name="Google Shape;353;p6"/>
              <p:cNvCxnSpPr>
                <a:stCxn id="339" idx="3"/>
                <a:endCxn id="351" idx="7"/>
              </p:cNvCxnSpPr>
              <p:nvPr/>
            </p:nvCxnSpPr>
            <p:spPr>
              <a:xfrm rot="10800000" flipH="1">
                <a:off x="8925402" y="3603217"/>
                <a:ext cx="309300" cy="637500"/>
              </a:xfrm>
              <a:prstGeom prst="straightConnector1">
                <a:avLst/>
              </a:prstGeom>
              <a:noFill/>
              <a:ln w="9525" cap="flat" cmpd="sng">
                <a:solidFill>
                  <a:schemeClr val="dk2"/>
                </a:solidFill>
                <a:prstDash val="solid"/>
                <a:round/>
                <a:headEnd type="none" w="med" len="med"/>
                <a:tailEnd type="none" w="med" len="med"/>
              </a:ln>
            </p:spPr>
          </p:cxnSp>
          <p:sp>
            <p:nvSpPr>
              <p:cNvPr id="354" name="Google Shape;354;p6"/>
              <p:cNvSpPr/>
              <p:nvPr/>
            </p:nvSpPr>
            <p:spPr>
              <a:xfrm rot="10800000">
                <a:off x="9334875" y="5218350"/>
                <a:ext cx="180600" cy="210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355" name="Google Shape;355;p6"/>
              <p:cNvCxnSpPr>
                <a:stCxn id="339" idx="1"/>
                <a:endCxn id="354" idx="5"/>
              </p:cNvCxnSpPr>
              <p:nvPr/>
            </p:nvCxnSpPr>
            <p:spPr>
              <a:xfrm>
                <a:off x="8925402" y="4332783"/>
                <a:ext cx="435900" cy="916500"/>
              </a:xfrm>
              <a:prstGeom prst="straightConnector1">
                <a:avLst/>
              </a:prstGeom>
              <a:noFill/>
              <a:ln w="9525" cap="flat" cmpd="sng">
                <a:solidFill>
                  <a:schemeClr val="dk2"/>
                </a:solidFill>
                <a:prstDash val="solid"/>
                <a:round/>
                <a:headEnd type="none" w="med" len="med"/>
                <a:tailEnd type="none" w="med" len="med"/>
              </a:ln>
            </p:spPr>
          </p:cxnSp>
          <p:cxnSp>
            <p:nvCxnSpPr>
              <p:cNvPr id="356" name="Google Shape;356;p6"/>
              <p:cNvCxnSpPr>
                <a:stCxn id="351" idx="0"/>
                <a:endCxn id="354" idx="4"/>
              </p:cNvCxnSpPr>
              <p:nvPr/>
            </p:nvCxnSpPr>
            <p:spPr>
              <a:xfrm>
                <a:off x="9270150" y="3617775"/>
                <a:ext cx="155100" cy="1600500"/>
              </a:xfrm>
              <a:prstGeom prst="straightConnector1">
                <a:avLst/>
              </a:prstGeom>
              <a:noFill/>
              <a:ln w="9525" cap="flat" cmpd="sng">
                <a:solidFill>
                  <a:schemeClr val="dk2"/>
                </a:solidFill>
                <a:prstDash val="solid"/>
                <a:round/>
                <a:headEnd type="none" w="med" len="med"/>
                <a:tailEnd type="none" w="med" len="med"/>
              </a:ln>
            </p:spPr>
          </p:cxnSp>
          <p:cxnSp>
            <p:nvCxnSpPr>
              <p:cNvPr id="357" name="Google Shape;357;p6"/>
              <p:cNvCxnSpPr>
                <a:stCxn id="336" idx="2"/>
                <a:endCxn id="354" idx="6"/>
              </p:cNvCxnSpPr>
              <p:nvPr/>
            </p:nvCxnSpPr>
            <p:spPr>
              <a:xfrm>
                <a:off x="8908776" y="4929719"/>
                <a:ext cx="426000" cy="394200"/>
              </a:xfrm>
              <a:prstGeom prst="straightConnector1">
                <a:avLst/>
              </a:prstGeom>
              <a:noFill/>
              <a:ln w="9525" cap="flat" cmpd="sng">
                <a:solidFill>
                  <a:schemeClr val="dk2"/>
                </a:solidFill>
                <a:prstDash val="solid"/>
                <a:round/>
                <a:headEnd type="none" w="med" len="med"/>
                <a:tailEnd type="none" w="med" len="med"/>
              </a:ln>
            </p:spPr>
          </p:cxnSp>
          <p:cxnSp>
            <p:nvCxnSpPr>
              <p:cNvPr id="358" name="Google Shape;358;p6"/>
              <p:cNvCxnSpPr>
                <a:stCxn id="337" idx="2"/>
                <a:endCxn id="354" idx="6"/>
              </p:cNvCxnSpPr>
              <p:nvPr/>
            </p:nvCxnSpPr>
            <p:spPr>
              <a:xfrm>
                <a:off x="7833175" y="5268300"/>
                <a:ext cx="1501800" cy="55500"/>
              </a:xfrm>
              <a:prstGeom prst="straightConnector1">
                <a:avLst/>
              </a:prstGeom>
              <a:noFill/>
              <a:ln w="9525" cap="flat" cmpd="sng">
                <a:solidFill>
                  <a:schemeClr val="dk2"/>
                </a:solidFill>
                <a:prstDash val="solid"/>
                <a:round/>
                <a:headEnd type="none" w="med" len="med"/>
                <a:tailEnd type="none" w="med" len="med"/>
              </a:ln>
            </p:spPr>
          </p:cxnSp>
          <p:cxnSp>
            <p:nvCxnSpPr>
              <p:cNvPr id="359" name="Google Shape;359;p6"/>
              <p:cNvCxnSpPr>
                <a:stCxn id="334" idx="2"/>
                <a:endCxn id="336" idx="6"/>
              </p:cNvCxnSpPr>
              <p:nvPr/>
            </p:nvCxnSpPr>
            <p:spPr>
              <a:xfrm>
                <a:off x="7418926" y="4861169"/>
                <a:ext cx="1332300" cy="68700"/>
              </a:xfrm>
              <a:prstGeom prst="straightConnector1">
                <a:avLst/>
              </a:prstGeom>
              <a:noFill/>
              <a:ln w="9525" cap="flat" cmpd="sng">
                <a:solidFill>
                  <a:schemeClr val="dk2"/>
                </a:solidFill>
                <a:prstDash val="solid"/>
                <a:round/>
                <a:headEnd type="none" w="med" len="med"/>
                <a:tailEnd type="none" w="med" len="med"/>
              </a:ln>
            </p:spPr>
          </p:cxnSp>
        </p:grpSp>
      </p:grpSp>
      <p:grpSp>
        <p:nvGrpSpPr>
          <p:cNvPr id="360" name="Google Shape;360;p6"/>
          <p:cNvGrpSpPr/>
          <p:nvPr/>
        </p:nvGrpSpPr>
        <p:grpSpPr>
          <a:xfrm>
            <a:off x="194975" y="681525"/>
            <a:ext cx="8770525" cy="4318100"/>
            <a:chOff x="194975" y="681525"/>
            <a:chExt cx="8770525" cy="4318100"/>
          </a:xfrm>
        </p:grpSpPr>
        <p:grpSp>
          <p:nvGrpSpPr>
            <p:cNvPr id="361" name="Google Shape;361;p6"/>
            <p:cNvGrpSpPr/>
            <p:nvPr/>
          </p:nvGrpSpPr>
          <p:grpSpPr>
            <a:xfrm>
              <a:off x="194975" y="4436050"/>
              <a:ext cx="462250" cy="563575"/>
              <a:chOff x="140150" y="4340075"/>
              <a:chExt cx="462250" cy="563575"/>
            </a:xfrm>
          </p:grpSpPr>
          <p:sp>
            <p:nvSpPr>
              <p:cNvPr id="362" name="Google Shape;362;p6"/>
              <p:cNvSpPr/>
              <p:nvPr/>
            </p:nvSpPr>
            <p:spPr>
              <a:xfrm rot="10800000">
                <a:off x="140150" y="43400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63" name="Google Shape;363;p6"/>
              <p:cNvSpPr/>
              <p:nvPr/>
            </p:nvSpPr>
            <p:spPr>
              <a:xfrm rot="10800000">
                <a:off x="298325" y="4657175"/>
                <a:ext cx="140100" cy="1401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64" name="Google Shape;364;p6"/>
              <p:cNvSpPr/>
              <p:nvPr/>
            </p:nvSpPr>
            <p:spPr>
              <a:xfrm rot="10800000">
                <a:off x="495000" y="4796250"/>
                <a:ext cx="107400" cy="1074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65" name="Google Shape;365;p6"/>
              <p:cNvSpPr/>
              <p:nvPr/>
            </p:nvSpPr>
            <p:spPr>
              <a:xfrm rot="10800000">
                <a:off x="165050" y="4657175"/>
                <a:ext cx="51300" cy="513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366" name="Google Shape;366;p6"/>
            <p:cNvGrpSpPr/>
            <p:nvPr/>
          </p:nvGrpSpPr>
          <p:grpSpPr>
            <a:xfrm>
              <a:off x="8667225" y="681525"/>
              <a:ext cx="298275" cy="322675"/>
              <a:chOff x="8667225" y="681525"/>
              <a:chExt cx="298275" cy="322675"/>
            </a:xfrm>
          </p:grpSpPr>
          <p:sp>
            <p:nvSpPr>
              <p:cNvPr id="367" name="Google Shape;367;p6"/>
              <p:cNvSpPr/>
              <p:nvPr/>
            </p:nvSpPr>
            <p:spPr>
              <a:xfrm rot="10800000">
                <a:off x="8667225" y="82162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68" name="Google Shape;368;p6"/>
              <p:cNvSpPr/>
              <p:nvPr/>
            </p:nvSpPr>
            <p:spPr>
              <a:xfrm rot="10800000">
                <a:off x="8825400" y="681525"/>
                <a:ext cx="140100" cy="140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369" name="Google Shape;369;p6"/>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628"/>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3">
  <p:cSld name="CUSTOM_11_1">
    <p:spTree>
      <p:nvGrpSpPr>
        <p:cNvPr id="1" name="Shape 778"/>
        <p:cNvGrpSpPr/>
        <p:nvPr/>
      </p:nvGrpSpPr>
      <p:grpSpPr>
        <a:xfrm>
          <a:off x="0" y="0"/>
          <a:ext cx="0" cy="0"/>
          <a:chOff x="0" y="0"/>
          <a:chExt cx="0" cy="0"/>
        </a:xfrm>
      </p:grpSpPr>
      <p:sp>
        <p:nvSpPr>
          <p:cNvPr id="779" name="Google Shape;779;p15"/>
          <p:cNvSpPr txBox="1">
            <a:spLocks noGrp="1"/>
          </p:cNvSpPr>
          <p:nvPr>
            <p:ph type="title"/>
          </p:nvPr>
        </p:nvSpPr>
        <p:spPr>
          <a:xfrm>
            <a:off x="713225" y="445025"/>
            <a:ext cx="7717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780" name="Google Shape;780;p15"/>
          <p:cNvGrpSpPr/>
          <p:nvPr/>
        </p:nvGrpSpPr>
        <p:grpSpPr>
          <a:xfrm>
            <a:off x="119476" y="1141150"/>
            <a:ext cx="7318880" cy="3862644"/>
            <a:chOff x="119476" y="1141150"/>
            <a:chExt cx="7318880" cy="3862644"/>
          </a:xfrm>
        </p:grpSpPr>
        <p:grpSp>
          <p:nvGrpSpPr>
            <p:cNvPr id="781" name="Google Shape;781;p15"/>
            <p:cNvGrpSpPr/>
            <p:nvPr/>
          </p:nvGrpSpPr>
          <p:grpSpPr>
            <a:xfrm rot="10800000">
              <a:off x="119476" y="1141150"/>
              <a:ext cx="298275" cy="322675"/>
              <a:chOff x="8667225" y="681525"/>
              <a:chExt cx="298275" cy="322675"/>
            </a:xfrm>
          </p:grpSpPr>
          <p:sp>
            <p:nvSpPr>
              <p:cNvPr id="782" name="Google Shape;782;p15"/>
              <p:cNvSpPr/>
              <p:nvPr/>
            </p:nvSpPr>
            <p:spPr>
              <a:xfrm rot="10800000">
                <a:off x="8667225" y="82162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83" name="Google Shape;783;p15"/>
              <p:cNvSpPr/>
              <p:nvPr/>
            </p:nvSpPr>
            <p:spPr>
              <a:xfrm rot="10800000">
                <a:off x="8825400" y="681525"/>
                <a:ext cx="140100" cy="140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84" name="Google Shape;784;p15"/>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785" name="Google Shape;785;p15"/>
            <p:cNvGrpSpPr/>
            <p:nvPr/>
          </p:nvGrpSpPr>
          <p:grpSpPr>
            <a:xfrm rot="-5139163">
              <a:off x="6960991" y="4509560"/>
              <a:ext cx="254304" cy="683114"/>
              <a:chOff x="140150" y="4353245"/>
              <a:chExt cx="254310" cy="683130"/>
            </a:xfrm>
          </p:grpSpPr>
          <p:sp>
            <p:nvSpPr>
              <p:cNvPr id="786" name="Google Shape;786;p15"/>
              <p:cNvSpPr/>
              <p:nvPr/>
            </p:nvSpPr>
            <p:spPr>
              <a:xfrm rot="10800000">
                <a:off x="140150" y="49496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87" name="Google Shape;787;p15"/>
              <p:cNvSpPr/>
              <p:nvPr/>
            </p:nvSpPr>
            <p:spPr>
              <a:xfrm rot="10800000">
                <a:off x="146360" y="4668727"/>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88" name="Google Shape;788;p15"/>
              <p:cNvSpPr/>
              <p:nvPr/>
            </p:nvSpPr>
            <p:spPr>
              <a:xfrm rot="10800000">
                <a:off x="343160" y="4863902"/>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89" name="Google Shape;789;p15"/>
              <p:cNvSpPr/>
              <p:nvPr/>
            </p:nvSpPr>
            <p:spPr>
              <a:xfrm rot="10800000">
                <a:off x="141945" y="4353245"/>
                <a:ext cx="51300" cy="51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grpSp>
        <p:nvGrpSpPr>
          <p:cNvPr id="790" name="Google Shape;790;p15"/>
          <p:cNvGrpSpPr/>
          <p:nvPr/>
        </p:nvGrpSpPr>
        <p:grpSpPr>
          <a:xfrm>
            <a:off x="-3264108" y="1062527"/>
            <a:ext cx="12699758" cy="5125916"/>
            <a:chOff x="-3264108" y="1062527"/>
            <a:chExt cx="12699758" cy="5125916"/>
          </a:xfrm>
        </p:grpSpPr>
        <p:grpSp>
          <p:nvGrpSpPr>
            <p:cNvPr id="791" name="Google Shape;791;p15"/>
            <p:cNvGrpSpPr/>
            <p:nvPr/>
          </p:nvGrpSpPr>
          <p:grpSpPr>
            <a:xfrm rot="10800000">
              <a:off x="7825876" y="2716263"/>
              <a:ext cx="1609774" cy="2641456"/>
              <a:chOff x="-225924" y="-192037"/>
              <a:chExt cx="1609774" cy="2641456"/>
            </a:xfrm>
          </p:grpSpPr>
          <p:cxnSp>
            <p:nvCxnSpPr>
              <p:cNvPr id="792" name="Google Shape;792;p15"/>
              <p:cNvCxnSpPr>
                <a:stCxn id="793" idx="7"/>
                <a:endCxn id="794" idx="2"/>
              </p:cNvCxnSpPr>
              <p:nvPr/>
            </p:nvCxnSpPr>
            <p:spPr>
              <a:xfrm rot="10800000" flipH="1">
                <a:off x="332904" y="155655"/>
                <a:ext cx="893400" cy="226800"/>
              </a:xfrm>
              <a:prstGeom prst="straightConnector1">
                <a:avLst/>
              </a:prstGeom>
              <a:noFill/>
              <a:ln w="9525" cap="flat" cmpd="sng">
                <a:solidFill>
                  <a:schemeClr val="dk2"/>
                </a:solidFill>
                <a:prstDash val="solid"/>
                <a:round/>
                <a:headEnd type="none" w="med" len="med"/>
                <a:tailEnd type="none" w="med" len="med"/>
              </a:ln>
            </p:spPr>
          </p:cxnSp>
          <p:sp>
            <p:nvSpPr>
              <p:cNvPr id="794" name="Google Shape;794;p15"/>
              <p:cNvSpPr/>
              <p:nvPr/>
            </p:nvSpPr>
            <p:spPr>
              <a:xfrm>
                <a:off x="1226350" y="76769"/>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95" name="Google Shape;795;p15"/>
              <p:cNvSpPr/>
              <p:nvPr/>
            </p:nvSpPr>
            <p:spPr>
              <a:xfrm>
                <a:off x="-225924" y="-192037"/>
                <a:ext cx="99900" cy="99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96" name="Google Shape;796;p15"/>
              <p:cNvSpPr/>
              <p:nvPr/>
            </p:nvSpPr>
            <p:spPr>
              <a:xfrm>
                <a:off x="177600" y="229191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97" name="Google Shape;797;p15"/>
              <p:cNvSpPr/>
              <p:nvPr/>
            </p:nvSpPr>
            <p:spPr>
              <a:xfrm>
                <a:off x="734301" y="222187"/>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98" name="Google Shape;798;p15"/>
              <p:cNvSpPr/>
              <p:nvPr/>
            </p:nvSpPr>
            <p:spPr>
              <a:xfrm>
                <a:off x="49626" y="886737"/>
                <a:ext cx="86700" cy="867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799" name="Google Shape;799;p15"/>
              <p:cNvSpPr/>
              <p:nvPr/>
            </p:nvSpPr>
            <p:spPr>
              <a:xfrm>
                <a:off x="292075" y="1058069"/>
                <a:ext cx="147900" cy="147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800" name="Google Shape;800;p15"/>
              <p:cNvCxnSpPr>
                <a:stCxn id="799" idx="4"/>
                <a:endCxn id="796" idx="0"/>
              </p:cNvCxnSpPr>
              <p:nvPr/>
            </p:nvCxnSpPr>
            <p:spPr>
              <a:xfrm flipH="1">
                <a:off x="256225" y="1205969"/>
                <a:ext cx="109800" cy="1086000"/>
              </a:xfrm>
              <a:prstGeom prst="straightConnector1">
                <a:avLst/>
              </a:prstGeom>
              <a:noFill/>
              <a:ln w="9525" cap="flat" cmpd="sng">
                <a:solidFill>
                  <a:schemeClr val="dk2"/>
                </a:solidFill>
                <a:prstDash val="solid"/>
                <a:round/>
                <a:headEnd type="none" w="med" len="med"/>
                <a:tailEnd type="none" w="med" len="med"/>
              </a:ln>
            </p:spPr>
          </p:cxnSp>
          <p:cxnSp>
            <p:nvCxnSpPr>
              <p:cNvPr id="801" name="Google Shape;801;p15"/>
              <p:cNvCxnSpPr>
                <a:stCxn id="798" idx="4"/>
                <a:endCxn id="796" idx="0"/>
              </p:cNvCxnSpPr>
              <p:nvPr/>
            </p:nvCxnSpPr>
            <p:spPr>
              <a:xfrm>
                <a:off x="92976" y="973437"/>
                <a:ext cx="163500" cy="1318500"/>
              </a:xfrm>
              <a:prstGeom prst="straightConnector1">
                <a:avLst/>
              </a:prstGeom>
              <a:noFill/>
              <a:ln w="9525" cap="flat" cmpd="sng">
                <a:solidFill>
                  <a:schemeClr val="dk2"/>
                </a:solidFill>
                <a:prstDash val="solid"/>
                <a:round/>
                <a:headEnd type="none" w="med" len="med"/>
                <a:tailEnd type="none" w="med" len="med"/>
              </a:ln>
            </p:spPr>
          </p:cxnSp>
          <p:cxnSp>
            <p:nvCxnSpPr>
              <p:cNvPr id="802" name="Google Shape;802;p15"/>
              <p:cNvCxnSpPr>
                <a:stCxn id="798" idx="5"/>
                <a:endCxn id="799" idx="1"/>
              </p:cNvCxnSpPr>
              <p:nvPr/>
            </p:nvCxnSpPr>
            <p:spPr>
              <a:xfrm>
                <a:off x="123629" y="960741"/>
                <a:ext cx="190200" cy="119100"/>
              </a:xfrm>
              <a:prstGeom prst="straightConnector1">
                <a:avLst/>
              </a:prstGeom>
              <a:noFill/>
              <a:ln w="9525" cap="flat" cmpd="sng">
                <a:solidFill>
                  <a:schemeClr val="dk2"/>
                </a:solidFill>
                <a:prstDash val="solid"/>
                <a:round/>
                <a:headEnd type="none" w="med" len="med"/>
                <a:tailEnd type="none" w="med" len="med"/>
              </a:ln>
            </p:spPr>
          </p:cxnSp>
          <p:cxnSp>
            <p:nvCxnSpPr>
              <p:cNvPr id="803" name="Google Shape;803;p15"/>
              <p:cNvCxnSpPr>
                <a:stCxn id="798" idx="0"/>
                <a:endCxn id="795" idx="4"/>
              </p:cNvCxnSpPr>
              <p:nvPr/>
            </p:nvCxnSpPr>
            <p:spPr>
              <a:xfrm rot="10800000">
                <a:off x="-176124" y="-92163"/>
                <a:ext cx="269100" cy="978900"/>
              </a:xfrm>
              <a:prstGeom prst="straightConnector1">
                <a:avLst/>
              </a:prstGeom>
              <a:noFill/>
              <a:ln w="9525" cap="flat" cmpd="sng">
                <a:solidFill>
                  <a:schemeClr val="dk2"/>
                </a:solidFill>
                <a:prstDash val="solid"/>
                <a:round/>
                <a:headEnd type="none" w="med" len="med"/>
                <a:tailEnd type="none" w="med" len="med"/>
              </a:ln>
            </p:spPr>
          </p:cxnSp>
          <p:cxnSp>
            <p:nvCxnSpPr>
              <p:cNvPr id="804" name="Google Shape;804;p15"/>
              <p:cNvCxnSpPr>
                <a:stCxn id="798" idx="7"/>
                <a:endCxn id="793" idx="3"/>
              </p:cNvCxnSpPr>
              <p:nvPr/>
            </p:nvCxnSpPr>
            <p:spPr>
              <a:xfrm rot="10800000" flipH="1">
                <a:off x="123629" y="443734"/>
                <a:ext cx="147900" cy="455700"/>
              </a:xfrm>
              <a:prstGeom prst="straightConnector1">
                <a:avLst/>
              </a:prstGeom>
              <a:noFill/>
              <a:ln w="9525" cap="flat" cmpd="sng">
                <a:solidFill>
                  <a:schemeClr val="dk2"/>
                </a:solidFill>
                <a:prstDash val="solid"/>
                <a:round/>
                <a:headEnd type="none" w="med" len="med"/>
                <a:tailEnd type="none" w="med" len="med"/>
              </a:ln>
            </p:spPr>
          </p:cxnSp>
          <p:cxnSp>
            <p:nvCxnSpPr>
              <p:cNvPr id="805" name="Google Shape;805;p15"/>
              <p:cNvCxnSpPr>
                <a:stCxn id="795" idx="5"/>
                <a:endCxn id="793" idx="1"/>
              </p:cNvCxnSpPr>
              <p:nvPr/>
            </p:nvCxnSpPr>
            <p:spPr>
              <a:xfrm>
                <a:off x="-140654" y="-106767"/>
                <a:ext cx="412200" cy="489300"/>
              </a:xfrm>
              <a:prstGeom prst="straightConnector1">
                <a:avLst/>
              </a:prstGeom>
              <a:noFill/>
              <a:ln w="9525" cap="flat" cmpd="sng">
                <a:solidFill>
                  <a:schemeClr val="dk2"/>
                </a:solidFill>
                <a:prstDash val="solid"/>
                <a:round/>
                <a:headEnd type="none" w="med" len="med"/>
                <a:tailEnd type="none" w="med" len="med"/>
              </a:ln>
            </p:spPr>
          </p:cxnSp>
          <p:cxnSp>
            <p:nvCxnSpPr>
              <p:cNvPr id="806" name="Google Shape;806;p15"/>
              <p:cNvCxnSpPr>
                <a:stCxn id="795" idx="6"/>
                <a:endCxn id="794" idx="2"/>
              </p:cNvCxnSpPr>
              <p:nvPr/>
            </p:nvCxnSpPr>
            <p:spPr>
              <a:xfrm>
                <a:off x="-126024" y="-142087"/>
                <a:ext cx="1352400" cy="297600"/>
              </a:xfrm>
              <a:prstGeom prst="straightConnector1">
                <a:avLst/>
              </a:prstGeom>
              <a:noFill/>
              <a:ln w="9525" cap="flat" cmpd="sng">
                <a:solidFill>
                  <a:schemeClr val="dk2"/>
                </a:solidFill>
                <a:prstDash val="solid"/>
                <a:round/>
                <a:headEnd type="none" w="med" len="med"/>
                <a:tailEnd type="none" w="med" len="med"/>
              </a:ln>
            </p:spPr>
          </p:cxnSp>
          <p:cxnSp>
            <p:nvCxnSpPr>
              <p:cNvPr id="807" name="Google Shape;807;p15"/>
              <p:cNvCxnSpPr>
                <a:stCxn id="797" idx="2"/>
                <a:endCxn id="795" idx="5"/>
              </p:cNvCxnSpPr>
              <p:nvPr/>
            </p:nvCxnSpPr>
            <p:spPr>
              <a:xfrm rot="10800000">
                <a:off x="-140799" y="-106763"/>
                <a:ext cx="875100" cy="372300"/>
              </a:xfrm>
              <a:prstGeom prst="straightConnector1">
                <a:avLst/>
              </a:prstGeom>
              <a:noFill/>
              <a:ln w="9525" cap="flat" cmpd="sng">
                <a:solidFill>
                  <a:schemeClr val="dk2"/>
                </a:solidFill>
                <a:prstDash val="solid"/>
                <a:round/>
                <a:headEnd type="none" w="med" len="med"/>
                <a:tailEnd type="none" w="med" len="med"/>
              </a:ln>
            </p:spPr>
          </p:cxnSp>
          <p:cxnSp>
            <p:nvCxnSpPr>
              <p:cNvPr id="808" name="Google Shape;808;p15"/>
              <p:cNvCxnSpPr>
                <a:stCxn id="799" idx="0"/>
                <a:endCxn id="793" idx="4"/>
              </p:cNvCxnSpPr>
              <p:nvPr/>
            </p:nvCxnSpPr>
            <p:spPr>
              <a:xfrm rot="10800000">
                <a:off x="302125" y="456569"/>
                <a:ext cx="63900" cy="601500"/>
              </a:xfrm>
              <a:prstGeom prst="straightConnector1">
                <a:avLst/>
              </a:prstGeom>
              <a:noFill/>
              <a:ln w="9525" cap="flat" cmpd="sng">
                <a:solidFill>
                  <a:schemeClr val="dk2"/>
                </a:solidFill>
                <a:prstDash val="solid"/>
                <a:round/>
                <a:headEnd type="none" w="med" len="med"/>
                <a:tailEnd type="none" w="med" len="med"/>
              </a:ln>
            </p:spPr>
          </p:cxnSp>
          <p:cxnSp>
            <p:nvCxnSpPr>
              <p:cNvPr id="809" name="Google Shape;809;p15"/>
              <p:cNvCxnSpPr>
                <a:stCxn id="799" idx="0"/>
                <a:endCxn id="797" idx="3"/>
              </p:cNvCxnSpPr>
              <p:nvPr/>
            </p:nvCxnSpPr>
            <p:spPr>
              <a:xfrm rot="10800000" flipH="1">
                <a:off x="366025" y="296069"/>
                <a:ext cx="381000" cy="762000"/>
              </a:xfrm>
              <a:prstGeom prst="straightConnector1">
                <a:avLst/>
              </a:prstGeom>
              <a:noFill/>
              <a:ln w="9525" cap="flat" cmpd="sng">
                <a:solidFill>
                  <a:schemeClr val="dk2"/>
                </a:solidFill>
                <a:prstDash val="solid"/>
                <a:round/>
                <a:headEnd type="none" w="med" len="med"/>
                <a:tailEnd type="none" w="med" len="med"/>
              </a:ln>
            </p:spPr>
          </p:cxnSp>
          <p:sp>
            <p:nvSpPr>
              <p:cNvPr id="793" name="Google Shape;793;p15"/>
              <p:cNvSpPr/>
              <p:nvPr/>
            </p:nvSpPr>
            <p:spPr>
              <a:xfrm>
                <a:off x="258901" y="369758"/>
                <a:ext cx="86700" cy="867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810" name="Google Shape;810;p15"/>
            <p:cNvGrpSpPr/>
            <p:nvPr/>
          </p:nvGrpSpPr>
          <p:grpSpPr>
            <a:xfrm rot="2030497">
              <a:off x="-2581586" y="1819329"/>
              <a:ext cx="3816850" cy="3612312"/>
              <a:chOff x="-100549" y="47919"/>
              <a:chExt cx="4607849" cy="4360923"/>
            </a:xfrm>
          </p:grpSpPr>
          <p:sp>
            <p:nvSpPr>
              <p:cNvPr id="811" name="Google Shape;811;p15"/>
              <p:cNvSpPr/>
              <p:nvPr/>
            </p:nvSpPr>
            <p:spPr>
              <a:xfrm rot="10800000">
                <a:off x="4076800" y="2467368"/>
                <a:ext cx="234600" cy="234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2" name="Google Shape;812;p15"/>
              <p:cNvSpPr/>
              <p:nvPr/>
            </p:nvSpPr>
            <p:spPr>
              <a:xfrm rot="10800000">
                <a:off x="1137802" y="3577294"/>
                <a:ext cx="234600" cy="2346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3" name="Google Shape;813;p15"/>
              <p:cNvSpPr/>
              <p:nvPr/>
            </p:nvSpPr>
            <p:spPr>
              <a:xfrm rot="10800000">
                <a:off x="1731851" y="997900"/>
                <a:ext cx="484500" cy="484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4" name="Google Shape;814;p15"/>
              <p:cNvSpPr/>
              <p:nvPr/>
            </p:nvSpPr>
            <p:spPr>
              <a:xfrm rot="10800000">
                <a:off x="2254926" y="250586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5" name="Google Shape;815;p15"/>
              <p:cNvSpPr/>
              <p:nvPr/>
            </p:nvSpPr>
            <p:spPr>
              <a:xfrm rot="10800000">
                <a:off x="3685300" y="3636544"/>
                <a:ext cx="116100" cy="116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6" name="Google Shape;816;p15"/>
              <p:cNvSpPr/>
              <p:nvPr/>
            </p:nvSpPr>
            <p:spPr>
              <a:xfrm rot="10800000">
                <a:off x="2254926" y="3903969"/>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7" name="Google Shape;817;p15"/>
              <p:cNvSpPr/>
              <p:nvPr/>
            </p:nvSpPr>
            <p:spPr>
              <a:xfrm rot="10800000">
                <a:off x="3125451" y="1436544"/>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818" name="Google Shape;818;p15"/>
              <p:cNvSpPr/>
              <p:nvPr/>
            </p:nvSpPr>
            <p:spPr>
              <a:xfrm rot="10800000">
                <a:off x="447667" y="2351269"/>
                <a:ext cx="116100" cy="116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819" name="Google Shape;819;p15"/>
              <p:cNvCxnSpPr>
                <a:stCxn id="815" idx="5"/>
                <a:endCxn id="814" idx="1"/>
              </p:cNvCxnSpPr>
              <p:nvPr/>
            </p:nvCxnSpPr>
            <p:spPr>
              <a:xfrm rot="8769356">
                <a:off x="2782616" y="2360623"/>
                <a:ext cx="526274" cy="1572747"/>
              </a:xfrm>
              <a:prstGeom prst="straightConnector1">
                <a:avLst/>
              </a:prstGeom>
              <a:noFill/>
              <a:ln w="9525" cap="flat" cmpd="sng">
                <a:solidFill>
                  <a:schemeClr val="dk2"/>
                </a:solidFill>
                <a:prstDash val="solid"/>
                <a:round/>
                <a:headEnd type="none" w="med" len="med"/>
                <a:tailEnd type="none" w="med" len="med"/>
              </a:ln>
            </p:spPr>
          </p:cxnSp>
          <p:cxnSp>
            <p:nvCxnSpPr>
              <p:cNvPr id="820" name="Google Shape;820;p15"/>
              <p:cNvCxnSpPr>
                <a:stCxn id="816" idx="4"/>
                <a:endCxn id="814" idx="0"/>
              </p:cNvCxnSpPr>
              <p:nvPr/>
            </p:nvCxnSpPr>
            <p:spPr>
              <a:xfrm rot="8769075" flipH="1">
                <a:off x="1988166" y="2768320"/>
                <a:ext cx="691020" cy="1030498"/>
              </a:xfrm>
              <a:prstGeom prst="straightConnector1">
                <a:avLst/>
              </a:prstGeom>
              <a:noFill/>
              <a:ln w="9525" cap="flat" cmpd="sng">
                <a:solidFill>
                  <a:schemeClr val="dk2"/>
                </a:solidFill>
                <a:prstDash val="solid"/>
                <a:round/>
                <a:headEnd type="none" w="med" len="med"/>
                <a:tailEnd type="none" w="med" len="med"/>
              </a:ln>
            </p:spPr>
          </p:cxnSp>
          <p:cxnSp>
            <p:nvCxnSpPr>
              <p:cNvPr id="821" name="Google Shape;821;p15"/>
              <p:cNvCxnSpPr>
                <a:stCxn id="811" idx="6"/>
                <a:endCxn id="814" idx="2"/>
              </p:cNvCxnSpPr>
              <p:nvPr/>
            </p:nvCxnSpPr>
            <p:spPr>
              <a:xfrm rot="8769491">
                <a:off x="2553455" y="2121214"/>
                <a:ext cx="1382290" cy="926908"/>
              </a:xfrm>
              <a:prstGeom prst="straightConnector1">
                <a:avLst/>
              </a:prstGeom>
              <a:noFill/>
              <a:ln w="9525" cap="flat" cmpd="sng">
                <a:solidFill>
                  <a:schemeClr val="dk2"/>
                </a:solidFill>
                <a:prstDash val="solid"/>
                <a:round/>
                <a:headEnd type="none" w="med" len="med"/>
                <a:tailEnd type="none" w="med" len="med"/>
              </a:ln>
            </p:spPr>
          </p:cxnSp>
          <p:cxnSp>
            <p:nvCxnSpPr>
              <p:cNvPr id="822" name="Google Shape;822;p15"/>
              <p:cNvCxnSpPr>
                <a:stCxn id="811" idx="0"/>
                <a:endCxn id="815" idx="3"/>
              </p:cNvCxnSpPr>
              <p:nvPr/>
            </p:nvCxnSpPr>
            <p:spPr>
              <a:xfrm rot="-2030280" flipH="1">
                <a:off x="3554311" y="2896576"/>
                <a:ext cx="870078" cy="562385"/>
              </a:xfrm>
              <a:prstGeom prst="straightConnector1">
                <a:avLst/>
              </a:prstGeom>
              <a:noFill/>
              <a:ln w="9525" cap="flat" cmpd="sng">
                <a:solidFill>
                  <a:schemeClr val="dk2"/>
                </a:solidFill>
                <a:prstDash val="solid"/>
                <a:round/>
                <a:headEnd type="none" w="med" len="med"/>
                <a:tailEnd type="none" w="med" len="med"/>
              </a:ln>
            </p:spPr>
          </p:cxnSp>
          <p:cxnSp>
            <p:nvCxnSpPr>
              <p:cNvPr id="823" name="Google Shape;823;p15"/>
              <p:cNvCxnSpPr>
                <a:stCxn id="815" idx="7"/>
                <a:endCxn id="816" idx="2"/>
              </p:cNvCxnSpPr>
              <p:nvPr/>
            </p:nvCxnSpPr>
            <p:spPr>
              <a:xfrm rot="8769605">
                <a:off x="2452857" y="3602445"/>
                <a:ext cx="1208890" cy="513294"/>
              </a:xfrm>
              <a:prstGeom prst="straightConnector1">
                <a:avLst/>
              </a:prstGeom>
              <a:noFill/>
              <a:ln w="9525" cap="flat" cmpd="sng">
                <a:solidFill>
                  <a:schemeClr val="dk2"/>
                </a:solidFill>
                <a:prstDash val="solid"/>
                <a:round/>
                <a:headEnd type="none" w="med" len="med"/>
                <a:tailEnd type="none" w="med" len="med"/>
              </a:ln>
            </p:spPr>
          </p:cxnSp>
          <p:cxnSp>
            <p:nvCxnSpPr>
              <p:cNvPr id="824" name="Google Shape;824;p15"/>
              <p:cNvCxnSpPr>
                <a:stCxn id="816" idx="6"/>
                <a:endCxn id="812" idx="1"/>
              </p:cNvCxnSpPr>
              <p:nvPr/>
            </p:nvCxnSpPr>
            <p:spPr>
              <a:xfrm rot="8768875">
                <a:off x="1472857" y="3539834"/>
                <a:ext cx="647338" cy="680869"/>
              </a:xfrm>
              <a:prstGeom prst="straightConnector1">
                <a:avLst/>
              </a:prstGeom>
              <a:noFill/>
              <a:ln w="9525" cap="flat" cmpd="sng">
                <a:solidFill>
                  <a:schemeClr val="dk2"/>
                </a:solidFill>
                <a:prstDash val="solid"/>
                <a:round/>
                <a:headEnd type="none" w="med" len="med"/>
                <a:tailEnd type="none" w="med" len="med"/>
              </a:ln>
            </p:spPr>
          </p:cxnSp>
          <p:cxnSp>
            <p:nvCxnSpPr>
              <p:cNvPr id="825" name="Google Shape;825;p15"/>
              <p:cNvCxnSpPr>
                <a:stCxn id="814" idx="7"/>
                <a:endCxn id="812" idx="3"/>
              </p:cNvCxnSpPr>
              <p:nvPr/>
            </p:nvCxnSpPr>
            <p:spPr>
              <a:xfrm rot="-2030278" flipH="1">
                <a:off x="1147266" y="2984238"/>
                <a:ext cx="1321550" cy="283231"/>
              </a:xfrm>
              <a:prstGeom prst="straightConnector1">
                <a:avLst/>
              </a:prstGeom>
              <a:noFill/>
              <a:ln w="9525" cap="flat" cmpd="sng">
                <a:solidFill>
                  <a:schemeClr val="dk2"/>
                </a:solidFill>
                <a:prstDash val="solid"/>
                <a:round/>
                <a:headEnd type="none" w="med" len="med"/>
                <a:tailEnd type="none" w="med" len="med"/>
              </a:ln>
            </p:spPr>
          </p:cxnSp>
          <p:cxnSp>
            <p:nvCxnSpPr>
              <p:cNvPr id="826" name="Google Shape;826;p15"/>
              <p:cNvCxnSpPr>
                <a:stCxn id="811" idx="5"/>
                <a:endCxn id="817" idx="1"/>
              </p:cNvCxnSpPr>
              <p:nvPr/>
            </p:nvCxnSpPr>
            <p:spPr>
              <a:xfrm rot="8769493">
                <a:off x="3591334" y="1412692"/>
                <a:ext cx="188543" cy="1247164"/>
              </a:xfrm>
              <a:prstGeom prst="straightConnector1">
                <a:avLst/>
              </a:prstGeom>
              <a:noFill/>
              <a:ln w="9525" cap="flat" cmpd="sng">
                <a:solidFill>
                  <a:schemeClr val="dk2"/>
                </a:solidFill>
                <a:prstDash val="solid"/>
                <a:round/>
                <a:headEnd type="none" w="med" len="med"/>
                <a:tailEnd type="none" w="med" len="med"/>
              </a:ln>
            </p:spPr>
          </p:cxnSp>
          <p:cxnSp>
            <p:nvCxnSpPr>
              <p:cNvPr id="827" name="Google Shape;827;p15"/>
              <p:cNvCxnSpPr>
                <a:stCxn id="817" idx="7"/>
                <a:endCxn id="814" idx="3"/>
              </p:cNvCxnSpPr>
              <p:nvPr/>
            </p:nvCxnSpPr>
            <p:spPr>
              <a:xfrm rot="-2030495" flipH="1">
                <a:off x="2186803" y="1863549"/>
                <a:ext cx="1164126" cy="372760"/>
              </a:xfrm>
              <a:prstGeom prst="straightConnector1">
                <a:avLst/>
              </a:prstGeom>
              <a:noFill/>
              <a:ln w="9525" cap="flat" cmpd="sng">
                <a:solidFill>
                  <a:schemeClr val="dk2"/>
                </a:solidFill>
                <a:prstDash val="solid"/>
                <a:round/>
                <a:headEnd type="none" w="med" len="med"/>
                <a:tailEnd type="none" w="med" len="med"/>
              </a:ln>
            </p:spPr>
          </p:cxnSp>
          <p:cxnSp>
            <p:nvCxnSpPr>
              <p:cNvPr id="828" name="Google Shape;828;p15"/>
              <p:cNvCxnSpPr>
                <a:stCxn id="817" idx="5"/>
                <a:endCxn id="813" idx="2"/>
              </p:cNvCxnSpPr>
              <p:nvPr/>
            </p:nvCxnSpPr>
            <p:spPr>
              <a:xfrm rot="8769821">
                <a:off x="2356510" y="999099"/>
                <a:ext cx="651914" cy="701421"/>
              </a:xfrm>
              <a:prstGeom prst="straightConnector1">
                <a:avLst/>
              </a:prstGeom>
              <a:noFill/>
              <a:ln w="9525" cap="flat" cmpd="sng">
                <a:solidFill>
                  <a:schemeClr val="dk2"/>
                </a:solidFill>
                <a:prstDash val="solid"/>
                <a:round/>
                <a:headEnd type="none" w="med" len="med"/>
                <a:tailEnd type="none" w="med" len="med"/>
              </a:ln>
            </p:spPr>
          </p:cxnSp>
          <p:cxnSp>
            <p:nvCxnSpPr>
              <p:cNvPr id="829" name="Google Shape;829;p15"/>
              <p:cNvCxnSpPr>
                <a:stCxn id="813" idx="0"/>
                <a:endCxn id="814" idx="5"/>
              </p:cNvCxnSpPr>
              <p:nvPr/>
            </p:nvCxnSpPr>
            <p:spPr>
              <a:xfrm rot="-2029195" flipH="1">
                <a:off x="1960847" y="1486358"/>
                <a:ext cx="330408" cy="1038486"/>
              </a:xfrm>
              <a:prstGeom prst="straightConnector1">
                <a:avLst/>
              </a:prstGeom>
              <a:noFill/>
              <a:ln w="9525" cap="flat" cmpd="sng">
                <a:solidFill>
                  <a:schemeClr val="dk2"/>
                </a:solidFill>
                <a:prstDash val="solid"/>
                <a:round/>
                <a:headEnd type="none" w="med" len="med"/>
                <a:tailEnd type="none" w="med" len="med"/>
              </a:ln>
            </p:spPr>
          </p:cxnSp>
          <p:cxnSp>
            <p:nvCxnSpPr>
              <p:cNvPr id="830" name="Google Shape;830;p15"/>
              <p:cNvCxnSpPr>
                <a:stCxn id="813" idx="7"/>
                <a:endCxn id="818" idx="3"/>
              </p:cNvCxnSpPr>
              <p:nvPr/>
            </p:nvCxnSpPr>
            <p:spPr>
              <a:xfrm rot="-2030477" flipH="1">
                <a:off x="386634" y="1842270"/>
                <a:ext cx="1576242" cy="95353"/>
              </a:xfrm>
              <a:prstGeom prst="straightConnector1">
                <a:avLst/>
              </a:prstGeom>
              <a:noFill/>
              <a:ln w="9525" cap="flat" cmpd="sng">
                <a:solidFill>
                  <a:schemeClr val="dk2"/>
                </a:solidFill>
                <a:prstDash val="solid"/>
                <a:round/>
                <a:headEnd type="none" w="med" len="med"/>
                <a:tailEnd type="none" w="med" len="med"/>
              </a:ln>
            </p:spPr>
          </p:cxnSp>
          <p:cxnSp>
            <p:nvCxnSpPr>
              <p:cNvPr id="831" name="Google Shape;831;p15"/>
              <p:cNvCxnSpPr>
                <a:stCxn id="814" idx="6"/>
                <a:endCxn id="818" idx="2"/>
              </p:cNvCxnSpPr>
              <p:nvPr/>
            </p:nvCxnSpPr>
            <p:spPr>
              <a:xfrm rot="8769842">
                <a:off x="755690" y="1953080"/>
                <a:ext cx="1307072" cy="1087577"/>
              </a:xfrm>
              <a:prstGeom prst="straightConnector1">
                <a:avLst/>
              </a:prstGeom>
              <a:noFill/>
              <a:ln w="9525" cap="flat" cmpd="sng">
                <a:solidFill>
                  <a:schemeClr val="dk2"/>
                </a:solidFill>
                <a:prstDash val="solid"/>
                <a:round/>
                <a:headEnd type="none" w="med" len="med"/>
                <a:tailEnd type="none" w="med" len="med"/>
              </a:ln>
            </p:spPr>
          </p:cxnSp>
          <p:cxnSp>
            <p:nvCxnSpPr>
              <p:cNvPr id="832" name="Google Shape;832;p15"/>
              <p:cNvCxnSpPr>
                <a:stCxn id="818" idx="0"/>
                <a:endCxn id="812" idx="5"/>
              </p:cNvCxnSpPr>
              <p:nvPr/>
            </p:nvCxnSpPr>
            <p:spPr>
              <a:xfrm rot="-2024821" flipH="1">
                <a:off x="797015" y="2378694"/>
                <a:ext cx="83704" cy="1321550"/>
              </a:xfrm>
              <a:prstGeom prst="straightConnector1">
                <a:avLst/>
              </a:prstGeom>
              <a:noFill/>
              <a:ln w="9525" cap="flat" cmpd="sng">
                <a:solidFill>
                  <a:schemeClr val="dk2"/>
                </a:solidFill>
                <a:prstDash val="solid"/>
                <a:round/>
                <a:headEnd type="none" w="med" len="med"/>
                <a:tailEnd type="none" w="med" len="med"/>
              </a:ln>
            </p:spPr>
          </p:cxnSp>
          <p:cxnSp>
            <p:nvCxnSpPr>
              <p:cNvPr id="833" name="Google Shape;833;p15"/>
              <p:cNvCxnSpPr>
                <a:stCxn id="815" idx="4"/>
                <a:endCxn id="813" idx="1"/>
              </p:cNvCxnSpPr>
              <p:nvPr/>
            </p:nvCxnSpPr>
            <p:spPr>
              <a:xfrm rot="8775347">
                <a:off x="2900285" y="1155017"/>
                <a:ext cx="88031" cy="2737955"/>
              </a:xfrm>
              <a:prstGeom prst="straightConnector1">
                <a:avLst/>
              </a:prstGeom>
              <a:noFill/>
              <a:ln w="9525" cap="flat" cmpd="sng">
                <a:solidFill>
                  <a:schemeClr val="dk2"/>
                </a:solidFill>
                <a:prstDash val="solid"/>
                <a:round/>
                <a:headEnd type="none" w="med" len="med"/>
                <a:tailEnd type="none" w="med" len="med"/>
              </a:ln>
            </p:spPr>
          </p:cxnSp>
          <p:cxnSp>
            <p:nvCxnSpPr>
              <p:cNvPr id="834" name="Google Shape;834;p15"/>
              <p:cNvCxnSpPr>
                <a:stCxn id="812" idx="4"/>
                <a:endCxn id="813" idx="7"/>
              </p:cNvCxnSpPr>
              <p:nvPr/>
            </p:nvCxnSpPr>
            <p:spPr>
              <a:xfrm rot="8769813" flipH="1">
                <a:off x="698488" y="1747510"/>
                <a:ext cx="1661027" cy="1493868"/>
              </a:xfrm>
              <a:prstGeom prst="straightConnector1">
                <a:avLst/>
              </a:prstGeom>
              <a:noFill/>
              <a:ln w="9525" cap="flat" cmpd="sng">
                <a:solidFill>
                  <a:schemeClr val="dk2"/>
                </a:solidFill>
                <a:prstDash val="solid"/>
                <a:round/>
                <a:headEnd type="none" w="med" len="med"/>
                <a:tailEnd type="none" w="med" len="med"/>
              </a:ln>
            </p:spPr>
          </p:cxnSp>
          <p:cxnSp>
            <p:nvCxnSpPr>
              <p:cNvPr id="835" name="Google Shape;835;p15"/>
              <p:cNvCxnSpPr>
                <a:stCxn id="811" idx="5"/>
                <a:endCxn id="813" idx="1"/>
              </p:cNvCxnSpPr>
              <p:nvPr/>
            </p:nvCxnSpPr>
            <p:spPr>
              <a:xfrm rot="8769113">
                <a:off x="2615603" y="956497"/>
                <a:ext cx="1025506" cy="2000256"/>
              </a:xfrm>
              <a:prstGeom prst="straightConnector1">
                <a:avLst/>
              </a:prstGeom>
              <a:noFill/>
              <a:ln w="9525" cap="flat" cmpd="sng">
                <a:solidFill>
                  <a:schemeClr val="dk2"/>
                </a:solidFill>
                <a:prstDash val="solid"/>
                <a:round/>
                <a:headEnd type="none" w="med" len="med"/>
                <a:tailEnd type="none" w="med" len="med"/>
              </a:ln>
            </p:spPr>
          </p:cxnSp>
          <p:sp>
            <p:nvSpPr>
              <p:cNvPr id="836" name="Google Shape;836;p15"/>
              <p:cNvSpPr/>
              <p:nvPr/>
            </p:nvSpPr>
            <p:spPr>
              <a:xfrm rot="10800000">
                <a:off x="873701" y="69186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837" name="Google Shape;837;p15"/>
              <p:cNvCxnSpPr>
                <a:stCxn id="818" idx="4"/>
                <a:endCxn id="836" idx="7"/>
              </p:cNvCxnSpPr>
              <p:nvPr/>
            </p:nvCxnSpPr>
            <p:spPr>
              <a:xfrm rot="8769580" flipH="1">
                <a:off x="114237" y="1064376"/>
                <a:ext cx="1173861" cy="1048886"/>
              </a:xfrm>
              <a:prstGeom prst="straightConnector1">
                <a:avLst/>
              </a:prstGeom>
              <a:noFill/>
              <a:ln w="9525" cap="flat" cmpd="sng">
                <a:solidFill>
                  <a:schemeClr val="dk2"/>
                </a:solidFill>
                <a:prstDash val="solid"/>
                <a:round/>
                <a:headEnd type="none" w="med" len="med"/>
                <a:tailEnd type="none" w="med" len="med"/>
              </a:ln>
            </p:spPr>
          </p:cxnSp>
          <p:cxnSp>
            <p:nvCxnSpPr>
              <p:cNvPr id="838" name="Google Shape;838;p15"/>
              <p:cNvCxnSpPr>
                <a:stCxn id="836" idx="2"/>
                <a:endCxn id="813" idx="5"/>
              </p:cNvCxnSpPr>
              <p:nvPr/>
            </p:nvCxnSpPr>
            <p:spPr>
              <a:xfrm rot="-2029235">
                <a:off x="1179725" y="581031"/>
                <a:ext cx="474852" cy="677375"/>
              </a:xfrm>
              <a:prstGeom prst="straightConnector1">
                <a:avLst/>
              </a:prstGeom>
              <a:noFill/>
              <a:ln w="9525" cap="flat" cmpd="sng">
                <a:solidFill>
                  <a:schemeClr val="dk2"/>
                </a:solidFill>
                <a:prstDash val="solid"/>
                <a:round/>
                <a:headEnd type="none" w="med" len="med"/>
                <a:tailEnd type="none" w="med" len="med"/>
              </a:ln>
            </p:spPr>
          </p:cxnSp>
          <p:cxnSp>
            <p:nvCxnSpPr>
              <p:cNvPr id="839" name="Google Shape;839;p15"/>
              <p:cNvCxnSpPr>
                <a:stCxn id="836" idx="0"/>
                <a:endCxn id="812" idx="4"/>
              </p:cNvCxnSpPr>
              <p:nvPr/>
            </p:nvCxnSpPr>
            <p:spPr>
              <a:xfrm rot="-2030204" flipH="1">
                <a:off x="469943" y="996108"/>
                <a:ext cx="1267716" cy="2434421"/>
              </a:xfrm>
              <a:prstGeom prst="straightConnector1">
                <a:avLst/>
              </a:prstGeom>
              <a:noFill/>
              <a:ln w="9525" cap="flat" cmpd="sng">
                <a:solidFill>
                  <a:schemeClr val="dk2"/>
                </a:solidFill>
                <a:prstDash val="solid"/>
                <a:round/>
                <a:headEnd type="none" w="med" len="med"/>
                <a:tailEnd type="none" w="med" len="med"/>
              </a:ln>
            </p:spPr>
          </p:cxnSp>
          <p:cxnSp>
            <p:nvCxnSpPr>
              <p:cNvPr id="840" name="Google Shape;840;p15"/>
              <p:cNvCxnSpPr>
                <a:stCxn id="836" idx="1"/>
                <a:endCxn id="814" idx="5"/>
              </p:cNvCxnSpPr>
              <p:nvPr/>
            </p:nvCxnSpPr>
            <p:spPr>
              <a:xfrm rot="-2032139">
                <a:off x="1589793" y="616894"/>
                <a:ext cx="106586" cy="2121320"/>
              </a:xfrm>
              <a:prstGeom prst="straightConnector1">
                <a:avLst/>
              </a:prstGeom>
              <a:noFill/>
              <a:ln w="9525" cap="flat" cmpd="sng">
                <a:solidFill>
                  <a:schemeClr val="dk2"/>
                </a:solidFill>
                <a:prstDash val="solid"/>
                <a:round/>
                <a:headEnd type="none" w="med" len="med"/>
                <a:tailEnd type="none" w="med" len="med"/>
              </a:ln>
            </p:spPr>
          </p:cxnSp>
          <p:sp>
            <p:nvSpPr>
              <p:cNvPr id="841" name="Google Shape;841;p15"/>
              <p:cNvSpPr/>
              <p:nvPr/>
            </p:nvSpPr>
            <p:spPr>
              <a:xfrm rot="10800000">
                <a:off x="2346923" y="285337"/>
                <a:ext cx="234600" cy="2346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842" name="Google Shape;842;p15"/>
              <p:cNvCxnSpPr>
                <a:stCxn id="836" idx="2"/>
                <a:endCxn id="841" idx="6"/>
              </p:cNvCxnSpPr>
              <p:nvPr/>
            </p:nvCxnSpPr>
            <p:spPr>
              <a:xfrm rot="-2030441">
                <a:off x="1040224" y="373064"/>
                <a:ext cx="1297753" cy="427010"/>
              </a:xfrm>
              <a:prstGeom prst="straightConnector1">
                <a:avLst/>
              </a:prstGeom>
              <a:noFill/>
              <a:ln w="9525" cap="flat" cmpd="sng">
                <a:solidFill>
                  <a:schemeClr val="dk2"/>
                </a:solidFill>
                <a:prstDash val="solid"/>
                <a:round/>
                <a:headEnd type="none" w="med" len="med"/>
                <a:tailEnd type="none" w="med" len="med"/>
              </a:ln>
            </p:spPr>
          </p:cxnSp>
          <p:cxnSp>
            <p:nvCxnSpPr>
              <p:cNvPr id="843" name="Google Shape;843;p15"/>
              <p:cNvCxnSpPr>
                <a:stCxn id="841" idx="1"/>
                <a:endCxn id="817" idx="5"/>
              </p:cNvCxnSpPr>
              <p:nvPr/>
            </p:nvCxnSpPr>
            <p:spPr>
              <a:xfrm rot="-2034703" flipH="1">
                <a:off x="2826258" y="400719"/>
                <a:ext cx="43017" cy="1143823"/>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1071"/>
        <p:cNvGrpSpPr/>
        <p:nvPr/>
      </p:nvGrpSpPr>
      <p:grpSpPr>
        <a:xfrm>
          <a:off x="0" y="0"/>
          <a:ext cx="0" cy="0"/>
          <a:chOff x="0" y="0"/>
          <a:chExt cx="0" cy="0"/>
        </a:xfrm>
      </p:grpSpPr>
      <p:sp>
        <p:nvSpPr>
          <p:cNvPr id="1072" name="Google Shape;1072;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073" name="Google Shape;1073;p19"/>
          <p:cNvSpPr txBox="1">
            <a:spLocks noGrp="1"/>
          </p:cNvSpPr>
          <p:nvPr>
            <p:ph type="subTitle" idx="1"/>
          </p:nvPr>
        </p:nvSpPr>
        <p:spPr>
          <a:xfrm>
            <a:off x="1574375" y="2056793"/>
            <a:ext cx="288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4" name="Google Shape;1074;p19"/>
          <p:cNvSpPr txBox="1">
            <a:spLocks noGrp="1"/>
          </p:cNvSpPr>
          <p:nvPr>
            <p:ph type="subTitle" idx="2"/>
          </p:nvPr>
        </p:nvSpPr>
        <p:spPr>
          <a:xfrm>
            <a:off x="5500976" y="2056793"/>
            <a:ext cx="288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5" name="Google Shape;1075;p19"/>
          <p:cNvSpPr txBox="1">
            <a:spLocks noGrp="1"/>
          </p:cNvSpPr>
          <p:nvPr>
            <p:ph type="subTitle" idx="3"/>
          </p:nvPr>
        </p:nvSpPr>
        <p:spPr>
          <a:xfrm>
            <a:off x="1574375" y="3713775"/>
            <a:ext cx="288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6" name="Google Shape;1076;p19"/>
          <p:cNvSpPr txBox="1">
            <a:spLocks noGrp="1"/>
          </p:cNvSpPr>
          <p:nvPr>
            <p:ph type="subTitle" idx="4"/>
          </p:nvPr>
        </p:nvSpPr>
        <p:spPr>
          <a:xfrm>
            <a:off x="5500976" y="3713775"/>
            <a:ext cx="28848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77" name="Google Shape;1077;p19"/>
          <p:cNvSpPr txBox="1">
            <a:spLocks noGrp="1"/>
          </p:cNvSpPr>
          <p:nvPr>
            <p:ph type="title" idx="5" hasCustomPrompt="1"/>
          </p:nvPr>
        </p:nvSpPr>
        <p:spPr>
          <a:xfrm>
            <a:off x="758225" y="1277225"/>
            <a:ext cx="816600" cy="7800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8" name="Google Shape;1078;p19"/>
          <p:cNvSpPr txBox="1">
            <a:spLocks noGrp="1"/>
          </p:cNvSpPr>
          <p:nvPr>
            <p:ph type="title" idx="6" hasCustomPrompt="1"/>
          </p:nvPr>
        </p:nvSpPr>
        <p:spPr>
          <a:xfrm>
            <a:off x="758225" y="2933700"/>
            <a:ext cx="816600" cy="7800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9" name="Google Shape;1079;p19"/>
          <p:cNvSpPr txBox="1">
            <a:spLocks noGrp="1"/>
          </p:cNvSpPr>
          <p:nvPr>
            <p:ph type="title" idx="7" hasCustomPrompt="1"/>
          </p:nvPr>
        </p:nvSpPr>
        <p:spPr>
          <a:xfrm>
            <a:off x="4685025" y="1277225"/>
            <a:ext cx="816600" cy="7800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80" name="Google Shape;1080;p19"/>
          <p:cNvSpPr txBox="1">
            <a:spLocks noGrp="1"/>
          </p:cNvSpPr>
          <p:nvPr>
            <p:ph type="title" idx="8" hasCustomPrompt="1"/>
          </p:nvPr>
        </p:nvSpPr>
        <p:spPr>
          <a:xfrm>
            <a:off x="4685025" y="2933700"/>
            <a:ext cx="816600" cy="780000"/>
          </a:xfrm>
          <a:prstGeom prst="rect">
            <a:avLst/>
          </a:prstGeom>
          <a:noFill/>
        </p:spPr>
        <p:txBody>
          <a:bodyPr spcFirstLastPara="1" wrap="square" lIns="91425" tIns="91425" rIns="91425" bIns="91425" anchor="ctr" anchorCtr="0">
            <a:noAutofit/>
          </a:bodyPr>
          <a:lstStyle>
            <a:lvl1pPr lvl="0" algn="r"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81" name="Google Shape;1081;p19"/>
          <p:cNvSpPr txBox="1">
            <a:spLocks noGrp="1"/>
          </p:cNvSpPr>
          <p:nvPr>
            <p:ph type="subTitle" idx="9"/>
          </p:nvPr>
        </p:nvSpPr>
        <p:spPr>
          <a:xfrm>
            <a:off x="1574375" y="1277225"/>
            <a:ext cx="2884800" cy="9039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000" b="1">
                <a:solidFill>
                  <a:schemeClr val="dk1"/>
                </a:solidFill>
                <a:latin typeface="Albert Sans"/>
                <a:ea typeface="Albert Sans"/>
                <a:cs typeface="Albert Sans"/>
                <a:sym typeface="Albert Sans"/>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082" name="Google Shape;1082;p19"/>
          <p:cNvSpPr txBox="1">
            <a:spLocks noGrp="1"/>
          </p:cNvSpPr>
          <p:nvPr>
            <p:ph type="subTitle" idx="13"/>
          </p:nvPr>
        </p:nvSpPr>
        <p:spPr>
          <a:xfrm>
            <a:off x="5500975" y="1277225"/>
            <a:ext cx="2884800" cy="9039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000" b="1">
                <a:solidFill>
                  <a:schemeClr val="dk1"/>
                </a:solidFill>
                <a:latin typeface="Albert Sans"/>
                <a:ea typeface="Albert Sans"/>
                <a:cs typeface="Albert Sans"/>
                <a:sym typeface="Albert Sans"/>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083" name="Google Shape;1083;p19"/>
          <p:cNvSpPr txBox="1">
            <a:spLocks noGrp="1"/>
          </p:cNvSpPr>
          <p:nvPr>
            <p:ph type="subTitle" idx="14"/>
          </p:nvPr>
        </p:nvSpPr>
        <p:spPr>
          <a:xfrm>
            <a:off x="1574375" y="2933701"/>
            <a:ext cx="2884800" cy="9039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000" b="1">
                <a:solidFill>
                  <a:schemeClr val="dk1"/>
                </a:solidFill>
                <a:latin typeface="Albert Sans"/>
                <a:ea typeface="Albert Sans"/>
                <a:cs typeface="Albert Sans"/>
                <a:sym typeface="Albert Sans"/>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sp>
        <p:nvSpPr>
          <p:cNvPr id="1084" name="Google Shape;1084;p19"/>
          <p:cNvSpPr txBox="1">
            <a:spLocks noGrp="1"/>
          </p:cNvSpPr>
          <p:nvPr>
            <p:ph type="subTitle" idx="15"/>
          </p:nvPr>
        </p:nvSpPr>
        <p:spPr>
          <a:xfrm>
            <a:off x="5500975" y="2933701"/>
            <a:ext cx="2884800" cy="9039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DM Sans"/>
              <a:buNone/>
              <a:defRPr sz="2000" b="1">
                <a:solidFill>
                  <a:schemeClr val="dk1"/>
                </a:solidFill>
                <a:latin typeface="Albert Sans"/>
                <a:ea typeface="Albert Sans"/>
                <a:cs typeface="Albert Sans"/>
                <a:sym typeface="Albert Sans"/>
              </a:defRPr>
            </a:lvl1pPr>
            <a:lvl2pPr lvl="1" rtl="0">
              <a:lnSpc>
                <a:spcPct val="100000"/>
              </a:lnSpc>
              <a:spcBef>
                <a:spcPts val="0"/>
              </a:spcBef>
              <a:spcAft>
                <a:spcPts val="0"/>
              </a:spcAft>
              <a:buSzPts val="2400"/>
              <a:buFont typeface="DM Sans"/>
              <a:buNone/>
              <a:defRPr sz="2400" b="1">
                <a:latin typeface="DM Sans"/>
                <a:ea typeface="DM Sans"/>
                <a:cs typeface="DM Sans"/>
                <a:sym typeface="DM Sans"/>
              </a:defRPr>
            </a:lvl2pPr>
            <a:lvl3pPr lvl="2" rtl="0">
              <a:lnSpc>
                <a:spcPct val="100000"/>
              </a:lnSpc>
              <a:spcBef>
                <a:spcPts val="0"/>
              </a:spcBef>
              <a:spcAft>
                <a:spcPts val="0"/>
              </a:spcAft>
              <a:buSzPts val="2400"/>
              <a:buFont typeface="DM Sans"/>
              <a:buNone/>
              <a:defRPr sz="2400" b="1">
                <a:latin typeface="DM Sans"/>
                <a:ea typeface="DM Sans"/>
                <a:cs typeface="DM Sans"/>
                <a:sym typeface="DM Sans"/>
              </a:defRPr>
            </a:lvl3pPr>
            <a:lvl4pPr lvl="3" rtl="0">
              <a:lnSpc>
                <a:spcPct val="100000"/>
              </a:lnSpc>
              <a:spcBef>
                <a:spcPts val="0"/>
              </a:spcBef>
              <a:spcAft>
                <a:spcPts val="0"/>
              </a:spcAft>
              <a:buSzPts val="2400"/>
              <a:buFont typeface="DM Sans"/>
              <a:buNone/>
              <a:defRPr sz="2400" b="1">
                <a:latin typeface="DM Sans"/>
                <a:ea typeface="DM Sans"/>
                <a:cs typeface="DM Sans"/>
                <a:sym typeface="DM Sans"/>
              </a:defRPr>
            </a:lvl4pPr>
            <a:lvl5pPr lvl="4" rtl="0">
              <a:lnSpc>
                <a:spcPct val="100000"/>
              </a:lnSpc>
              <a:spcBef>
                <a:spcPts val="0"/>
              </a:spcBef>
              <a:spcAft>
                <a:spcPts val="0"/>
              </a:spcAft>
              <a:buSzPts val="2400"/>
              <a:buFont typeface="DM Sans"/>
              <a:buNone/>
              <a:defRPr sz="2400" b="1">
                <a:latin typeface="DM Sans"/>
                <a:ea typeface="DM Sans"/>
                <a:cs typeface="DM Sans"/>
                <a:sym typeface="DM Sans"/>
              </a:defRPr>
            </a:lvl5pPr>
            <a:lvl6pPr lvl="5" rtl="0">
              <a:lnSpc>
                <a:spcPct val="100000"/>
              </a:lnSpc>
              <a:spcBef>
                <a:spcPts val="0"/>
              </a:spcBef>
              <a:spcAft>
                <a:spcPts val="0"/>
              </a:spcAft>
              <a:buSzPts val="2400"/>
              <a:buFont typeface="DM Sans"/>
              <a:buNone/>
              <a:defRPr sz="2400" b="1">
                <a:latin typeface="DM Sans"/>
                <a:ea typeface="DM Sans"/>
                <a:cs typeface="DM Sans"/>
                <a:sym typeface="DM Sans"/>
              </a:defRPr>
            </a:lvl6pPr>
            <a:lvl7pPr lvl="6" rtl="0">
              <a:lnSpc>
                <a:spcPct val="100000"/>
              </a:lnSpc>
              <a:spcBef>
                <a:spcPts val="0"/>
              </a:spcBef>
              <a:spcAft>
                <a:spcPts val="0"/>
              </a:spcAft>
              <a:buSzPts val="2400"/>
              <a:buFont typeface="DM Sans"/>
              <a:buNone/>
              <a:defRPr sz="2400" b="1">
                <a:latin typeface="DM Sans"/>
                <a:ea typeface="DM Sans"/>
                <a:cs typeface="DM Sans"/>
                <a:sym typeface="DM Sans"/>
              </a:defRPr>
            </a:lvl7pPr>
            <a:lvl8pPr lvl="7" rtl="0">
              <a:lnSpc>
                <a:spcPct val="100000"/>
              </a:lnSpc>
              <a:spcBef>
                <a:spcPts val="0"/>
              </a:spcBef>
              <a:spcAft>
                <a:spcPts val="0"/>
              </a:spcAft>
              <a:buSzPts val="2400"/>
              <a:buFont typeface="DM Sans"/>
              <a:buNone/>
              <a:defRPr sz="2400" b="1">
                <a:latin typeface="DM Sans"/>
                <a:ea typeface="DM Sans"/>
                <a:cs typeface="DM Sans"/>
                <a:sym typeface="DM Sans"/>
              </a:defRPr>
            </a:lvl8pPr>
            <a:lvl9pPr lvl="8" rtl="0">
              <a:lnSpc>
                <a:spcPct val="100000"/>
              </a:lnSpc>
              <a:spcBef>
                <a:spcPts val="0"/>
              </a:spcBef>
              <a:spcAft>
                <a:spcPts val="0"/>
              </a:spcAft>
              <a:buSzPts val="2400"/>
              <a:buFont typeface="DM Sans"/>
              <a:buNone/>
              <a:defRPr sz="2400" b="1">
                <a:latin typeface="DM Sans"/>
                <a:ea typeface="DM Sans"/>
                <a:cs typeface="DM Sans"/>
                <a:sym typeface="DM Sans"/>
              </a:defRPr>
            </a:lvl9pPr>
          </a:lstStyle>
          <a:p>
            <a:endParaRPr/>
          </a:p>
        </p:txBody>
      </p:sp>
      <p:grpSp>
        <p:nvGrpSpPr>
          <p:cNvPr id="1085" name="Google Shape;1085;p19"/>
          <p:cNvGrpSpPr/>
          <p:nvPr/>
        </p:nvGrpSpPr>
        <p:grpSpPr>
          <a:xfrm>
            <a:off x="119288" y="163238"/>
            <a:ext cx="8837200" cy="4388712"/>
            <a:chOff x="119288" y="163238"/>
            <a:chExt cx="8837200" cy="4388712"/>
          </a:xfrm>
        </p:grpSpPr>
        <p:grpSp>
          <p:nvGrpSpPr>
            <p:cNvPr id="1086" name="Google Shape;1086;p19"/>
            <p:cNvGrpSpPr/>
            <p:nvPr/>
          </p:nvGrpSpPr>
          <p:grpSpPr>
            <a:xfrm rot="10800000" flipH="1">
              <a:off x="8658213" y="4229275"/>
              <a:ext cx="298275" cy="322675"/>
              <a:chOff x="8667225" y="681525"/>
              <a:chExt cx="298275" cy="322675"/>
            </a:xfrm>
          </p:grpSpPr>
          <p:sp>
            <p:nvSpPr>
              <p:cNvPr id="1087" name="Google Shape;1087;p19"/>
              <p:cNvSpPr/>
              <p:nvPr/>
            </p:nvSpPr>
            <p:spPr>
              <a:xfrm rot="10800000">
                <a:off x="8667225" y="82162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88" name="Google Shape;1088;p19"/>
              <p:cNvSpPr/>
              <p:nvPr/>
            </p:nvSpPr>
            <p:spPr>
              <a:xfrm rot="10800000">
                <a:off x="8825400" y="681525"/>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89" name="Google Shape;1089;p19"/>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1090" name="Google Shape;1090;p19"/>
            <p:cNvGrpSpPr/>
            <p:nvPr/>
          </p:nvGrpSpPr>
          <p:grpSpPr>
            <a:xfrm rot="10800000" flipH="1">
              <a:off x="119288" y="163238"/>
              <a:ext cx="406275" cy="563575"/>
              <a:chOff x="140150" y="4340075"/>
              <a:chExt cx="406275" cy="563575"/>
            </a:xfrm>
          </p:grpSpPr>
          <p:sp>
            <p:nvSpPr>
              <p:cNvPr id="1091" name="Google Shape;1091;p19"/>
              <p:cNvSpPr/>
              <p:nvPr/>
            </p:nvSpPr>
            <p:spPr>
              <a:xfrm rot="10800000">
                <a:off x="140150" y="43400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92" name="Google Shape;1092;p19"/>
              <p:cNvSpPr/>
              <p:nvPr/>
            </p:nvSpPr>
            <p:spPr>
              <a:xfrm rot="10800000">
                <a:off x="298325" y="4657175"/>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93" name="Google Shape;1093;p19"/>
              <p:cNvSpPr/>
              <p:nvPr/>
            </p:nvSpPr>
            <p:spPr>
              <a:xfrm rot="10800000">
                <a:off x="495125" y="485235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94" name="Google Shape;1094;p19"/>
              <p:cNvSpPr/>
              <p:nvPr/>
            </p:nvSpPr>
            <p:spPr>
              <a:xfrm rot="10800000">
                <a:off x="165050" y="4657175"/>
                <a:ext cx="51300" cy="51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grpSp>
        <p:nvGrpSpPr>
          <p:cNvPr id="1095" name="Google Shape;1095;p19"/>
          <p:cNvGrpSpPr/>
          <p:nvPr/>
        </p:nvGrpSpPr>
        <p:grpSpPr>
          <a:xfrm>
            <a:off x="-977947" y="-671217"/>
            <a:ext cx="10532835" cy="7946710"/>
            <a:chOff x="-977947" y="-671217"/>
            <a:chExt cx="10532835" cy="7946710"/>
          </a:xfrm>
        </p:grpSpPr>
        <p:grpSp>
          <p:nvGrpSpPr>
            <p:cNvPr id="1096" name="Google Shape;1096;p19"/>
            <p:cNvGrpSpPr/>
            <p:nvPr/>
          </p:nvGrpSpPr>
          <p:grpSpPr>
            <a:xfrm flipH="1">
              <a:off x="6491263" y="-671217"/>
              <a:ext cx="3063625" cy="3321711"/>
              <a:chOff x="-460575" y="-671217"/>
              <a:chExt cx="3063625" cy="3321711"/>
            </a:xfrm>
          </p:grpSpPr>
          <p:cxnSp>
            <p:nvCxnSpPr>
              <p:cNvPr id="1097" name="Google Shape;1097;p19"/>
              <p:cNvCxnSpPr>
                <a:stCxn id="1098" idx="6"/>
                <a:endCxn id="1099" idx="2"/>
              </p:cNvCxnSpPr>
              <p:nvPr/>
            </p:nvCxnSpPr>
            <p:spPr>
              <a:xfrm rot="10800000" flipH="1">
                <a:off x="421801" y="-63292"/>
                <a:ext cx="2023800" cy="476400"/>
              </a:xfrm>
              <a:prstGeom prst="straightConnector1">
                <a:avLst/>
              </a:prstGeom>
              <a:noFill/>
              <a:ln w="9525" cap="flat" cmpd="sng">
                <a:solidFill>
                  <a:schemeClr val="dk2"/>
                </a:solidFill>
                <a:prstDash val="solid"/>
                <a:round/>
                <a:headEnd type="none" w="med" len="med"/>
                <a:tailEnd type="none" w="med" len="med"/>
              </a:ln>
            </p:spPr>
          </p:cxnSp>
          <p:sp>
            <p:nvSpPr>
              <p:cNvPr id="1099" name="Google Shape;1099;p19"/>
              <p:cNvSpPr/>
              <p:nvPr/>
            </p:nvSpPr>
            <p:spPr>
              <a:xfrm>
                <a:off x="2445550" y="-142081"/>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00" name="Google Shape;1100;p19"/>
              <p:cNvSpPr/>
              <p:nvPr/>
            </p:nvSpPr>
            <p:spPr>
              <a:xfrm>
                <a:off x="61646" y="-671217"/>
                <a:ext cx="157500" cy="1575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01" name="Google Shape;1101;p19"/>
              <p:cNvSpPr/>
              <p:nvPr/>
            </p:nvSpPr>
            <p:spPr>
              <a:xfrm>
                <a:off x="90425" y="2492994"/>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02" name="Google Shape;1102;p19"/>
              <p:cNvSpPr/>
              <p:nvPr/>
            </p:nvSpPr>
            <p:spPr>
              <a:xfrm>
                <a:off x="125826" y="886737"/>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03" name="Google Shape;1103;p19"/>
              <p:cNvSpPr/>
              <p:nvPr/>
            </p:nvSpPr>
            <p:spPr>
              <a:xfrm>
                <a:off x="382949" y="1317288"/>
                <a:ext cx="143400" cy="1575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04" name="Google Shape;1104;p19"/>
              <p:cNvCxnSpPr>
                <a:stCxn id="1103" idx="4"/>
                <a:endCxn id="1101" idx="0"/>
              </p:cNvCxnSpPr>
              <p:nvPr/>
            </p:nvCxnSpPr>
            <p:spPr>
              <a:xfrm flipH="1">
                <a:off x="169049" y="1474788"/>
                <a:ext cx="285600" cy="1018200"/>
              </a:xfrm>
              <a:prstGeom prst="straightConnector1">
                <a:avLst/>
              </a:prstGeom>
              <a:noFill/>
              <a:ln w="9525" cap="flat" cmpd="sng">
                <a:solidFill>
                  <a:schemeClr val="dk2"/>
                </a:solidFill>
                <a:prstDash val="solid"/>
                <a:round/>
                <a:headEnd type="none" w="med" len="med"/>
                <a:tailEnd type="none" w="med" len="med"/>
              </a:ln>
            </p:spPr>
          </p:cxnSp>
          <p:cxnSp>
            <p:nvCxnSpPr>
              <p:cNvPr id="1105" name="Google Shape;1105;p19"/>
              <p:cNvCxnSpPr>
                <a:stCxn id="1102" idx="4"/>
                <a:endCxn id="1101" idx="0"/>
              </p:cNvCxnSpPr>
              <p:nvPr/>
            </p:nvCxnSpPr>
            <p:spPr>
              <a:xfrm>
                <a:off x="169176" y="973437"/>
                <a:ext cx="0" cy="1519500"/>
              </a:xfrm>
              <a:prstGeom prst="straightConnector1">
                <a:avLst/>
              </a:prstGeom>
              <a:noFill/>
              <a:ln w="9525" cap="flat" cmpd="sng">
                <a:solidFill>
                  <a:schemeClr val="dk2"/>
                </a:solidFill>
                <a:prstDash val="solid"/>
                <a:round/>
                <a:headEnd type="none" w="med" len="med"/>
                <a:tailEnd type="none" w="med" len="med"/>
              </a:ln>
            </p:spPr>
          </p:cxnSp>
          <p:cxnSp>
            <p:nvCxnSpPr>
              <p:cNvPr id="1106" name="Google Shape;1106;p19"/>
              <p:cNvCxnSpPr>
                <a:stCxn id="1102" idx="5"/>
                <a:endCxn id="1103" idx="1"/>
              </p:cNvCxnSpPr>
              <p:nvPr/>
            </p:nvCxnSpPr>
            <p:spPr>
              <a:xfrm>
                <a:off x="199829" y="960741"/>
                <a:ext cx="204000" cy="3795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19"/>
              <p:cNvCxnSpPr>
                <a:stCxn id="1102" idx="0"/>
                <a:endCxn id="1100" idx="4"/>
              </p:cNvCxnSpPr>
              <p:nvPr/>
            </p:nvCxnSpPr>
            <p:spPr>
              <a:xfrm rot="10800000">
                <a:off x="140376" y="-513663"/>
                <a:ext cx="28800" cy="1400400"/>
              </a:xfrm>
              <a:prstGeom prst="straightConnector1">
                <a:avLst/>
              </a:prstGeom>
              <a:noFill/>
              <a:ln w="9525" cap="flat" cmpd="sng">
                <a:solidFill>
                  <a:schemeClr val="dk2"/>
                </a:solidFill>
                <a:prstDash val="solid"/>
                <a:round/>
                <a:headEnd type="none" w="med" len="med"/>
                <a:tailEnd type="none" w="med" len="med"/>
              </a:ln>
            </p:spPr>
          </p:cxnSp>
          <p:cxnSp>
            <p:nvCxnSpPr>
              <p:cNvPr id="1108" name="Google Shape;1108;p19"/>
              <p:cNvCxnSpPr>
                <a:stCxn id="1102" idx="7"/>
                <a:endCxn id="1098" idx="3"/>
              </p:cNvCxnSpPr>
              <p:nvPr/>
            </p:nvCxnSpPr>
            <p:spPr>
              <a:xfrm rot="10800000" flipH="1">
                <a:off x="199829" y="443734"/>
                <a:ext cx="147900" cy="455700"/>
              </a:xfrm>
              <a:prstGeom prst="straightConnector1">
                <a:avLst/>
              </a:prstGeom>
              <a:noFill/>
              <a:ln w="9525" cap="flat" cmpd="sng">
                <a:solidFill>
                  <a:schemeClr val="dk2"/>
                </a:solidFill>
                <a:prstDash val="solid"/>
                <a:round/>
                <a:headEnd type="none" w="med" len="med"/>
                <a:tailEnd type="none" w="med" len="med"/>
              </a:ln>
            </p:spPr>
          </p:cxnSp>
          <p:cxnSp>
            <p:nvCxnSpPr>
              <p:cNvPr id="1109" name="Google Shape;1109;p19"/>
              <p:cNvCxnSpPr>
                <a:stCxn id="1100" idx="5"/>
                <a:endCxn id="1098" idx="0"/>
              </p:cNvCxnSpPr>
              <p:nvPr/>
            </p:nvCxnSpPr>
            <p:spPr>
              <a:xfrm>
                <a:off x="196080" y="-536782"/>
                <a:ext cx="182400" cy="906600"/>
              </a:xfrm>
              <a:prstGeom prst="straightConnector1">
                <a:avLst/>
              </a:prstGeom>
              <a:noFill/>
              <a:ln w="9525" cap="flat" cmpd="sng">
                <a:solidFill>
                  <a:schemeClr val="dk2"/>
                </a:solidFill>
                <a:prstDash val="solid"/>
                <a:round/>
                <a:headEnd type="none" w="med" len="med"/>
                <a:tailEnd type="none" w="med" len="med"/>
              </a:ln>
            </p:spPr>
          </p:cxnSp>
          <p:cxnSp>
            <p:nvCxnSpPr>
              <p:cNvPr id="1110" name="Google Shape;1110;p19"/>
              <p:cNvCxnSpPr>
                <a:stCxn id="1100" idx="6"/>
                <a:endCxn id="1099" idx="2"/>
              </p:cNvCxnSpPr>
              <p:nvPr/>
            </p:nvCxnSpPr>
            <p:spPr>
              <a:xfrm>
                <a:off x="219146" y="-592467"/>
                <a:ext cx="2226300" cy="529200"/>
              </a:xfrm>
              <a:prstGeom prst="straightConnector1">
                <a:avLst/>
              </a:prstGeom>
              <a:noFill/>
              <a:ln w="9525" cap="flat" cmpd="sng">
                <a:solidFill>
                  <a:schemeClr val="dk2"/>
                </a:solidFill>
                <a:prstDash val="solid"/>
                <a:round/>
                <a:headEnd type="none" w="med" len="med"/>
                <a:tailEnd type="none" w="med" len="med"/>
              </a:ln>
            </p:spPr>
          </p:cxnSp>
          <p:cxnSp>
            <p:nvCxnSpPr>
              <p:cNvPr id="1111" name="Google Shape;1111;p19"/>
              <p:cNvCxnSpPr>
                <a:stCxn id="1112" idx="1"/>
                <a:endCxn id="1100" idx="5"/>
              </p:cNvCxnSpPr>
              <p:nvPr/>
            </p:nvCxnSpPr>
            <p:spPr>
              <a:xfrm rot="10800000">
                <a:off x="195958" y="-536780"/>
                <a:ext cx="600600" cy="723900"/>
              </a:xfrm>
              <a:prstGeom prst="straightConnector1">
                <a:avLst/>
              </a:prstGeom>
              <a:noFill/>
              <a:ln w="9525" cap="flat" cmpd="sng">
                <a:solidFill>
                  <a:schemeClr val="dk2"/>
                </a:solidFill>
                <a:prstDash val="solid"/>
                <a:round/>
                <a:headEnd type="none" w="med" len="med"/>
                <a:tailEnd type="none" w="med" len="med"/>
              </a:ln>
            </p:spPr>
          </p:cxnSp>
          <p:cxnSp>
            <p:nvCxnSpPr>
              <p:cNvPr id="1113" name="Google Shape;1113;p19"/>
              <p:cNvCxnSpPr>
                <a:stCxn id="1103" idx="0"/>
                <a:endCxn id="1098" idx="4"/>
              </p:cNvCxnSpPr>
              <p:nvPr/>
            </p:nvCxnSpPr>
            <p:spPr>
              <a:xfrm rot="10800000">
                <a:off x="378449" y="456588"/>
                <a:ext cx="76200" cy="860700"/>
              </a:xfrm>
              <a:prstGeom prst="straightConnector1">
                <a:avLst/>
              </a:prstGeom>
              <a:noFill/>
              <a:ln w="9525" cap="flat" cmpd="sng">
                <a:solidFill>
                  <a:schemeClr val="dk2"/>
                </a:solidFill>
                <a:prstDash val="solid"/>
                <a:round/>
                <a:headEnd type="none" w="med" len="med"/>
                <a:tailEnd type="none" w="med" len="med"/>
              </a:ln>
            </p:spPr>
          </p:cxnSp>
          <p:cxnSp>
            <p:nvCxnSpPr>
              <p:cNvPr id="1114" name="Google Shape;1114;p19"/>
              <p:cNvCxnSpPr>
                <a:stCxn id="1103" idx="0"/>
                <a:endCxn id="1112" idx="3"/>
              </p:cNvCxnSpPr>
              <p:nvPr/>
            </p:nvCxnSpPr>
            <p:spPr>
              <a:xfrm rot="10800000" flipH="1">
                <a:off x="454649" y="268188"/>
                <a:ext cx="342000" cy="1049100"/>
              </a:xfrm>
              <a:prstGeom prst="straightConnector1">
                <a:avLst/>
              </a:prstGeom>
              <a:noFill/>
              <a:ln w="9525" cap="flat" cmpd="sng">
                <a:solidFill>
                  <a:schemeClr val="dk2"/>
                </a:solidFill>
                <a:prstDash val="solid"/>
                <a:round/>
                <a:headEnd type="none" w="med" len="med"/>
                <a:tailEnd type="none" w="med" len="med"/>
              </a:ln>
            </p:spPr>
          </p:cxnSp>
          <p:sp>
            <p:nvSpPr>
              <p:cNvPr id="1115" name="Google Shape;1115;p19"/>
              <p:cNvSpPr/>
              <p:nvPr/>
            </p:nvSpPr>
            <p:spPr>
              <a:xfrm>
                <a:off x="987225" y="-92131"/>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16" name="Google Shape;1116;p19"/>
              <p:cNvCxnSpPr>
                <a:stCxn id="1100" idx="5"/>
                <a:endCxn id="1115" idx="1"/>
              </p:cNvCxnSpPr>
              <p:nvPr/>
            </p:nvCxnSpPr>
            <p:spPr>
              <a:xfrm>
                <a:off x="196080" y="-536782"/>
                <a:ext cx="814200" cy="467700"/>
              </a:xfrm>
              <a:prstGeom prst="straightConnector1">
                <a:avLst/>
              </a:prstGeom>
              <a:noFill/>
              <a:ln w="9525" cap="flat" cmpd="sng">
                <a:solidFill>
                  <a:schemeClr val="dk2"/>
                </a:solidFill>
                <a:prstDash val="solid"/>
                <a:round/>
                <a:headEnd type="none" w="med" len="med"/>
                <a:tailEnd type="none" w="med" len="med"/>
              </a:ln>
            </p:spPr>
          </p:cxnSp>
          <p:cxnSp>
            <p:nvCxnSpPr>
              <p:cNvPr id="1117" name="Google Shape;1117;p19"/>
              <p:cNvCxnSpPr>
                <a:stCxn id="1112" idx="7"/>
                <a:endCxn id="1115" idx="3"/>
              </p:cNvCxnSpPr>
              <p:nvPr/>
            </p:nvCxnSpPr>
            <p:spPr>
              <a:xfrm rot="10800000" flipH="1">
                <a:off x="877592" y="42220"/>
                <a:ext cx="132600" cy="144900"/>
              </a:xfrm>
              <a:prstGeom prst="straightConnector1">
                <a:avLst/>
              </a:prstGeom>
              <a:noFill/>
              <a:ln w="9525" cap="flat" cmpd="sng">
                <a:solidFill>
                  <a:schemeClr val="dk2"/>
                </a:solidFill>
                <a:prstDash val="solid"/>
                <a:round/>
                <a:headEnd type="none" w="med" len="med"/>
                <a:tailEnd type="none" w="med" len="med"/>
              </a:ln>
            </p:spPr>
          </p:cxnSp>
          <p:cxnSp>
            <p:nvCxnSpPr>
              <p:cNvPr id="1118" name="Google Shape;1118;p19"/>
              <p:cNvCxnSpPr>
                <a:stCxn id="1115" idx="6"/>
                <a:endCxn id="1099" idx="2"/>
              </p:cNvCxnSpPr>
              <p:nvPr/>
            </p:nvCxnSpPr>
            <p:spPr>
              <a:xfrm rot="10800000" flipH="1">
                <a:off x="1144725" y="-63481"/>
                <a:ext cx="1300800" cy="50100"/>
              </a:xfrm>
              <a:prstGeom prst="straightConnector1">
                <a:avLst/>
              </a:prstGeom>
              <a:noFill/>
              <a:ln w="9525" cap="flat" cmpd="sng">
                <a:solidFill>
                  <a:schemeClr val="dk2"/>
                </a:solidFill>
                <a:prstDash val="solid"/>
                <a:round/>
                <a:headEnd type="none" w="med" len="med"/>
                <a:tailEnd type="none" w="med" len="med"/>
              </a:ln>
            </p:spPr>
          </p:cxnSp>
          <p:sp>
            <p:nvSpPr>
              <p:cNvPr id="1119" name="Google Shape;1119;p19"/>
              <p:cNvSpPr/>
              <p:nvPr/>
            </p:nvSpPr>
            <p:spPr>
              <a:xfrm>
                <a:off x="-460575" y="540519"/>
                <a:ext cx="157500" cy="157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20" name="Google Shape;1120;p19"/>
              <p:cNvCxnSpPr>
                <a:stCxn id="1119" idx="0"/>
                <a:endCxn id="1100" idx="3"/>
              </p:cNvCxnSpPr>
              <p:nvPr/>
            </p:nvCxnSpPr>
            <p:spPr>
              <a:xfrm rot="10800000" flipH="1">
                <a:off x="-381825" y="-536781"/>
                <a:ext cx="466500" cy="1077300"/>
              </a:xfrm>
              <a:prstGeom prst="straightConnector1">
                <a:avLst/>
              </a:prstGeom>
              <a:noFill/>
              <a:ln w="9525" cap="flat" cmpd="sng">
                <a:solidFill>
                  <a:schemeClr val="dk2"/>
                </a:solidFill>
                <a:prstDash val="solid"/>
                <a:round/>
                <a:headEnd type="none" w="med" len="med"/>
                <a:tailEnd type="none" w="med" len="med"/>
              </a:ln>
            </p:spPr>
          </p:cxnSp>
          <p:cxnSp>
            <p:nvCxnSpPr>
              <p:cNvPr id="1121" name="Google Shape;1121;p19"/>
              <p:cNvCxnSpPr>
                <a:stCxn id="1119" idx="6"/>
                <a:endCxn id="1098" idx="3"/>
              </p:cNvCxnSpPr>
              <p:nvPr/>
            </p:nvCxnSpPr>
            <p:spPr>
              <a:xfrm rot="10800000" flipH="1">
                <a:off x="-303075" y="443769"/>
                <a:ext cx="651000" cy="175500"/>
              </a:xfrm>
              <a:prstGeom prst="straightConnector1">
                <a:avLst/>
              </a:prstGeom>
              <a:noFill/>
              <a:ln w="9525" cap="flat" cmpd="sng">
                <a:solidFill>
                  <a:schemeClr val="dk2"/>
                </a:solidFill>
                <a:prstDash val="solid"/>
                <a:round/>
                <a:headEnd type="none" w="med" len="med"/>
                <a:tailEnd type="none" w="med" len="med"/>
              </a:ln>
            </p:spPr>
          </p:cxnSp>
          <p:cxnSp>
            <p:nvCxnSpPr>
              <p:cNvPr id="1122" name="Google Shape;1122;p19"/>
              <p:cNvCxnSpPr>
                <a:stCxn id="1119" idx="5"/>
                <a:endCxn id="1102" idx="1"/>
              </p:cNvCxnSpPr>
              <p:nvPr/>
            </p:nvCxnSpPr>
            <p:spPr>
              <a:xfrm>
                <a:off x="-326140" y="674953"/>
                <a:ext cx="464700" cy="224400"/>
              </a:xfrm>
              <a:prstGeom prst="straightConnector1">
                <a:avLst/>
              </a:prstGeom>
              <a:noFill/>
              <a:ln w="9525" cap="flat" cmpd="sng">
                <a:solidFill>
                  <a:schemeClr val="dk2"/>
                </a:solidFill>
                <a:prstDash val="solid"/>
                <a:round/>
                <a:headEnd type="none" w="med" len="med"/>
                <a:tailEnd type="none" w="med" len="med"/>
              </a:ln>
            </p:spPr>
          </p:cxnSp>
          <p:cxnSp>
            <p:nvCxnSpPr>
              <p:cNvPr id="1123" name="Google Shape;1123;p19"/>
              <p:cNvCxnSpPr>
                <a:stCxn id="1119" idx="5"/>
                <a:endCxn id="1101" idx="1"/>
              </p:cNvCxnSpPr>
              <p:nvPr/>
            </p:nvCxnSpPr>
            <p:spPr>
              <a:xfrm>
                <a:off x="-326140" y="674953"/>
                <a:ext cx="439500" cy="1841100"/>
              </a:xfrm>
              <a:prstGeom prst="straightConnector1">
                <a:avLst/>
              </a:prstGeom>
              <a:noFill/>
              <a:ln w="9525" cap="flat" cmpd="sng">
                <a:solidFill>
                  <a:schemeClr val="dk2"/>
                </a:solidFill>
                <a:prstDash val="solid"/>
                <a:round/>
                <a:headEnd type="none" w="med" len="med"/>
                <a:tailEnd type="none" w="med" len="med"/>
              </a:ln>
            </p:spPr>
          </p:cxnSp>
          <p:sp>
            <p:nvSpPr>
              <p:cNvPr id="1112" name="Google Shape;1112;p19"/>
              <p:cNvSpPr/>
              <p:nvPr/>
            </p:nvSpPr>
            <p:spPr>
              <a:xfrm>
                <a:off x="779775" y="170338"/>
                <a:ext cx="114600" cy="114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098" name="Google Shape;1098;p19"/>
              <p:cNvSpPr/>
              <p:nvPr/>
            </p:nvSpPr>
            <p:spPr>
              <a:xfrm>
                <a:off x="335101" y="369758"/>
                <a:ext cx="86700" cy="867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1124" name="Google Shape;1124;p19"/>
            <p:cNvGrpSpPr/>
            <p:nvPr/>
          </p:nvGrpSpPr>
          <p:grpSpPr>
            <a:xfrm rot="339523">
              <a:off x="-863991" y="4569268"/>
              <a:ext cx="4061023" cy="2512132"/>
              <a:chOff x="720013" y="4616655"/>
              <a:chExt cx="4061133" cy="2512200"/>
            </a:xfrm>
          </p:grpSpPr>
          <p:sp>
            <p:nvSpPr>
              <p:cNvPr id="1125" name="Google Shape;1125;p19"/>
              <p:cNvSpPr/>
              <p:nvPr/>
            </p:nvSpPr>
            <p:spPr>
              <a:xfrm rot="-9417549">
                <a:off x="4549660" y="4701311"/>
                <a:ext cx="128773" cy="128773"/>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26" name="Google Shape;1126;p19"/>
              <p:cNvSpPr/>
              <p:nvPr/>
            </p:nvSpPr>
            <p:spPr>
              <a:xfrm rot="-9417549">
                <a:off x="1761182" y="4936441"/>
                <a:ext cx="128773" cy="128773"/>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27" name="Google Shape;1127;p19"/>
              <p:cNvSpPr/>
              <p:nvPr/>
            </p:nvSpPr>
            <p:spPr>
              <a:xfrm rot="-9421326">
                <a:off x="3012797" y="4851722"/>
                <a:ext cx="265897" cy="265897"/>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28" name="Google Shape;1128;p19"/>
              <p:cNvSpPr/>
              <p:nvPr/>
            </p:nvSpPr>
            <p:spPr>
              <a:xfrm rot="-9414352">
                <a:off x="2945862" y="6000076"/>
                <a:ext cx="86426" cy="86426"/>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29" name="Google Shape;1129;p19"/>
              <p:cNvSpPr/>
              <p:nvPr/>
            </p:nvSpPr>
            <p:spPr>
              <a:xfrm rot="-9422930">
                <a:off x="3430718" y="6873877"/>
                <a:ext cx="63855" cy="63855"/>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30" name="Google Shape;1130;p19"/>
              <p:cNvSpPr/>
              <p:nvPr/>
            </p:nvSpPr>
            <p:spPr>
              <a:xfrm rot="-9414352">
                <a:off x="1807960" y="6172505"/>
                <a:ext cx="86426" cy="86426"/>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31" name="Google Shape;1131;p19"/>
              <p:cNvSpPr/>
              <p:nvPr/>
            </p:nvSpPr>
            <p:spPr>
              <a:xfrm rot="-9414352">
                <a:off x="3731053" y="4665484"/>
                <a:ext cx="86426" cy="86426"/>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32" name="Google Shape;1132;p19"/>
              <p:cNvSpPr/>
              <p:nvPr/>
            </p:nvSpPr>
            <p:spPr>
              <a:xfrm rot="-9421558">
                <a:off x="740331" y="4726434"/>
                <a:ext cx="130664" cy="130664"/>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33" name="Google Shape;1133;p19"/>
              <p:cNvCxnSpPr>
                <a:stCxn id="1129" idx="5"/>
                <a:endCxn id="1128" idx="1"/>
              </p:cNvCxnSpPr>
              <p:nvPr/>
            </p:nvCxnSpPr>
            <p:spPr>
              <a:xfrm rot="10460456">
                <a:off x="3045371" y="6063279"/>
                <a:ext cx="365079" cy="832966"/>
              </a:xfrm>
              <a:prstGeom prst="straightConnector1">
                <a:avLst/>
              </a:prstGeom>
              <a:noFill/>
              <a:ln w="9525" cap="flat" cmpd="sng">
                <a:solidFill>
                  <a:schemeClr val="dk2"/>
                </a:solidFill>
                <a:prstDash val="solid"/>
                <a:round/>
                <a:headEnd type="none" w="med" len="med"/>
                <a:tailEnd type="none" w="med" len="med"/>
              </a:ln>
            </p:spPr>
          </p:cxnSp>
          <p:cxnSp>
            <p:nvCxnSpPr>
              <p:cNvPr id="1134" name="Google Shape;1134;p19"/>
              <p:cNvCxnSpPr>
                <a:stCxn id="1130" idx="4"/>
                <a:endCxn id="1128" idx="7"/>
              </p:cNvCxnSpPr>
              <p:nvPr/>
            </p:nvCxnSpPr>
            <p:spPr>
              <a:xfrm rot="10460763" flipH="1">
                <a:off x="1865029" y="6113097"/>
                <a:ext cx="1087089" cy="9343"/>
              </a:xfrm>
              <a:prstGeom prst="straightConnector1">
                <a:avLst/>
              </a:prstGeom>
              <a:noFill/>
              <a:ln w="9525" cap="flat" cmpd="sng">
                <a:solidFill>
                  <a:schemeClr val="dk2"/>
                </a:solidFill>
                <a:prstDash val="solid"/>
                <a:round/>
                <a:headEnd type="none" w="med" len="med"/>
                <a:tailEnd type="none" w="med" len="med"/>
              </a:ln>
            </p:spPr>
          </p:cxnSp>
          <p:cxnSp>
            <p:nvCxnSpPr>
              <p:cNvPr id="1135" name="Google Shape;1135;p19"/>
              <p:cNvCxnSpPr>
                <a:stCxn id="1125" idx="0"/>
                <a:endCxn id="1129" idx="3"/>
              </p:cNvCxnSpPr>
              <p:nvPr/>
            </p:nvCxnSpPr>
            <p:spPr>
              <a:xfrm rot="-339783" flipH="1">
                <a:off x="3393035" y="4884097"/>
                <a:ext cx="1295121" cy="1950801"/>
              </a:xfrm>
              <a:prstGeom prst="straightConnector1">
                <a:avLst/>
              </a:prstGeom>
              <a:noFill/>
              <a:ln w="9525" cap="flat" cmpd="sng">
                <a:solidFill>
                  <a:schemeClr val="dk2"/>
                </a:solidFill>
                <a:prstDash val="solid"/>
                <a:round/>
                <a:headEnd type="none" w="med" len="med"/>
                <a:tailEnd type="none" w="med" len="med"/>
              </a:ln>
            </p:spPr>
          </p:cxnSp>
          <p:cxnSp>
            <p:nvCxnSpPr>
              <p:cNvPr id="1136" name="Google Shape;1136;p19"/>
              <p:cNvCxnSpPr>
                <a:stCxn id="1129" idx="7"/>
                <a:endCxn id="1130" idx="2"/>
              </p:cNvCxnSpPr>
              <p:nvPr/>
            </p:nvCxnSpPr>
            <p:spPr>
              <a:xfrm rot="10460582">
                <a:off x="1928581" y="6158259"/>
                <a:ext cx="1466944" cy="833861"/>
              </a:xfrm>
              <a:prstGeom prst="straightConnector1">
                <a:avLst/>
              </a:prstGeom>
              <a:noFill/>
              <a:ln w="9525" cap="flat" cmpd="sng">
                <a:solidFill>
                  <a:schemeClr val="dk2"/>
                </a:solidFill>
                <a:prstDash val="solid"/>
                <a:round/>
                <a:headEnd type="none" w="med" len="med"/>
                <a:tailEnd type="none" w="med" len="med"/>
              </a:ln>
            </p:spPr>
          </p:cxnSp>
          <p:cxnSp>
            <p:nvCxnSpPr>
              <p:cNvPr id="1137" name="Google Shape;1137;p19"/>
              <p:cNvCxnSpPr>
                <a:stCxn id="1130" idx="6"/>
                <a:endCxn id="1126" idx="1"/>
              </p:cNvCxnSpPr>
              <p:nvPr/>
            </p:nvCxnSpPr>
            <p:spPr>
              <a:xfrm rot="10462833" flipH="1">
                <a:off x="1755412" y="5065169"/>
                <a:ext cx="150121" cy="1129000"/>
              </a:xfrm>
              <a:prstGeom prst="straightConnector1">
                <a:avLst/>
              </a:prstGeom>
              <a:noFill/>
              <a:ln w="9525" cap="flat" cmpd="sng">
                <a:solidFill>
                  <a:schemeClr val="dk2"/>
                </a:solidFill>
                <a:prstDash val="solid"/>
                <a:round/>
                <a:headEnd type="none" w="med" len="med"/>
                <a:tailEnd type="none" w="med" len="med"/>
              </a:ln>
            </p:spPr>
          </p:cxnSp>
          <p:cxnSp>
            <p:nvCxnSpPr>
              <p:cNvPr id="1138" name="Google Shape;1138;p19"/>
              <p:cNvCxnSpPr>
                <a:stCxn id="1128" idx="5"/>
                <a:endCxn id="1126" idx="1"/>
              </p:cNvCxnSpPr>
              <p:nvPr/>
            </p:nvCxnSpPr>
            <p:spPr>
              <a:xfrm rot="10460368">
                <a:off x="1898704" y="5007487"/>
                <a:ext cx="1024998" cy="1048819"/>
              </a:xfrm>
              <a:prstGeom prst="straightConnector1">
                <a:avLst/>
              </a:prstGeom>
              <a:noFill/>
              <a:ln w="9525" cap="flat" cmpd="sng">
                <a:solidFill>
                  <a:schemeClr val="dk2"/>
                </a:solidFill>
                <a:prstDash val="solid"/>
                <a:round/>
                <a:headEnd type="none" w="med" len="med"/>
                <a:tailEnd type="none" w="med" len="med"/>
              </a:ln>
            </p:spPr>
          </p:cxnSp>
          <p:cxnSp>
            <p:nvCxnSpPr>
              <p:cNvPr id="1139" name="Google Shape;1139;p19"/>
              <p:cNvCxnSpPr>
                <a:stCxn id="1125" idx="6"/>
                <a:endCxn id="1131" idx="3"/>
              </p:cNvCxnSpPr>
              <p:nvPr/>
            </p:nvCxnSpPr>
            <p:spPr>
              <a:xfrm rot="10459888">
                <a:off x="3818606" y="4656348"/>
                <a:ext cx="731979" cy="120599"/>
              </a:xfrm>
              <a:prstGeom prst="straightConnector1">
                <a:avLst/>
              </a:prstGeom>
              <a:noFill/>
              <a:ln w="9525" cap="flat" cmpd="sng">
                <a:solidFill>
                  <a:schemeClr val="dk2"/>
                </a:solidFill>
                <a:prstDash val="solid"/>
                <a:round/>
                <a:headEnd type="none" w="med" len="med"/>
                <a:tailEnd type="none" w="med" len="med"/>
              </a:ln>
            </p:spPr>
          </p:cxnSp>
          <p:cxnSp>
            <p:nvCxnSpPr>
              <p:cNvPr id="1140" name="Google Shape;1140;p19"/>
              <p:cNvCxnSpPr>
                <a:stCxn id="1125" idx="7"/>
                <a:endCxn id="1128" idx="3"/>
              </p:cNvCxnSpPr>
              <p:nvPr/>
            </p:nvCxnSpPr>
            <p:spPr>
              <a:xfrm rot="-339569" flipH="1">
                <a:off x="2971884" y="4867995"/>
                <a:ext cx="1639693" cy="1081059"/>
              </a:xfrm>
              <a:prstGeom prst="straightConnector1">
                <a:avLst/>
              </a:prstGeom>
              <a:noFill/>
              <a:ln w="9525" cap="flat" cmpd="sng">
                <a:solidFill>
                  <a:schemeClr val="dk2"/>
                </a:solidFill>
                <a:prstDash val="solid"/>
                <a:round/>
                <a:headEnd type="none" w="med" len="med"/>
                <a:tailEnd type="none" w="med" len="med"/>
              </a:ln>
            </p:spPr>
          </p:cxnSp>
          <p:cxnSp>
            <p:nvCxnSpPr>
              <p:cNvPr id="1141" name="Google Shape;1141;p19"/>
              <p:cNvCxnSpPr>
                <a:stCxn id="1131" idx="7"/>
                <a:endCxn id="1127" idx="3"/>
              </p:cNvCxnSpPr>
              <p:nvPr/>
            </p:nvCxnSpPr>
            <p:spPr>
              <a:xfrm rot="-339665" flipH="1">
                <a:off x="3259894" y="4748265"/>
                <a:ext cx="483558" cy="163106"/>
              </a:xfrm>
              <a:prstGeom prst="straightConnector1">
                <a:avLst/>
              </a:prstGeom>
              <a:noFill/>
              <a:ln w="9525" cap="flat" cmpd="sng">
                <a:solidFill>
                  <a:schemeClr val="dk2"/>
                </a:solidFill>
                <a:prstDash val="solid"/>
                <a:round/>
                <a:headEnd type="none" w="med" len="med"/>
                <a:tailEnd type="none" w="med" len="med"/>
              </a:ln>
            </p:spPr>
          </p:cxnSp>
          <p:cxnSp>
            <p:nvCxnSpPr>
              <p:cNvPr id="1142" name="Google Shape;1142;p19"/>
              <p:cNvCxnSpPr>
                <a:stCxn id="1127" idx="0"/>
                <a:endCxn id="1128" idx="5"/>
              </p:cNvCxnSpPr>
              <p:nvPr/>
            </p:nvCxnSpPr>
            <p:spPr>
              <a:xfrm rot="-341652" flipH="1">
                <a:off x="2929081" y="5115280"/>
                <a:ext cx="208629" cy="879981"/>
              </a:xfrm>
              <a:prstGeom prst="straightConnector1">
                <a:avLst/>
              </a:prstGeom>
              <a:noFill/>
              <a:ln w="9525" cap="flat" cmpd="sng">
                <a:solidFill>
                  <a:schemeClr val="dk2"/>
                </a:solidFill>
                <a:prstDash val="solid"/>
                <a:round/>
                <a:headEnd type="none" w="med" len="med"/>
                <a:tailEnd type="none" w="med" len="med"/>
              </a:ln>
            </p:spPr>
          </p:cxnSp>
          <p:cxnSp>
            <p:nvCxnSpPr>
              <p:cNvPr id="1143" name="Google Shape;1143;p19"/>
              <p:cNvCxnSpPr>
                <a:stCxn id="1132" idx="2"/>
                <a:endCxn id="1126" idx="6"/>
              </p:cNvCxnSpPr>
              <p:nvPr/>
            </p:nvCxnSpPr>
            <p:spPr>
              <a:xfrm rot="-339023">
                <a:off x="875824" y="4773316"/>
                <a:ext cx="880579" cy="246302"/>
              </a:xfrm>
              <a:prstGeom prst="straightConnector1">
                <a:avLst/>
              </a:prstGeom>
              <a:noFill/>
              <a:ln w="9525" cap="flat" cmpd="sng">
                <a:solidFill>
                  <a:schemeClr val="dk2"/>
                </a:solidFill>
                <a:prstDash val="solid"/>
                <a:round/>
                <a:headEnd type="none" w="med" len="med"/>
                <a:tailEnd type="none" w="med" len="med"/>
              </a:ln>
            </p:spPr>
          </p:cxnSp>
          <p:cxnSp>
            <p:nvCxnSpPr>
              <p:cNvPr id="1144" name="Google Shape;1144;p19"/>
              <p:cNvCxnSpPr>
                <a:stCxn id="1129" idx="6"/>
                <a:endCxn id="1132" idx="1"/>
              </p:cNvCxnSpPr>
              <p:nvPr/>
            </p:nvCxnSpPr>
            <p:spPr>
              <a:xfrm rot="10460586">
                <a:off x="937128" y="4728830"/>
                <a:ext cx="2389135" cy="2287850"/>
              </a:xfrm>
              <a:prstGeom prst="straightConnector1">
                <a:avLst/>
              </a:prstGeom>
              <a:noFill/>
              <a:ln w="9525" cap="flat" cmpd="sng">
                <a:solidFill>
                  <a:schemeClr val="dk2"/>
                </a:solidFill>
                <a:prstDash val="solid"/>
                <a:round/>
                <a:headEnd type="none" w="med" len="med"/>
                <a:tailEnd type="none" w="med" len="med"/>
              </a:ln>
            </p:spPr>
          </p:cxnSp>
          <p:sp>
            <p:nvSpPr>
              <p:cNvPr id="1145" name="Google Shape;1145;p19"/>
              <p:cNvSpPr/>
              <p:nvPr/>
            </p:nvSpPr>
            <p:spPr>
              <a:xfrm rot="-9414352">
                <a:off x="1960639" y="4664187"/>
                <a:ext cx="86426" cy="86426"/>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46" name="Google Shape;1146;p19"/>
              <p:cNvCxnSpPr>
                <a:stCxn id="1132" idx="3"/>
                <a:endCxn id="1145" idx="7"/>
              </p:cNvCxnSpPr>
              <p:nvPr/>
            </p:nvCxnSpPr>
            <p:spPr>
              <a:xfrm rot="-339173">
                <a:off x="866711" y="4713112"/>
                <a:ext cx="1096432" cy="64807"/>
              </a:xfrm>
              <a:prstGeom prst="straightConnector1">
                <a:avLst/>
              </a:prstGeom>
              <a:noFill/>
              <a:ln w="9525" cap="flat" cmpd="sng">
                <a:solidFill>
                  <a:schemeClr val="dk2"/>
                </a:solidFill>
                <a:prstDash val="solid"/>
                <a:round/>
                <a:headEnd type="none" w="med" len="med"/>
                <a:tailEnd type="none" w="med" len="med"/>
              </a:ln>
            </p:spPr>
          </p:cxnSp>
          <p:cxnSp>
            <p:nvCxnSpPr>
              <p:cNvPr id="1147" name="Google Shape;1147;p19"/>
              <p:cNvCxnSpPr>
                <a:stCxn id="1145" idx="2"/>
                <a:endCxn id="1127" idx="6"/>
              </p:cNvCxnSpPr>
              <p:nvPr/>
            </p:nvCxnSpPr>
            <p:spPr>
              <a:xfrm rot="-339840">
                <a:off x="2056272" y="4676508"/>
                <a:ext cx="954460" cy="303884"/>
              </a:xfrm>
              <a:prstGeom prst="straightConnector1">
                <a:avLst/>
              </a:prstGeom>
              <a:noFill/>
              <a:ln w="9525" cap="flat" cmpd="sng">
                <a:solidFill>
                  <a:schemeClr val="dk2"/>
                </a:solidFill>
                <a:prstDash val="solid"/>
                <a:round/>
                <a:headEnd type="none" w="med" len="med"/>
                <a:tailEnd type="none" w="med" len="med"/>
              </a:ln>
            </p:spPr>
          </p:cxnSp>
          <p:cxnSp>
            <p:nvCxnSpPr>
              <p:cNvPr id="1148" name="Google Shape;1148;p19"/>
              <p:cNvCxnSpPr>
                <a:stCxn id="1145" idx="0"/>
                <a:endCxn id="1126" idx="4"/>
              </p:cNvCxnSpPr>
              <p:nvPr/>
            </p:nvCxnSpPr>
            <p:spPr>
              <a:xfrm rot="-340645" flipH="1">
                <a:off x="1841473" y="4754364"/>
                <a:ext cx="154659" cy="179972"/>
              </a:xfrm>
              <a:prstGeom prst="straightConnector1">
                <a:avLst/>
              </a:prstGeom>
              <a:noFill/>
              <a:ln w="9525" cap="flat" cmpd="sng">
                <a:solidFill>
                  <a:schemeClr val="dk2"/>
                </a:solidFill>
                <a:prstDash val="solid"/>
                <a:round/>
                <a:headEnd type="none" w="med" len="med"/>
                <a:tailEnd type="none" w="med" len="med"/>
              </a:ln>
            </p:spPr>
          </p:cxnSp>
          <p:cxnSp>
            <p:nvCxnSpPr>
              <p:cNvPr id="1149" name="Google Shape;1149;p19"/>
              <p:cNvCxnSpPr>
                <a:stCxn id="1145" idx="1"/>
                <a:endCxn id="1128" idx="5"/>
              </p:cNvCxnSpPr>
              <p:nvPr/>
            </p:nvCxnSpPr>
            <p:spPr>
              <a:xfrm rot="-339524">
                <a:off x="2084265" y="4703564"/>
                <a:ext cx="824518" cy="1343659"/>
              </a:xfrm>
              <a:prstGeom prst="straightConnector1">
                <a:avLst/>
              </a:prstGeom>
              <a:noFill/>
              <a:ln w="9525" cap="flat" cmpd="sng">
                <a:solidFill>
                  <a:schemeClr val="dk2"/>
                </a:solidFill>
                <a:prstDash val="solid"/>
                <a:round/>
                <a:headEnd type="none" w="med" len="med"/>
                <a:tailEnd type="none" w="med" len="med"/>
              </a:ln>
            </p:spPr>
          </p:cxnSp>
          <p:sp>
            <p:nvSpPr>
              <p:cNvPr id="1150" name="Google Shape;1150;p19"/>
              <p:cNvSpPr/>
              <p:nvPr/>
            </p:nvSpPr>
            <p:spPr>
              <a:xfrm rot="-9417549">
                <a:off x="3933996" y="4880048"/>
                <a:ext cx="128773" cy="128773"/>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151" name="Google Shape;1151;p19"/>
              <p:cNvCxnSpPr>
                <a:stCxn id="1127" idx="2"/>
                <a:endCxn id="1150" idx="7"/>
              </p:cNvCxnSpPr>
              <p:nvPr/>
            </p:nvCxnSpPr>
            <p:spPr>
              <a:xfrm rot="10459800" flipH="1">
                <a:off x="3266347" y="5001756"/>
                <a:ext cx="674098" cy="1530"/>
              </a:xfrm>
              <a:prstGeom prst="straightConnector1">
                <a:avLst/>
              </a:prstGeom>
              <a:noFill/>
              <a:ln w="9525" cap="flat" cmpd="sng">
                <a:solidFill>
                  <a:schemeClr val="dk2"/>
                </a:solidFill>
                <a:prstDash val="solid"/>
                <a:round/>
                <a:headEnd type="none" w="med" len="med"/>
                <a:tailEnd type="none" w="med" len="med"/>
              </a:ln>
            </p:spPr>
          </p:cxnSp>
          <p:cxnSp>
            <p:nvCxnSpPr>
              <p:cNvPr id="1152" name="Google Shape;1152;p19"/>
              <p:cNvCxnSpPr>
                <a:stCxn id="1150" idx="3"/>
                <a:endCxn id="1125" idx="7"/>
              </p:cNvCxnSpPr>
              <p:nvPr/>
            </p:nvCxnSpPr>
            <p:spPr>
              <a:xfrm rot="10459592" flipH="1">
                <a:off x="4052806" y="4814404"/>
                <a:ext cx="506782" cy="81105"/>
              </a:xfrm>
              <a:prstGeom prst="straightConnector1">
                <a:avLst/>
              </a:prstGeom>
              <a:noFill/>
              <a:ln w="9525" cap="flat" cmpd="sng">
                <a:solidFill>
                  <a:schemeClr val="dk2"/>
                </a:solidFill>
                <a:prstDash val="solid"/>
                <a:round/>
                <a:headEnd type="none" w="med" len="med"/>
                <a:tailEnd type="none" w="med" len="med"/>
              </a:ln>
            </p:spPr>
          </p:cxnSp>
          <p:cxnSp>
            <p:nvCxnSpPr>
              <p:cNvPr id="1153" name="Google Shape;1153;p19"/>
              <p:cNvCxnSpPr>
                <a:stCxn id="1128" idx="4"/>
                <a:endCxn id="1150" idx="0"/>
              </p:cNvCxnSpPr>
              <p:nvPr/>
            </p:nvCxnSpPr>
            <p:spPr>
              <a:xfrm rot="10460266" flipH="1">
                <a:off x="2959037" y="5053792"/>
                <a:ext cx="1061178" cy="899594"/>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1303"/>
        <p:cNvGrpSpPr/>
        <p:nvPr/>
      </p:nvGrpSpPr>
      <p:grpSpPr>
        <a:xfrm>
          <a:off x="0" y="0"/>
          <a:ext cx="0" cy="0"/>
          <a:chOff x="0" y="0"/>
          <a:chExt cx="0" cy="0"/>
        </a:xfrm>
      </p:grpSpPr>
      <p:grpSp>
        <p:nvGrpSpPr>
          <p:cNvPr id="1304" name="Google Shape;1304;p22"/>
          <p:cNvGrpSpPr/>
          <p:nvPr/>
        </p:nvGrpSpPr>
        <p:grpSpPr>
          <a:xfrm>
            <a:off x="119476" y="1141150"/>
            <a:ext cx="7318880" cy="3862644"/>
            <a:chOff x="119476" y="1141150"/>
            <a:chExt cx="7318880" cy="3862644"/>
          </a:xfrm>
        </p:grpSpPr>
        <p:grpSp>
          <p:nvGrpSpPr>
            <p:cNvPr id="1305" name="Google Shape;1305;p22"/>
            <p:cNvGrpSpPr/>
            <p:nvPr/>
          </p:nvGrpSpPr>
          <p:grpSpPr>
            <a:xfrm rot="10800000">
              <a:off x="119476" y="1141150"/>
              <a:ext cx="298275" cy="322675"/>
              <a:chOff x="8667225" y="681525"/>
              <a:chExt cx="298275" cy="322675"/>
            </a:xfrm>
          </p:grpSpPr>
          <p:sp>
            <p:nvSpPr>
              <p:cNvPr id="1306" name="Google Shape;1306;p22"/>
              <p:cNvSpPr/>
              <p:nvPr/>
            </p:nvSpPr>
            <p:spPr>
              <a:xfrm rot="10800000">
                <a:off x="8667225" y="82162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07" name="Google Shape;1307;p22"/>
              <p:cNvSpPr/>
              <p:nvPr/>
            </p:nvSpPr>
            <p:spPr>
              <a:xfrm rot="10800000">
                <a:off x="8825400" y="681525"/>
                <a:ext cx="140100" cy="140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08" name="Google Shape;1308;p22"/>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1309" name="Google Shape;1309;p22"/>
            <p:cNvGrpSpPr/>
            <p:nvPr/>
          </p:nvGrpSpPr>
          <p:grpSpPr>
            <a:xfrm rot="-5139163">
              <a:off x="6960991" y="4509560"/>
              <a:ext cx="254304" cy="683114"/>
              <a:chOff x="140150" y="4353245"/>
              <a:chExt cx="254310" cy="683130"/>
            </a:xfrm>
          </p:grpSpPr>
          <p:sp>
            <p:nvSpPr>
              <p:cNvPr id="1310" name="Google Shape;1310;p22"/>
              <p:cNvSpPr/>
              <p:nvPr/>
            </p:nvSpPr>
            <p:spPr>
              <a:xfrm rot="10800000">
                <a:off x="140150" y="49496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11" name="Google Shape;1311;p22"/>
              <p:cNvSpPr/>
              <p:nvPr/>
            </p:nvSpPr>
            <p:spPr>
              <a:xfrm rot="10800000">
                <a:off x="146360" y="4668727"/>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12" name="Google Shape;1312;p22"/>
              <p:cNvSpPr/>
              <p:nvPr/>
            </p:nvSpPr>
            <p:spPr>
              <a:xfrm rot="10800000">
                <a:off x="343160" y="4863902"/>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13" name="Google Shape;1313;p22"/>
              <p:cNvSpPr/>
              <p:nvPr/>
            </p:nvSpPr>
            <p:spPr>
              <a:xfrm rot="10800000">
                <a:off x="141945" y="4353245"/>
                <a:ext cx="51300" cy="51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grpSp>
        <p:nvGrpSpPr>
          <p:cNvPr id="1314" name="Google Shape;1314;p22"/>
          <p:cNvGrpSpPr/>
          <p:nvPr/>
        </p:nvGrpSpPr>
        <p:grpSpPr>
          <a:xfrm>
            <a:off x="-3264108" y="1062527"/>
            <a:ext cx="12699758" cy="5125916"/>
            <a:chOff x="-3264108" y="1062527"/>
            <a:chExt cx="12699758" cy="5125916"/>
          </a:xfrm>
        </p:grpSpPr>
        <p:grpSp>
          <p:nvGrpSpPr>
            <p:cNvPr id="1315" name="Google Shape;1315;p22"/>
            <p:cNvGrpSpPr/>
            <p:nvPr/>
          </p:nvGrpSpPr>
          <p:grpSpPr>
            <a:xfrm rot="10800000">
              <a:off x="7825876" y="2716263"/>
              <a:ext cx="1609774" cy="2641456"/>
              <a:chOff x="-225924" y="-192037"/>
              <a:chExt cx="1609774" cy="2641456"/>
            </a:xfrm>
          </p:grpSpPr>
          <p:cxnSp>
            <p:nvCxnSpPr>
              <p:cNvPr id="1316" name="Google Shape;1316;p22"/>
              <p:cNvCxnSpPr>
                <a:stCxn id="1317" idx="7"/>
                <a:endCxn id="1318" idx="2"/>
              </p:cNvCxnSpPr>
              <p:nvPr/>
            </p:nvCxnSpPr>
            <p:spPr>
              <a:xfrm rot="10800000" flipH="1">
                <a:off x="332904" y="155655"/>
                <a:ext cx="893400" cy="226800"/>
              </a:xfrm>
              <a:prstGeom prst="straightConnector1">
                <a:avLst/>
              </a:prstGeom>
              <a:noFill/>
              <a:ln w="9525" cap="flat" cmpd="sng">
                <a:solidFill>
                  <a:schemeClr val="dk2"/>
                </a:solidFill>
                <a:prstDash val="solid"/>
                <a:round/>
                <a:headEnd type="none" w="med" len="med"/>
                <a:tailEnd type="none" w="med" len="med"/>
              </a:ln>
            </p:spPr>
          </p:cxnSp>
          <p:sp>
            <p:nvSpPr>
              <p:cNvPr id="1318" name="Google Shape;1318;p22"/>
              <p:cNvSpPr/>
              <p:nvPr/>
            </p:nvSpPr>
            <p:spPr>
              <a:xfrm>
                <a:off x="1226350" y="76769"/>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19" name="Google Shape;1319;p22"/>
              <p:cNvSpPr/>
              <p:nvPr/>
            </p:nvSpPr>
            <p:spPr>
              <a:xfrm>
                <a:off x="-225924" y="-192037"/>
                <a:ext cx="99900" cy="99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20" name="Google Shape;1320;p22"/>
              <p:cNvSpPr/>
              <p:nvPr/>
            </p:nvSpPr>
            <p:spPr>
              <a:xfrm>
                <a:off x="177600" y="229191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21" name="Google Shape;1321;p22"/>
              <p:cNvSpPr/>
              <p:nvPr/>
            </p:nvSpPr>
            <p:spPr>
              <a:xfrm>
                <a:off x="734301" y="222187"/>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22" name="Google Shape;1322;p22"/>
              <p:cNvSpPr/>
              <p:nvPr/>
            </p:nvSpPr>
            <p:spPr>
              <a:xfrm>
                <a:off x="49626" y="886737"/>
                <a:ext cx="86700" cy="867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23" name="Google Shape;1323;p22"/>
              <p:cNvSpPr/>
              <p:nvPr/>
            </p:nvSpPr>
            <p:spPr>
              <a:xfrm>
                <a:off x="292075" y="1058069"/>
                <a:ext cx="147900" cy="147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324" name="Google Shape;1324;p22"/>
              <p:cNvCxnSpPr>
                <a:stCxn id="1323" idx="4"/>
                <a:endCxn id="1320" idx="0"/>
              </p:cNvCxnSpPr>
              <p:nvPr/>
            </p:nvCxnSpPr>
            <p:spPr>
              <a:xfrm flipH="1">
                <a:off x="256225" y="1205969"/>
                <a:ext cx="109800" cy="1086000"/>
              </a:xfrm>
              <a:prstGeom prst="straightConnector1">
                <a:avLst/>
              </a:prstGeom>
              <a:noFill/>
              <a:ln w="9525" cap="flat" cmpd="sng">
                <a:solidFill>
                  <a:schemeClr val="dk2"/>
                </a:solidFill>
                <a:prstDash val="solid"/>
                <a:round/>
                <a:headEnd type="none" w="med" len="med"/>
                <a:tailEnd type="none" w="med" len="med"/>
              </a:ln>
            </p:spPr>
          </p:cxnSp>
          <p:cxnSp>
            <p:nvCxnSpPr>
              <p:cNvPr id="1325" name="Google Shape;1325;p22"/>
              <p:cNvCxnSpPr>
                <a:stCxn id="1322" idx="4"/>
                <a:endCxn id="1320" idx="0"/>
              </p:cNvCxnSpPr>
              <p:nvPr/>
            </p:nvCxnSpPr>
            <p:spPr>
              <a:xfrm>
                <a:off x="92976" y="973437"/>
                <a:ext cx="163500" cy="1318500"/>
              </a:xfrm>
              <a:prstGeom prst="straightConnector1">
                <a:avLst/>
              </a:prstGeom>
              <a:noFill/>
              <a:ln w="9525" cap="flat" cmpd="sng">
                <a:solidFill>
                  <a:schemeClr val="dk2"/>
                </a:solidFill>
                <a:prstDash val="solid"/>
                <a:round/>
                <a:headEnd type="none" w="med" len="med"/>
                <a:tailEnd type="none" w="med" len="med"/>
              </a:ln>
            </p:spPr>
          </p:cxnSp>
          <p:cxnSp>
            <p:nvCxnSpPr>
              <p:cNvPr id="1326" name="Google Shape;1326;p22"/>
              <p:cNvCxnSpPr>
                <a:stCxn id="1322" idx="5"/>
                <a:endCxn id="1323" idx="1"/>
              </p:cNvCxnSpPr>
              <p:nvPr/>
            </p:nvCxnSpPr>
            <p:spPr>
              <a:xfrm>
                <a:off x="123629" y="960741"/>
                <a:ext cx="190200" cy="119100"/>
              </a:xfrm>
              <a:prstGeom prst="straightConnector1">
                <a:avLst/>
              </a:prstGeom>
              <a:noFill/>
              <a:ln w="9525" cap="flat" cmpd="sng">
                <a:solidFill>
                  <a:schemeClr val="dk2"/>
                </a:solidFill>
                <a:prstDash val="solid"/>
                <a:round/>
                <a:headEnd type="none" w="med" len="med"/>
                <a:tailEnd type="none" w="med" len="med"/>
              </a:ln>
            </p:spPr>
          </p:cxnSp>
          <p:cxnSp>
            <p:nvCxnSpPr>
              <p:cNvPr id="1327" name="Google Shape;1327;p22"/>
              <p:cNvCxnSpPr>
                <a:stCxn id="1322" idx="0"/>
                <a:endCxn id="1319" idx="4"/>
              </p:cNvCxnSpPr>
              <p:nvPr/>
            </p:nvCxnSpPr>
            <p:spPr>
              <a:xfrm rot="10800000">
                <a:off x="-176124" y="-92163"/>
                <a:ext cx="269100" cy="978900"/>
              </a:xfrm>
              <a:prstGeom prst="straightConnector1">
                <a:avLst/>
              </a:prstGeom>
              <a:noFill/>
              <a:ln w="9525" cap="flat" cmpd="sng">
                <a:solidFill>
                  <a:schemeClr val="dk2"/>
                </a:solidFill>
                <a:prstDash val="solid"/>
                <a:round/>
                <a:headEnd type="none" w="med" len="med"/>
                <a:tailEnd type="none" w="med" len="med"/>
              </a:ln>
            </p:spPr>
          </p:cxnSp>
          <p:cxnSp>
            <p:nvCxnSpPr>
              <p:cNvPr id="1328" name="Google Shape;1328;p22"/>
              <p:cNvCxnSpPr>
                <a:stCxn id="1322" idx="7"/>
                <a:endCxn id="1317" idx="3"/>
              </p:cNvCxnSpPr>
              <p:nvPr/>
            </p:nvCxnSpPr>
            <p:spPr>
              <a:xfrm rot="10800000" flipH="1">
                <a:off x="123629" y="443734"/>
                <a:ext cx="147900" cy="455700"/>
              </a:xfrm>
              <a:prstGeom prst="straightConnector1">
                <a:avLst/>
              </a:prstGeom>
              <a:noFill/>
              <a:ln w="9525" cap="flat" cmpd="sng">
                <a:solidFill>
                  <a:schemeClr val="dk2"/>
                </a:solidFill>
                <a:prstDash val="solid"/>
                <a:round/>
                <a:headEnd type="none" w="med" len="med"/>
                <a:tailEnd type="none" w="med" len="med"/>
              </a:ln>
            </p:spPr>
          </p:cxnSp>
          <p:cxnSp>
            <p:nvCxnSpPr>
              <p:cNvPr id="1329" name="Google Shape;1329;p22"/>
              <p:cNvCxnSpPr>
                <a:stCxn id="1319" idx="5"/>
                <a:endCxn id="1317" idx="1"/>
              </p:cNvCxnSpPr>
              <p:nvPr/>
            </p:nvCxnSpPr>
            <p:spPr>
              <a:xfrm>
                <a:off x="-140654" y="-106767"/>
                <a:ext cx="412200" cy="489300"/>
              </a:xfrm>
              <a:prstGeom prst="straightConnector1">
                <a:avLst/>
              </a:prstGeom>
              <a:noFill/>
              <a:ln w="9525" cap="flat" cmpd="sng">
                <a:solidFill>
                  <a:schemeClr val="dk2"/>
                </a:solidFill>
                <a:prstDash val="solid"/>
                <a:round/>
                <a:headEnd type="none" w="med" len="med"/>
                <a:tailEnd type="none" w="med" len="med"/>
              </a:ln>
            </p:spPr>
          </p:cxnSp>
          <p:cxnSp>
            <p:nvCxnSpPr>
              <p:cNvPr id="1330" name="Google Shape;1330;p22"/>
              <p:cNvCxnSpPr>
                <a:stCxn id="1319" idx="6"/>
                <a:endCxn id="1318" idx="2"/>
              </p:cNvCxnSpPr>
              <p:nvPr/>
            </p:nvCxnSpPr>
            <p:spPr>
              <a:xfrm>
                <a:off x="-126024" y="-142087"/>
                <a:ext cx="1352400" cy="297600"/>
              </a:xfrm>
              <a:prstGeom prst="straightConnector1">
                <a:avLst/>
              </a:prstGeom>
              <a:noFill/>
              <a:ln w="9525" cap="flat" cmpd="sng">
                <a:solidFill>
                  <a:schemeClr val="dk2"/>
                </a:solidFill>
                <a:prstDash val="solid"/>
                <a:round/>
                <a:headEnd type="none" w="med" len="med"/>
                <a:tailEnd type="none" w="med" len="med"/>
              </a:ln>
            </p:spPr>
          </p:cxnSp>
          <p:cxnSp>
            <p:nvCxnSpPr>
              <p:cNvPr id="1331" name="Google Shape;1331;p22"/>
              <p:cNvCxnSpPr>
                <a:stCxn id="1321" idx="2"/>
                <a:endCxn id="1319" idx="5"/>
              </p:cNvCxnSpPr>
              <p:nvPr/>
            </p:nvCxnSpPr>
            <p:spPr>
              <a:xfrm rot="10800000">
                <a:off x="-140799" y="-106763"/>
                <a:ext cx="875100" cy="372300"/>
              </a:xfrm>
              <a:prstGeom prst="straightConnector1">
                <a:avLst/>
              </a:prstGeom>
              <a:noFill/>
              <a:ln w="9525" cap="flat" cmpd="sng">
                <a:solidFill>
                  <a:schemeClr val="dk2"/>
                </a:solidFill>
                <a:prstDash val="solid"/>
                <a:round/>
                <a:headEnd type="none" w="med" len="med"/>
                <a:tailEnd type="none" w="med" len="med"/>
              </a:ln>
            </p:spPr>
          </p:cxnSp>
          <p:cxnSp>
            <p:nvCxnSpPr>
              <p:cNvPr id="1332" name="Google Shape;1332;p22"/>
              <p:cNvCxnSpPr>
                <a:stCxn id="1323" idx="0"/>
                <a:endCxn id="1317" idx="4"/>
              </p:cNvCxnSpPr>
              <p:nvPr/>
            </p:nvCxnSpPr>
            <p:spPr>
              <a:xfrm rot="10800000">
                <a:off x="302125" y="456569"/>
                <a:ext cx="63900" cy="601500"/>
              </a:xfrm>
              <a:prstGeom prst="straightConnector1">
                <a:avLst/>
              </a:prstGeom>
              <a:noFill/>
              <a:ln w="9525" cap="flat" cmpd="sng">
                <a:solidFill>
                  <a:schemeClr val="dk2"/>
                </a:solidFill>
                <a:prstDash val="solid"/>
                <a:round/>
                <a:headEnd type="none" w="med" len="med"/>
                <a:tailEnd type="none" w="med" len="med"/>
              </a:ln>
            </p:spPr>
          </p:cxnSp>
          <p:cxnSp>
            <p:nvCxnSpPr>
              <p:cNvPr id="1333" name="Google Shape;1333;p22"/>
              <p:cNvCxnSpPr>
                <a:stCxn id="1323" idx="0"/>
                <a:endCxn id="1321" idx="3"/>
              </p:cNvCxnSpPr>
              <p:nvPr/>
            </p:nvCxnSpPr>
            <p:spPr>
              <a:xfrm rot="10800000" flipH="1">
                <a:off x="366025" y="296069"/>
                <a:ext cx="381000" cy="762000"/>
              </a:xfrm>
              <a:prstGeom prst="straightConnector1">
                <a:avLst/>
              </a:prstGeom>
              <a:noFill/>
              <a:ln w="9525" cap="flat" cmpd="sng">
                <a:solidFill>
                  <a:schemeClr val="dk2"/>
                </a:solidFill>
                <a:prstDash val="solid"/>
                <a:round/>
                <a:headEnd type="none" w="med" len="med"/>
                <a:tailEnd type="none" w="med" len="med"/>
              </a:ln>
            </p:spPr>
          </p:cxnSp>
          <p:sp>
            <p:nvSpPr>
              <p:cNvPr id="1317" name="Google Shape;1317;p22"/>
              <p:cNvSpPr/>
              <p:nvPr/>
            </p:nvSpPr>
            <p:spPr>
              <a:xfrm>
                <a:off x="258901" y="369758"/>
                <a:ext cx="86700" cy="867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1334" name="Google Shape;1334;p22"/>
            <p:cNvGrpSpPr/>
            <p:nvPr/>
          </p:nvGrpSpPr>
          <p:grpSpPr>
            <a:xfrm rot="2030497">
              <a:off x="-2581586" y="1819329"/>
              <a:ext cx="3816850" cy="3612312"/>
              <a:chOff x="-100549" y="47919"/>
              <a:chExt cx="4607849" cy="4360923"/>
            </a:xfrm>
          </p:grpSpPr>
          <p:sp>
            <p:nvSpPr>
              <p:cNvPr id="1335" name="Google Shape;1335;p22"/>
              <p:cNvSpPr/>
              <p:nvPr/>
            </p:nvSpPr>
            <p:spPr>
              <a:xfrm rot="10800000">
                <a:off x="4076800" y="2467368"/>
                <a:ext cx="234600" cy="2346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36" name="Google Shape;1336;p22"/>
              <p:cNvSpPr/>
              <p:nvPr/>
            </p:nvSpPr>
            <p:spPr>
              <a:xfrm rot="10800000">
                <a:off x="1137802" y="3577294"/>
                <a:ext cx="234600" cy="2346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37" name="Google Shape;1337;p22"/>
              <p:cNvSpPr/>
              <p:nvPr/>
            </p:nvSpPr>
            <p:spPr>
              <a:xfrm rot="10800000">
                <a:off x="1731851" y="997900"/>
                <a:ext cx="484500" cy="484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38" name="Google Shape;1338;p22"/>
              <p:cNvSpPr/>
              <p:nvPr/>
            </p:nvSpPr>
            <p:spPr>
              <a:xfrm rot="10800000">
                <a:off x="2254926" y="250586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39" name="Google Shape;1339;p22"/>
              <p:cNvSpPr/>
              <p:nvPr/>
            </p:nvSpPr>
            <p:spPr>
              <a:xfrm rot="10800000">
                <a:off x="3685300" y="3636544"/>
                <a:ext cx="116100" cy="116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40" name="Google Shape;1340;p22"/>
              <p:cNvSpPr/>
              <p:nvPr/>
            </p:nvSpPr>
            <p:spPr>
              <a:xfrm rot="10800000">
                <a:off x="2254926" y="3903969"/>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41" name="Google Shape;1341;p22"/>
              <p:cNvSpPr/>
              <p:nvPr/>
            </p:nvSpPr>
            <p:spPr>
              <a:xfrm rot="10800000">
                <a:off x="3125451" y="1436544"/>
                <a:ext cx="157500" cy="1575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42" name="Google Shape;1342;p22"/>
              <p:cNvSpPr/>
              <p:nvPr/>
            </p:nvSpPr>
            <p:spPr>
              <a:xfrm rot="10800000">
                <a:off x="447667" y="2351269"/>
                <a:ext cx="116100" cy="116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343" name="Google Shape;1343;p22"/>
              <p:cNvCxnSpPr>
                <a:stCxn id="1339" idx="5"/>
                <a:endCxn id="1338" idx="1"/>
              </p:cNvCxnSpPr>
              <p:nvPr/>
            </p:nvCxnSpPr>
            <p:spPr>
              <a:xfrm rot="8769356">
                <a:off x="2782616" y="2360623"/>
                <a:ext cx="526274" cy="1572747"/>
              </a:xfrm>
              <a:prstGeom prst="straightConnector1">
                <a:avLst/>
              </a:prstGeom>
              <a:noFill/>
              <a:ln w="9525" cap="flat" cmpd="sng">
                <a:solidFill>
                  <a:schemeClr val="dk2"/>
                </a:solidFill>
                <a:prstDash val="solid"/>
                <a:round/>
                <a:headEnd type="none" w="med" len="med"/>
                <a:tailEnd type="none" w="med" len="med"/>
              </a:ln>
            </p:spPr>
          </p:cxnSp>
          <p:cxnSp>
            <p:nvCxnSpPr>
              <p:cNvPr id="1344" name="Google Shape;1344;p22"/>
              <p:cNvCxnSpPr>
                <a:stCxn id="1340" idx="4"/>
                <a:endCxn id="1338" idx="0"/>
              </p:cNvCxnSpPr>
              <p:nvPr/>
            </p:nvCxnSpPr>
            <p:spPr>
              <a:xfrm rot="8769075" flipH="1">
                <a:off x="1988166" y="2768320"/>
                <a:ext cx="691020" cy="1030498"/>
              </a:xfrm>
              <a:prstGeom prst="straightConnector1">
                <a:avLst/>
              </a:prstGeom>
              <a:noFill/>
              <a:ln w="9525" cap="flat" cmpd="sng">
                <a:solidFill>
                  <a:schemeClr val="dk2"/>
                </a:solidFill>
                <a:prstDash val="solid"/>
                <a:round/>
                <a:headEnd type="none" w="med" len="med"/>
                <a:tailEnd type="none" w="med" len="med"/>
              </a:ln>
            </p:spPr>
          </p:cxnSp>
          <p:cxnSp>
            <p:nvCxnSpPr>
              <p:cNvPr id="1345" name="Google Shape;1345;p22"/>
              <p:cNvCxnSpPr>
                <a:stCxn id="1335" idx="6"/>
                <a:endCxn id="1338" idx="2"/>
              </p:cNvCxnSpPr>
              <p:nvPr/>
            </p:nvCxnSpPr>
            <p:spPr>
              <a:xfrm rot="8769491">
                <a:off x="2553455" y="2121214"/>
                <a:ext cx="1382290" cy="926908"/>
              </a:xfrm>
              <a:prstGeom prst="straightConnector1">
                <a:avLst/>
              </a:prstGeom>
              <a:noFill/>
              <a:ln w="9525" cap="flat" cmpd="sng">
                <a:solidFill>
                  <a:schemeClr val="dk2"/>
                </a:solidFill>
                <a:prstDash val="solid"/>
                <a:round/>
                <a:headEnd type="none" w="med" len="med"/>
                <a:tailEnd type="none" w="med" len="med"/>
              </a:ln>
            </p:spPr>
          </p:cxnSp>
          <p:cxnSp>
            <p:nvCxnSpPr>
              <p:cNvPr id="1346" name="Google Shape;1346;p22"/>
              <p:cNvCxnSpPr>
                <a:stCxn id="1335" idx="0"/>
                <a:endCxn id="1339" idx="3"/>
              </p:cNvCxnSpPr>
              <p:nvPr/>
            </p:nvCxnSpPr>
            <p:spPr>
              <a:xfrm rot="-2030280" flipH="1">
                <a:off x="3554311" y="2896576"/>
                <a:ext cx="870078" cy="562385"/>
              </a:xfrm>
              <a:prstGeom prst="straightConnector1">
                <a:avLst/>
              </a:prstGeom>
              <a:noFill/>
              <a:ln w="9525" cap="flat" cmpd="sng">
                <a:solidFill>
                  <a:schemeClr val="dk2"/>
                </a:solidFill>
                <a:prstDash val="solid"/>
                <a:round/>
                <a:headEnd type="none" w="med" len="med"/>
                <a:tailEnd type="none" w="med" len="med"/>
              </a:ln>
            </p:spPr>
          </p:cxnSp>
          <p:cxnSp>
            <p:nvCxnSpPr>
              <p:cNvPr id="1347" name="Google Shape;1347;p22"/>
              <p:cNvCxnSpPr>
                <a:stCxn id="1339" idx="7"/>
                <a:endCxn id="1340" idx="2"/>
              </p:cNvCxnSpPr>
              <p:nvPr/>
            </p:nvCxnSpPr>
            <p:spPr>
              <a:xfrm rot="8769605">
                <a:off x="2452857" y="3602445"/>
                <a:ext cx="1208890" cy="513294"/>
              </a:xfrm>
              <a:prstGeom prst="straightConnector1">
                <a:avLst/>
              </a:prstGeom>
              <a:noFill/>
              <a:ln w="9525" cap="flat" cmpd="sng">
                <a:solidFill>
                  <a:schemeClr val="dk2"/>
                </a:solidFill>
                <a:prstDash val="solid"/>
                <a:round/>
                <a:headEnd type="none" w="med" len="med"/>
                <a:tailEnd type="none" w="med" len="med"/>
              </a:ln>
            </p:spPr>
          </p:cxnSp>
          <p:cxnSp>
            <p:nvCxnSpPr>
              <p:cNvPr id="1348" name="Google Shape;1348;p22"/>
              <p:cNvCxnSpPr>
                <a:stCxn id="1340" idx="6"/>
                <a:endCxn id="1336" idx="1"/>
              </p:cNvCxnSpPr>
              <p:nvPr/>
            </p:nvCxnSpPr>
            <p:spPr>
              <a:xfrm rot="8768875">
                <a:off x="1472857" y="3539834"/>
                <a:ext cx="647338" cy="680869"/>
              </a:xfrm>
              <a:prstGeom prst="straightConnector1">
                <a:avLst/>
              </a:prstGeom>
              <a:noFill/>
              <a:ln w="9525" cap="flat" cmpd="sng">
                <a:solidFill>
                  <a:schemeClr val="dk2"/>
                </a:solidFill>
                <a:prstDash val="solid"/>
                <a:round/>
                <a:headEnd type="none" w="med" len="med"/>
                <a:tailEnd type="none" w="med" len="med"/>
              </a:ln>
            </p:spPr>
          </p:cxnSp>
          <p:cxnSp>
            <p:nvCxnSpPr>
              <p:cNvPr id="1349" name="Google Shape;1349;p22"/>
              <p:cNvCxnSpPr>
                <a:stCxn id="1338" idx="7"/>
                <a:endCxn id="1336" idx="3"/>
              </p:cNvCxnSpPr>
              <p:nvPr/>
            </p:nvCxnSpPr>
            <p:spPr>
              <a:xfrm rot="-2030278" flipH="1">
                <a:off x="1147266" y="2984238"/>
                <a:ext cx="1321550" cy="283231"/>
              </a:xfrm>
              <a:prstGeom prst="straightConnector1">
                <a:avLst/>
              </a:prstGeom>
              <a:noFill/>
              <a:ln w="9525" cap="flat" cmpd="sng">
                <a:solidFill>
                  <a:schemeClr val="dk2"/>
                </a:solidFill>
                <a:prstDash val="solid"/>
                <a:round/>
                <a:headEnd type="none" w="med" len="med"/>
                <a:tailEnd type="none" w="med" len="med"/>
              </a:ln>
            </p:spPr>
          </p:cxnSp>
          <p:cxnSp>
            <p:nvCxnSpPr>
              <p:cNvPr id="1350" name="Google Shape;1350;p22"/>
              <p:cNvCxnSpPr>
                <a:stCxn id="1335" idx="5"/>
                <a:endCxn id="1341" idx="1"/>
              </p:cNvCxnSpPr>
              <p:nvPr/>
            </p:nvCxnSpPr>
            <p:spPr>
              <a:xfrm rot="8769493">
                <a:off x="3591334" y="1412692"/>
                <a:ext cx="188543" cy="1247164"/>
              </a:xfrm>
              <a:prstGeom prst="straightConnector1">
                <a:avLst/>
              </a:prstGeom>
              <a:noFill/>
              <a:ln w="9525" cap="flat" cmpd="sng">
                <a:solidFill>
                  <a:schemeClr val="dk2"/>
                </a:solidFill>
                <a:prstDash val="solid"/>
                <a:round/>
                <a:headEnd type="none" w="med" len="med"/>
                <a:tailEnd type="none" w="med" len="med"/>
              </a:ln>
            </p:spPr>
          </p:cxnSp>
          <p:cxnSp>
            <p:nvCxnSpPr>
              <p:cNvPr id="1351" name="Google Shape;1351;p22"/>
              <p:cNvCxnSpPr>
                <a:stCxn id="1341" idx="7"/>
                <a:endCxn id="1338" idx="3"/>
              </p:cNvCxnSpPr>
              <p:nvPr/>
            </p:nvCxnSpPr>
            <p:spPr>
              <a:xfrm rot="-2030495" flipH="1">
                <a:off x="2186803" y="1863549"/>
                <a:ext cx="1164126" cy="372760"/>
              </a:xfrm>
              <a:prstGeom prst="straightConnector1">
                <a:avLst/>
              </a:prstGeom>
              <a:noFill/>
              <a:ln w="9525" cap="flat" cmpd="sng">
                <a:solidFill>
                  <a:schemeClr val="dk2"/>
                </a:solidFill>
                <a:prstDash val="solid"/>
                <a:round/>
                <a:headEnd type="none" w="med" len="med"/>
                <a:tailEnd type="none" w="med" len="med"/>
              </a:ln>
            </p:spPr>
          </p:cxnSp>
          <p:cxnSp>
            <p:nvCxnSpPr>
              <p:cNvPr id="1352" name="Google Shape;1352;p22"/>
              <p:cNvCxnSpPr>
                <a:stCxn id="1341" idx="5"/>
                <a:endCxn id="1337" idx="2"/>
              </p:cNvCxnSpPr>
              <p:nvPr/>
            </p:nvCxnSpPr>
            <p:spPr>
              <a:xfrm rot="8769821">
                <a:off x="2356510" y="999099"/>
                <a:ext cx="651914" cy="701421"/>
              </a:xfrm>
              <a:prstGeom prst="straightConnector1">
                <a:avLst/>
              </a:prstGeom>
              <a:noFill/>
              <a:ln w="9525" cap="flat" cmpd="sng">
                <a:solidFill>
                  <a:schemeClr val="dk2"/>
                </a:solidFill>
                <a:prstDash val="solid"/>
                <a:round/>
                <a:headEnd type="none" w="med" len="med"/>
                <a:tailEnd type="none" w="med" len="med"/>
              </a:ln>
            </p:spPr>
          </p:cxnSp>
          <p:cxnSp>
            <p:nvCxnSpPr>
              <p:cNvPr id="1353" name="Google Shape;1353;p22"/>
              <p:cNvCxnSpPr>
                <a:stCxn id="1337" idx="0"/>
                <a:endCxn id="1338" idx="5"/>
              </p:cNvCxnSpPr>
              <p:nvPr/>
            </p:nvCxnSpPr>
            <p:spPr>
              <a:xfrm rot="-2029195" flipH="1">
                <a:off x="1960847" y="1486358"/>
                <a:ext cx="330408" cy="1038486"/>
              </a:xfrm>
              <a:prstGeom prst="straightConnector1">
                <a:avLst/>
              </a:prstGeom>
              <a:noFill/>
              <a:ln w="9525" cap="flat" cmpd="sng">
                <a:solidFill>
                  <a:schemeClr val="dk2"/>
                </a:solidFill>
                <a:prstDash val="solid"/>
                <a:round/>
                <a:headEnd type="none" w="med" len="med"/>
                <a:tailEnd type="none" w="med" len="med"/>
              </a:ln>
            </p:spPr>
          </p:cxnSp>
          <p:cxnSp>
            <p:nvCxnSpPr>
              <p:cNvPr id="1354" name="Google Shape;1354;p22"/>
              <p:cNvCxnSpPr>
                <a:stCxn id="1337" idx="7"/>
                <a:endCxn id="1342" idx="3"/>
              </p:cNvCxnSpPr>
              <p:nvPr/>
            </p:nvCxnSpPr>
            <p:spPr>
              <a:xfrm rot="-2030477" flipH="1">
                <a:off x="386634" y="1842270"/>
                <a:ext cx="1576242" cy="95353"/>
              </a:xfrm>
              <a:prstGeom prst="straightConnector1">
                <a:avLst/>
              </a:prstGeom>
              <a:noFill/>
              <a:ln w="9525" cap="flat" cmpd="sng">
                <a:solidFill>
                  <a:schemeClr val="dk2"/>
                </a:solidFill>
                <a:prstDash val="solid"/>
                <a:round/>
                <a:headEnd type="none" w="med" len="med"/>
                <a:tailEnd type="none" w="med" len="med"/>
              </a:ln>
            </p:spPr>
          </p:cxnSp>
          <p:cxnSp>
            <p:nvCxnSpPr>
              <p:cNvPr id="1355" name="Google Shape;1355;p22"/>
              <p:cNvCxnSpPr>
                <a:stCxn id="1338" idx="6"/>
                <a:endCxn id="1342" idx="2"/>
              </p:cNvCxnSpPr>
              <p:nvPr/>
            </p:nvCxnSpPr>
            <p:spPr>
              <a:xfrm rot="8769842">
                <a:off x="755690" y="1953080"/>
                <a:ext cx="1307072" cy="1087577"/>
              </a:xfrm>
              <a:prstGeom prst="straightConnector1">
                <a:avLst/>
              </a:prstGeom>
              <a:noFill/>
              <a:ln w="9525" cap="flat" cmpd="sng">
                <a:solidFill>
                  <a:schemeClr val="dk2"/>
                </a:solidFill>
                <a:prstDash val="solid"/>
                <a:round/>
                <a:headEnd type="none" w="med" len="med"/>
                <a:tailEnd type="none" w="med" len="med"/>
              </a:ln>
            </p:spPr>
          </p:cxnSp>
          <p:cxnSp>
            <p:nvCxnSpPr>
              <p:cNvPr id="1356" name="Google Shape;1356;p22"/>
              <p:cNvCxnSpPr>
                <a:stCxn id="1342" idx="0"/>
                <a:endCxn id="1336" idx="5"/>
              </p:cNvCxnSpPr>
              <p:nvPr/>
            </p:nvCxnSpPr>
            <p:spPr>
              <a:xfrm rot="-2024821" flipH="1">
                <a:off x="797015" y="2378694"/>
                <a:ext cx="83704" cy="1321550"/>
              </a:xfrm>
              <a:prstGeom prst="straightConnector1">
                <a:avLst/>
              </a:prstGeom>
              <a:noFill/>
              <a:ln w="9525" cap="flat" cmpd="sng">
                <a:solidFill>
                  <a:schemeClr val="dk2"/>
                </a:solidFill>
                <a:prstDash val="solid"/>
                <a:round/>
                <a:headEnd type="none" w="med" len="med"/>
                <a:tailEnd type="none" w="med" len="med"/>
              </a:ln>
            </p:spPr>
          </p:cxnSp>
          <p:cxnSp>
            <p:nvCxnSpPr>
              <p:cNvPr id="1357" name="Google Shape;1357;p22"/>
              <p:cNvCxnSpPr>
                <a:stCxn id="1339" idx="4"/>
                <a:endCxn id="1337" idx="1"/>
              </p:cNvCxnSpPr>
              <p:nvPr/>
            </p:nvCxnSpPr>
            <p:spPr>
              <a:xfrm rot="8775347">
                <a:off x="2900285" y="1155017"/>
                <a:ext cx="88031" cy="2737955"/>
              </a:xfrm>
              <a:prstGeom prst="straightConnector1">
                <a:avLst/>
              </a:prstGeom>
              <a:noFill/>
              <a:ln w="9525" cap="flat" cmpd="sng">
                <a:solidFill>
                  <a:schemeClr val="dk2"/>
                </a:solidFill>
                <a:prstDash val="solid"/>
                <a:round/>
                <a:headEnd type="none" w="med" len="med"/>
                <a:tailEnd type="none" w="med" len="med"/>
              </a:ln>
            </p:spPr>
          </p:cxnSp>
          <p:cxnSp>
            <p:nvCxnSpPr>
              <p:cNvPr id="1358" name="Google Shape;1358;p22"/>
              <p:cNvCxnSpPr>
                <a:stCxn id="1336" idx="4"/>
                <a:endCxn id="1337" idx="7"/>
              </p:cNvCxnSpPr>
              <p:nvPr/>
            </p:nvCxnSpPr>
            <p:spPr>
              <a:xfrm rot="8769813" flipH="1">
                <a:off x="698488" y="1747510"/>
                <a:ext cx="1661027" cy="1493868"/>
              </a:xfrm>
              <a:prstGeom prst="straightConnector1">
                <a:avLst/>
              </a:prstGeom>
              <a:noFill/>
              <a:ln w="9525" cap="flat" cmpd="sng">
                <a:solidFill>
                  <a:schemeClr val="dk2"/>
                </a:solidFill>
                <a:prstDash val="solid"/>
                <a:round/>
                <a:headEnd type="none" w="med" len="med"/>
                <a:tailEnd type="none" w="med" len="med"/>
              </a:ln>
            </p:spPr>
          </p:cxnSp>
          <p:cxnSp>
            <p:nvCxnSpPr>
              <p:cNvPr id="1359" name="Google Shape;1359;p22"/>
              <p:cNvCxnSpPr>
                <a:stCxn id="1335" idx="5"/>
                <a:endCxn id="1337" idx="1"/>
              </p:cNvCxnSpPr>
              <p:nvPr/>
            </p:nvCxnSpPr>
            <p:spPr>
              <a:xfrm rot="8769113">
                <a:off x="2615603" y="956497"/>
                <a:ext cx="1025506" cy="2000256"/>
              </a:xfrm>
              <a:prstGeom prst="straightConnector1">
                <a:avLst/>
              </a:prstGeom>
              <a:noFill/>
              <a:ln w="9525" cap="flat" cmpd="sng">
                <a:solidFill>
                  <a:schemeClr val="dk2"/>
                </a:solidFill>
                <a:prstDash val="solid"/>
                <a:round/>
                <a:headEnd type="none" w="med" len="med"/>
                <a:tailEnd type="none" w="med" len="med"/>
              </a:ln>
            </p:spPr>
          </p:cxnSp>
          <p:sp>
            <p:nvSpPr>
              <p:cNvPr id="1360" name="Google Shape;1360;p22"/>
              <p:cNvSpPr/>
              <p:nvPr/>
            </p:nvSpPr>
            <p:spPr>
              <a:xfrm rot="10800000">
                <a:off x="873701" y="691869"/>
                <a:ext cx="157500" cy="1575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361" name="Google Shape;1361;p22"/>
              <p:cNvCxnSpPr>
                <a:stCxn id="1342" idx="4"/>
                <a:endCxn id="1360" idx="7"/>
              </p:cNvCxnSpPr>
              <p:nvPr/>
            </p:nvCxnSpPr>
            <p:spPr>
              <a:xfrm rot="8769580" flipH="1">
                <a:off x="114237" y="1064376"/>
                <a:ext cx="1173861" cy="1048886"/>
              </a:xfrm>
              <a:prstGeom prst="straightConnector1">
                <a:avLst/>
              </a:prstGeom>
              <a:noFill/>
              <a:ln w="9525" cap="flat" cmpd="sng">
                <a:solidFill>
                  <a:schemeClr val="dk2"/>
                </a:solidFill>
                <a:prstDash val="solid"/>
                <a:round/>
                <a:headEnd type="none" w="med" len="med"/>
                <a:tailEnd type="none" w="med" len="med"/>
              </a:ln>
            </p:spPr>
          </p:cxnSp>
          <p:cxnSp>
            <p:nvCxnSpPr>
              <p:cNvPr id="1362" name="Google Shape;1362;p22"/>
              <p:cNvCxnSpPr>
                <a:stCxn id="1360" idx="2"/>
                <a:endCxn id="1337" idx="5"/>
              </p:cNvCxnSpPr>
              <p:nvPr/>
            </p:nvCxnSpPr>
            <p:spPr>
              <a:xfrm rot="-2029235">
                <a:off x="1179725" y="581031"/>
                <a:ext cx="474852" cy="677375"/>
              </a:xfrm>
              <a:prstGeom prst="straightConnector1">
                <a:avLst/>
              </a:prstGeom>
              <a:noFill/>
              <a:ln w="9525" cap="flat" cmpd="sng">
                <a:solidFill>
                  <a:schemeClr val="dk2"/>
                </a:solidFill>
                <a:prstDash val="solid"/>
                <a:round/>
                <a:headEnd type="none" w="med" len="med"/>
                <a:tailEnd type="none" w="med" len="med"/>
              </a:ln>
            </p:spPr>
          </p:cxnSp>
          <p:cxnSp>
            <p:nvCxnSpPr>
              <p:cNvPr id="1363" name="Google Shape;1363;p22"/>
              <p:cNvCxnSpPr>
                <a:stCxn id="1360" idx="0"/>
                <a:endCxn id="1336" idx="4"/>
              </p:cNvCxnSpPr>
              <p:nvPr/>
            </p:nvCxnSpPr>
            <p:spPr>
              <a:xfrm rot="-2030204" flipH="1">
                <a:off x="469943" y="996108"/>
                <a:ext cx="1267716" cy="2434421"/>
              </a:xfrm>
              <a:prstGeom prst="straightConnector1">
                <a:avLst/>
              </a:prstGeom>
              <a:noFill/>
              <a:ln w="9525" cap="flat" cmpd="sng">
                <a:solidFill>
                  <a:schemeClr val="dk2"/>
                </a:solidFill>
                <a:prstDash val="solid"/>
                <a:round/>
                <a:headEnd type="none" w="med" len="med"/>
                <a:tailEnd type="none" w="med" len="med"/>
              </a:ln>
            </p:spPr>
          </p:cxnSp>
          <p:cxnSp>
            <p:nvCxnSpPr>
              <p:cNvPr id="1364" name="Google Shape;1364;p22"/>
              <p:cNvCxnSpPr>
                <a:stCxn id="1360" idx="1"/>
                <a:endCxn id="1338" idx="5"/>
              </p:cNvCxnSpPr>
              <p:nvPr/>
            </p:nvCxnSpPr>
            <p:spPr>
              <a:xfrm rot="-2032139">
                <a:off x="1589793" y="616894"/>
                <a:ext cx="106586" cy="2121320"/>
              </a:xfrm>
              <a:prstGeom prst="straightConnector1">
                <a:avLst/>
              </a:prstGeom>
              <a:noFill/>
              <a:ln w="9525" cap="flat" cmpd="sng">
                <a:solidFill>
                  <a:schemeClr val="dk2"/>
                </a:solidFill>
                <a:prstDash val="solid"/>
                <a:round/>
                <a:headEnd type="none" w="med" len="med"/>
                <a:tailEnd type="none" w="med" len="med"/>
              </a:ln>
            </p:spPr>
          </p:cxnSp>
          <p:sp>
            <p:nvSpPr>
              <p:cNvPr id="1365" name="Google Shape;1365;p22"/>
              <p:cNvSpPr/>
              <p:nvPr/>
            </p:nvSpPr>
            <p:spPr>
              <a:xfrm rot="10800000">
                <a:off x="2346923" y="285337"/>
                <a:ext cx="234600" cy="2346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366" name="Google Shape;1366;p22"/>
              <p:cNvCxnSpPr>
                <a:stCxn id="1360" idx="2"/>
                <a:endCxn id="1365" idx="6"/>
              </p:cNvCxnSpPr>
              <p:nvPr/>
            </p:nvCxnSpPr>
            <p:spPr>
              <a:xfrm rot="-2030441">
                <a:off x="1040224" y="373064"/>
                <a:ext cx="1297753" cy="427010"/>
              </a:xfrm>
              <a:prstGeom prst="straightConnector1">
                <a:avLst/>
              </a:prstGeom>
              <a:noFill/>
              <a:ln w="9525" cap="flat" cmpd="sng">
                <a:solidFill>
                  <a:schemeClr val="dk2"/>
                </a:solidFill>
                <a:prstDash val="solid"/>
                <a:round/>
                <a:headEnd type="none" w="med" len="med"/>
                <a:tailEnd type="none" w="med" len="med"/>
              </a:ln>
            </p:spPr>
          </p:cxnSp>
          <p:cxnSp>
            <p:nvCxnSpPr>
              <p:cNvPr id="1367" name="Google Shape;1367;p22"/>
              <p:cNvCxnSpPr>
                <a:stCxn id="1365" idx="1"/>
                <a:endCxn id="1341" idx="5"/>
              </p:cNvCxnSpPr>
              <p:nvPr/>
            </p:nvCxnSpPr>
            <p:spPr>
              <a:xfrm rot="-2034703" flipH="1">
                <a:off x="2826258" y="400719"/>
                <a:ext cx="43017" cy="1143823"/>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1368"/>
        <p:cNvGrpSpPr/>
        <p:nvPr/>
      </p:nvGrpSpPr>
      <p:grpSpPr>
        <a:xfrm>
          <a:off x="0" y="0"/>
          <a:ext cx="0" cy="0"/>
          <a:chOff x="0" y="0"/>
          <a:chExt cx="0" cy="0"/>
        </a:xfrm>
      </p:grpSpPr>
      <p:grpSp>
        <p:nvGrpSpPr>
          <p:cNvPr id="1369" name="Google Shape;1369;p23"/>
          <p:cNvGrpSpPr/>
          <p:nvPr/>
        </p:nvGrpSpPr>
        <p:grpSpPr>
          <a:xfrm>
            <a:off x="190301" y="174004"/>
            <a:ext cx="8808974" cy="4007621"/>
            <a:chOff x="190301" y="174004"/>
            <a:chExt cx="8808974" cy="4007621"/>
          </a:xfrm>
        </p:grpSpPr>
        <p:grpSp>
          <p:nvGrpSpPr>
            <p:cNvPr id="1370" name="Google Shape;1370;p23"/>
            <p:cNvGrpSpPr/>
            <p:nvPr/>
          </p:nvGrpSpPr>
          <p:grpSpPr>
            <a:xfrm rot="10800000">
              <a:off x="190301" y="3858950"/>
              <a:ext cx="298275" cy="322675"/>
              <a:chOff x="8667225" y="681525"/>
              <a:chExt cx="298275" cy="322675"/>
            </a:xfrm>
          </p:grpSpPr>
          <p:sp>
            <p:nvSpPr>
              <p:cNvPr id="1371" name="Google Shape;1371;p23"/>
              <p:cNvSpPr/>
              <p:nvPr/>
            </p:nvSpPr>
            <p:spPr>
              <a:xfrm rot="10800000">
                <a:off x="8667225" y="82162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72" name="Google Shape;1372;p23"/>
              <p:cNvSpPr/>
              <p:nvPr/>
            </p:nvSpPr>
            <p:spPr>
              <a:xfrm rot="10800000">
                <a:off x="8825400" y="681525"/>
                <a:ext cx="140100" cy="140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73" name="Google Shape;1373;p23"/>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nvGrpSpPr>
            <p:cNvPr id="1374" name="Google Shape;1374;p23"/>
            <p:cNvGrpSpPr/>
            <p:nvPr/>
          </p:nvGrpSpPr>
          <p:grpSpPr>
            <a:xfrm rot="-5139163">
              <a:off x="8591694" y="201328"/>
              <a:ext cx="406266" cy="379191"/>
              <a:chOff x="140150" y="4657175"/>
              <a:chExt cx="406275" cy="379200"/>
            </a:xfrm>
          </p:grpSpPr>
          <p:sp>
            <p:nvSpPr>
              <p:cNvPr id="1375" name="Google Shape;1375;p23"/>
              <p:cNvSpPr/>
              <p:nvPr/>
            </p:nvSpPr>
            <p:spPr>
              <a:xfrm rot="10800000">
                <a:off x="140150" y="49496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76" name="Google Shape;1376;p23"/>
              <p:cNvSpPr/>
              <p:nvPr/>
            </p:nvSpPr>
            <p:spPr>
              <a:xfrm rot="10800000">
                <a:off x="298325" y="4657175"/>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77" name="Google Shape;1377;p23"/>
              <p:cNvSpPr/>
              <p:nvPr/>
            </p:nvSpPr>
            <p:spPr>
              <a:xfrm rot="10800000">
                <a:off x="495125" y="485235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78" name="Google Shape;1378;p23"/>
              <p:cNvSpPr/>
              <p:nvPr/>
            </p:nvSpPr>
            <p:spPr>
              <a:xfrm rot="10800000">
                <a:off x="165050" y="4657175"/>
                <a:ext cx="51300" cy="51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grpSp>
      </p:grpSp>
      <p:grpSp>
        <p:nvGrpSpPr>
          <p:cNvPr id="1379" name="Google Shape;1379;p23"/>
          <p:cNvGrpSpPr/>
          <p:nvPr/>
        </p:nvGrpSpPr>
        <p:grpSpPr>
          <a:xfrm>
            <a:off x="115024" y="-2374836"/>
            <a:ext cx="8971639" cy="9886184"/>
            <a:chOff x="115024" y="-2374836"/>
            <a:chExt cx="8971639" cy="9886184"/>
          </a:xfrm>
        </p:grpSpPr>
        <p:grpSp>
          <p:nvGrpSpPr>
            <p:cNvPr id="1380" name="Google Shape;1380;p23"/>
            <p:cNvGrpSpPr/>
            <p:nvPr/>
          </p:nvGrpSpPr>
          <p:grpSpPr>
            <a:xfrm flipH="1">
              <a:off x="115024" y="-2374836"/>
              <a:ext cx="3687215" cy="3485542"/>
              <a:chOff x="5337386" y="-2374836"/>
              <a:chExt cx="3687215" cy="3485542"/>
            </a:xfrm>
          </p:grpSpPr>
          <p:sp>
            <p:nvSpPr>
              <p:cNvPr id="1381" name="Google Shape;1381;p23"/>
              <p:cNvSpPr/>
              <p:nvPr/>
            </p:nvSpPr>
            <p:spPr>
              <a:xfrm rot="9698973">
                <a:off x="8256504" y="-2357857"/>
                <a:ext cx="128642" cy="128642"/>
              </a:xfrm>
              <a:prstGeom prst="ellipse">
                <a:avLst/>
              </a:prstGeom>
              <a:solidFill>
                <a:srgbClr val="FFD96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2" name="Google Shape;1382;p23"/>
              <p:cNvSpPr/>
              <p:nvPr/>
            </p:nvSpPr>
            <p:spPr>
              <a:xfrm rot="9699868">
                <a:off x="6325487" y="-94127"/>
                <a:ext cx="164028" cy="164028"/>
              </a:xfrm>
              <a:prstGeom prst="ellipse">
                <a:avLst/>
              </a:prstGeom>
              <a:solidFill>
                <a:srgbClr val="FFD96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3" name="Google Shape;1383;p23"/>
              <p:cNvSpPr/>
              <p:nvPr/>
            </p:nvSpPr>
            <p:spPr>
              <a:xfrm rot="9695130">
                <a:off x="7230532" y="-1291785"/>
                <a:ext cx="265916" cy="265916"/>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4" name="Google Shape;1384;p23"/>
              <p:cNvSpPr/>
              <p:nvPr/>
            </p:nvSpPr>
            <p:spPr>
              <a:xfrm rot="9708981">
                <a:off x="8013809" y="-151576"/>
                <a:ext cx="86521" cy="86521"/>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5" name="Google Shape;1385;p23"/>
              <p:cNvSpPr/>
              <p:nvPr/>
            </p:nvSpPr>
            <p:spPr>
              <a:xfrm rot="9699377">
                <a:off x="8889724" y="131264"/>
                <a:ext cx="119155" cy="119155"/>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6" name="Google Shape;1386;p23"/>
              <p:cNvSpPr/>
              <p:nvPr/>
            </p:nvSpPr>
            <p:spPr>
              <a:xfrm rot="-9307649">
                <a:off x="7169475" y="191656"/>
                <a:ext cx="86305" cy="86305"/>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7" name="Google Shape;1387;p23"/>
              <p:cNvSpPr/>
              <p:nvPr/>
            </p:nvSpPr>
            <p:spPr>
              <a:xfrm rot="9708981">
                <a:off x="7609568" y="-1824766"/>
                <a:ext cx="86521" cy="86521"/>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388" name="Google Shape;1388;p23"/>
              <p:cNvSpPr/>
              <p:nvPr/>
            </p:nvSpPr>
            <p:spPr>
              <a:xfrm rot="9698900">
                <a:off x="5354617" y="277974"/>
                <a:ext cx="130539" cy="130539"/>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389" name="Google Shape;1389;p23"/>
              <p:cNvCxnSpPr>
                <a:stCxn id="1385" idx="5"/>
                <a:endCxn id="1384" idx="1"/>
              </p:cNvCxnSpPr>
              <p:nvPr/>
            </p:nvCxnSpPr>
            <p:spPr>
              <a:xfrm rot="10800000">
                <a:off x="8095656" y="-88788"/>
                <a:ext cx="800400" cy="252900"/>
              </a:xfrm>
              <a:prstGeom prst="straightConnector1">
                <a:avLst/>
              </a:prstGeom>
              <a:noFill/>
              <a:ln w="9525" cap="flat" cmpd="sng">
                <a:solidFill>
                  <a:schemeClr val="dk2"/>
                </a:solidFill>
                <a:prstDash val="solid"/>
                <a:round/>
                <a:headEnd type="none" w="med" len="med"/>
                <a:tailEnd type="none" w="med" len="med"/>
              </a:ln>
            </p:spPr>
          </p:cxnSp>
          <p:cxnSp>
            <p:nvCxnSpPr>
              <p:cNvPr id="1390" name="Google Shape;1390;p23"/>
              <p:cNvCxnSpPr>
                <a:stCxn id="1386" idx="4"/>
                <a:endCxn id="1384" idx="6"/>
              </p:cNvCxnSpPr>
              <p:nvPr/>
            </p:nvCxnSpPr>
            <p:spPr>
              <a:xfrm rot="10800000" flipH="1">
                <a:off x="7230777" y="-94742"/>
                <a:ext cx="785100" cy="290400"/>
              </a:xfrm>
              <a:prstGeom prst="straightConnector1">
                <a:avLst/>
              </a:prstGeom>
              <a:noFill/>
              <a:ln w="9525" cap="flat" cmpd="sng">
                <a:solidFill>
                  <a:schemeClr val="dk2"/>
                </a:solidFill>
                <a:prstDash val="solid"/>
                <a:round/>
                <a:headEnd type="none" w="med" len="med"/>
                <a:tailEnd type="none" w="med" len="med"/>
              </a:ln>
            </p:spPr>
          </p:cxnSp>
          <p:cxnSp>
            <p:nvCxnSpPr>
              <p:cNvPr id="1391" name="Google Shape;1391;p23"/>
              <p:cNvCxnSpPr>
                <a:stCxn id="1381" idx="0"/>
                <a:endCxn id="1385" idx="4"/>
              </p:cNvCxnSpPr>
              <p:nvPr/>
            </p:nvCxnSpPr>
            <p:spPr>
              <a:xfrm>
                <a:off x="8341075" y="-2232486"/>
                <a:ext cx="589500" cy="2366700"/>
              </a:xfrm>
              <a:prstGeom prst="straightConnector1">
                <a:avLst/>
              </a:prstGeom>
              <a:noFill/>
              <a:ln w="9525" cap="flat" cmpd="sng">
                <a:solidFill>
                  <a:schemeClr val="dk2"/>
                </a:solidFill>
                <a:prstDash val="solid"/>
                <a:round/>
                <a:headEnd type="none" w="med" len="med"/>
                <a:tailEnd type="none" w="med" len="med"/>
              </a:ln>
            </p:spPr>
          </p:cxnSp>
          <p:cxnSp>
            <p:nvCxnSpPr>
              <p:cNvPr id="1392" name="Google Shape;1392;p23"/>
              <p:cNvCxnSpPr>
                <a:stCxn id="1385" idx="6"/>
                <a:endCxn id="1386" idx="2"/>
              </p:cNvCxnSpPr>
              <p:nvPr/>
            </p:nvCxnSpPr>
            <p:spPr>
              <a:xfrm flipH="1">
                <a:off x="7251752" y="209591"/>
                <a:ext cx="1641000" cy="43500"/>
              </a:xfrm>
              <a:prstGeom prst="straightConnector1">
                <a:avLst/>
              </a:prstGeom>
              <a:noFill/>
              <a:ln w="9525" cap="flat" cmpd="sng">
                <a:solidFill>
                  <a:schemeClr val="dk2"/>
                </a:solidFill>
                <a:prstDash val="solid"/>
                <a:round/>
                <a:headEnd type="none" w="med" len="med"/>
                <a:tailEnd type="none" w="med" len="med"/>
              </a:ln>
            </p:spPr>
          </p:cxnSp>
          <p:cxnSp>
            <p:nvCxnSpPr>
              <p:cNvPr id="1393" name="Google Shape;1393;p23"/>
              <p:cNvCxnSpPr>
                <a:stCxn id="1386" idx="6"/>
                <a:endCxn id="1382" idx="1"/>
              </p:cNvCxnSpPr>
              <p:nvPr/>
            </p:nvCxnSpPr>
            <p:spPr>
              <a:xfrm rot="10800000">
                <a:off x="6480777" y="24658"/>
                <a:ext cx="692700" cy="192000"/>
              </a:xfrm>
              <a:prstGeom prst="straightConnector1">
                <a:avLst/>
              </a:prstGeom>
              <a:noFill/>
              <a:ln w="9525" cap="flat" cmpd="sng">
                <a:solidFill>
                  <a:schemeClr val="dk2"/>
                </a:solidFill>
                <a:prstDash val="solid"/>
                <a:round/>
                <a:headEnd type="none" w="med" len="med"/>
                <a:tailEnd type="none" w="med" len="med"/>
              </a:ln>
            </p:spPr>
          </p:cxnSp>
          <p:cxnSp>
            <p:nvCxnSpPr>
              <p:cNvPr id="1394" name="Google Shape;1394;p23"/>
              <p:cNvCxnSpPr>
                <a:stCxn id="1384" idx="6"/>
                <a:endCxn id="1382" idx="1"/>
              </p:cNvCxnSpPr>
              <p:nvPr/>
            </p:nvCxnSpPr>
            <p:spPr>
              <a:xfrm flipH="1">
                <a:off x="6480870" y="-94816"/>
                <a:ext cx="1535100" cy="119400"/>
              </a:xfrm>
              <a:prstGeom prst="straightConnector1">
                <a:avLst/>
              </a:prstGeom>
              <a:noFill/>
              <a:ln w="9525" cap="flat" cmpd="sng">
                <a:solidFill>
                  <a:schemeClr val="dk2"/>
                </a:solidFill>
                <a:prstDash val="solid"/>
                <a:round/>
                <a:headEnd type="none" w="med" len="med"/>
                <a:tailEnd type="none" w="med" len="med"/>
              </a:ln>
            </p:spPr>
          </p:cxnSp>
          <p:cxnSp>
            <p:nvCxnSpPr>
              <p:cNvPr id="1395" name="Google Shape;1395;p23"/>
              <p:cNvCxnSpPr>
                <a:stCxn id="1381" idx="6"/>
                <a:endCxn id="1387" idx="3"/>
              </p:cNvCxnSpPr>
              <p:nvPr/>
            </p:nvCxnSpPr>
            <p:spPr>
              <a:xfrm flipH="1">
                <a:off x="7672375" y="-2273286"/>
                <a:ext cx="587400" cy="453300"/>
              </a:xfrm>
              <a:prstGeom prst="straightConnector1">
                <a:avLst/>
              </a:prstGeom>
              <a:noFill/>
              <a:ln w="9525" cap="flat" cmpd="sng">
                <a:solidFill>
                  <a:schemeClr val="dk2"/>
                </a:solidFill>
                <a:prstDash val="solid"/>
                <a:round/>
                <a:headEnd type="none" w="med" len="med"/>
                <a:tailEnd type="none" w="med" len="med"/>
              </a:ln>
            </p:spPr>
          </p:cxnSp>
          <p:cxnSp>
            <p:nvCxnSpPr>
              <p:cNvPr id="1396" name="Google Shape;1396;p23"/>
              <p:cNvCxnSpPr>
                <a:stCxn id="1381" idx="7"/>
                <a:endCxn id="1384" idx="4"/>
              </p:cNvCxnSpPr>
              <p:nvPr/>
            </p:nvCxnSpPr>
            <p:spPr>
              <a:xfrm flipH="1">
                <a:off x="8043575" y="-2236048"/>
                <a:ext cx="248400" cy="2086500"/>
              </a:xfrm>
              <a:prstGeom prst="straightConnector1">
                <a:avLst/>
              </a:prstGeom>
              <a:noFill/>
              <a:ln w="9525" cap="flat" cmpd="sng">
                <a:solidFill>
                  <a:schemeClr val="dk2"/>
                </a:solidFill>
                <a:prstDash val="solid"/>
                <a:round/>
                <a:headEnd type="none" w="med" len="med"/>
                <a:tailEnd type="none" w="med" len="med"/>
              </a:ln>
            </p:spPr>
          </p:cxnSp>
          <p:cxnSp>
            <p:nvCxnSpPr>
              <p:cNvPr id="1397" name="Google Shape;1397;p23"/>
              <p:cNvCxnSpPr>
                <a:stCxn id="1387" idx="7"/>
                <a:endCxn id="1383" idx="3"/>
              </p:cNvCxnSpPr>
              <p:nvPr/>
            </p:nvCxnSpPr>
            <p:spPr>
              <a:xfrm flipH="1">
                <a:off x="7423012" y="-1742897"/>
                <a:ext cx="210300" cy="465300"/>
              </a:xfrm>
              <a:prstGeom prst="straightConnector1">
                <a:avLst/>
              </a:prstGeom>
              <a:noFill/>
              <a:ln w="9525" cap="flat" cmpd="sng">
                <a:solidFill>
                  <a:schemeClr val="dk2"/>
                </a:solidFill>
                <a:prstDash val="solid"/>
                <a:round/>
                <a:headEnd type="none" w="med" len="med"/>
                <a:tailEnd type="none" w="med" len="med"/>
              </a:ln>
            </p:spPr>
          </p:cxnSp>
          <p:cxnSp>
            <p:nvCxnSpPr>
              <p:cNvPr id="1398" name="Google Shape;1398;p23"/>
              <p:cNvCxnSpPr>
                <a:stCxn id="1383" idx="0"/>
                <a:endCxn id="1384" idx="4"/>
              </p:cNvCxnSpPr>
              <p:nvPr/>
            </p:nvCxnSpPr>
            <p:spPr>
              <a:xfrm>
                <a:off x="7405490" y="-1032677"/>
                <a:ext cx="638100" cy="883200"/>
              </a:xfrm>
              <a:prstGeom prst="straightConnector1">
                <a:avLst/>
              </a:prstGeom>
              <a:noFill/>
              <a:ln w="9525" cap="flat" cmpd="sng">
                <a:solidFill>
                  <a:schemeClr val="dk2"/>
                </a:solidFill>
                <a:prstDash val="solid"/>
                <a:round/>
                <a:headEnd type="none" w="med" len="med"/>
                <a:tailEnd type="none" w="med" len="med"/>
              </a:ln>
            </p:spPr>
          </p:cxnSp>
          <p:cxnSp>
            <p:nvCxnSpPr>
              <p:cNvPr id="1399" name="Google Shape;1399;p23"/>
              <p:cNvCxnSpPr>
                <a:stCxn id="1388" idx="2"/>
                <a:endCxn id="1382" idx="6"/>
              </p:cNvCxnSpPr>
              <p:nvPr/>
            </p:nvCxnSpPr>
            <p:spPr>
              <a:xfrm rot="10800000" flipH="1">
                <a:off x="5481836" y="13694"/>
                <a:ext cx="847800" cy="309000"/>
              </a:xfrm>
              <a:prstGeom prst="straightConnector1">
                <a:avLst/>
              </a:prstGeom>
              <a:noFill/>
              <a:ln w="9525" cap="flat" cmpd="sng">
                <a:solidFill>
                  <a:schemeClr val="dk2"/>
                </a:solidFill>
                <a:prstDash val="solid"/>
                <a:round/>
                <a:headEnd type="none" w="med" len="med"/>
                <a:tailEnd type="none" w="med" len="med"/>
              </a:ln>
            </p:spPr>
          </p:cxnSp>
          <p:cxnSp>
            <p:nvCxnSpPr>
              <p:cNvPr id="1400" name="Google Shape;1400;p23"/>
              <p:cNvCxnSpPr>
                <a:stCxn id="1386" idx="7"/>
                <a:endCxn id="1388" idx="1"/>
              </p:cNvCxnSpPr>
              <p:nvPr/>
            </p:nvCxnSpPr>
            <p:spPr>
              <a:xfrm flipH="1">
                <a:off x="5478310" y="249658"/>
                <a:ext cx="1693800" cy="123000"/>
              </a:xfrm>
              <a:prstGeom prst="straightConnector1">
                <a:avLst/>
              </a:prstGeom>
              <a:noFill/>
              <a:ln w="9525" cap="flat" cmpd="sng">
                <a:solidFill>
                  <a:schemeClr val="dk2"/>
                </a:solidFill>
                <a:prstDash val="solid"/>
                <a:round/>
                <a:headEnd type="none" w="med" len="med"/>
                <a:tailEnd type="none" w="med" len="med"/>
              </a:ln>
            </p:spPr>
          </p:cxnSp>
          <p:sp>
            <p:nvSpPr>
              <p:cNvPr id="1401" name="Google Shape;1401;p23"/>
              <p:cNvSpPr/>
              <p:nvPr/>
            </p:nvSpPr>
            <p:spPr>
              <a:xfrm rot="9708981">
                <a:off x="6280042" y="-655695"/>
                <a:ext cx="86521" cy="86521"/>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02" name="Google Shape;1402;p23"/>
              <p:cNvCxnSpPr>
                <a:stCxn id="1388" idx="3"/>
                <a:endCxn id="1401" idx="6"/>
              </p:cNvCxnSpPr>
              <p:nvPr/>
            </p:nvCxnSpPr>
            <p:spPr>
              <a:xfrm rot="10800000" flipH="1">
                <a:off x="5449161" y="-598892"/>
                <a:ext cx="833100" cy="883800"/>
              </a:xfrm>
              <a:prstGeom prst="straightConnector1">
                <a:avLst/>
              </a:prstGeom>
              <a:noFill/>
              <a:ln w="9525" cap="flat" cmpd="sng">
                <a:solidFill>
                  <a:schemeClr val="dk2"/>
                </a:solidFill>
                <a:prstDash val="solid"/>
                <a:round/>
                <a:headEnd type="none" w="med" len="med"/>
                <a:tailEnd type="none" w="med" len="med"/>
              </a:ln>
            </p:spPr>
          </p:cxnSp>
          <p:cxnSp>
            <p:nvCxnSpPr>
              <p:cNvPr id="1403" name="Google Shape;1403;p23"/>
              <p:cNvCxnSpPr>
                <a:stCxn id="1401" idx="2"/>
                <a:endCxn id="1383" idx="6"/>
              </p:cNvCxnSpPr>
              <p:nvPr/>
            </p:nvCxnSpPr>
            <p:spPr>
              <a:xfrm rot="10800000" flipH="1">
                <a:off x="6364402" y="-1116735"/>
                <a:ext cx="873000" cy="490800"/>
              </a:xfrm>
              <a:prstGeom prst="straightConnector1">
                <a:avLst/>
              </a:prstGeom>
              <a:noFill/>
              <a:ln w="9525" cap="flat" cmpd="sng">
                <a:solidFill>
                  <a:schemeClr val="dk2"/>
                </a:solidFill>
                <a:prstDash val="solid"/>
                <a:round/>
                <a:headEnd type="none" w="med" len="med"/>
                <a:tailEnd type="none" w="med" len="med"/>
              </a:ln>
            </p:spPr>
          </p:cxnSp>
          <p:cxnSp>
            <p:nvCxnSpPr>
              <p:cNvPr id="1404" name="Google Shape;1404;p23"/>
              <p:cNvCxnSpPr>
                <a:stCxn id="1401" idx="0"/>
                <a:endCxn id="1382" idx="4"/>
              </p:cNvCxnSpPr>
              <p:nvPr/>
            </p:nvCxnSpPr>
            <p:spPr>
              <a:xfrm>
                <a:off x="6336802" y="-571335"/>
                <a:ext cx="45000" cy="481500"/>
              </a:xfrm>
              <a:prstGeom prst="straightConnector1">
                <a:avLst/>
              </a:prstGeom>
              <a:noFill/>
              <a:ln w="9525" cap="flat" cmpd="sng">
                <a:solidFill>
                  <a:schemeClr val="dk2"/>
                </a:solidFill>
                <a:prstDash val="solid"/>
                <a:round/>
                <a:headEnd type="none" w="med" len="med"/>
                <a:tailEnd type="none" w="med" len="med"/>
              </a:ln>
            </p:spPr>
          </p:cxnSp>
          <p:cxnSp>
            <p:nvCxnSpPr>
              <p:cNvPr id="1405" name="Google Shape;1405;p23"/>
              <p:cNvCxnSpPr>
                <a:stCxn id="1401" idx="1"/>
                <a:endCxn id="1384" idx="5"/>
              </p:cNvCxnSpPr>
              <p:nvPr/>
            </p:nvCxnSpPr>
            <p:spPr>
              <a:xfrm>
                <a:off x="6361911" y="-592919"/>
                <a:ext cx="1656600" cy="465000"/>
              </a:xfrm>
              <a:prstGeom prst="straightConnector1">
                <a:avLst/>
              </a:prstGeom>
              <a:noFill/>
              <a:ln w="9525" cap="flat" cmpd="sng">
                <a:solidFill>
                  <a:schemeClr val="dk2"/>
                </a:solidFill>
                <a:prstDash val="solid"/>
                <a:round/>
                <a:headEnd type="none" w="med" len="med"/>
                <a:tailEnd type="none" w="med" len="med"/>
              </a:ln>
            </p:spPr>
          </p:cxnSp>
          <p:sp>
            <p:nvSpPr>
              <p:cNvPr id="1406" name="Google Shape;1406;p23"/>
              <p:cNvSpPr/>
              <p:nvPr/>
            </p:nvSpPr>
            <p:spPr>
              <a:xfrm rot="9698973">
                <a:off x="7912582" y="-1816833"/>
                <a:ext cx="128642" cy="128642"/>
              </a:xfrm>
              <a:prstGeom prst="ellipse">
                <a:avLst/>
              </a:prstGeom>
              <a:solidFill>
                <a:srgbClr val="86CF6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07" name="Google Shape;1407;p23"/>
              <p:cNvCxnSpPr>
                <a:stCxn id="1383" idx="2"/>
                <a:endCxn id="1406" idx="7"/>
              </p:cNvCxnSpPr>
              <p:nvPr/>
            </p:nvCxnSpPr>
            <p:spPr>
              <a:xfrm rot="10800000" flipH="1">
                <a:off x="7489640" y="-1694927"/>
                <a:ext cx="458400" cy="494100"/>
              </a:xfrm>
              <a:prstGeom prst="straightConnector1">
                <a:avLst/>
              </a:prstGeom>
              <a:noFill/>
              <a:ln w="9525" cap="flat" cmpd="sng">
                <a:solidFill>
                  <a:schemeClr val="dk2"/>
                </a:solidFill>
                <a:prstDash val="solid"/>
                <a:round/>
                <a:headEnd type="none" w="med" len="med"/>
                <a:tailEnd type="none" w="med" len="med"/>
              </a:ln>
            </p:spPr>
          </p:cxnSp>
          <p:cxnSp>
            <p:nvCxnSpPr>
              <p:cNvPr id="1408" name="Google Shape;1408;p23"/>
              <p:cNvCxnSpPr>
                <a:stCxn id="1406" idx="3"/>
                <a:endCxn id="1381" idx="7"/>
              </p:cNvCxnSpPr>
              <p:nvPr/>
            </p:nvCxnSpPr>
            <p:spPr>
              <a:xfrm rot="10800000" flipH="1">
                <a:off x="8005753" y="-2236000"/>
                <a:ext cx="286200" cy="426000"/>
              </a:xfrm>
              <a:prstGeom prst="straightConnector1">
                <a:avLst/>
              </a:prstGeom>
              <a:noFill/>
              <a:ln w="9525" cap="flat" cmpd="sng">
                <a:solidFill>
                  <a:schemeClr val="dk2"/>
                </a:solidFill>
                <a:prstDash val="solid"/>
                <a:round/>
                <a:headEnd type="none" w="med" len="med"/>
                <a:tailEnd type="none" w="med" len="med"/>
              </a:ln>
            </p:spPr>
          </p:cxnSp>
          <p:cxnSp>
            <p:nvCxnSpPr>
              <p:cNvPr id="1409" name="Google Shape;1409;p23"/>
              <p:cNvCxnSpPr>
                <a:stCxn id="1384" idx="4"/>
                <a:endCxn id="1406" idx="0"/>
              </p:cNvCxnSpPr>
              <p:nvPr/>
            </p:nvCxnSpPr>
            <p:spPr>
              <a:xfrm rot="10800000">
                <a:off x="7997070" y="-1691416"/>
                <a:ext cx="46500" cy="1542000"/>
              </a:xfrm>
              <a:prstGeom prst="straightConnector1">
                <a:avLst/>
              </a:prstGeom>
              <a:noFill/>
              <a:ln w="9525" cap="flat" cmpd="sng">
                <a:solidFill>
                  <a:schemeClr val="dk2"/>
                </a:solidFill>
                <a:prstDash val="solid"/>
                <a:round/>
                <a:headEnd type="none" w="med" len="med"/>
                <a:tailEnd type="none" w="med" len="med"/>
              </a:ln>
            </p:spPr>
          </p:cxnSp>
          <p:sp>
            <p:nvSpPr>
              <p:cNvPr id="1410" name="Google Shape;1410;p23"/>
              <p:cNvSpPr/>
              <p:nvPr/>
            </p:nvSpPr>
            <p:spPr>
              <a:xfrm rot="9700738">
                <a:off x="8739027" y="840659"/>
                <a:ext cx="238594" cy="238594"/>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11" name="Google Shape;1411;p23"/>
              <p:cNvCxnSpPr>
                <a:stCxn id="1384" idx="0"/>
                <a:endCxn id="1410" idx="4"/>
              </p:cNvCxnSpPr>
              <p:nvPr/>
            </p:nvCxnSpPr>
            <p:spPr>
              <a:xfrm>
                <a:off x="8070570" y="-67216"/>
                <a:ext cx="750300" cy="913800"/>
              </a:xfrm>
              <a:prstGeom prst="straightConnector1">
                <a:avLst/>
              </a:prstGeom>
              <a:noFill/>
              <a:ln w="9525" cap="flat" cmpd="sng">
                <a:solidFill>
                  <a:schemeClr val="dk2"/>
                </a:solidFill>
                <a:prstDash val="solid"/>
                <a:round/>
                <a:headEnd type="none" w="med" len="med"/>
                <a:tailEnd type="none" w="med" len="med"/>
              </a:ln>
            </p:spPr>
          </p:cxnSp>
          <p:cxnSp>
            <p:nvCxnSpPr>
              <p:cNvPr id="1412" name="Google Shape;1412;p23"/>
              <p:cNvCxnSpPr>
                <a:stCxn id="1385" idx="7"/>
                <a:endCxn id="1410" idx="3"/>
              </p:cNvCxnSpPr>
              <p:nvPr/>
            </p:nvCxnSpPr>
            <p:spPr>
              <a:xfrm flipH="1">
                <a:off x="8911773" y="244086"/>
                <a:ext cx="10800" cy="609300"/>
              </a:xfrm>
              <a:prstGeom prst="straightConnector1">
                <a:avLst/>
              </a:prstGeom>
              <a:noFill/>
              <a:ln w="9525" cap="flat" cmpd="sng">
                <a:solidFill>
                  <a:schemeClr val="dk2"/>
                </a:solidFill>
                <a:prstDash val="solid"/>
                <a:round/>
                <a:headEnd type="none" w="med" len="med"/>
                <a:tailEnd type="none" w="med" len="med"/>
              </a:ln>
            </p:spPr>
          </p:cxnSp>
        </p:grpSp>
        <p:grpSp>
          <p:nvGrpSpPr>
            <p:cNvPr id="1413" name="Google Shape;1413;p23"/>
            <p:cNvGrpSpPr/>
            <p:nvPr/>
          </p:nvGrpSpPr>
          <p:grpSpPr>
            <a:xfrm>
              <a:off x="4731484" y="3997585"/>
              <a:ext cx="4355179" cy="3513764"/>
              <a:chOff x="720009" y="3852908"/>
              <a:chExt cx="4355179" cy="3513764"/>
            </a:xfrm>
          </p:grpSpPr>
          <p:sp>
            <p:nvSpPr>
              <p:cNvPr id="1414" name="Google Shape;1414;p23"/>
              <p:cNvSpPr/>
              <p:nvPr/>
            </p:nvSpPr>
            <p:spPr>
              <a:xfrm rot="8759498">
                <a:off x="4842687" y="3890706"/>
                <a:ext cx="194703" cy="194703"/>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15" name="Google Shape;1415;p23"/>
              <p:cNvSpPr/>
              <p:nvPr/>
            </p:nvSpPr>
            <p:spPr>
              <a:xfrm rot="8759498">
                <a:off x="2275964" y="6863806"/>
                <a:ext cx="194703" cy="194703"/>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16" name="Google Shape;1416;p23"/>
              <p:cNvSpPr/>
              <p:nvPr/>
            </p:nvSpPr>
            <p:spPr>
              <a:xfrm rot="8760064">
                <a:off x="1605200" y="4894668"/>
                <a:ext cx="401304" cy="401304"/>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17" name="Google Shape;1417;p23"/>
              <p:cNvSpPr/>
              <p:nvPr/>
            </p:nvSpPr>
            <p:spPr>
              <a:xfrm rot="8752287">
                <a:off x="3601108" y="6091497"/>
                <a:ext cx="130469" cy="130469"/>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18" name="Google Shape;1418;p23"/>
              <p:cNvSpPr/>
              <p:nvPr/>
            </p:nvSpPr>
            <p:spPr>
              <a:xfrm rot="8754177">
                <a:off x="4682827" y="4819876"/>
                <a:ext cx="210847" cy="210847"/>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19" name="Google Shape;1419;p23"/>
              <p:cNvSpPr/>
              <p:nvPr/>
            </p:nvSpPr>
            <p:spPr>
              <a:xfrm rot="8752287">
                <a:off x="3494792" y="7210837"/>
                <a:ext cx="130469" cy="130469"/>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20" name="Google Shape;1420;p23"/>
              <p:cNvSpPr/>
              <p:nvPr/>
            </p:nvSpPr>
            <p:spPr>
              <a:xfrm rot="8752287">
                <a:off x="3265787" y="4938959"/>
                <a:ext cx="130469" cy="130469"/>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421" name="Google Shape;1421;p23"/>
              <p:cNvSpPr/>
              <p:nvPr/>
            </p:nvSpPr>
            <p:spPr>
              <a:xfrm rot="8754847">
                <a:off x="1467743" y="6207539"/>
                <a:ext cx="96354" cy="96354"/>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22" name="Google Shape;1422;p23"/>
              <p:cNvCxnSpPr>
                <a:stCxn id="1419" idx="4"/>
                <a:endCxn id="1417" idx="0"/>
              </p:cNvCxnSpPr>
              <p:nvPr/>
            </p:nvCxnSpPr>
            <p:spPr>
              <a:xfrm rot="10800000" flipH="1">
                <a:off x="3523426" y="6210771"/>
                <a:ext cx="179400" cy="1011300"/>
              </a:xfrm>
              <a:prstGeom prst="straightConnector1">
                <a:avLst/>
              </a:prstGeom>
              <a:noFill/>
              <a:ln w="9525" cap="flat" cmpd="sng">
                <a:solidFill>
                  <a:schemeClr val="dk2"/>
                </a:solidFill>
                <a:prstDash val="solid"/>
                <a:round/>
                <a:headEnd type="none" w="med" len="med"/>
                <a:tailEnd type="none" w="med" len="med"/>
              </a:ln>
            </p:spPr>
          </p:cxnSp>
          <p:cxnSp>
            <p:nvCxnSpPr>
              <p:cNvPr id="1423" name="Google Shape;1423;p23"/>
              <p:cNvCxnSpPr>
                <a:stCxn id="1414" idx="7"/>
                <a:endCxn id="1418" idx="3"/>
              </p:cNvCxnSpPr>
              <p:nvPr/>
            </p:nvCxnSpPr>
            <p:spPr>
              <a:xfrm flipH="1">
                <a:off x="4808077" y="4083623"/>
                <a:ext cx="113400" cy="738300"/>
              </a:xfrm>
              <a:prstGeom prst="straightConnector1">
                <a:avLst/>
              </a:prstGeom>
              <a:noFill/>
              <a:ln w="9525" cap="flat" cmpd="sng">
                <a:solidFill>
                  <a:schemeClr val="dk2"/>
                </a:solidFill>
                <a:prstDash val="solid"/>
                <a:round/>
                <a:headEnd type="none" w="med" len="med"/>
                <a:tailEnd type="none" w="med" len="med"/>
              </a:ln>
            </p:spPr>
          </p:cxnSp>
          <p:cxnSp>
            <p:nvCxnSpPr>
              <p:cNvPr id="1424" name="Google Shape;1424;p23"/>
              <p:cNvCxnSpPr>
                <a:stCxn id="1418" idx="7"/>
                <a:endCxn id="1419" idx="2"/>
              </p:cNvCxnSpPr>
              <p:nvPr/>
            </p:nvCxnSpPr>
            <p:spPr>
              <a:xfrm flipH="1">
                <a:off x="3613910" y="5028820"/>
                <a:ext cx="1154400" cy="2210700"/>
              </a:xfrm>
              <a:prstGeom prst="straightConnector1">
                <a:avLst/>
              </a:prstGeom>
              <a:noFill/>
              <a:ln w="9525" cap="flat" cmpd="sng">
                <a:solidFill>
                  <a:schemeClr val="dk2"/>
                </a:solidFill>
                <a:prstDash val="solid"/>
                <a:round/>
                <a:headEnd type="none" w="med" len="med"/>
                <a:tailEnd type="none" w="med" len="med"/>
              </a:ln>
            </p:spPr>
          </p:cxnSp>
          <p:cxnSp>
            <p:nvCxnSpPr>
              <p:cNvPr id="1425" name="Google Shape;1425;p23"/>
              <p:cNvCxnSpPr>
                <a:stCxn id="1419" idx="6"/>
                <a:endCxn id="1415" idx="1"/>
              </p:cNvCxnSpPr>
              <p:nvPr/>
            </p:nvCxnSpPr>
            <p:spPr>
              <a:xfrm rot="10800000">
                <a:off x="2468926" y="6979671"/>
                <a:ext cx="1037100" cy="333000"/>
              </a:xfrm>
              <a:prstGeom prst="straightConnector1">
                <a:avLst/>
              </a:prstGeom>
              <a:noFill/>
              <a:ln w="9525" cap="flat" cmpd="sng">
                <a:solidFill>
                  <a:schemeClr val="dk2"/>
                </a:solidFill>
                <a:prstDash val="solid"/>
                <a:round/>
                <a:headEnd type="none" w="med" len="med"/>
                <a:tailEnd type="none" w="med" len="med"/>
              </a:ln>
            </p:spPr>
          </p:cxnSp>
          <p:cxnSp>
            <p:nvCxnSpPr>
              <p:cNvPr id="1426" name="Google Shape;1426;p23"/>
              <p:cNvCxnSpPr>
                <a:stCxn id="1417" idx="7"/>
                <a:endCxn id="1415" idx="3"/>
              </p:cNvCxnSpPr>
              <p:nvPr/>
            </p:nvCxnSpPr>
            <p:spPr>
              <a:xfrm flipH="1">
                <a:off x="2391939" y="6220795"/>
                <a:ext cx="1262100" cy="644700"/>
              </a:xfrm>
              <a:prstGeom prst="straightConnector1">
                <a:avLst/>
              </a:prstGeom>
              <a:noFill/>
              <a:ln w="9525" cap="flat" cmpd="sng">
                <a:solidFill>
                  <a:schemeClr val="dk2"/>
                </a:solidFill>
                <a:prstDash val="solid"/>
                <a:round/>
                <a:headEnd type="none" w="med" len="med"/>
                <a:tailEnd type="none" w="med" len="med"/>
              </a:ln>
            </p:spPr>
          </p:cxnSp>
          <p:cxnSp>
            <p:nvCxnSpPr>
              <p:cNvPr id="1427" name="Google Shape;1427;p23"/>
              <p:cNvCxnSpPr>
                <a:stCxn id="1414" idx="6"/>
                <a:endCxn id="1420" idx="2"/>
              </p:cNvCxnSpPr>
              <p:nvPr/>
            </p:nvCxnSpPr>
            <p:spPr>
              <a:xfrm flipH="1">
                <a:off x="3385138" y="4042508"/>
                <a:ext cx="1474200" cy="925200"/>
              </a:xfrm>
              <a:prstGeom prst="straightConnector1">
                <a:avLst/>
              </a:prstGeom>
              <a:noFill/>
              <a:ln w="9525" cap="flat" cmpd="sng">
                <a:solidFill>
                  <a:schemeClr val="dk2"/>
                </a:solidFill>
                <a:prstDash val="solid"/>
                <a:round/>
                <a:headEnd type="none" w="med" len="med"/>
                <a:tailEnd type="none" w="med" len="med"/>
              </a:ln>
            </p:spPr>
          </p:cxnSp>
          <p:cxnSp>
            <p:nvCxnSpPr>
              <p:cNvPr id="1428" name="Google Shape;1428;p23"/>
              <p:cNvCxnSpPr>
                <a:stCxn id="1420" idx="0"/>
                <a:endCxn id="1417" idx="2"/>
              </p:cNvCxnSpPr>
              <p:nvPr/>
            </p:nvCxnSpPr>
            <p:spPr>
              <a:xfrm>
                <a:off x="3367622" y="5058194"/>
                <a:ext cx="352800" cy="1062000"/>
              </a:xfrm>
              <a:prstGeom prst="straightConnector1">
                <a:avLst/>
              </a:prstGeom>
              <a:noFill/>
              <a:ln w="9525" cap="flat" cmpd="sng">
                <a:solidFill>
                  <a:schemeClr val="dk2"/>
                </a:solidFill>
                <a:prstDash val="solid"/>
                <a:round/>
                <a:headEnd type="none" w="med" len="med"/>
                <a:tailEnd type="none" w="med" len="med"/>
              </a:ln>
            </p:spPr>
          </p:cxnSp>
          <p:cxnSp>
            <p:nvCxnSpPr>
              <p:cNvPr id="1429" name="Google Shape;1429;p23"/>
              <p:cNvCxnSpPr>
                <a:stCxn id="1420" idx="5"/>
                <a:endCxn id="1416" idx="1"/>
              </p:cNvCxnSpPr>
              <p:nvPr/>
            </p:nvCxnSpPr>
            <p:spPr>
              <a:xfrm flipH="1">
                <a:off x="2002758" y="4991890"/>
                <a:ext cx="1264200" cy="141600"/>
              </a:xfrm>
              <a:prstGeom prst="straightConnector1">
                <a:avLst/>
              </a:prstGeom>
              <a:noFill/>
              <a:ln w="9525" cap="flat" cmpd="sng">
                <a:solidFill>
                  <a:schemeClr val="dk2"/>
                </a:solidFill>
                <a:prstDash val="solid"/>
                <a:round/>
                <a:headEnd type="none" w="med" len="med"/>
                <a:tailEnd type="none" w="med" len="med"/>
              </a:ln>
            </p:spPr>
          </p:cxnSp>
          <p:cxnSp>
            <p:nvCxnSpPr>
              <p:cNvPr id="1430" name="Google Shape;1430;p23"/>
              <p:cNvCxnSpPr>
                <a:stCxn id="1416" idx="0"/>
                <a:endCxn id="1417" idx="5"/>
              </p:cNvCxnSpPr>
              <p:nvPr/>
            </p:nvCxnSpPr>
            <p:spPr>
              <a:xfrm>
                <a:off x="1918052" y="5261670"/>
                <a:ext cx="1684200" cy="882900"/>
              </a:xfrm>
              <a:prstGeom prst="straightConnector1">
                <a:avLst/>
              </a:prstGeom>
              <a:noFill/>
              <a:ln w="9525" cap="flat" cmpd="sng">
                <a:solidFill>
                  <a:schemeClr val="dk2"/>
                </a:solidFill>
                <a:prstDash val="solid"/>
                <a:round/>
                <a:headEnd type="none" w="med" len="med"/>
                <a:tailEnd type="none" w="med" len="med"/>
              </a:ln>
            </p:spPr>
          </p:cxnSp>
          <p:cxnSp>
            <p:nvCxnSpPr>
              <p:cNvPr id="1431" name="Google Shape;1431;p23"/>
              <p:cNvCxnSpPr>
                <a:stCxn id="1416" idx="7"/>
                <a:endCxn id="1421" idx="3"/>
              </p:cNvCxnSpPr>
              <p:nvPr/>
            </p:nvCxnSpPr>
            <p:spPr>
              <a:xfrm flipH="1">
                <a:off x="1525162" y="5292284"/>
                <a:ext cx="242400" cy="916200"/>
              </a:xfrm>
              <a:prstGeom prst="straightConnector1">
                <a:avLst/>
              </a:prstGeom>
              <a:noFill/>
              <a:ln w="9525" cap="flat" cmpd="sng">
                <a:solidFill>
                  <a:schemeClr val="dk2"/>
                </a:solidFill>
                <a:prstDash val="solid"/>
                <a:round/>
                <a:headEnd type="none" w="med" len="med"/>
                <a:tailEnd type="none" w="med" len="med"/>
              </a:ln>
            </p:spPr>
          </p:cxnSp>
          <p:cxnSp>
            <p:nvCxnSpPr>
              <p:cNvPr id="1432" name="Google Shape;1432;p23"/>
              <p:cNvCxnSpPr>
                <a:stCxn id="1417" idx="6"/>
                <a:endCxn id="1421" idx="2"/>
              </p:cNvCxnSpPr>
              <p:nvPr/>
            </p:nvCxnSpPr>
            <p:spPr>
              <a:xfrm flipH="1">
                <a:off x="1555843" y="6193331"/>
                <a:ext cx="2056500" cy="35400"/>
              </a:xfrm>
              <a:prstGeom prst="straightConnector1">
                <a:avLst/>
              </a:prstGeom>
              <a:noFill/>
              <a:ln w="9525" cap="flat" cmpd="sng">
                <a:solidFill>
                  <a:schemeClr val="dk2"/>
                </a:solidFill>
                <a:prstDash val="solid"/>
                <a:round/>
                <a:headEnd type="none" w="med" len="med"/>
                <a:tailEnd type="none" w="med" len="med"/>
              </a:ln>
            </p:spPr>
          </p:cxnSp>
          <p:cxnSp>
            <p:nvCxnSpPr>
              <p:cNvPr id="1433" name="Google Shape;1433;p23"/>
              <p:cNvCxnSpPr>
                <a:stCxn id="1421" idx="0"/>
                <a:endCxn id="1415" idx="4"/>
              </p:cNvCxnSpPr>
              <p:nvPr/>
            </p:nvCxnSpPr>
            <p:spPr>
              <a:xfrm>
                <a:off x="1542920" y="6295616"/>
                <a:ext cx="775800" cy="584700"/>
              </a:xfrm>
              <a:prstGeom prst="straightConnector1">
                <a:avLst/>
              </a:prstGeom>
              <a:noFill/>
              <a:ln w="9525" cap="flat" cmpd="sng">
                <a:solidFill>
                  <a:schemeClr val="dk2"/>
                </a:solidFill>
                <a:prstDash val="solid"/>
                <a:round/>
                <a:headEnd type="none" w="med" len="med"/>
                <a:tailEnd type="none" w="med" len="med"/>
              </a:ln>
            </p:spPr>
          </p:cxnSp>
          <p:cxnSp>
            <p:nvCxnSpPr>
              <p:cNvPr id="1434" name="Google Shape;1434;p23"/>
              <p:cNvCxnSpPr>
                <a:stCxn id="1419" idx="5"/>
                <a:endCxn id="1421" idx="1"/>
              </p:cNvCxnSpPr>
              <p:nvPr/>
            </p:nvCxnSpPr>
            <p:spPr>
              <a:xfrm rot="10800000">
                <a:off x="1563363" y="6264768"/>
                <a:ext cx="1932600" cy="999000"/>
              </a:xfrm>
              <a:prstGeom prst="straightConnector1">
                <a:avLst/>
              </a:prstGeom>
              <a:noFill/>
              <a:ln w="9525" cap="flat" cmpd="sng">
                <a:solidFill>
                  <a:schemeClr val="dk2"/>
                </a:solidFill>
                <a:prstDash val="solid"/>
                <a:round/>
                <a:headEnd type="none" w="med" len="med"/>
                <a:tailEnd type="none" w="med" len="med"/>
              </a:ln>
            </p:spPr>
          </p:cxnSp>
          <p:cxnSp>
            <p:nvCxnSpPr>
              <p:cNvPr id="1435" name="Google Shape;1435;p23"/>
              <p:cNvCxnSpPr>
                <a:stCxn id="1418" idx="6"/>
                <a:endCxn id="1421" idx="1"/>
              </p:cNvCxnSpPr>
              <p:nvPr/>
            </p:nvCxnSpPr>
            <p:spPr>
              <a:xfrm flipH="1">
                <a:off x="1563250" y="4984400"/>
                <a:ext cx="3137700" cy="1280400"/>
              </a:xfrm>
              <a:prstGeom prst="straightConnector1">
                <a:avLst/>
              </a:prstGeom>
              <a:noFill/>
              <a:ln w="9525" cap="flat" cmpd="sng">
                <a:solidFill>
                  <a:schemeClr val="dk2"/>
                </a:solidFill>
                <a:prstDash val="solid"/>
                <a:round/>
                <a:headEnd type="none" w="med" len="med"/>
                <a:tailEnd type="none" w="med" len="med"/>
              </a:ln>
            </p:spPr>
          </p:cxnSp>
          <p:cxnSp>
            <p:nvCxnSpPr>
              <p:cNvPr id="1436" name="Google Shape;1436;p23"/>
              <p:cNvCxnSpPr>
                <a:stCxn id="1418" idx="5"/>
                <a:endCxn id="1420" idx="2"/>
              </p:cNvCxnSpPr>
              <p:nvPr/>
            </p:nvCxnSpPr>
            <p:spPr>
              <a:xfrm flipH="1">
                <a:off x="3385130" y="4905359"/>
                <a:ext cx="1299600" cy="62100"/>
              </a:xfrm>
              <a:prstGeom prst="straightConnector1">
                <a:avLst/>
              </a:prstGeom>
              <a:noFill/>
              <a:ln w="9525" cap="flat" cmpd="sng">
                <a:solidFill>
                  <a:schemeClr val="dk2"/>
                </a:solidFill>
                <a:prstDash val="solid"/>
                <a:round/>
                <a:headEnd type="none" w="med" len="med"/>
                <a:tailEnd type="none" w="med" len="med"/>
              </a:ln>
            </p:spPr>
          </p:cxnSp>
          <p:cxnSp>
            <p:nvCxnSpPr>
              <p:cNvPr id="1437" name="Google Shape;1437;p23"/>
              <p:cNvCxnSpPr>
                <a:stCxn id="1415" idx="4"/>
                <a:endCxn id="1416" idx="7"/>
              </p:cNvCxnSpPr>
              <p:nvPr/>
            </p:nvCxnSpPr>
            <p:spPr>
              <a:xfrm rot="10800000">
                <a:off x="1767465" y="5292257"/>
                <a:ext cx="551400" cy="1588200"/>
              </a:xfrm>
              <a:prstGeom prst="straightConnector1">
                <a:avLst/>
              </a:prstGeom>
              <a:noFill/>
              <a:ln w="9525" cap="flat" cmpd="sng">
                <a:solidFill>
                  <a:schemeClr val="dk2"/>
                </a:solidFill>
                <a:prstDash val="solid"/>
                <a:round/>
                <a:headEnd type="none" w="med" len="med"/>
                <a:tailEnd type="none" w="med" len="med"/>
              </a:ln>
            </p:spPr>
          </p:cxnSp>
          <p:sp>
            <p:nvSpPr>
              <p:cNvPr id="1438" name="Google Shape;1438;p23"/>
              <p:cNvSpPr/>
              <p:nvPr/>
            </p:nvSpPr>
            <p:spPr>
              <a:xfrm rot="8752287">
                <a:off x="745374" y="4876732"/>
                <a:ext cx="130469" cy="130469"/>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39" name="Google Shape;1439;p23"/>
              <p:cNvCxnSpPr>
                <a:stCxn id="1421" idx="4"/>
                <a:endCxn id="1438" idx="7"/>
              </p:cNvCxnSpPr>
              <p:nvPr/>
            </p:nvCxnSpPr>
            <p:spPr>
              <a:xfrm rot="10800000">
                <a:off x="798320" y="5005916"/>
                <a:ext cx="690600" cy="1209900"/>
              </a:xfrm>
              <a:prstGeom prst="straightConnector1">
                <a:avLst/>
              </a:prstGeom>
              <a:noFill/>
              <a:ln w="9525" cap="flat" cmpd="sng">
                <a:solidFill>
                  <a:schemeClr val="dk2"/>
                </a:solidFill>
                <a:prstDash val="solid"/>
                <a:round/>
                <a:headEnd type="none" w="med" len="med"/>
                <a:tailEnd type="none" w="med" len="med"/>
              </a:ln>
            </p:spPr>
          </p:cxnSp>
          <p:cxnSp>
            <p:nvCxnSpPr>
              <p:cNvPr id="1440" name="Google Shape;1440;p23"/>
              <p:cNvCxnSpPr>
                <a:stCxn id="1438" idx="1"/>
                <a:endCxn id="1416" idx="5"/>
              </p:cNvCxnSpPr>
              <p:nvPr/>
            </p:nvCxnSpPr>
            <p:spPr>
              <a:xfrm>
                <a:off x="874673" y="4954270"/>
                <a:ext cx="734100" cy="102900"/>
              </a:xfrm>
              <a:prstGeom prst="straightConnector1">
                <a:avLst/>
              </a:prstGeom>
              <a:noFill/>
              <a:ln w="9525" cap="flat" cmpd="sng">
                <a:solidFill>
                  <a:schemeClr val="dk2"/>
                </a:solidFill>
                <a:prstDash val="solid"/>
                <a:round/>
                <a:headEnd type="none" w="med" len="med"/>
                <a:tailEnd type="none" w="med" len="med"/>
              </a:ln>
            </p:spPr>
          </p:cxnSp>
          <p:sp>
            <p:nvSpPr>
              <p:cNvPr id="1441" name="Google Shape;1441;p23"/>
              <p:cNvSpPr/>
              <p:nvPr/>
            </p:nvSpPr>
            <p:spPr>
              <a:xfrm rot="8759498">
                <a:off x="1785083" y="4514433"/>
                <a:ext cx="194703" cy="194703"/>
              </a:xfrm>
              <a:prstGeom prst="ellipse">
                <a:avLst/>
              </a:prstGeom>
              <a:solidFill>
                <a:srgbClr val="FFD96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cxnSp>
            <p:nvCxnSpPr>
              <p:cNvPr id="1442" name="Google Shape;1442;p23"/>
              <p:cNvCxnSpPr>
                <a:stCxn id="1438" idx="2"/>
                <a:endCxn id="1441" idx="5"/>
              </p:cNvCxnSpPr>
              <p:nvPr/>
            </p:nvCxnSpPr>
            <p:spPr>
              <a:xfrm rot="10800000" flipH="1">
                <a:off x="864609" y="4593367"/>
                <a:ext cx="922200" cy="312000"/>
              </a:xfrm>
              <a:prstGeom prst="straightConnector1">
                <a:avLst/>
              </a:prstGeom>
              <a:noFill/>
              <a:ln w="9525" cap="flat" cmpd="sng">
                <a:solidFill>
                  <a:schemeClr val="dk2"/>
                </a:solidFill>
                <a:prstDash val="solid"/>
                <a:round/>
                <a:headEnd type="none" w="med" len="med"/>
                <a:tailEnd type="none" w="med" len="med"/>
              </a:ln>
            </p:spPr>
          </p:cxnSp>
          <p:cxnSp>
            <p:nvCxnSpPr>
              <p:cNvPr id="1443" name="Google Shape;1443;p23"/>
              <p:cNvCxnSpPr>
                <a:stCxn id="1441" idx="1"/>
                <a:endCxn id="1420" idx="5"/>
              </p:cNvCxnSpPr>
              <p:nvPr/>
            </p:nvCxnSpPr>
            <p:spPr>
              <a:xfrm>
                <a:off x="1977999" y="4630346"/>
                <a:ext cx="1289100" cy="361500"/>
              </a:xfrm>
              <a:prstGeom prst="straightConnector1">
                <a:avLst/>
              </a:prstGeom>
              <a:noFill/>
              <a:ln w="9525" cap="flat" cmpd="sng">
                <a:solidFill>
                  <a:schemeClr val="dk2"/>
                </a:solidFill>
                <a:prstDash val="solid"/>
                <a:round/>
                <a:headEnd type="none" w="med" len="med"/>
                <a:tailEnd type="none" w="med" len="med"/>
              </a:ln>
            </p:spPr>
          </p:cxnSp>
          <p:cxnSp>
            <p:nvCxnSpPr>
              <p:cNvPr id="1444" name="Google Shape;1444;p23"/>
              <p:cNvCxnSpPr>
                <a:stCxn id="1441" idx="7"/>
                <a:endCxn id="1416" idx="3"/>
              </p:cNvCxnSpPr>
              <p:nvPr/>
            </p:nvCxnSpPr>
            <p:spPr>
              <a:xfrm flipH="1">
                <a:off x="1844072" y="4707350"/>
                <a:ext cx="19800" cy="19110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1pPr>
            <a:lvl2pPr lvl="1"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2pPr>
            <a:lvl3pPr lvl="2"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3pPr>
            <a:lvl4pPr lvl="3"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4pPr>
            <a:lvl5pPr lvl="4"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5pPr>
            <a:lvl6pPr lvl="5"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6pPr>
            <a:lvl7pPr lvl="6"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7pPr>
            <a:lvl8pPr lvl="7"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8pPr>
            <a:lvl9pPr lvl="8" rtl="0">
              <a:spcBef>
                <a:spcPts val="0"/>
              </a:spcBef>
              <a:spcAft>
                <a:spcPts val="0"/>
              </a:spcAft>
              <a:buClr>
                <a:schemeClr val="dk1"/>
              </a:buClr>
              <a:buSzPts val="3000"/>
              <a:buFont typeface="Albert Sans"/>
              <a:buNone/>
              <a:defRPr sz="3000" b="1">
                <a:solidFill>
                  <a:schemeClr val="dk1"/>
                </a:solidFill>
                <a:latin typeface="Albert Sans"/>
                <a:ea typeface="Albert Sans"/>
                <a:cs typeface="Albert Sans"/>
                <a:sym typeface="Albert Sa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1pPr>
            <a:lvl2pPr marL="914400" lvl="1"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2pPr>
            <a:lvl3pPr marL="1371600" lvl="2"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3pPr>
            <a:lvl4pPr marL="1828800" lvl="3"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4pPr>
            <a:lvl5pPr marL="2286000" lvl="4"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5pPr>
            <a:lvl6pPr marL="2743200" lvl="5"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6pPr>
            <a:lvl7pPr marL="3200400" lvl="6"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7pPr>
            <a:lvl8pPr marL="3657600" lvl="7"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8pPr>
            <a:lvl9pPr marL="4114800" lvl="8" indent="-317500">
              <a:lnSpc>
                <a:spcPct val="115000"/>
              </a:lnSpc>
              <a:spcBef>
                <a:spcPts val="0"/>
              </a:spcBef>
              <a:spcAft>
                <a:spcPts val="0"/>
              </a:spcAft>
              <a:buClr>
                <a:schemeClr val="dk1"/>
              </a:buClr>
              <a:buSzPts val="1400"/>
              <a:buFont typeface="Mulish"/>
              <a:buChar char="■"/>
              <a:defRPr>
                <a:solidFill>
                  <a:schemeClr val="dk1"/>
                </a:solidFill>
                <a:latin typeface="Mulish"/>
                <a:ea typeface="Mulish"/>
                <a:cs typeface="Mulish"/>
                <a:sym typeface="Mulish"/>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8" r:id="rId3"/>
    <p:sldLayoutId id="2147483661" r:id="rId4"/>
    <p:sldLayoutId id="2147483665" r:id="rId5"/>
    <p:sldLayoutId id="2147483668" r:id="rId6"/>
    <p:sldLayoutId id="2147483669" r:id="rId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61">
          <a:extLst>
            <a:ext uri="{FF2B5EF4-FFF2-40B4-BE49-F238E27FC236}">
              <a16:creationId xmlns:a16="http://schemas.microsoft.com/office/drawing/2014/main" id="{6B4A3713-A82B-6040-3F01-EA3B7DD30F0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DDA16B4-CB27-C5A5-1AF5-44DDAF18A837}"/>
              </a:ext>
            </a:extLst>
          </p:cNvPr>
          <p:cNvSpPr txBox="1"/>
          <p:nvPr/>
        </p:nvSpPr>
        <p:spPr>
          <a:xfrm>
            <a:off x="2077949" y="55189"/>
            <a:ext cx="4988102" cy="405880"/>
          </a:xfrm>
          <a:prstGeom prst="rect">
            <a:avLst/>
          </a:prstGeom>
          <a:noFill/>
        </p:spPr>
        <p:txBody>
          <a:bodyPr wrap="square">
            <a:spAutoFit/>
          </a:bodyPr>
          <a:lstStyle/>
          <a:p>
            <a:pPr algn="ctr">
              <a:lnSpc>
                <a:spcPts val="2700"/>
              </a:lnSpc>
              <a:buNone/>
            </a:pPr>
            <a:r>
              <a:rPr lang="fr-FR" sz="1600" noProof="0" dirty="0">
                <a:latin typeface="Times New Roman" panose="02020603050405020304" pitchFamily="18" charset="0"/>
                <a:ea typeface="Tahoma" panose="020B0604030504040204" pitchFamily="34" charset="0"/>
                <a:cs typeface="Times New Roman" panose="02020603050405020304" pitchFamily="18" charset="0"/>
              </a:rPr>
              <a:t>Département Génie Industriel et Productique (GIP)</a:t>
            </a:r>
            <a:endParaRPr lang="fr-FR" sz="900" noProof="0" dirty="0">
              <a:effectLst/>
              <a:latin typeface="Times New Roman" panose="02020603050405020304" pitchFamily="18" charset="0"/>
              <a:ea typeface="Tahoma" panose="020B0604030504040204" pitchFamily="34" charset="0"/>
              <a:cs typeface="Times New Roman" panose="02020603050405020304" pitchFamily="18" charset="0"/>
            </a:endParaRPr>
          </a:p>
        </p:txBody>
      </p:sp>
      <p:sp>
        <p:nvSpPr>
          <p:cNvPr id="7" name="TextBox 6">
            <a:extLst>
              <a:ext uri="{FF2B5EF4-FFF2-40B4-BE49-F238E27FC236}">
                <a16:creationId xmlns:a16="http://schemas.microsoft.com/office/drawing/2014/main" id="{0E35CEAF-F872-A67E-7765-ADB17D3AFBCE}"/>
              </a:ext>
            </a:extLst>
          </p:cNvPr>
          <p:cNvSpPr txBox="1"/>
          <p:nvPr/>
        </p:nvSpPr>
        <p:spPr>
          <a:xfrm>
            <a:off x="2077949" y="439538"/>
            <a:ext cx="5106558" cy="1046440"/>
          </a:xfrm>
          <a:prstGeom prst="rect">
            <a:avLst/>
          </a:prstGeom>
          <a:noFill/>
        </p:spPr>
        <p:txBody>
          <a:bodyPr wrap="square">
            <a:spAutoFit/>
          </a:bodyPr>
          <a:lstStyle/>
          <a:p>
            <a:pPr algn="ctr">
              <a:spcBef>
                <a:spcPts val="600"/>
              </a:spcBef>
              <a:spcAft>
                <a:spcPts val="600"/>
              </a:spcAft>
              <a:buNone/>
            </a:pPr>
            <a:r>
              <a:rPr lang="fr-FR" b="1" kern="100" noProof="0" dirty="0">
                <a:latin typeface="Times New Roman" panose="02020603050405020304" pitchFamily="18" charset="0"/>
                <a:ea typeface="Aptos" panose="020B0004020202020204" pitchFamily="34" charset="0"/>
                <a:cs typeface="Arial" panose="020B0604020202020204" pitchFamily="34" charset="0"/>
              </a:rPr>
              <a:t>PROJET DE FIN D’ETUDE </a:t>
            </a:r>
          </a:p>
          <a:p>
            <a:pPr algn="ctr">
              <a:spcBef>
                <a:spcPts val="600"/>
              </a:spcBef>
              <a:spcAft>
                <a:spcPts val="600"/>
              </a:spcAft>
            </a:pPr>
            <a:r>
              <a:rPr lang="fr-FR" kern="100" noProof="0" dirty="0">
                <a:latin typeface="Times New Roman" panose="02020603050405020304" pitchFamily="18" charset="0"/>
                <a:ea typeface="Aptos" panose="020B0004020202020204" pitchFamily="34" charset="0"/>
                <a:cs typeface="Arial" panose="020B0604020202020204" pitchFamily="34" charset="0"/>
              </a:rPr>
              <a:t>En vue d’obtention du diplôme de Master de recherche</a:t>
            </a:r>
          </a:p>
          <a:p>
            <a:pPr algn="ctr">
              <a:spcBef>
                <a:spcPts val="600"/>
              </a:spcBef>
              <a:spcAft>
                <a:spcPts val="600"/>
              </a:spcAft>
              <a:buNone/>
            </a:pPr>
            <a:r>
              <a:rPr lang="fr-FR" kern="100" noProof="0" dirty="0">
                <a:latin typeface="Times New Roman" panose="02020603050405020304" pitchFamily="18" charset="0"/>
                <a:ea typeface="Aptos" panose="020B0004020202020204" pitchFamily="34" charset="0"/>
                <a:cs typeface="Arial" panose="020B0604020202020204" pitchFamily="34" charset="0"/>
              </a:rPr>
              <a:t>Option : Sciences des Données pour une Industrie Intelligente (SDII)</a:t>
            </a:r>
          </a:p>
        </p:txBody>
      </p:sp>
      <p:cxnSp>
        <p:nvCxnSpPr>
          <p:cNvPr id="8" name="Straight Connector 7">
            <a:extLst>
              <a:ext uri="{FF2B5EF4-FFF2-40B4-BE49-F238E27FC236}">
                <a16:creationId xmlns:a16="http://schemas.microsoft.com/office/drawing/2014/main" id="{FD7AB34D-E37C-CB1F-86D3-041E548E8655}"/>
              </a:ext>
            </a:extLst>
          </p:cNvPr>
          <p:cNvCxnSpPr>
            <a:cxnSpLocks/>
          </p:cNvCxnSpPr>
          <p:nvPr/>
        </p:nvCxnSpPr>
        <p:spPr>
          <a:xfrm>
            <a:off x="1422400" y="1519621"/>
            <a:ext cx="6488109" cy="0"/>
          </a:xfrm>
          <a:prstGeom prst="line">
            <a:avLst/>
          </a:prstGeom>
        </p:spPr>
        <p:style>
          <a:lnRef idx="2">
            <a:schemeClr val="accent3"/>
          </a:lnRef>
          <a:fillRef idx="0">
            <a:schemeClr val="accent3"/>
          </a:fillRef>
          <a:effectRef idx="1">
            <a:schemeClr val="accent3"/>
          </a:effectRef>
          <a:fontRef idx="minor">
            <a:schemeClr val="tx1"/>
          </a:fontRef>
        </p:style>
      </p:cxnSp>
      <p:cxnSp>
        <p:nvCxnSpPr>
          <p:cNvPr id="9" name="Straight Connector 8">
            <a:extLst>
              <a:ext uri="{FF2B5EF4-FFF2-40B4-BE49-F238E27FC236}">
                <a16:creationId xmlns:a16="http://schemas.microsoft.com/office/drawing/2014/main" id="{79BD203B-42F5-EA58-5361-E9C6BDF9F204}"/>
              </a:ext>
            </a:extLst>
          </p:cNvPr>
          <p:cNvCxnSpPr>
            <a:cxnSpLocks/>
          </p:cNvCxnSpPr>
          <p:nvPr/>
        </p:nvCxnSpPr>
        <p:spPr>
          <a:xfrm>
            <a:off x="1422400" y="2180424"/>
            <a:ext cx="6461118" cy="34835"/>
          </a:xfrm>
          <a:prstGeom prst="line">
            <a:avLst/>
          </a:prstGeom>
        </p:spPr>
        <p:style>
          <a:lnRef idx="2">
            <a:schemeClr val="accent3"/>
          </a:lnRef>
          <a:fillRef idx="0">
            <a:schemeClr val="accent3"/>
          </a:fillRef>
          <a:effectRef idx="1">
            <a:schemeClr val="accent3"/>
          </a:effectRef>
          <a:fontRef idx="minor">
            <a:schemeClr val="tx1"/>
          </a:fontRef>
        </p:style>
      </p:cxnSp>
      <p:sp>
        <p:nvSpPr>
          <p:cNvPr id="11" name="Google Shape;1455;p27">
            <a:extLst>
              <a:ext uri="{FF2B5EF4-FFF2-40B4-BE49-F238E27FC236}">
                <a16:creationId xmlns:a16="http://schemas.microsoft.com/office/drawing/2014/main" id="{7EA4FF0B-F2A4-E231-3C78-E5B9F7110C02}"/>
              </a:ext>
            </a:extLst>
          </p:cNvPr>
          <p:cNvSpPr txBox="1">
            <a:spLocks/>
          </p:cNvSpPr>
          <p:nvPr/>
        </p:nvSpPr>
        <p:spPr>
          <a:xfrm>
            <a:off x="1260482" y="1629804"/>
            <a:ext cx="6741492" cy="55062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pPr algn="ctr"/>
            <a:r>
              <a:rPr lang="fr-FR" sz="1600" noProof="0" dirty="0"/>
              <a:t>Détection de communautés dans les réseaux sociaux pour les systèmes de recommandation et le marketing ciblé.</a:t>
            </a:r>
          </a:p>
        </p:txBody>
      </p:sp>
      <p:sp>
        <p:nvSpPr>
          <p:cNvPr id="12" name="TextBox 11">
            <a:extLst>
              <a:ext uri="{FF2B5EF4-FFF2-40B4-BE49-F238E27FC236}">
                <a16:creationId xmlns:a16="http://schemas.microsoft.com/office/drawing/2014/main" id="{3880C925-79CE-76C6-4082-1106D55A4BA8}"/>
              </a:ext>
            </a:extLst>
          </p:cNvPr>
          <p:cNvSpPr txBox="1"/>
          <p:nvPr/>
        </p:nvSpPr>
        <p:spPr>
          <a:xfrm>
            <a:off x="480143" y="2273319"/>
            <a:ext cx="3195611" cy="376834"/>
          </a:xfrm>
          <a:prstGeom prst="rect">
            <a:avLst/>
          </a:prstGeom>
          <a:noFill/>
        </p:spPr>
        <p:txBody>
          <a:bodyPr wrap="square">
            <a:spAutoFit/>
          </a:bodyPr>
          <a:lstStyle/>
          <a:p>
            <a:pPr algn="ctr">
              <a:lnSpc>
                <a:spcPct val="150000"/>
              </a:lnSpc>
            </a:pPr>
            <a:r>
              <a:rPr lang="fr-FR" b="1" noProof="0" dirty="0">
                <a:latin typeface="Times New Roman" panose="02020603050405020304" pitchFamily="18" charset="0"/>
                <a:cs typeface="Times New Roman" panose="02020603050405020304" pitchFamily="18" charset="0"/>
              </a:rPr>
              <a:t>Présentée par: </a:t>
            </a:r>
            <a:r>
              <a:rPr lang="fr-FR" noProof="0" dirty="0">
                <a:latin typeface="Times New Roman" panose="02020603050405020304" pitchFamily="18" charset="0"/>
                <a:cs typeface="Times New Roman" panose="02020603050405020304" pitchFamily="18" charset="0"/>
              </a:rPr>
              <a:t>MOUDDEN Hamza</a:t>
            </a:r>
          </a:p>
        </p:txBody>
      </p:sp>
      <p:pic>
        <p:nvPicPr>
          <p:cNvPr id="15" name="Picture 14">
            <a:extLst>
              <a:ext uri="{FF2B5EF4-FFF2-40B4-BE49-F238E27FC236}">
                <a16:creationId xmlns:a16="http://schemas.microsoft.com/office/drawing/2014/main" id="{BC93B06D-FDF8-7FFE-81E1-D7C1E5DF97B2}"/>
              </a:ext>
            </a:extLst>
          </p:cNvPr>
          <p:cNvPicPr>
            <a:picLocks noChangeAspect="1"/>
          </p:cNvPicPr>
          <p:nvPr/>
        </p:nvPicPr>
        <p:blipFill>
          <a:blip r:embed="rId3"/>
          <a:stretch>
            <a:fillRect/>
          </a:stretch>
        </p:blipFill>
        <p:spPr>
          <a:xfrm>
            <a:off x="0" y="25456"/>
            <a:ext cx="2228088" cy="735269"/>
          </a:xfrm>
          <a:prstGeom prst="rect">
            <a:avLst/>
          </a:prstGeom>
        </p:spPr>
      </p:pic>
      <p:sp>
        <p:nvSpPr>
          <p:cNvPr id="17" name="TextBox 16">
            <a:extLst>
              <a:ext uri="{FF2B5EF4-FFF2-40B4-BE49-F238E27FC236}">
                <a16:creationId xmlns:a16="http://schemas.microsoft.com/office/drawing/2014/main" id="{D70A8ED3-3676-127E-5742-58F4B72EDAB9}"/>
              </a:ext>
            </a:extLst>
          </p:cNvPr>
          <p:cNvSpPr txBox="1"/>
          <p:nvPr/>
        </p:nvSpPr>
        <p:spPr>
          <a:xfrm>
            <a:off x="2077949" y="4518004"/>
            <a:ext cx="4988102" cy="261610"/>
          </a:xfrm>
          <a:prstGeom prst="rect">
            <a:avLst/>
          </a:prstGeom>
          <a:noFill/>
        </p:spPr>
        <p:txBody>
          <a:bodyPr wrap="square">
            <a:spAutoFit/>
            <a:scene3d>
              <a:camera prst="orthographicFront"/>
              <a:lightRig rig="harsh" dir="t"/>
            </a:scene3d>
            <a:sp3d extrusionH="57150" prstMaterial="matte">
              <a:bevelT w="63500" h="12700" prst="angle"/>
              <a:contourClr>
                <a:schemeClr val="bg1">
                  <a:lumMod val="65000"/>
                </a:schemeClr>
              </a:contourClr>
            </a:sp3d>
          </a:bodyPr>
          <a:lstStyle/>
          <a:p>
            <a:pPr algn="ctr"/>
            <a:r>
              <a:rPr lang="fr-FR" sz="1100" b="1" noProof="0" dirty="0">
                <a:ln/>
                <a:solidFill>
                  <a:schemeClr val="accent3"/>
                </a:solidFill>
              </a:rPr>
              <a:t>Année Universitaire 2025-2026</a:t>
            </a:r>
          </a:p>
        </p:txBody>
      </p:sp>
      <p:sp>
        <p:nvSpPr>
          <p:cNvPr id="42" name="TextBox 41">
            <a:extLst>
              <a:ext uri="{FF2B5EF4-FFF2-40B4-BE49-F238E27FC236}">
                <a16:creationId xmlns:a16="http://schemas.microsoft.com/office/drawing/2014/main" id="{64CE116D-C553-1DA4-06AA-31A16FE35202}"/>
              </a:ext>
            </a:extLst>
          </p:cNvPr>
          <p:cNvSpPr txBox="1"/>
          <p:nvPr/>
        </p:nvSpPr>
        <p:spPr>
          <a:xfrm>
            <a:off x="2974194" y="2546095"/>
            <a:ext cx="3195611" cy="376834"/>
          </a:xfrm>
          <a:prstGeom prst="rect">
            <a:avLst/>
          </a:prstGeom>
          <a:noFill/>
        </p:spPr>
        <p:txBody>
          <a:bodyPr wrap="square">
            <a:spAutoFit/>
          </a:bodyPr>
          <a:lstStyle/>
          <a:p>
            <a:pPr algn="ctr">
              <a:lnSpc>
                <a:spcPct val="150000"/>
              </a:lnSpc>
            </a:pPr>
            <a:r>
              <a:rPr lang="fr-FR" b="1" noProof="0" dirty="0">
                <a:latin typeface="Times New Roman" panose="02020603050405020304" pitchFamily="18" charset="0"/>
                <a:cs typeface="Times New Roman" panose="02020603050405020304" pitchFamily="18" charset="0"/>
              </a:rPr>
              <a:t>Devant le jury :</a:t>
            </a:r>
          </a:p>
        </p:txBody>
      </p:sp>
    </p:spTree>
    <p:extLst>
      <p:ext uri="{BB962C8B-B14F-4D97-AF65-F5344CB8AC3E}">
        <p14:creationId xmlns:p14="http://schemas.microsoft.com/office/powerpoint/2010/main" val="25768365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9">
          <a:extLst>
            <a:ext uri="{FF2B5EF4-FFF2-40B4-BE49-F238E27FC236}">
              <a16:creationId xmlns:a16="http://schemas.microsoft.com/office/drawing/2014/main" id="{488AA2A6-3D42-032D-4AAA-5BF1A362C41D}"/>
            </a:ext>
          </a:extLst>
        </p:cNvPr>
        <p:cNvGrpSpPr/>
        <p:nvPr/>
      </p:nvGrpSpPr>
      <p:grpSpPr>
        <a:xfrm>
          <a:off x="0" y="0"/>
          <a:ext cx="0" cy="0"/>
          <a:chOff x="0" y="0"/>
          <a:chExt cx="0" cy="0"/>
        </a:xfrm>
      </p:grpSpPr>
      <p:sp>
        <p:nvSpPr>
          <p:cNvPr id="1481" name="Google Shape;1481;p29">
            <a:extLst>
              <a:ext uri="{FF2B5EF4-FFF2-40B4-BE49-F238E27FC236}">
                <a16:creationId xmlns:a16="http://schemas.microsoft.com/office/drawing/2014/main" id="{D0399217-5624-66A9-A9C2-A1A07959CDBE}"/>
              </a:ext>
            </a:extLst>
          </p:cNvPr>
          <p:cNvSpPr txBox="1">
            <a:spLocks noGrp="1"/>
          </p:cNvSpPr>
          <p:nvPr>
            <p:ph type="title" idx="5"/>
          </p:nvPr>
        </p:nvSpPr>
        <p:spPr>
          <a:xfrm>
            <a:off x="720000" y="1239351"/>
            <a:ext cx="816600" cy="7800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r>
              <a:rPr lang="fr-FR" sz="2000" noProof="0" dirty="0"/>
              <a:t>01</a:t>
            </a:r>
          </a:p>
        </p:txBody>
      </p:sp>
      <p:sp>
        <p:nvSpPr>
          <p:cNvPr id="1482" name="Google Shape;1482;p29">
            <a:extLst>
              <a:ext uri="{FF2B5EF4-FFF2-40B4-BE49-F238E27FC236}">
                <a16:creationId xmlns:a16="http://schemas.microsoft.com/office/drawing/2014/main" id="{7EBE8760-54D3-D44A-335C-8446F696571B}"/>
              </a:ext>
            </a:extLst>
          </p:cNvPr>
          <p:cNvSpPr txBox="1">
            <a:spLocks noGrp="1"/>
          </p:cNvSpPr>
          <p:nvPr>
            <p:ph type="subTitle" idx="9"/>
          </p:nvPr>
        </p:nvSpPr>
        <p:spPr>
          <a:xfrm>
            <a:off x="1573527" y="1532769"/>
            <a:ext cx="3125415" cy="286925"/>
          </a:xfrm>
          <a:prstGeom prst="rect">
            <a:avLst/>
          </a:prstGeom>
        </p:spPr>
        <p:txBody>
          <a:bodyPr spcFirstLastPara="1" wrap="square" lIns="91425" tIns="91425" rIns="91425" bIns="91425" anchor="b" anchorCtr="0">
            <a:noAutofit/>
          </a:bodyPr>
          <a:lstStyle/>
          <a:p>
            <a:pPr marL="0" lvl="0" indent="0"/>
            <a:r>
              <a:rPr lang="fr-FR" sz="1400" noProof="0" dirty="0"/>
              <a:t>Introduction et contexte</a:t>
            </a:r>
          </a:p>
        </p:txBody>
      </p:sp>
      <p:sp>
        <p:nvSpPr>
          <p:cNvPr id="1484" name="Google Shape;1484;p29">
            <a:extLst>
              <a:ext uri="{FF2B5EF4-FFF2-40B4-BE49-F238E27FC236}">
                <a16:creationId xmlns:a16="http://schemas.microsoft.com/office/drawing/2014/main" id="{ECDC569C-426F-1191-691A-5CDCDE1CE2D9}"/>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r>
              <a:rPr lang="fr-FR" noProof="0" dirty="0"/>
              <a:t>Sommaire</a:t>
            </a:r>
          </a:p>
        </p:txBody>
      </p:sp>
      <p:sp>
        <p:nvSpPr>
          <p:cNvPr id="24" name="Google Shape;1481;p29">
            <a:extLst>
              <a:ext uri="{FF2B5EF4-FFF2-40B4-BE49-F238E27FC236}">
                <a16:creationId xmlns:a16="http://schemas.microsoft.com/office/drawing/2014/main" id="{988FDED6-5882-41CD-A1C8-F8A717BA8308}"/>
              </a:ext>
            </a:extLst>
          </p:cNvPr>
          <p:cNvSpPr txBox="1">
            <a:spLocks/>
          </p:cNvSpPr>
          <p:nvPr/>
        </p:nvSpPr>
        <p:spPr>
          <a:xfrm>
            <a:off x="758225" y="1808806"/>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02</a:t>
            </a:r>
          </a:p>
        </p:txBody>
      </p:sp>
      <p:sp>
        <p:nvSpPr>
          <p:cNvPr id="25" name="Google Shape;1482;p29">
            <a:extLst>
              <a:ext uri="{FF2B5EF4-FFF2-40B4-BE49-F238E27FC236}">
                <a16:creationId xmlns:a16="http://schemas.microsoft.com/office/drawing/2014/main" id="{C8C89414-67F3-37DE-13C5-870285B8F4C6}"/>
              </a:ext>
            </a:extLst>
          </p:cNvPr>
          <p:cNvSpPr txBox="1">
            <a:spLocks/>
          </p:cNvSpPr>
          <p:nvPr/>
        </p:nvSpPr>
        <p:spPr>
          <a:xfrm>
            <a:off x="1574176" y="2138856"/>
            <a:ext cx="2884800"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noProof="0" dirty="0"/>
              <a:t>Problématique et Objectifs</a:t>
            </a:r>
          </a:p>
        </p:txBody>
      </p:sp>
      <p:sp>
        <p:nvSpPr>
          <p:cNvPr id="27" name="Google Shape;1481;p29">
            <a:extLst>
              <a:ext uri="{FF2B5EF4-FFF2-40B4-BE49-F238E27FC236}">
                <a16:creationId xmlns:a16="http://schemas.microsoft.com/office/drawing/2014/main" id="{4BB97521-C704-EF58-9790-10D4F51EC960}"/>
              </a:ext>
            </a:extLst>
          </p:cNvPr>
          <p:cNvSpPr txBox="1">
            <a:spLocks/>
          </p:cNvSpPr>
          <p:nvPr/>
        </p:nvSpPr>
        <p:spPr>
          <a:xfrm>
            <a:off x="758225" y="2306276"/>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03</a:t>
            </a:r>
          </a:p>
        </p:txBody>
      </p:sp>
      <p:sp>
        <p:nvSpPr>
          <p:cNvPr id="29" name="Google Shape;1482;p29">
            <a:extLst>
              <a:ext uri="{FF2B5EF4-FFF2-40B4-BE49-F238E27FC236}">
                <a16:creationId xmlns:a16="http://schemas.microsoft.com/office/drawing/2014/main" id="{2A6BFD9C-AC1C-FDE0-2E04-264F614CD2D3}"/>
              </a:ext>
            </a:extLst>
          </p:cNvPr>
          <p:cNvSpPr txBox="1">
            <a:spLocks/>
          </p:cNvSpPr>
          <p:nvPr/>
        </p:nvSpPr>
        <p:spPr>
          <a:xfrm>
            <a:off x="1574176" y="2636326"/>
            <a:ext cx="2884800"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noProof="0" dirty="0"/>
              <a:t>Etat de l'art</a:t>
            </a:r>
          </a:p>
        </p:txBody>
      </p:sp>
      <p:sp>
        <p:nvSpPr>
          <p:cNvPr id="31" name="Google Shape;1481;p29">
            <a:extLst>
              <a:ext uri="{FF2B5EF4-FFF2-40B4-BE49-F238E27FC236}">
                <a16:creationId xmlns:a16="http://schemas.microsoft.com/office/drawing/2014/main" id="{1F04A791-46AA-99B2-3462-C73E8833BB7B}"/>
              </a:ext>
            </a:extLst>
          </p:cNvPr>
          <p:cNvSpPr txBox="1">
            <a:spLocks/>
          </p:cNvSpPr>
          <p:nvPr/>
        </p:nvSpPr>
        <p:spPr>
          <a:xfrm>
            <a:off x="758225" y="2756226"/>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04</a:t>
            </a:r>
          </a:p>
        </p:txBody>
      </p:sp>
      <p:sp>
        <p:nvSpPr>
          <p:cNvPr id="33" name="Google Shape;1482;p29">
            <a:extLst>
              <a:ext uri="{FF2B5EF4-FFF2-40B4-BE49-F238E27FC236}">
                <a16:creationId xmlns:a16="http://schemas.microsoft.com/office/drawing/2014/main" id="{1FD32997-A7BA-CD8D-469B-6801F802CF56}"/>
              </a:ext>
            </a:extLst>
          </p:cNvPr>
          <p:cNvSpPr txBox="1">
            <a:spLocks/>
          </p:cNvSpPr>
          <p:nvPr/>
        </p:nvSpPr>
        <p:spPr>
          <a:xfrm>
            <a:off x="1574176" y="3086276"/>
            <a:ext cx="2884800"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noProof="0" dirty="0"/>
              <a:t>Méthodologie</a:t>
            </a:r>
          </a:p>
        </p:txBody>
      </p:sp>
      <p:sp>
        <p:nvSpPr>
          <p:cNvPr id="34" name="Google Shape;1481;p29">
            <a:extLst>
              <a:ext uri="{FF2B5EF4-FFF2-40B4-BE49-F238E27FC236}">
                <a16:creationId xmlns:a16="http://schemas.microsoft.com/office/drawing/2014/main" id="{E811344D-A009-0A81-88CC-D673654F46EB}"/>
              </a:ext>
            </a:extLst>
          </p:cNvPr>
          <p:cNvSpPr txBox="1">
            <a:spLocks/>
          </p:cNvSpPr>
          <p:nvPr/>
        </p:nvSpPr>
        <p:spPr>
          <a:xfrm>
            <a:off x="4458327" y="1239351"/>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05</a:t>
            </a:r>
          </a:p>
        </p:txBody>
      </p:sp>
      <p:sp>
        <p:nvSpPr>
          <p:cNvPr id="35" name="Google Shape;1482;p29">
            <a:extLst>
              <a:ext uri="{FF2B5EF4-FFF2-40B4-BE49-F238E27FC236}">
                <a16:creationId xmlns:a16="http://schemas.microsoft.com/office/drawing/2014/main" id="{31369977-4133-CF1D-2475-396511934D01}"/>
              </a:ext>
            </a:extLst>
          </p:cNvPr>
          <p:cNvSpPr txBox="1">
            <a:spLocks/>
          </p:cNvSpPr>
          <p:nvPr/>
        </p:nvSpPr>
        <p:spPr>
          <a:xfrm>
            <a:off x="5274927" y="1721626"/>
            <a:ext cx="2884800"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dirty="0"/>
              <a:t>Résultats de la détection de communautés</a:t>
            </a:r>
            <a:endParaRPr lang="fr-FR" sz="1400" noProof="0" dirty="0"/>
          </a:p>
        </p:txBody>
      </p:sp>
      <p:sp>
        <p:nvSpPr>
          <p:cNvPr id="36" name="Google Shape;1481;p29">
            <a:extLst>
              <a:ext uri="{FF2B5EF4-FFF2-40B4-BE49-F238E27FC236}">
                <a16:creationId xmlns:a16="http://schemas.microsoft.com/office/drawing/2014/main" id="{0CFFF65C-6A90-9C37-6482-917AD8CE41EA}"/>
              </a:ext>
            </a:extLst>
          </p:cNvPr>
          <p:cNvSpPr txBox="1">
            <a:spLocks/>
          </p:cNvSpPr>
          <p:nvPr/>
        </p:nvSpPr>
        <p:spPr>
          <a:xfrm>
            <a:off x="4458976" y="1751132"/>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06</a:t>
            </a:r>
          </a:p>
        </p:txBody>
      </p:sp>
      <p:sp>
        <p:nvSpPr>
          <p:cNvPr id="37" name="Google Shape;1482;p29">
            <a:extLst>
              <a:ext uri="{FF2B5EF4-FFF2-40B4-BE49-F238E27FC236}">
                <a16:creationId xmlns:a16="http://schemas.microsoft.com/office/drawing/2014/main" id="{9F96197A-0229-6BB2-4A77-30F0738C76BD}"/>
              </a:ext>
            </a:extLst>
          </p:cNvPr>
          <p:cNvSpPr txBox="1">
            <a:spLocks/>
          </p:cNvSpPr>
          <p:nvPr/>
        </p:nvSpPr>
        <p:spPr>
          <a:xfrm>
            <a:off x="5122674" y="2215567"/>
            <a:ext cx="4021326" cy="327543"/>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r>
              <a:rPr lang="fr-FR" sz="1400" noProof="0" dirty="0"/>
              <a:t>Intégration du système </a:t>
            </a:r>
          </a:p>
          <a:p>
            <a:r>
              <a:rPr lang="fr-FR" sz="1400" noProof="0" dirty="0"/>
              <a:t>de recommandation</a:t>
            </a:r>
          </a:p>
        </p:txBody>
      </p:sp>
      <p:sp>
        <p:nvSpPr>
          <p:cNvPr id="38" name="Google Shape;1481;p29">
            <a:extLst>
              <a:ext uri="{FF2B5EF4-FFF2-40B4-BE49-F238E27FC236}">
                <a16:creationId xmlns:a16="http://schemas.microsoft.com/office/drawing/2014/main" id="{3A38F007-DAC9-E914-AD5D-1A46D65D29C6}"/>
              </a:ext>
            </a:extLst>
          </p:cNvPr>
          <p:cNvSpPr txBox="1">
            <a:spLocks/>
          </p:cNvSpPr>
          <p:nvPr/>
        </p:nvSpPr>
        <p:spPr>
          <a:xfrm>
            <a:off x="4458976" y="2306276"/>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07</a:t>
            </a:r>
          </a:p>
        </p:txBody>
      </p:sp>
      <p:sp>
        <p:nvSpPr>
          <p:cNvPr id="39" name="Google Shape;1482;p29">
            <a:extLst>
              <a:ext uri="{FF2B5EF4-FFF2-40B4-BE49-F238E27FC236}">
                <a16:creationId xmlns:a16="http://schemas.microsoft.com/office/drawing/2014/main" id="{4686D4AA-789B-A04A-C3E9-EEAB7847368D}"/>
              </a:ext>
            </a:extLst>
          </p:cNvPr>
          <p:cNvSpPr txBox="1">
            <a:spLocks/>
          </p:cNvSpPr>
          <p:nvPr/>
        </p:nvSpPr>
        <p:spPr>
          <a:xfrm>
            <a:off x="5274927" y="2636326"/>
            <a:ext cx="2884800"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dirty="0"/>
              <a:t>Démonstration</a:t>
            </a:r>
            <a:endParaRPr lang="fr-FR" sz="1400" noProof="0" dirty="0"/>
          </a:p>
        </p:txBody>
      </p:sp>
      <p:sp>
        <p:nvSpPr>
          <p:cNvPr id="40" name="Google Shape;1481;p29">
            <a:extLst>
              <a:ext uri="{FF2B5EF4-FFF2-40B4-BE49-F238E27FC236}">
                <a16:creationId xmlns:a16="http://schemas.microsoft.com/office/drawing/2014/main" id="{0E45F8DC-A7BE-E247-7A67-6E39311739EC}"/>
              </a:ext>
            </a:extLst>
          </p:cNvPr>
          <p:cNvSpPr txBox="1">
            <a:spLocks/>
          </p:cNvSpPr>
          <p:nvPr/>
        </p:nvSpPr>
        <p:spPr>
          <a:xfrm>
            <a:off x="4458976" y="2756226"/>
            <a:ext cx="816600" cy="7800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000" noProof="0" dirty="0"/>
              <a:t>08</a:t>
            </a:r>
          </a:p>
        </p:txBody>
      </p:sp>
      <p:sp>
        <p:nvSpPr>
          <p:cNvPr id="41" name="Google Shape;1482;p29">
            <a:extLst>
              <a:ext uri="{FF2B5EF4-FFF2-40B4-BE49-F238E27FC236}">
                <a16:creationId xmlns:a16="http://schemas.microsoft.com/office/drawing/2014/main" id="{D061BCF3-0ED9-E919-7EAE-06239767B257}"/>
              </a:ext>
            </a:extLst>
          </p:cNvPr>
          <p:cNvSpPr txBox="1">
            <a:spLocks/>
          </p:cNvSpPr>
          <p:nvPr/>
        </p:nvSpPr>
        <p:spPr>
          <a:xfrm>
            <a:off x="5274927" y="3086276"/>
            <a:ext cx="3018468" cy="286925"/>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DM Sans"/>
              <a:buNone/>
              <a:defRPr sz="2000" b="1" i="0" u="none" strike="noStrike" cap="none">
                <a:solidFill>
                  <a:schemeClr val="dk1"/>
                </a:solidFill>
                <a:latin typeface="Albert Sans"/>
                <a:ea typeface="Albert Sans"/>
                <a:cs typeface="Albert Sans"/>
                <a:sym typeface="Albert Sans"/>
              </a:defRPr>
            </a:lvl1pPr>
            <a:lvl2pPr marL="914400" marR="0" lvl="1"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2pPr>
            <a:lvl3pPr marL="1371600" marR="0" lvl="2"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3pPr>
            <a:lvl4pPr marL="1828800" marR="0" lvl="3"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4pPr>
            <a:lvl5pPr marL="2286000" marR="0" lvl="4"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5pPr>
            <a:lvl6pPr marL="2743200" marR="0" lvl="5"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6pPr>
            <a:lvl7pPr marL="3200400" marR="0" lvl="6"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7pPr>
            <a:lvl8pPr marL="3657600" marR="0" lvl="7"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8pPr>
            <a:lvl9pPr marL="4114800" marR="0" lvl="8" indent="-317500" algn="l" rtl="0">
              <a:lnSpc>
                <a:spcPct val="100000"/>
              </a:lnSpc>
              <a:spcBef>
                <a:spcPts val="0"/>
              </a:spcBef>
              <a:spcAft>
                <a:spcPts val="0"/>
              </a:spcAft>
              <a:buClr>
                <a:schemeClr val="dk1"/>
              </a:buClr>
              <a:buSzPts val="2400"/>
              <a:buFont typeface="DM Sans"/>
              <a:buNone/>
              <a:defRPr sz="2400" b="1" i="0" u="none" strike="noStrike" cap="none">
                <a:solidFill>
                  <a:schemeClr val="dk1"/>
                </a:solidFill>
                <a:latin typeface="DM Sans"/>
                <a:ea typeface="DM Sans"/>
                <a:cs typeface="DM Sans"/>
                <a:sym typeface="DM Sans"/>
              </a:defRPr>
            </a:lvl9pPr>
          </a:lstStyle>
          <a:p>
            <a:pPr marL="0" indent="0"/>
            <a:r>
              <a:rPr lang="fr-FR" sz="1400" dirty="0"/>
              <a:t>Conclusion et perspectives</a:t>
            </a:r>
            <a:endParaRPr lang="fr-FR" sz="1400" noProof="0" dirty="0"/>
          </a:p>
        </p:txBody>
      </p:sp>
      <p:sp>
        <p:nvSpPr>
          <p:cNvPr id="5" name="Google Shape;1481;p29">
            <a:extLst>
              <a:ext uri="{FF2B5EF4-FFF2-40B4-BE49-F238E27FC236}">
                <a16:creationId xmlns:a16="http://schemas.microsoft.com/office/drawing/2014/main" id="{BF9BB2F5-4BD6-6408-8F41-F52479456ED9}"/>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a:t>
            </a:r>
          </a:p>
        </p:txBody>
      </p:sp>
    </p:spTree>
    <p:extLst>
      <p:ext uri="{BB962C8B-B14F-4D97-AF65-F5344CB8AC3E}">
        <p14:creationId xmlns:p14="http://schemas.microsoft.com/office/powerpoint/2010/main" val="26033618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00">
          <a:extLst>
            <a:ext uri="{FF2B5EF4-FFF2-40B4-BE49-F238E27FC236}">
              <a16:creationId xmlns:a16="http://schemas.microsoft.com/office/drawing/2014/main" id="{85A7006D-8088-74F4-AB9B-481106A5523D}"/>
            </a:ext>
          </a:extLst>
        </p:cNvPr>
        <p:cNvGrpSpPr/>
        <p:nvPr/>
      </p:nvGrpSpPr>
      <p:grpSpPr>
        <a:xfrm>
          <a:off x="0" y="0"/>
          <a:ext cx="0" cy="0"/>
          <a:chOff x="0" y="0"/>
          <a:chExt cx="0" cy="0"/>
        </a:xfrm>
      </p:grpSpPr>
      <p:sp>
        <p:nvSpPr>
          <p:cNvPr id="1704" name="Google Shape;1704;p38">
            <a:extLst>
              <a:ext uri="{FF2B5EF4-FFF2-40B4-BE49-F238E27FC236}">
                <a16:creationId xmlns:a16="http://schemas.microsoft.com/office/drawing/2014/main" id="{B428FCD0-1194-BCB0-9535-8D49D4A73B9D}"/>
              </a:ext>
            </a:extLst>
          </p:cNvPr>
          <p:cNvSpPr txBox="1">
            <a:spLocks noGrp="1"/>
          </p:cNvSpPr>
          <p:nvPr>
            <p:ph type="title"/>
          </p:nvPr>
        </p:nvSpPr>
        <p:spPr>
          <a:xfrm>
            <a:off x="524792" y="288525"/>
            <a:ext cx="1934822"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FR" sz="2400" noProof="0" dirty="0"/>
              <a:t>Introduction</a:t>
            </a:r>
          </a:p>
        </p:txBody>
      </p:sp>
      <p:sp>
        <p:nvSpPr>
          <p:cNvPr id="5" name="TextBox 4">
            <a:extLst>
              <a:ext uri="{FF2B5EF4-FFF2-40B4-BE49-F238E27FC236}">
                <a16:creationId xmlns:a16="http://schemas.microsoft.com/office/drawing/2014/main" id="{6EAB589E-1016-9728-B9BB-533B0D6E596F}"/>
              </a:ext>
            </a:extLst>
          </p:cNvPr>
          <p:cNvSpPr txBox="1"/>
          <p:nvPr/>
        </p:nvSpPr>
        <p:spPr>
          <a:xfrm>
            <a:off x="1114306" y="1413836"/>
            <a:ext cx="6915388" cy="2315827"/>
          </a:xfrm>
          <a:prstGeom prst="rect">
            <a:avLst/>
          </a:prstGeom>
          <a:noFill/>
        </p:spPr>
        <p:txBody>
          <a:bodyPr wrap="square">
            <a:spAutoFit/>
          </a:bodyPr>
          <a:lstStyle/>
          <a:p>
            <a:pPr algn="just">
              <a:lnSpc>
                <a:spcPct val="150000"/>
              </a:lnSpc>
            </a:pPr>
            <a:r>
              <a:rPr lang="fr-FR" noProof="0" dirty="0">
                <a:latin typeface="Times New Roman" panose="02020603050405020304" pitchFamily="18" charset="0"/>
                <a:cs typeface="Times New Roman" panose="02020603050405020304" pitchFamily="18" charset="0"/>
              </a:rPr>
              <a:t>Les plateformes de réseaux sociaux génèrent d'immenses réseaux d'interactions entre les utilisateurs.</a:t>
            </a:r>
          </a:p>
          <a:p>
            <a:pPr marL="285750" indent="-285750" algn="just">
              <a:lnSpc>
                <a:spcPct val="15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Facebook compte plus de 2 milliards d'utilisateurs actifs.</a:t>
            </a:r>
          </a:p>
          <a:p>
            <a:pPr marL="285750" indent="-285750" algn="just">
              <a:lnSpc>
                <a:spcPct val="15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Les interactions incluent les mentions J'aime, les partages, les commentaires et les abonnements.</a:t>
            </a:r>
          </a:p>
          <a:p>
            <a:pPr marL="285750" indent="-285750" algn="just">
              <a:lnSpc>
                <a:spcPct val="15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Ces interactions forment des réseaux complexes qui révèlent des schémas de connexion et de comportement entre les utilisateurs.</a:t>
            </a:r>
          </a:p>
        </p:txBody>
      </p:sp>
      <p:sp>
        <p:nvSpPr>
          <p:cNvPr id="3" name="Google Shape;1481;p29">
            <a:extLst>
              <a:ext uri="{FF2B5EF4-FFF2-40B4-BE49-F238E27FC236}">
                <a16:creationId xmlns:a16="http://schemas.microsoft.com/office/drawing/2014/main" id="{E61F9C7B-A652-524A-81C2-1BB8C447E0F2}"/>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3</a:t>
            </a:r>
          </a:p>
        </p:txBody>
      </p:sp>
    </p:spTree>
    <p:extLst>
      <p:ext uri="{BB962C8B-B14F-4D97-AF65-F5344CB8AC3E}">
        <p14:creationId xmlns:p14="http://schemas.microsoft.com/office/powerpoint/2010/main" val="4450720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00">
          <a:extLst>
            <a:ext uri="{FF2B5EF4-FFF2-40B4-BE49-F238E27FC236}">
              <a16:creationId xmlns:a16="http://schemas.microsoft.com/office/drawing/2014/main" id="{EE2BF6EA-0F16-D5F2-38E3-51F7E7E4285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0A2FD18-9A86-827D-3943-148AF021AFA1}"/>
              </a:ext>
            </a:extLst>
          </p:cNvPr>
          <p:cNvSpPr txBox="1"/>
          <p:nvPr/>
        </p:nvSpPr>
        <p:spPr>
          <a:xfrm>
            <a:off x="524792" y="1139578"/>
            <a:ext cx="8094416" cy="1750287"/>
          </a:xfrm>
          <a:prstGeom prst="rect">
            <a:avLst/>
          </a:prstGeom>
          <a:noFill/>
        </p:spPr>
        <p:txBody>
          <a:bodyPr wrap="square">
            <a:spAutoFit/>
          </a:bodyPr>
          <a:lstStyle/>
          <a:p>
            <a:pPr marL="285750" indent="-28575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Les réseaux sociaux (Facebook, X, Instagram…) sont des graphes d’interactions.</a:t>
            </a:r>
          </a:p>
          <a:p>
            <a:pPr marL="285750" indent="-28575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Chaque utilisateur est un point, chaque lien (like, partage, abonnement) est une connexion.</a:t>
            </a:r>
          </a:p>
          <a:p>
            <a:pPr marL="285750" indent="-28575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La détection de communautés consiste à trouver automatiquement des groupes d'utilisateurs très connectés entre eux.</a:t>
            </a:r>
          </a:p>
        </p:txBody>
      </p:sp>
      <p:sp>
        <p:nvSpPr>
          <p:cNvPr id="6" name="Google Shape;1704;p38">
            <a:extLst>
              <a:ext uri="{FF2B5EF4-FFF2-40B4-BE49-F238E27FC236}">
                <a16:creationId xmlns:a16="http://schemas.microsoft.com/office/drawing/2014/main" id="{FD8A1E33-6529-1480-D446-7BD82B7FBFF0}"/>
              </a:ext>
            </a:extLst>
          </p:cNvPr>
          <p:cNvSpPr txBox="1">
            <a:spLocks noGrp="1"/>
          </p:cNvSpPr>
          <p:nvPr>
            <p:ph type="title"/>
          </p:nvPr>
        </p:nvSpPr>
        <p:spPr>
          <a:xfrm>
            <a:off x="524792" y="288525"/>
            <a:ext cx="8503594" cy="572700"/>
          </a:xfrm>
          <a:prstGeom prst="rect">
            <a:avLst/>
          </a:prstGeom>
        </p:spPr>
        <p:txBody>
          <a:bodyPr spcFirstLastPara="1" wrap="square" lIns="91425" tIns="91425" rIns="91425" bIns="91425" anchor="t" anchorCtr="0">
            <a:noAutofit/>
          </a:bodyPr>
          <a:lstStyle/>
          <a:p>
            <a:r>
              <a:rPr lang="fr-FR" sz="2400" noProof="0" dirty="0"/>
              <a:t>Contexte</a:t>
            </a:r>
          </a:p>
        </p:txBody>
      </p:sp>
      <p:sp>
        <p:nvSpPr>
          <p:cNvPr id="20" name="TextBox 19">
            <a:extLst>
              <a:ext uri="{FF2B5EF4-FFF2-40B4-BE49-F238E27FC236}">
                <a16:creationId xmlns:a16="http://schemas.microsoft.com/office/drawing/2014/main" id="{4B39229F-5489-7AF8-AD4E-2BCFF5F1D765}"/>
              </a:ext>
            </a:extLst>
          </p:cNvPr>
          <p:cNvSpPr txBox="1"/>
          <p:nvPr/>
        </p:nvSpPr>
        <p:spPr>
          <a:xfrm>
            <a:off x="671794" y="831801"/>
            <a:ext cx="2862516" cy="307777"/>
          </a:xfrm>
          <a:prstGeom prst="rect">
            <a:avLst/>
          </a:prstGeom>
          <a:noFill/>
        </p:spPr>
        <p:txBody>
          <a:bodyPr wrap="square" rtlCol="0">
            <a:spAutoFit/>
          </a:bodyPr>
          <a:lstStyle/>
          <a:p>
            <a:r>
              <a:rPr lang="fr-FR" b="1" noProof="0" dirty="0"/>
              <a:t>Détection de communautés</a:t>
            </a:r>
            <a:endParaRPr lang="fr-FR" noProof="0" dirty="0"/>
          </a:p>
        </p:txBody>
      </p:sp>
      <p:pic>
        <p:nvPicPr>
          <p:cNvPr id="42" name="Picture 41">
            <a:extLst>
              <a:ext uri="{FF2B5EF4-FFF2-40B4-BE49-F238E27FC236}">
                <a16:creationId xmlns:a16="http://schemas.microsoft.com/office/drawing/2014/main" id="{49664778-EE07-0BC9-7497-A4169B812C84}"/>
              </a:ext>
            </a:extLst>
          </p:cNvPr>
          <p:cNvPicPr>
            <a:picLocks noChangeAspect="1"/>
          </p:cNvPicPr>
          <p:nvPr/>
        </p:nvPicPr>
        <p:blipFill>
          <a:blip r:embed="rId3"/>
          <a:srcRect b="5955"/>
          <a:stretch>
            <a:fillRect/>
          </a:stretch>
        </p:blipFill>
        <p:spPr>
          <a:xfrm>
            <a:off x="3327367" y="2571749"/>
            <a:ext cx="3809703" cy="2572491"/>
          </a:xfrm>
          <a:prstGeom prst="rect">
            <a:avLst/>
          </a:prstGeom>
        </p:spPr>
      </p:pic>
      <p:sp>
        <p:nvSpPr>
          <p:cNvPr id="3" name="Google Shape;1481;p29">
            <a:extLst>
              <a:ext uri="{FF2B5EF4-FFF2-40B4-BE49-F238E27FC236}">
                <a16:creationId xmlns:a16="http://schemas.microsoft.com/office/drawing/2014/main" id="{F7485FF6-385F-47EA-1F57-CF532A7350F9}"/>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4</a:t>
            </a:r>
          </a:p>
        </p:txBody>
      </p:sp>
    </p:spTree>
    <p:extLst>
      <p:ext uri="{BB962C8B-B14F-4D97-AF65-F5344CB8AC3E}">
        <p14:creationId xmlns:p14="http://schemas.microsoft.com/office/powerpoint/2010/main" val="18721148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00">
          <a:extLst>
            <a:ext uri="{FF2B5EF4-FFF2-40B4-BE49-F238E27FC236}">
              <a16:creationId xmlns:a16="http://schemas.microsoft.com/office/drawing/2014/main" id="{E12CDE11-29E2-DE3B-E9B6-317643F761F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9E662F6-F4BE-77B3-1741-AA8398BF7C91}"/>
              </a:ext>
            </a:extLst>
          </p:cNvPr>
          <p:cNvSpPr txBox="1"/>
          <p:nvPr/>
        </p:nvSpPr>
        <p:spPr>
          <a:xfrm>
            <a:off x="524792" y="1139578"/>
            <a:ext cx="8094416" cy="1750287"/>
          </a:xfrm>
          <a:prstGeom prst="rect">
            <a:avLst/>
          </a:prstGeom>
          <a:noFill/>
        </p:spPr>
        <p:txBody>
          <a:bodyPr wrap="square">
            <a:spAutoFit/>
          </a:bodyPr>
          <a:lstStyle/>
          <a:p>
            <a:pPr algn="just">
              <a:lnSpc>
                <a:spcPct val="200000"/>
              </a:lnSpc>
            </a:pPr>
            <a:r>
              <a:rPr lang="fr-FR" b="1" noProof="0" dirty="0">
                <a:latin typeface="Times New Roman" panose="02020603050405020304" pitchFamily="18" charset="0"/>
                <a:cs typeface="Times New Roman" panose="02020603050405020304" pitchFamily="18" charset="0"/>
              </a:rPr>
              <a:t>Question</a:t>
            </a:r>
            <a:r>
              <a:rPr lang="fr-FR" noProof="0" dirty="0">
                <a:latin typeface="Times New Roman" panose="02020603050405020304" pitchFamily="18" charset="0"/>
                <a:cs typeface="Times New Roman" panose="02020603050405020304" pitchFamily="18" charset="0"/>
              </a:rPr>
              <a:t> : Est-ce que regrouper les utilisateurs de cette façon est réellement utile ?</a:t>
            </a:r>
          </a:p>
          <a:p>
            <a:pPr algn="just">
              <a:lnSpc>
                <a:spcPct val="200000"/>
              </a:lnSpc>
            </a:pPr>
            <a:r>
              <a:rPr lang="fr-FR" b="1" noProof="0" dirty="0">
                <a:latin typeface="Times New Roman" panose="02020603050405020304" pitchFamily="18" charset="0"/>
                <a:cs typeface="Times New Roman" panose="02020603050405020304" pitchFamily="18" charset="0"/>
              </a:rPr>
              <a:t>Réponse</a:t>
            </a:r>
            <a:r>
              <a:rPr lang="fr-FR" noProof="0" dirty="0">
                <a:latin typeface="Times New Roman" panose="02020603050405020304" pitchFamily="18" charset="0"/>
                <a:cs typeface="Times New Roman" panose="02020603050405020304" pitchFamily="18" charset="0"/>
              </a:rPr>
              <a:t> : Oui, car les personnes très connectées socialement ont souvent :</a:t>
            </a:r>
          </a:p>
          <a:p>
            <a:pPr marL="285750" indent="-28575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Des centres d'intérêt communs (sport, cuisine, high-tech, etc.)</a:t>
            </a:r>
          </a:p>
          <a:p>
            <a:pPr marL="285750" indent="-28575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Des comportements d'achat ou de consommation similaires.</a:t>
            </a:r>
          </a:p>
        </p:txBody>
      </p:sp>
      <p:sp>
        <p:nvSpPr>
          <p:cNvPr id="6" name="Google Shape;1704;p38">
            <a:extLst>
              <a:ext uri="{FF2B5EF4-FFF2-40B4-BE49-F238E27FC236}">
                <a16:creationId xmlns:a16="http://schemas.microsoft.com/office/drawing/2014/main" id="{5BB3DBF9-FD69-6F59-4A1C-28C2D8C5C122}"/>
              </a:ext>
            </a:extLst>
          </p:cNvPr>
          <p:cNvSpPr txBox="1">
            <a:spLocks noGrp="1"/>
          </p:cNvSpPr>
          <p:nvPr>
            <p:ph type="title"/>
          </p:nvPr>
        </p:nvSpPr>
        <p:spPr>
          <a:xfrm>
            <a:off x="524792" y="288525"/>
            <a:ext cx="8503594" cy="572700"/>
          </a:xfrm>
          <a:prstGeom prst="rect">
            <a:avLst/>
          </a:prstGeom>
        </p:spPr>
        <p:txBody>
          <a:bodyPr spcFirstLastPara="1" wrap="square" lIns="91425" tIns="91425" rIns="91425" bIns="91425" anchor="t" anchorCtr="0">
            <a:noAutofit/>
          </a:bodyPr>
          <a:lstStyle/>
          <a:p>
            <a:r>
              <a:rPr lang="fr-FR" sz="2400" noProof="0" dirty="0"/>
              <a:t>Contexte</a:t>
            </a:r>
          </a:p>
        </p:txBody>
      </p:sp>
      <p:sp>
        <p:nvSpPr>
          <p:cNvPr id="20" name="TextBox 19">
            <a:extLst>
              <a:ext uri="{FF2B5EF4-FFF2-40B4-BE49-F238E27FC236}">
                <a16:creationId xmlns:a16="http://schemas.microsoft.com/office/drawing/2014/main" id="{0BCA71BE-3FDF-0C27-2468-769BBD90D18A}"/>
              </a:ext>
            </a:extLst>
          </p:cNvPr>
          <p:cNvSpPr txBox="1"/>
          <p:nvPr/>
        </p:nvSpPr>
        <p:spPr>
          <a:xfrm>
            <a:off x="671793" y="831801"/>
            <a:ext cx="7854689" cy="307777"/>
          </a:xfrm>
          <a:prstGeom prst="rect">
            <a:avLst/>
          </a:prstGeom>
          <a:noFill/>
        </p:spPr>
        <p:txBody>
          <a:bodyPr wrap="square" rtlCol="0">
            <a:spAutoFit/>
          </a:bodyPr>
          <a:lstStyle/>
          <a:p>
            <a:r>
              <a:rPr lang="fr-FR" b="1" noProof="0" dirty="0"/>
              <a:t>Les membres d’une même communauté partagent-ils les mêmes goûts ?</a:t>
            </a:r>
            <a:endParaRPr lang="fr-FR" noProof="0" dirty="0"/>
          </a:p>
        </p:txBody>
      </p:sp>
      <p:pic>
        <p:nvPicPr>
          <p:cNvPr id="3" name="Picture 2">
            <a:extLst>
              <a:ext uri="{FF2B5EF4-FFF2-40B4-BE49-F238E27FC236}">
                <a16:creationId xmlns:a16="http://schemas.microsoft.com/office/drawing/2014/main" id="{33F2B818-031C-9145-E79C-04364147E84A}"/>
              </a:ext>
            </a:extLst>
          </p:cNvPr>
          <p:cNvPicPr>
            <a:picLocks noChangeAspect="1"/>
          </p:cNvPicPr>
          <p:nvPr/>
        </p:nvPicPr>
        <p:blipFill>
          <a:blip r:embed="rId3"/>
          <a:stretch>
            <a:fillRect/>
          </a:stretch>
        </p:blipFill>
        <p:spPr>
          <a:xfrm>
            <a:off x="4916384" y="2957701"/>
            <a:ext cx="2720942" cy="1897274"/>
          </a:xfrm>
          <a:prstGeom prst="rect">
            <a:avLst/>
          </a:prstGeom>
        </p:spPr>
      </p:pic>
      <p:sp>
        <p:nvSpPr>
          <p:cNvPr id="4" name="Google Shape;1481;p29">
            <a:extLst>
              <a:ext uri="{FF2B5EF4-FFF2-40B4-BE49-F238E27FC236}">
                <a16:creationId xmlns:a16="http://schemas.microsoft.com/office/drawing/2014/main" id="{661352DB-3E27-B93D-AD8E-B1C72F27A843}"/>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5</a:t>
            </a:r>
          </a:p>
        </p:txBody>
      </p:sp>
    </p:spTree>
    <p:extLst>
      <p:ext uri="{BB962C8B-B14F-4D97-AF65-F5344CB8AC3E}">
        <p14:creationId xmlns:p14="http://schemas.microsoft.com/office/powerpoint/2010/main" val="35783855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0">
          <a:extLst>
            <a:ext uri="{FF2B5EF4-FFF2-40B4-BE49-F238E27FC236}">
              <a16:creationId xmlns:a16="http://schemas.microsoft.com/office/drawing/2014/main" id="{D7AD0D1D-DF69-C257-F36D-2646AB00E4F8}"/>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45327E-453F-3267-D841-6ED80F7C5070}"/>
              </a:ext>
            </a:extLst>
          </p:cNvPr>
          <p:cNvSpPr txBox="1"/>
          <p:nvPr/>
        </p:nvSpPr>
        <p:spPr>
          <a:xfrm>
            <a:off x="524792" y="1258331"/>
            <a:ext cx="8094416" cy="1750287"/>
          </a:xfrm>
          <a:prstGeom prst="rect">
            <a:avLst/>
          </a:prstGeom>
          <a:noFill/>
        </p:spPr>
        <p:txBody>
          <a:bodyPr wrap="square">
            <a:spAutoFit/>
          </a:bodyPr>
          <a:lstStyle/>
          <a:p>
            <a:pPr algn="just">
              <a:lnSpc>
                <a:spcPct val="200000"/>
              </a:lnSpc>
            </a:pPr>
            <a:r>
              <a:rPr lang="fr-FR" b="1" noProof="0" dirty="0">
                <a:latin typeface="Times New Roman" panose="02020603050405020304" pitchFamily="18" charset="0"/>
                <a:cs typeface="Times New Roman" panose="02020603050405020304" pitchFamily="18" charset="0"/>
              </a:rPr>
              <a:t>Le problème </a:t>
            </a:r>
            <a:r>
              <a:rPr lang="fr-FR" noProof="0" dirty="0">
                <a:latin typeface="Times New Roman" panose="02020603050405020304" pitchFamily="18" charset="0"/>
                <a:cs typeface="Times New Roman" panose="02020603050405020304" pitchFamily="18" charset="0"/>
              </a:rPr>
              <a:t>: Un nouvel utilisateur arrive sur une plateforme. Il n'a aucun historique d'achat ou de notation.</a:t>
            </a:r>
          </a:p>
          <a:p>
            <a:pPr algn="just">
              <a:lnSpc>
                <a:spcPct val="200000"/>
              </a:lnSpc>
            </a:pPr>
            <a:r>
              <a:rPr lang="fr-FR" noProof="0" dirty="0">
                <a:latin typeface="Times New Roman" panose="02020603050405020304" pitchFamily="18" charset="0"/>
                <a:cs typeface="Times New Roman" panose="02020603050405020304" pitchFamily="18" charset="0"/>
              </a:rPr>
              <a:t>Les systèmes classiques (filtrage collaboratif) ne peuvent rien lui recommander car ils ont besoin de ses données passées.</a:t>
            </a:r>
          </a:p>
          <a:p>
            <a:pPr algn="just">
              <a:lnSpc>
                <a:spcPct val="200000"/>
              </a:lnSpc>
            </a:pPr>
            <a:r>
              <a:rPr lang="fr-FR" b="1" noProof="0" dirty="0">
                <a:latin typeface="Times New Roman" panose="02020603050405020304" pitchFamily="18" charset="0"/>
                <a:cs typeface="Times New Roman" panose="02020603050405020304" pitchFamily="18" charset="0"/>
              </a:rPr>
              <a:t>Notre solution </a:t>
            </a:r>
            <a:r>
              <a:rPr lang="fr-FR" noProof="0" dirty="0">
                <a:latin typeface="Times New Roman" panose="02020603050405020304" pitchFamily="18" charset="0"/>
                <a:cs typeface="Times New Roman" panose="02020603050405020304" pitchFamily="18" charset="0"/>
              </a:rPr>
              <a:t>: On le rattache à une communauté existante (grâce à son réseau social).</a:t>
            </a:r>
          </a:p>
        </p:txBody>
      </p:sp>
      <p:sp>
        <p:nvSpPr>
          <p:cNvPr id="6" name="Google Shape;1704;p38">
            <a:extLst>
              <a:ext uri="{FF2B5EF4-FFF2-40B4-BE49-F238E27FC236}">
                <a16:creationId xmlns:a16="http://schemas.microsoft.com/office/drawing/2014/main" id="{DBEC9C0A-CA67-052D-0F46-4EB06750311C}"/>
              </a:ext>
            </a:extLst>
          </p:cNvPr>
          <p:cNvSpPr txBox="1">
            <a:spLocks noGrp="1"/>
          </p:cNvSpPr>
          <p:nvPr>
            <p:ph type="title"/>
          </p:nvPr>
        </p:nvSpPr>
        <p:spPr>
          <a:xfrm>
            <a:off x="524792" y="288525"/>
            <a:ext cx="8503594" cy="572700"/>
          </a:xfrm>
          <a:prstGeom prst="rect">
            <a:avLst/>
          </a:prstGeom>
        </p:spPr>
        <p:txBody>
          <a:bodyPr spcFirstLastPara="1" wrap="square" lIns="91425" tIns="91425" rIns="91425" bIns="91425" anchor="t" anchorCtr="0">
            <a:noAutofit/>
          </a:bodyPr>
          <a:lstStyle/>
          <a:p>
            <a:r>
              <a:rPr lang="fr-FR" sz="2400" noProof="0" dirty="0"/>
              <a:t>Motivation</a:t>
            </a:r>
          </a:p>
        </p:txBody>
      </p:sp>
      <p:sp>
        <p:nvSpPr>
          <p:cNvPr id="20" name="TextBox 19">
            <a:extLst>
              <a:ext uri="{FF2B5EF4-FFF2-40B4-BE49-F238E27FC236}">
                <a16:creationId xmlns:a16="http://schemas.microsoft.com/office/drawing/2014/main" id="{2F801496-C38C-52DE-5A09-C12746132445}"/>
              </a:ext>
            </a:extLst>
          </p:cNvPr>
          <p:cNvSpPr txBox="1"/>
          <p:nvPr/>
        </p:nvSpPr>
        <p:spPr>
          <a:xfrm>
            <a:off x="671793" y="831801"/>
            <a:ext cx="7854689" cy="307777"/>
          </a:xfrm>
          <a:prstGeom prst="rect">
            <a:avLst/>
          </a:prstGeom>
          <a:noFill/>
        </p:spPr>
        <p:txBody>
          <a:bodyPr wrap="square" rtlCol="0">
            <a:spAutoFit/>
          </a:bodyPr>
          <a:lstStyle/>
          <a:p>
            <a:r>
              <a:rPr lang="fr-FR" b="1" noProof="0" dirty="0"/>
              <a:t>Pourquoi la détection de communautés pour la recommandation ?</a:t>
            </a:r>
            <a:endParaRPr lang="fr-FR" noProof="0" dirty="0"/>
          </a:p>
        </p:txBody>
      </p:sp>
      <p:sp>
        <p:nvSpPr>
          <p:cNvPr id="9" name="Rectangle 8">
            <a:extLst>
              <a:ext uri="{FF2B5EF4-FFF2-40B4-BE49-F238E27FC236}">
                <a16:creationId xmlns:a16="http://schemas.microsoft.com/office/drawing/2014/main" id="{A6E32EA4-7A32-4F1A-C2EE-736E1D57CE2E}"/>
              </a:ext>
            </a:extLst>
          </p:cNvPr>
          <p:cNvSpPr/>
          <p:nvPr/>
        </p:nvSpPr>
        <p:spPr>
          <a:xfrm>
            <a:off x="787400" y="3340100"/>
            <a:ext cx="1562100" cy="5450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b="1" noProof="0" dirty="0">
                <a:solidFill>
                  <a:schemeClr val="tx1"/>
                </a:solidFill>
              </a:rPr>
              <a:t>Réseau Social</a:t>
            </a:r>
          </a:p>
        </p:txBody>
      </p:sp>
      <p:sp>
        <p:nvSpPr>
          <p:cNvPr id="11" name="Rectangle 10">
            <a:extLst>
              <a:ext uri="{FF2B5EF4-FFF2-40B4-BE49-F238E27FC236}">
                <a16:creationId xmlns:a16="http://schemas.microsoft.com/office/drawing/2014/main" id="{F8D94AF5-852A-E65B-B146-5B6138647E85}"/>
              </a:ext>
            </a:extLst>
          </p:cNvPr>
          <p:cNvSpPr/>
          <p:nvPr/>
        </p:nvSpPr>
        <p:spPr>
          <a:xfrm>
            <a:off x="2743200" y="3340099"/>
            <a:ext cx="1562100" cy="5450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b="1" noProof="0" dirty="0">
                <a:solidFill>
                  <a:schemeClr val="tx1"/>
                </a:solidFill>
              </a:rPr>
              <a:t>Détection de communautés</a:t>
            </a:r>
          </a:p>
        </p:txBody>
      </p:sp>
      <p:sp>
        <p:nvSpPr>
          <p:cNvPr id="15" name="Rectangle 14">
            <a:extLst>
              <a:ext uri="{FF2B5EF4-FFF2-40B4-BE49-F238E27FC236}">
                <a16:creationId xmlns:a16="http://schemas.microsoft.com/office/drawing/2014/main" id="{BA201A87-BE60-0FC7-D5A7-22668E4422F4}"/>
              </a:ext>
            </a:extLst>
          </p:cNvPr>
          <p:cNvSpPr/>
          <p:nvPr/>
        </p:nvSpPr>
        <p:spPr>
          <a:xfrm>
            <a:off x="4699000" y="3358633"/>
            <a:ext cx="1562100" cy="5450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b="1" noProof="0" dirty="0">
                <a:solidFill>
                  <a:schemeClr val="tx1"/>
                </a:solidFill>
              </a:rPr>
              <a:t>Communautés</a:t>
            </a:r>
          </a:p>
        </p:txBody>
      </p:sp>
      <p:sp>
        <p:nvSpPr>
          <p:cNvPr id="17" name="Rectangle 16">
            <a:extLst>
              <a:ext uri="{FF2B5EF4-FFF2-40B4-BE49-F238E27FC236}">
                <a16:creationId xmlns:a16="http://schemas.microsoft.com/office/drawing/2014/main" id="{32A02990-E0BA-924B-B9C3-192B3FE2E132}"/>
              </a:ext>
            </a:extLst>
          </p:cNvPr>
          <p:cNvSpPr/>
          <p:nvPr/>
        </p:nvSpPr>
        <p:spPr>
          <a:xfrm>
            <a:off x="6654800" y="3358632"/>
            <a:ext cx="1871682" cy="5450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b="1" noProof="0" dirty="0">
                <a:solidFill>
                  <a:schemeClr val="tx1"/>
                </a:solidFill>
              </a:rPr>
              <a:t>Recommandation par communauté</a:t>
            </a:r>
          </a:p>
        </p:txBody>
      </p:sp>
      <p:cxnSp>
        <p:nvCxnSpPr>
          <p:cNvPr id="19" name="Straight Arrow Connector 18">
            <a:extLst>
              <a:ext uri="{FF2B5EF4-FFF2-40B4-BE49-F238E27FC236}">
                <a16:creationId xmlns:a16="http://schemas.microsoft.com/office/drawing/2014/main" id="{7CC9B7B3-7C4F-F839-6545-C454C36E698D}"/>
              </a:ext>
            </a:extLst>
          </p:cNvPr>
          <p:cNvCxnSpPr>
            <a:cxnSpLocks/>
            <a:stCxn id="9" idx="3"/>
            <a:endCxn id="11" idx="1"/>
          </p:cNvCxnSpPr>
          <p:nvPr/>
        </p:nvCxnSpPr>
        <p:spPr>
          <a:xfrm flipV="1">
            <a:off x="2349500" y="3612634"/>
            <a:ext cx="393700"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55E5B11A-8E05-514E-5EA1-EEDE8239596E}"/>
              </a:ext>
            </a:extLst>
          </p:cNvPr>
          <p:cNvCxnSpPr>
            <a:cxnSpLocks/>
          </p:cNvCxnSpPr>
          <p:nvPr/>
        </p:nvCxnSpPr>
        <p:spPr>
          <a:xfrm flipV="1">
            <a:off x="4305300" y="3612632"/>
            <a:ext cx="393700"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2FCB88D4-1BF5-8803-3180-0D5F03259BC4}"/>
              </a:ext>
            </a:extLst>
          </p:cNvPr>
          <p:cNvCxnSpPr>
            <a:cxnSpLocks/>
          </p:cNvCxnSpPr>
          <p:nvPr/>
        </p:nvCxnSpPr>
        <p:spPr>
          <a:xfrm flipV="1">
            <a:off x="6261100" y="3631166"/>
            <a:ext cx="393700"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24" name="Rectangle 23">
            <a:extLst>
              <a:ext uri="{FF2B5EF4-FFF2-40B4-BE49-F238E27FC236}">
                <a16:creationId xmlns:a16="http://schemas.microsoft.com/office/drawing/2014/main" id="{8F046C88-F69D-9011-FDFA-C4526F18AF2C}"/>
              </a:ext>
            </a:extLst>
          </p:cNvPr>
          <p:cNvSpPr/>
          <p:nvPr/>
        </p:nvSpPr>
        <p:spPr>
          <a:xfrm>
            <a:off x="2743200" y="4273033"/>
            <a:ext cx="1562100" cy="5450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fr-FR" b="1" noProof="0" dirty="0">
                <a:solidFill>
                  <a:schemeClr val="tx1"/>
                </a:solidFill>
              </a:rPr>
              <a:t>Nouveau Utilisateur</a:t>
            </a:r>
          </a:p>
        </p:txBody>
      </p:sp>
      <p:cxnSp>
        <p:nvCxnSpPr>
          <p:cNvPr id="26" name="Straight Arrow Connector 25">
            <a:extLst>
              <a:ext uri="{FF2B5EF4-FFF2-40B4-BE49-F238E27FC236}">
                <a16:creationId xmlns:a16="http://schemas.microsoft.com/office/drawing/2014/main" id="{2A60A9B8-C8FF-958A-BBE7-14DAB179968C}"/>
              </a:ext>
            </a:extLst>
          </p:cNvPr>
          <p:cNvCxnSpPr/>
          <p:nvPr/>
        </p:nvCxnSpPr>
        <p:spPr>
          <a:xfrm flipV="1">
            <a:off x="4305300" y="3903701"/>
            <a:ext cx="393700" cy="35079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 name="Google Shape;1481;p29">
            <a:extLst>
              <a:ext uri="{FF2B5EF4-FFF2-40B4-BE49-F238E27FC236}">
                <a16:creationId xmlns:a16="http://schemas.microsoft.com/office/drawing/2014/main" id="{5E2ED756-B785-6E40-8956-2F1F51D68942}"/>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6</a:t>
            </a:r>
          </a:p>
        </p:txBody>
      </p:sp>
    </p:spTree>
    <p:extLst>
      <p:ext uri="{BB962C8B-B14F-4D97-AF65-F5344CB8AC3E}">
        <p14:creationId xmlns:p14="http://schemas.microsoft.com/office/powerpoint/2010/main" val="377687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nodeType="with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500"/>
                                        <p:tgtEl>
                                          <p:spTgt spid="22"/>
                                        </p:tgtEl>
                                      </p:cBhvr>
                                    </p:animEffect>
                                  </p:childTnLst>
                                </p:cTn>
                              </p:par>
                              <p:par>
                                <p:cTn id="23" presetID="10" presetClass="entr" presetSubtype="0" fill="hold"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5" grpId="0" animBg="1"/>
      <p:bldP spid="17" grpId="0" animBg="1"/>
      <p:bldP spid="2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0">
          <a:extLst>
            <a:ext uri="{FF2B5EF4-FFF2-40B4-BE49-F238E27FC236}">
              <a16:creationId xmlns:a16="http://schemas.microsoft.com/office/drawing/2014/main" id="{F45A3E56-0AC0-8DD9-0BC2-747C9DF8753D}"/>
            </a:ext>
          </a:extLst>
        </p:cNvPr>
        <p:cNvGrpSpPr/>
        <p:nvPr/>
      </p:nvGrpSpPr>
      <p:grpSpPr>
        <a:xfrm>
          <a:off x="0" y="0"/>
          <a:ext cx="0" cy="0"/>
          <a:chOff x="0" y="0"/>
          <a:chExt cx="0" cy="0"/>
        </a:xfrm>
      </p:grpSpPr>
      <p:sp>
        <p:nvSpPr>
          <p:cNvPr id="1704" name="Google Shape;1704;p38">
            <a:extLst>
              <a:ext uri="{FF2B5EF4-FFF2-40B4-BE49-F238E27FC236}">
                <a16:creationId xmlns:a16="http://schemas.microsoft.com/office/drawing/2014/main" id="{98E2DE43-A4D5-B42B-6923-21C77FF92536}"/>
              </a:ext>
            </a:extLst>
          </p:cNvPr>
          <p:cNvSpPr txBox="1">
            <a:spLocks noGrp="1"/>
          </p:cNvSpPr>
          <p:nvPr>
            <p:ph type="title"/>
          </p:nvPr>
        </p:nvSpPr>
        <p:spPr>
          <a:xfrm>
            <a:off x="586435" y="447255"/>
            <a:ext cx="2958147" cy="572700"/>
          </a:xfrm>
          <a:prstGeom prst="rect">
            <a:avLst/>
          </a:prstGeom>
        </p:spPr>
        <p:txBody>
          <a:bodyPr spcFirstLastPara="1" wrap="square" lIns="91425" tIns="91425" rIns="91425" bIns="91425" anchor="t" anchorCtr="0">
            <a:noAutofit/>
          </a:bodyPr>
          <a:lstStyle/>
          <a:p>
            <a:pPr lvl="0"/>
            <a:r>
              <a:rPr lang="fr-FR" sz="2400" noProof="0" dirty="0"/>
              <a:t>Problématique</a:t>
            </a:r>
          </a:p>
        </p:txBody>
      </p:sp>
      <p:sp>
        <p:nvSpPr>
          <p:cNvPr id="5" name="TextBox 4">
            <a:extLst>
              <a:ext uri="{FF2B5EF4-FFF2-40B4-BE49-F238E27FC236}">
                <a16:creationId xmlns:a16="http://schemas.microsoft.com/office/drawing/2014/main" id="{1793B5B6-82A1-1313-5EA0-F3E10613E338}"/>
              </a:ext>
            </a:extLst>
          </p:cNvPr>
          <p:cNvSpPr txBox="1"/>
          <p:nvPr/>
        </p:nvSpPr>
        <p:spPr>
          <a:xfrm>
            <a:off x="973474" y="1252895"/>
            <a:ext cx="7645733" cy="2181175"/>
          </a:xfrm>
          <a:prstGeom prst="rect">
            <a:avLst/>
          </a:prstGeom>
          <a:noFill/>
        </p:spPr>
        <p:txBody>
          <a:bodyPr wrap="square">
            <a:spAutoFit/>
          </a:bodyPr>
          <a:lstStyle/>
          <a:p>
            <a:pPr algn="just">
              <a:lnSpc>
                <a:spcPct val="200000"/>
              </a:lnSpc>
            </a:pPr>
            <a:r>
              <a:rPr lang="fr-FR" noProof="0" dirty="0">
                <a:latin typeface="Times New Roman" panose="02020603050405020304" pitchFamily="18" charset="0"/>
                <a:cs typeface="Times New Roman" panose="02020603050405020304" pitchFamily="18" charset="0"/>
              </a:rPr>
              <a:t>Malgré la diversité des algorithmes de détection de communautés, plusieurs défis subsistent :</a:t>
            </a:r>
          </a:p>
          <a:p>
            <a:pPr marL="285750" indent="-285750" algn="just">
              <a:lnSpc>
                <a:spcPct val="200000"/>
              </a:lnSpc>
              <a:buFont typeface="Arial" panose="020B0604020202020204" pitchFamily="34" charset="0"/>
              <a:buChar char="•"/>
            </a:pPr>
            <a:r>
              <a:rPr lang="fr-FR" b="1" noProof="0" dirty="0">
                <a:latin typeface="Times New Roman" panose="02020603050405020304" pitchFamily="18" charset="0"/>
                <a:cs typeface="Times New Roman" panose="02020603050405020304" pitchFamily="18" charset="0"/>
              </a:rPr>
              <a:t>Diversité des méthodes </a:t>
            </a:r>
            <a:r>
              <a:rPr lang="fr-FR" noProof="0" dirty="0">
                <a:latin typeface="Times New Roman" panose="02020603050405020304" pitchFamily="18" charset="0"/>
                <a:cs typeface="Times New Roman" panose="02020603050405020304" pitchFamily="18" charset="0"/>
              </a:rPr>
              <a:t>: modularité, marches aléatoires, apprentissage profond, etc.</a:t>
            </a:r>
          </a:p>
          <a:p>
            <a:pPr marL="285750" indent="-285750" algn="just">
              <a:lnSpc>
                <a:spcPct val="200000"/>
              </a:lnSpc>
              <a:buFont typeface="Arial" panose="020B0604020202020204" pitchFamily="34" charset="0"/>
              <a:buChar char="•"/>
            </a:pPr>
            <a:r>
              <a:rPr lang="fr-FR" b="1" noProof="0" dirty="0">
                <a:latin typeface="Times New Roman" panose="02020603050405020304" pitchFamily="18" charset="0"/>
                <a:cs typeface="Times New Roman" panose="02020603050405020304" pitchFamily="18" charset="0"/>
              </a:rPr>
              <a:t>Évaluation limitée </a:t>
            </a:r>
            <a:r>
              <a:rPr lang="fr-FR" noProof="0" dirty="0">
                <a:latin typeface="Times New Roman" panose="02020603050405020304" pitchFamily="18" charset="0"/>
                <a:cs typeface="Times New Roman" panose="02020603050405020304" pitchFamily="18" charset="0"/>
              </a:rPr>
              <a:t>: la modularité ne reflète pas toujours l'utilité réelle.</a:t>
            </a:r>
          </a:p>
          <a:p>
            <a:pPr marL="285750" indent="-285750" algn="just">
              <a:lnSpc>
                <a:spcPct val="200000"/>
              </a:lnSpc>
              <a:buFont typeface="Arial" panose="020B0604020202020204" pitchFamily="34" charset="0"/>
              <a:buChar char="•"/>
            </a:pPr>
            <a:r>
              <a:rPr lang="fr-FR" b="1" noProof="0" dirty="0">
                <a:latin typeface="Times New Roman" panose="02020603050405020304" pitchFamily="18" charset="0"/>
                <a:cs typeface="Times New Roman" panose="02020603050405020304" pitchFamily="18" charset="0"/>
              </a:rPr>
              <a:t>Comparaison insuffisante </a:t>
            </a:r>
            <a:r>
              <a:rPr lang="fr-FR" noProof="0" dirty="0">
                <a:latin typeface="Times New Roman" panose="02020603050405020304" pitchFamily="18" charset="0"/>
                <a:cs typeface="Times New Roman" panose="02020603050405020304" pitchFamily="18" charset="0"/>
              </a:rPr>
              <a:t>: peu d'études comparent les méthodes de manière systématique.</a:t>
            </a:r>
          </a:p>
          <a:p>
            <a:pPr marL="285750" indent="-285750" algn="just">
              <a:lnSpc>
                <a:spcPct val="200000"/>
              </a:lnSpc>
              <a:buFont typeface="Arial" panose="020B0604020202020204" pitchFamily="34" charset="0"/>
              <a:buChar char="•"/>
            </a:pPr>
            <a:r>
              <a:rPr lang="fr-FR" b="1" noProof="0" dirty="0">
                <a:latin typeface="Times New Roman" panose="02020603050405020304" pitchFamily="18" charset="0"/>
                <a:cs typeface="Times New Roman" panose="02020603050405020304" pitchFamily="18" charset="0"/>
              </a:rPr>
              <a:t>Absence d'un cadre unifié </a:t>
            </a:r>
            <a:r>
              <a:rPr lang="fr-FR" noProof="0" dirty="0">
                <a:latin typeface="Times New Roman" panose="02020603050405020304" pitchFamily="18" charset="0"/>
                <a:cs typeface="Times New Roman" panose="02020603050405020304" pitchFamily="18" charset="0"/>
              </a:rPr>
              <a:t>: difficile d'évaluer les performances en pratique.</a:t>
            </a:r>
          </a:p>
        </p:txBody>
      </p:sp>
      <p:sp>
        <p:nvSpPr>
          <p:cNvPr id="14" name="TextBox 13">
            <a:extLst>
              <a:ext uri="{FF2B5EF4-FFF2-40B4-BE49-F238E27FC236}">
                <a16:creationId xmlns:a16="http://schemas.microsoft.com/office/drawing/2014/main" id="{2AF985F7-6C10-146A-879E-E8C2EB00EA28}"/>
              </a:ext>
            </a:extLst>
          </p:cNvPr>
          <p:cNvSpPr txBox="1"/>
          <p:nvPr/>
        </p:nvSpPr>
        <p:spPr>
          <a:xfrm>
            <a:off x="1250236" y="3794010"/>
            <a:ext cx="6643528" cy="738664"/>
          </a:xfrm>
          <a:prstGeom prst="rect">
            <a:avLst/>
          </a:prstGeom>
          <a:noFill/>
        </p:spPr>
        <p:txBody>
          <a:bodyPr wrap="square">
            <a:spAutoFit/>
          </a:bodyPr>
          <a:lstStyle/>
          <a:p>
            <a:pPr>
              <a:spcBef>
                <a:spcPts val="1200"/>
              </a:spcBef>
              <a:spcAft>
                <a:spcPts val="1200"/>
              </a:spcAft>
            </a:pPr>
            <a:r>
              <a:rPr lang="fr-FR" b="1" noProof="0" dirty="0">
                <a:solidFill>
                  <a:srgbClr val="C00000"/>
                </a:solidFill>
              </a:rPr>
              <a:t>Question de recherche</a:t>
            </a:r>
            <a:r>
              <a:rPr lang="fr-FR" b="1" noProof="0" dirty="0"/>
              <a:t>:</a:t>
            </a:r>
            <a:r>
              <a:rPr lang="fr-FR" noProof="0" dirty="0"/>
              <a:t> </a:t>
            </a:r>
            <a:r>
              <a:rPr lang="fr-FR" i="1" noProof="0" dirty="0"/>
              <a:t>Comment les différentes approches de détection de communautés se comparent-elles en termes d'efficacité et d'utilité pratique pour les systèmes de recommandation ?</a:t>
            </a:r>
            <a:endParaRPr lang="fr-FR" noProof="0" dirty="0">
              <a:solidFill>
                <a:schemeClr val="tx1"/>
              </a:solidFill>
              <a:latin typeface="quote-cjk-patch"/>
            </a:endParaRPr>
          </a:p>
        </p:txBody>
      </p:sp>
      <p:sp>
        <p:nvSpPr>
          <p:cNvPr id="3" name="Google Shape;1481;p29">
            <a:extLst>
              <a:ext uri="{FF2B5EF4-FFF2-40B4-BE49-F238E27FC236}">
                <a16:creationId xmlns:a16="http://schemas.microsoft.com/office/drawing/2014/main" id="{FE113844-72E2-260D-4389-26D6A4238909}"/>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7</a:t>
            </a:r>
          </a:p>
        </p:txBody>
      </p:sp>
    </p:spTree>
    <p:extLst>
      <p:ext uri="{BB962C8B-B14F-4D97-AF65-F5344CB8AC3E}">
        <p14:creationId xmlns:p14="http://schemas.microsoft.com/office/powerpoint/2010/main" val="1143848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4" name="Google Shape;1704;p38">
            <a:extLst>
              <a:ext uri="{FF2B5EF4-FFF2-40B4-BE49-F238E27FC236}">
                <a16:creationId xmlns:a16="http://schemas.microsoft.com/office/drawing/2014/main" id="{72904A96-6AC3-87F8-A678-8125B4FF2218}"/>
              </a:ext>
            </a:extLst>
          </p:cNvPr>
          <p:cNvSpPr txBox="1">
            <a:spLocks noGrp="1"/>
          </p:cNvSpPr>
          <p:nvPr>
            <p:ph type="title"/>
          </p:nvPr>
        </p:nvSpPr>
        <p:spPr>
          <a:xfrm>
            <a:off x="524791" y="401540"/>
            <a:ext cx="4174209" cy="572700"/>
          </a:xfrm>
          <a:prstGeom prst="rect">
            <a:avLst/>
          </a:prstGeom>
        </p:spPr>
        <p:txBody>
          <a:bodyPr spcFirstLastPara="1" wrap="square" lIns="91425" tIns="91425" rIns="91425" bIns="91425" anchor="t" anchorCtr="0">
            <a:noAutofit/>
          </a:bodyPr>
          <a:lstStyle/>
          <a:p>
            <a:pPr lvl="0"/>
            <a:r>
              <a:rPr lang="fr-FR" sz="2400" noProof="0" dirty="0"/>
              <a:t>Objectifs de recherche</a:t>
            </a:r>
          </a:p>
        </p:txBody>
      </p:sp>
      <p:sp>
        <p:nvSpPr>
          <p:cNvPr id="5" name="TextBox 4">
            <a:extLst>
              <a:ext uri="{FF2B5EF4-FFF2-40B4-BE49-F238E27FC236}">
                <a16:creationId xmlns:a16="http://schemas.microsoft.com/office/drawing/2014/main" id="{519A58FB-F8DB-66F7-D9CA-06F91DE6029C}"/>
              </a:ext>
            </a:extLst>
          </p:cNvPr>
          <p:cNvSpPr txBox="1"/>
          <p:nvPr/>
        </p:nvSpPr>
        <p:spPr>
          <a:xfrm>
            <a:off x="279233" y="1278295"/>
            <a:ext cx="9207667" cy="1750287"/>
          </a:xfrm>
          <a:prstGeom prst="rect">
            <a:avLst/>
          </a:prstGeom>
          <a:noFill/>
        </p:spPr>
        <p:txBody>
          <a:bodyPr wrap="square">
            <a:spAutoFit/>
          </a:bodyPr>
          <a:lstStyle/>
          <a:p>
            <a:pPr marL="342900" indent="-34290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Comparer les algorithmes de détection de communautés classiques et modernes sur des réseaux réels et synthétiques.</a:t>
            </a:r>
          </a:p>
          <a:p>
            <a:pPr marL="342900" indent="-34290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Évaluer leurs performances à l'aide de la modularité, du NMI et de l'ARI.</a:t>
            </a:r>
          </a:p>
          <a:p>
            <a:pPr marL="342900" indent="-34290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Intégrer les meilleurs algorithmes de détection de communautés dans un système de recommandation hybride.</a:t>
            </a:r>
          </a:p>
          <a:p>
            <a:pPr marL="342900" indent="-342900" algn="just">
              <a:lnSpc>
                <a:spcPct val="200000"/>
              </a:lnSpc>
              <a:buFont typeface="Arial" panose="020B0604020202020204" pitchFamily="34" charset="0"/>
              <a:buChar char="•"/>
            </a:pPr>
            <a:r>
              <a:rPr lang="fr-FR" noProof="0" dirty="0">
                <a:latin typeface="Times New Roman" panose="02020603050405020304" pitchFamily="18" charset="0"/>
                <a:cs typeface="Times New Roman" panose="02020603050405020304" pitchFamily="18" charset="0"/>
              </a:rPr>
              <a:t>Visualiser les résultats à l'aide d'une application web interactive.</a:t>
            </a:r>
          </a:p>
        </p:txBody>
      </p:sp>
      <p:sp>
        <p:nvSpPr>
          <p:cNvPr id="3" name="Google Shape;1481;p29">
            <a:extLst>
              <a:ext uri="{FF2B5EF4-FFF2-40B4-BE49-F238E27FC236}">
                <a16:creationId xmlns:a16="http://schemas.microsoft.com/office/drawing/2014/main" id="{3E2EFB78-990C-5498-4109-A2499A7075B5}"/>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8</a:t>
            </a:r>
          </a:p>
        </p:txBody>
      </p:sp>
    </p:spTree>
    <p:extLst>
      <p:ext uri="{BB962C8B-B14F-4D97-AF65-F5344CB8AC3E}">
        <p14:creationId xmlns:p14="http://schemas.microsoft.com/office/powerpoint/2010/main" val="10443123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176EA3C9-469A-AFFC-AAA1-2A0E66A9DE0B}"/>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1B724BAE-DB96-A7FF-C6FA-58EF2E918184}"/>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État de l'art – Méthodologie</a:t>
            </a:r>
          </a:p>
        </p:txBody>
      </p:sp>
      <p:pic>
        <p:nvPicPr>
          <p:cNvPr id="3" name="Picture 2">
            <a:extLst>
              <a:ext uri="{FF2B5EF4-FFF2-40B4-BE49-F238E27FC236}">
                <a16:creationId xmlns:a16="http://schemas.microsoft.com/office/drawing/2014/main" id="{BA6AB975-3B2A-588C-5DA1-7BE1A9C644E2}"/>
              </a:ext>
            </a:extLst>
          </p:cNvPr>
          <p:cNvPicPr>
            <a:picLocks noChangeAspect="1"/>
          </p:cNvPicPr>
          <p:nvPr/>
        </p:nvPicPr>
        <p:blipFill>
          <a:blip r:embed="rId3"/>
          <a:stretch>
            <a:fillRect/>
          </a:stretch>
        </p:blipFill>
        <p:spPr>
          <a:xfrm>
            <a:off x="1882710" y="1163881"/>
            <a:ext cx="5378579" cy="3349741"/>
          </a:xfrm>
          <a:prstGeom prst="rect">
            <a:avLst/>
          </a:prstGeom>
        </p:spPr>
      </p:pic>
      <p:sp>
        <p:nvSpPr>
          <p:cNvPr id="5" name="TextBox 4">
            <a:extLst>
              <a:ext uri="{FF2B5EF4-FFF2-40B4-BE49-F238E27FC236}">
                <a16:creationId xmlns:a16="http://schemas.microsoft.com/office/drawing/2014/main" id="{08974FEA-9FC2-CE3C-0D6F-AD60ED2AF186}"/>
              </a:ext>
            </a:extLst>
          </p:cNvPr>
          <p:cNvSpPr txBox="1"/>
          <p:nvPr/>
        </p:nvSpPr>
        <p:spPr>
          <a:xfrm>
            <a:off x="671794" y="856104"/>
            <a:ext cx="2862516" cy="307777"/>
          </a:xfrm>
          <a:prstGeom prst="rect">
            <a:avLst/>
          </a:prstGeom>
          <a:noFill/>
        </p:spPr>
        <p:txBody>
          <a:bodyPr wrap="square" rtlCol="0">
            <a:spAutoFit/>
          </a:bodyPr>
          <a:lstStyle/>
          <a:p>
            <a:r>
              <a:rPr lang="fr-FR" b="1" noProof="0" dirty="0"/>
              <a:t>Diagramme PRISMA</a:t>
            </a:r>
            <a:endParaRPr lang="fr-FR" noProof="0" dirty="0"/>
          </a:p>
        </p:txBody>
      </p:sp>
      <p:sp>
        <p:nvSpPr>
          <p:cNvPr id="4" name="Google Shape;1481;p29">
            <a:extLst>
              <a:ext uri="{FF2B5EF4-FFF2-40B4-BE49-F238E27FC236}">
                <a16:creationId xmlns:a16="http://schemas.microsoft.com/office/drawing/2014/main" id="{75B1F4B8-AA1F-7B19-94A6-F193AA1A10E0}"/>
              </a:ext>
            </a:extLst>
          </p:cNvPr>
          <p:cNvSpPr txBox="1">
            <a:spLocks/>
          </p:cNvSpPr>
          <p:nvPr/>
        </p:nvSpPr>
        <p:spPr>
          <a:xfrm>
            <a:off x="8584582" y="4437586"/>
            <a:ext cx="178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9</a:t>
            </a:r>
          </a:p>
        </p:txBody>
      </p:sp>
    </p:spTree>
    <p:extLst>
      <p:ext uri="{BB962C8B-B14F-4D97-AF65-F5344CB8AC3E}">
        <p14:creationId xmlns:p14="http://schemas.microsoft.com/office/powerpoint/2010/main" val="3277791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graphicFrame>
        <p:nvGraphicFramePr>
          <p:cNvPr id="1472" name="Google Shape;1472;p28"/>
          <p:cNvGraphicFramePr/>
          <p:nvPr>
            <p:extLst>
              <p:ext uri="{D42A27DB-BD31-4B8C-83A1-F6EECF244321}">
                <p14:modId xmlns:p14="http://schemas.microsoft.com/office/powerpoint/2010/main" val="811059400"/>
              </p:ext>
            </p:extLst>
          </p:nvPr>
        </p:nvGraphicFramePr>
        <p:xfrm>
          <a:off x="654789" y="1259894"/>
          <a:ext cx="7951379" cy="1382876"/>
        </p:xfrm>
        <a:graphic>
          <a:graphicData uri="http://schemas.openxmlformats.org/drawingml/2006/table">
            <a:tbl>
              <a:tblPr>
                <a:tableStyleId>{B6F588F0-DA45-466C-91A0-1F1EBF44E27B}</a:tableStyleId>
              </a:tblPr>
              <a:tblGrid>
                <a:gridCol w="1865046">
                  <a:extLst>
                    <a:ext uri="{9D8B030D-6E8A-4147-A177-3AD203B41FA5}">
                      <a16:colId xmlns:a16="http://schemas.microsoft.com/office/drawing/2014/main" val="20000"/>
                    </a:ext>
                  </a:extLst>
                </a:gridCol>
                <a:gridCol w="2974833">
                  <a:extLst>
                    <a:ext uri="{9D8B030D-6E8A-4147-A177-3AD203B41FA5}">
                      <a16:colId xmlns:a16="http://schemas.microsoft.com/office/drawing/2014/main" val="20001"/>
                    </a:ext>
                  </a:extLst>
                </a:gridCol>
                <a:gridCol w="3111500">
                  <a:extLst>
                    <a:ext uri="{9D8B030D-6E8A-4147-A177-3AD203B41FA5}">
                      <a16:colId xmlns:a16="http://schemas.microsoft.com/office/drawing/2014/main" val="41523287"/>
                    </a:ext>
                  </a:extLst>
                </a:gridCol>
              </a:tblGrid>
              <a:tr h="428957">
                <a:tc>
                  <a:txBody>
                    <a:bodyPr/>
                    <a:lstStyle/>
                    <a:p>
                      <a:pPr marL="0" lvl="0" indent="0" algn="l" rtl="0">
                        <a:spcBef>
                          <a:spcPts val="0"/>
                        </a:spcBef>
                        <a:spcAft>
                          <a:spcPts val="0"/>
                        </a:spcAft>
                        <a:buNone/>
                      </a:pPr>
                      <a:r>
                        <a:rPr lang="fr-FR" sz="1100" b="1" noProof="0" dirty="0"/>
                        <a:t>Algorithme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noProof="0" dirty="0"/>
                        <a:t>Principe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noProof="0" dirty="0"/>
                        <a:t>Limite / Avantage</a:t>
                      </a:r>
                      <a:endParaRPr lang="fr-FR" sz="1100" b="1" u="sng" noProof="0" dirty="0">
                        <a:solidFill>
                          <a:schemeClr val="dk1"/>
                        </a:solidFill>
                        <a:latin typeface="Mulish"/>
                        <a:ea typeface="Mulish"/>
                        <a:cs typeface="Mulish"/>
                        <a:sym typeface="Mulish"/>
                      </a:endParaRPr>
                    </a:p>
                  </a:txBody>
                  <a:tcPr marL="91425" marR="91425" marT="0" marB="0" anchor="ctr"/>
                </a:tc>
                <a:extLst>
                  <a:ext uri="{0D108BD9-81ED-4DB2-BD59-A6C34878D82A}">
                    <a16:rowId xmlns:a16="http://schemas.microsoft.com/office/drawing/2014/main" val="10000"/>
                  </a:ext>
                </a:extLst>
              </a:tr>
              <a:tr h="411441">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Louvain (Blondel et al.)</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Regroupe les nœuds en maximisant la modularité du réseau.</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Rapide et efficace, mais peut générer des communautés faiblement connectées.</a:t>
                      </a:r>
                    </a:p>
                  </a:txBody>
                  <a:tcPr marL="91425" marR="91425" marT="0" marB="0" anchor="ctr"/>
                </a:tc>
                <a:extLst>
                  <a:ext uri="{0D108BD9-81ED-4DB2-BD59-A6C34878D82A}">
                    <a16:rowId xmlns:a16="http://schemas.microsoft.com/office/drawing/2014/main" val="10001"/>
                  </a:ext>
                </a:extLst>
              </a:tr>
              <a:tr h="542478">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Leiden (</a:t>
                      </a:r>
                      <a:r>
                        <a:rPr lang="fr-FR" sz="1000" b="0" u="none" noProof="0" dirty="0" err="1">
                          <a:solidFill>
                            <a:schemeClr val="dk1"/>
                          </a:solidFill>
                          <a:latin typeface="Mulish"/>
                          <a:ea typeface="Mulish"/>
                          <a:cs typeface="Mulish"/>
                          <a:sym typeface="Mulish"/>
                        </a:rPr>
                        <a:t>Traag</a:t>
                      </a:r>
                      <a:r>
                        <a:rPr lang="fr-FR" sz="1000" b="0" u="none" noProof="0" dirty="0">
                          <a:solidFill>
                            <a:schemeClr val="dk1"/>
                          </a:solidFill>
                          <a:latin typeface="Mulish"/>
                          <a:ea typeface="Mulish"/>
                          <a:cs typeface="Mulish"/>
                          <a:sym typeface="Mulish"/>
                        </a:rPr>
                        <a:t> et al., 2019)</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Améliore Louvain en optimisant la modularité avec une meilleure connexion interne des communautés.</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Produit des communautés plus cohérentes et mieux connectées.</a:t>
                      </a:r>
                    </a:p>
                  </a:txBody>
                  <a:tcPr marL="91425" marR="91425" marT="0" marB="0" anchor="ctr"/>
                </a:tc>
                <a:extLst>
                  <a:ext uri="{0D108BD9-81ED-4DB2-BD59-A6C34878D82A}">
                    <a16:rowId xmlns:a16="http://schemas.microsoft.com/office/drawing/2014/main" val="10002"/>
                  </a:ext>
                </a:extLst>
              </a:tr>
            </a:tbl>
          </a:graphicData>
        </a:graphic>
      </p:graphicFrame>
      <p:sp>
        <p:nvSpPr>
          <p:cNvPr id="7" name="Google Shape;1704;p38">
            <a:extLst>
              <a:ext uri="{FF2B5EF4-FFF2-40B4-BE49-F238E27FC236}">
                <a16:creationId xmlns:a16="http://schemas.microsoft.com/office/drawing/2014/main" id="{BD3E0B57-7F68-281F-1507-BA52FEE08E05}"/>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État de l'art – Algorithmes classiques</a:t>
            </a:r>
          </a:p>
        </p:txBody>
      </p:sp>
      <p:sp>
        <p:nvSpPr>
          <p:cNvPr id="8" name="TextBox 7">
            <a:extLst>
              <a:ext uri="{FF2B5EF4-FFF2-40B4-BE49-F238E27FC236}">
                <a16:creationId xmlns:a16="http://schemas.microsoft.com/office/drawing/2014/main" id="{CEB85DD0-6898-3824-BD4C-53B5949C011D}"/>
              </a:ext>
            </a:extLst>
          </p:cNvPr>
          <p:cNvSpPr txBox="1"/>
          <p:nvPr/>
        </p:nvSpPr>
        <p:spPr>
          <a:xfrm>
            <a:off x="671794" y="843000"/>
            <a:ext cx="3722406" cy="307777"/>
          </a:xfrm>
          <a:prstGeom prst="rect">
            <a:avLst/>
          </a:prstGeom>
          <a:noFill/>
        </p:spPr>
        <p:txBody>
          <a:bodyPr wrap="square" rtlCol="0">
            <a:spAutoFit/>
          </a:bodyPr>
          <a:lstStyle/>
          <a:p>
            <a:r>
              <a:rPr lang="fr-FR" b="1" noProof="0" dirty="0"/>
              <a:t>Approches basées sur la modularité</a:t>
            </a:r>
            <a:endParaRPr lang="fr-FR" noProof="0" dirty="0"/>
          </a:p>
        </p:txBody>
      </p:sp>
      <p:graphicFrame>
        <p:nvGraphicFramePr>
          <p:cNvPr id="3" name="Google Shape;1472;p28">
            <a:extLst>
              <a:ext uri="{FF2B5EF4-FFF2-40B4-BE49-F238E27FC236}">
                <a16:creationId xmlns:a16="http://schemas.microsoft.com/office/drawing/2014/main" id="{1416669E-7D0F-F9BE-0458-81532CD383F9}"/>
              </a:ext>
            </a:extLst>
          </p:cNvPr>
          <p:cNvGraphicFramePr/>
          <p:nvPr>
            <p:extLst>
              <p:ext uri="{D42A27DB-BD31-4B8C-83A1-F6EECF244321}">
                <p14:modId xmlns:p14="http://schemas.microsoft.com/office/powerpoint/2010/main" val="705141995"/>
              </p:ext>
            </p:extLst>
          </p:nvPr>
        </p:nvGraphicFramePr>
        <p:xfrm>
          <a:off x="654789" y="3041439"/>
          <a:ext cx="7778011" cy="1541775"/>
        </p:xfrm>
        <a:graphic>
          <a:graphicData uri="http://schemas.openxmlformats.org/drawingml/2006/table">
            <a:tbl>
              <a:tblPr>
                <a:tableStyleId>{B6F588F0-DA45-466C-91A0-1F1EBF44E27B}</a:tableStyleId>
              </a:tblPr>
              <a:tblGrid>
                <a:gridCol w="2174463">
                  <a:extLst>
                    <a:ext uri="{9D8B030D-6E8A-4147-A177-3AD203B41FA5}">
                      <a16:colId xmlns:a16="http://schemas.microsoft.com/office/drawing/2014/main" val="20000"/>
                    </a:ext>
                  </a:extLst>
                </a:gridCol>
                <a:gridCol w="2705744">
                  <a:extLst>
                    <a:ext uri="{9D8B030D-6E8A-4147-A177-3AD203B41FA5}">
                      <a16:colId xmlns:a16="http://schemas.microsoft.com/office/drawing/2014/main" val="20001"/>
                    </a:ext>
                  </a:extLst>
                </a:gridCol>
                <a:gridCol w="2897804">
                  <a:extLst>
                    <a:ext uri="{9D8B030D-6E8A-4147-A177-3AD203B41FA5}">
                      <a16:colId xmlns:a16="http://schemas.microsoft.com/office/drawing/2014/main" val="41523287"/>
                    </a:ext>
                  </a:extLst>
                </a:gridCol>
              </a:tblGrid>
              <a:tr h="361525">
                <a:tc>
                  <a:txBody>
                    <a:bodyPr/>
                    <a:lstStyle/>
                    <a:p>
                      <a:pPr marL="0" lvl="0" indent="0" algn="l" rtl="0">
                        <a:spcBef>
                          <a:spcPts val="0"/>
                        </a:spcBef>
                        <a:spcAft>
                          <a:spcPts val="0"/>
                        </a:spcAft>
                        <a:buNone/>
                      </a:pPr>
                      <a:r>
                        <a:rPr lang="fr-FR" sz="1100" b="1" noProof="0" dirty="0"/>
                        <a:t>Algorithme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noProof="0" dirty="0"/>
                        <a:t>Principe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noProof="0" dirty="0"/>
                        <a:t>Limite / Avantage</a:t>
                      </a:r>
                      <a:endParaRPr lang="fr-FR" sz="1100" b="1" u="sng" noProof="0" dirty="0">
                        <a:solidFill>
                          <a:schemeClr val="dk1"/>
                        </a:solidFill>
                        <a:latin typeface="Mulish"/>
                        <a:ea typeface="Mulish"/>
                        <a:cs typeface="Mulish"/>
                        <a:sym typeface="Mulish"/>
                      </a:endParaRPr>
                    </a:p>
                  </a:txBody>
                  <a:tcPr marL="91425" marR="91425" marT="0" marB="0" anchor="ctr"/>
                </a:tc>
                <a:extLst>
                  <a:ext uri="{0D108BD9-81ED-4DB2-BD59-A6C34878D82A}">
                    <a16:rowId xmlns:a16="http://schemas.microsoft.com/office/drawing/2014/main" val="10000"/>
                  </a:ext>
                </a:extLst>
              </a:tr>
              <a:tr h="346762">
                <a:tc>
                  <a:txBody>
                    <a:bodyPr/>
                    <a:lstStyle/>
                    <a:p>
                      <a:pPr marL="0" lvl="0" indent="0" algn="l" rtl="0">
                        <a:spcBef>
                          <a:spcPts val="0"/>
                        </a:spcBef>
                        <a:spcAft>
                          <a:spcPts val="0"/>
                        </a:spcAft>
                        <a:buNone/>
                      </a:pPr>
                      <a:r>
                        <a:rPr lang="fr-FR" sz="1000" b="0" u="none" noProof="0" dirty="0" err="1">
                          <a:solidFill>
                            <a:schemeClr val="dk1"/>
                          </a:solidFill>
                          <a:latin typeface="Mulish"/>
                          <a:ea typeface="Mulish"/>
                          <a:cs typeface="Mulish"/>
                          <a:sym typeface="Mulish"/>
                        </a:rPr>
                        <a:t>Walktrap</a:t>
                      </a:r>
                      <a:r>
                        <a:rPr lang="fr-FR" sz="1000" b="0" u="none" noProof="0" dirty="0">
                          <a:solidFill>
                            <a:schemeClr val="dk1"/>
                          </a:solidFill>
                          <a:latin typeface="Mulish"/>
                          <a:ea typeface="Mulish"/>
                          <a:cs typeface="Mulish"/>
                          <a:sym typeface="Mulish"/>
                        </a:rPr>
                        <a:t> (Pons &amp; </a:t>
                      </a:r>
                      <a:r>
                        <a:rPr lang="fr-FR" sz="1000" b="0" u="none" noProof="0" dirty="0" err="1">
                          <a:solidFill>
                            <a:schemeClr val="dk1"/>
                          </a:solidFill>
                          <a:latin typeface="Mulish"/>
                          <a:ea typeface="Mulish"/>
                          <a:cs typeface="Mulish"/>
                          <a:sym typeface="Mulish"/>
                        </a:rPr>
                        <a:t>Latapy</a:t>
                      </a:r>
                      <a:r>
                        <a:rPr lang="fr-FR" sz="1000" b="0" u="none" noProof="0" dirty="0">
                          <a:solidFill>
                            <a:schemeClr val="dk1"/>
                          </a:solidFill>
                          <a:latin typeface="Mulish"/>
                          <a:ea typeface="Mulish"/>
                          <a:cs typeface="Mulish"/>
                          <a:sym typeface="Mulish"/>
                        </a:rPr>
                        <a:t>)</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Utilise des marches aléatoires pour identifier des groupes de nœuds fortement connectés.</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Efficace pour les réseaux basés sur les flux d'information.</a:t>
                      </a:r>
                    </a:p>
                  </a:txBody>
                  <a:tcPr marL="91425" marR="91425" marT="0" marB="0" anchor="ct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fr-FR" sz="1000" b="0" u="none" noProof="0" dirty="0" err="1">
                          <a:solidFill>
                            <a:schemeClr val="dk1"/>
                          </a:solidFill>
                          <a:latin typeface="Mulish"/>
                          <a:ea typeface="Mulish"/>
                          <a:cs typeface="Mulish"/>
                          <a:sym typeface="Mulish"/>
                        </a:rPr>
                        <a:t>Infomap</a:t>
                      </a:r>
                      <a:r>
                        <a:rPr lang="fr-FR" sz="1000" b="0" u="none" noProof="0" dirty="0">
                          <a:solidFill>
                            <a:schemeClr val="dk1"/>
                          </a:solidFill>
                          <a:latin typeface="Mulish"/>
                          <a:ea typeface="Mulish"/>
                          <a:cs typeface="Mulish"/>
                          <a:sym typeface="Mulish"/>
                        </a:rPr>
                        <a:t> (Rosvall &amp; Bergstrom).</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Détecte les communautés en minimisant la description du parcours dans le réseau.</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Rapide et performant, notamment sur de grands réseaux.</a:t>
                      </a:r>
                    </a:p>
                  </a:txBody>
                  <a:tcPr marL="91425" marR="91425" marT="0" marB="0" anchor="ct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MCL (van Dongen)</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Utilise des opérations d'expansion et d'inflation pour séparer les communautés.</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Nécessite souvent un prétraitement ou une pondération adaptée du réseau.</a:t>
                      </a:r>
                    </a:p>
                  </a:txBody>
                  <a:tcPr marL="91425" marR="91425" marT="0" marB="0" anchor="ctr"/>
                </a:tc>
                <a:extLst>
                  <a:ext uri="{0D108BD9-81ED-4DB2-BD59-A6C34878D82A}">
                    <a16:rowId xmlns:a16="http://schemas.microsoft.com/office/drawing/2014/main" val="3473042661"/>
                  </a:ext>
                </a:extLst>
              </a:tr>
            </a:tbl>
          </a:graphicData>
        </a:graphic>
      </p:graphicFrame>
      <p:sp>
        <p:nvSpPr>
          <p:cNvPr id="5" name="TextBox 4">
            <a:extLst>
              <a:ext uri="{FF2B5EF4-FFF2-40B4-BE49-F238E27FC236}">
                <a16:creationId xmlns:a16="http://schemas.microsoft.com/office/drawing/2014/main" id="{54AC9BBB-F5AF-9980-D400-1B7781552A69}"/>
              </a:ext>
            </a:extLst>
          </p:cNvPr>
          <p:cNvSpPr txBox="1"/>
          <p:nvPr/>
        </p:nvSpPr>
        <p:spPr>
          <a:xfrm>
            <a:off x="671794" y="2642770"/>
            <a:ext cx="4178782" cy="307777"/>
          </a:xfrm>
          <a:prstGeom prst="rect">
            <a:avLst/>
          </a:prstGeom>
          <a:noFill/>
        </p:spPr>
        <p:txBody>
          <a:bodyPr wrap="square" rtlCol="0">
            <a:spAutoFit/>
          </a:bodyPr>
          <a:lstStyle/>
          <a:p>
            <a:r>
              <a:rPr lang="fr-FR" b="1" noProof="0" dirty="0"/>
              <a:t>Approches basées sur les marches aléatoires</a:t>
            </a:r>
            <a:endParaRPr lang="fr-FR" noProof="0" dirty="0"/>
          </a:p>
        </p:txBody>
      </p:sp>
      <p:sp>
        <p:nvSpPr>
          <p:cNvPr id="4" name="Google Shape;1481;p29">
            <a:extLst>
              <a:ext uri="{FF2B5EF4-FFF2-40B4-BE49-F238E27FC236}">
                <a16:creationId xmlns:a16="http://schemas.microsoft.com/office/drawing/2014/main" id="{E145F3DA-A5AE-EE89-7C2F-E6EE3DAD71A4}"/>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7355CC03-C1CF-513F-EF10-26EFE26F301B}"/>
            </a:ext>
          </a:extLst>
        </p:cNvPr>
        <p:cNvGrpSpPr/>
        <p:nvPr/>
      </p:nvGrpSpPr>
      <p:grpSpPr>
        <a:xfrm>
          <a:off x="0" y="0"/>
          <a:ext cx="0" cy="0"/>
          <a:chOff x="0" y="0"/>
          <a:chExt cx="0" cy="0"/>
        </a:xfrm>
      </p:grpSpPr>
      <p:graphicFrame>
        <p:nvGraphicFramePr>
          <p:cNvPr id="1472" name="Google Shape;1472;p28">
            <a:extLst>
              <a:ext uri="{FF2B5EF4-FFF2-40B4-BE49-F238E27FC236}">
                <a16:creationId xmlns:a16="http://schemas.microsoft.com/office/drawing/2014/main" id="{4A9CD5DB-D007-FC01-E469-859008713491}"/>
              </a:ext>
            </a:extLst>
          </p:cNvPr>
          <p:cNvGraphicFramePr/>
          <p:nvPr>
            <p:extLst>
              <p:ext uri="{D42A27DB-BD31-4B8C-83A1-F6EECF244321}">
                <p14:modId xmlns:p14="http://schemas.microsoft.com/office/powerpoint/2010/main" val="256474828"/>
              </p:ext>
            </p:extLst>
          </p:nvPr>
        </p:nvGraphicFramePr>
        <p:xfrm>
          <a:off x="913221" y="1125272"/>
          <a:ext cx="7317558" cy="1446478"/>
        </p:xfrm>
        <a:graphic>
          <a:graphicData uri="http://schemas.openxmlformats.org/drawingml/2006/table">
            <a:tbl>
              <a:tblPr>
                <a:tableStyleId>{B6F588F0-DA45-466C-91A0-1F1EBF44E27B}</a:tableStyleId>
              </a:tblPr>
              <a:tblGrid>
                <a:gridCol w="1865046">
                  <a:extLst>
                    <a:ext uri="{9D8B030D-6E8A-4147-A177-3AD203B41FA5}">
                      <a16:colId xmlns:a16="http://schemas.microsoft.com/office/drawing/2014/main" val="20000"/>
                    </a:ext>
                  </a:extLst>
                </a:gridCol>
                <a:gridCol w="2726256">
                  <a:extLst>
                    <a:ext uri="{9D8B030D-6E8A-4147-A177-3AD203B41FA5}">
                      <a16:colId xmlns:a16="http://schemas.microsoft.com/office/drawing/2014/main" val="20001"/>
                    </a:ext>
                  </a:extLst>
                </a:gridCol>
                <a:gridCol w="2726256">
                  <a:extLst>
                    <a:ext uri="{9D8B030D-6E8A-4147-A177-3AD203B41FA5}">
                      <a16:colId xmlns:a16="http://schemas.microsoft.com/office/drawing/2014/main" val="41523287"/>
                    </a:ext>
                  </a:extLst>
                </a:gridCol>
              </a:tblGrid>
              <a:tr h="443074">
                <a:tc>
                  <a:txBody>
                    <a:bodyPr/>
                    <a:lstStyle/>
                    <a:p>
                      <a:pPr marL="0" lvl="0" indent="0" algn="l" rtl="0">
                        <a:spcBef>
                          <a:spcPts val="0"/>
                        </a:spcBef>
                        <a:spcAft>
                          <a:spcPts val="0"/>
                        </a:spcAft>
                        <a:buNone/>
                      </a:pPr>
                      <a:r>
                        <a:rPr lang="fr-FR" sz="1100" b="1" noProof="0" dirty="0"/>
                        <a:t>Algorithme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noProof="0" dirty="0"/>
                        <a:t>Principe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noProof="0" dirty="0"/>
                        <a:t>Limite / Avantage</a:t>
                      </a:r>
                      <a:endParaRPr lang="fr-FR" sz="1100" b="1" u="sng" noProof="0" dirty="0">
                        <a:solidFill>
                          <a:schemeClr val="dk1"/>
                        </a:solidFill>
                        <a:latin typeface="Mulish"/>
                        <a:ea typeface="Mulish"/>
                        <a:cs typeface="Mulish"/>
                        <a:sym typeface="Mulish"/>
                      </a:endParaRPr>
                    </a:p>
                  </a:txBody>
                  <a:tcPr marL="91425" marR="91425" marT="0" marB="0" anchor="ctr"/>
                </a:tc>
                <a:extLst>
                  <a:ext uri="{0D108BD9-81ED-4DB2-BD59-A6C34878D82A}">
                    <a16:rowId xmlns:a16="http://schemas.microsoft.com/office/drawing/2014/main" val="10000"/>
                  </a:ext>
                </a:extLst>
              </a:tr>
              <a:tr h="560330">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Girvan-Newman</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Supprime progressivement les arêtes ayant une forte centralité d'intermédiarité pour séparer les communautés.</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Complexité élevée (O(n³)), peu adapté aux grands réseaux.</a:t>
                      </a:r>
                    </a:p>
                  </a:txBody>
                  <a:tcPr marL="91425" marR="91425" marT="0" marB="0" anchor="ctr"/>
                </a:tc>
                <a:extLst>
                  <a:ext uri="{0D108BD9-81ED-4DB2-BD59-A6C34878D82A}">
                    <a16:rowId xmlns:a16="http://schemas.microsoft.com/office/drawing/2014/main" val="10001"/>
                  </a:ext>
                </a:extLst>
              </a:tr>
              <a:tr h="443074">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Kernighan-Lin (1970)</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Divise le réseau en deux groupes en recherchant une partition optimale.</a:t>
                      </a:r>
                    </a:p>
                  </a:txBody>
                  <a:tcPr marL="91425" marR="91425" marT="0" marB="0" anchor="ctr"/>
                </a:tc>
                <a:tc>
                  <a:txBody>
                    <a:bodyPr/>
                    <a:lstStyle/>
                    <a:p>
                      <a:pPr marL="0" lvl="0" indent="0" algn="l" rtl="0">
                        <a:spcBef>
                          <a:spcPts val="0"/>
                        </a:spcBef>
                        <a:spcAft>
                          <a:spcPts val="1600"/>
                        </a:spcAft>
                        <a:buNone/>
                      </a:pPr>
                      <a:r>
                        <a:rPr lang="fr-FR" sz="1000" noProof="0" dirty="0">
                          <a:solidFill>
                            <a:schemeClr val="dk1"/>
                          </a:solidFill>
                          <a:latin typeface="Mulish"/>
                          <a:ea typeface="Mulish"/>
                          <a:cs typeface="Mulish"/>
                          <a:sym typeface="Mulish"/>
                        </a:rPr>
                        <a:t>Nécessite souvent des partitions de tailles similaires.</a:t>
                      </a:r>
                    </a:p>
                  </a:txBody>
                  <a:tcPr marL="91425" marR="91425" marT="0" marB="0" anchor="ctr"/>
                </a:tc>
                <a:extLst>
                  <a:ext uri="{0D108BD9-81ED-4DB2-BD59-A6C34878D82A}">
                    <a16:rowId xmlns:a16="http://schemas.microsoft.com/office/drawing/2014/main" val="10002"/>
                  </a:ext>
                </a:extLst>
              </a:tr>
            </a:tbl>
          </a:graphicData>
        </a:graphic>
      </p:graphicFrame>
      <p:sp>
        <p:nvSpPr>
          <p:cNvPr id="7" name="Google Shape;1704;p38">
            <a:extLst>
              <a:ext uri="{FF2B5EF4-FFF2-40B4-BE49-F238E27FC236}">
                <a16:creationId xmlns:a16="http://schemas.microsoft.com/office/drawing/2014/main" id="{D628E8A3-496B-B1B3-C0AE-5C7D68E63B5E}"/>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État de l'art – Algorithmes classiques</a:t>
            </a:r>
          </a:p>
        </p:txBody>
      </p:sp>
      <p:sp>
        <p:nvSpPr>
          <p:cNvPr id="8" name="TextBox 7">
            <a:extLst>
              <a:ext uri="{FF2B5EF4-FFF2-40B4-BE49-F238E27FC236}">
                <a16:creationId xmlns:a16="http://schemas.microsoft.com/office/drawing/2014/main" id="{F5427129-0C87-EE60-9272-CBE33BF3ED6F}"/>
              </a:ext>
            </a:extLst>
          </p:cNvPr>
          <p:cNvSpPr txBox="1"/>
          <p:nvPr/>
        </p:nvSpPr>
        <p:spPr>
          <a:xfrm>
            <a:off x="683669" y="817495"/>
            <a:ext cx="2862516" cy="307777"/>
          </a:xfrm>
          <a:prstGeom prst="rect">
            <a:avLst/>
          </a:prstGeom>
          <a:noFill/>
        </p:spPr>
        <p:txBody>
          <a:bodyPr wrap="square" rtlCol="0">
            <a:spAutoFit/>
          </a:bodyPr>
          <a:lstStyle/>
          <a:p>
            <a:r>
              <a:rPr lang="fr-FR" b="1" noProof="0" dirty="0"/>
              <a:t>Approches divisives</a:t>
            </a:r>
            <a:endParaRPr lang="fr-FR" noProof="0" dirty="0"/>
          </a:p>
        </p:txBody>
      </p:sp>
      <p:sp>
        <p:nvSpPr>
          <p:cNvPr id="4" name="TextBox 3">
            <a:extLst>
              <a:ext uri="{FF2B5EF4-FFF2-40B4-BE49-F238E27FC236}">
                <a16:creationId xmlns:a16="http://schemas.microsoft.com/office/drawing/2014/main" id="{777BFC78-0723-54E7-C2EE-16BADF56DD89}"/>
              </a:ext>
            </a:extLst>
          </p:cNvPr>
          <p:cNvSpPr txBox="1"/>
          <p:nvPr/>
        </p:nvSpPr>
        <p:spPr>
          <a:xfrm>
            <a:off x="683669" y="2684090"/>
            <a:ext cx="4545972" cy="307777"/>
          </a:xfrm>
          <a:prstGeom prst="rect">
            <a:avLst/>
          </a:prstGeom>
          <a:noFill/>
        </p:spPr>
        <p:txBody>
          <a:bodyPr wrap="square" rtlCol="0">
            <a:spAutoFit/>
          </a:bodyPr>
          <a:lstStyle/>
          <a:p>
            <a:r>
              <a:rPr lang="fr-FR" b="1" noProof="0" dirty="0"/>
              <a:t>Algorithmes basés sur la physique statistique</a:t>
            </a:r>
            <a:endParaRPr lang="fr-FR" noProof="0" dirty="0"/>
          </a:p>
        </p:txBody>
      </p:sp>
      <p:graphicFrame>
        <p:nvGraphicFramePr>
          <p:cNvPr id="9" name="Google Shape;1472;p28">
            <a:extLst>
              <a:ext uri="{FF2B5EF4-FFF2-40B4-BE49-F238E27FC236}">
                <a16:creationId xmlns:a16="http://schemas.microsoft.com/office/drawing/2014/main" id="{7A5F57FD-E7ED-2B2F-533C-D4A00082A3DC}"/>
              </a:ext>
            </a:extLst>
          </p:cNvPr>
          <p:cNvGraphicFramePr/>
          <p:nvPr>
            <p:extLst>
              <p:ext uri="{D42A27DB-BD31-4B8C-83A1-F6EECF244321}">
                <p14:modId xmlns:p14="http://schemas.microsoft.com/office/powerpoint/2010/main" val="170919613"/>
              </p:ext>
            </p:extLst>
          </p:nvPr>
        </p:nvGraphicFramePr>
        <p:xfrm>
          <a:off x="913221" y="3079279"/>
          <a:ext cx="7317558" cy="1051289"/>
        </p:xfrm>
        <a:graphic>
          <a:graphicData uri="http://schemas.openxmlformats.org/drawingml/2006/table">
            <a:tbl>
              <a:tblPr>
                <a:tableStyleId>{B6F588F0-DA45-466C-91A0-1F1EBF44E27B}</a:tableStyleId>
              </a:tblPr>
              <a:tblGrid>
                <a:gridCol w="1865046">
                  <a:extLst>
                    <a:ext uri="{9D8B030D-6E8A-4147-A177-3AD203B41FA5}">
                      <a16:colId xmlns:a16="http://schemas.microsoft.com/office/drawing/2014/main" val="20000"/>
                    </a:ext>
                  </a:extLst>
                </a:gridCol>
                <a:gridCol w="2726256">
                  <a:extLst>
                    <a:ext uri="{9D8B030D-6E8A-4147-A177-3AD203B41FA5}">
                      <a16:colId xmlns:a16="http://schemas.microsoft.com/office/drawing/2014/main" val="20001"/>
                    </a:ext>
                  </a:extLst>
                </a:gridCol>
                <a:gridCol w="2726256">
                  <a:extLst>
                    <a:ext uri="{9D8B030D-6E8A-4147-A177-3AD203B41FA5}">
                      <a16:colId xmlns:a16="http://schemas.microsoft.com/office/drawing/2014/main" val="41523287"/>
                    </a:ext>
                  </a:extLst>
                </a:gridCol>
              </a:tblGrid>
              <a:tr h="536601">
                <a:tc>
                  <a:txBody>
                    <a:bodyPr/>
                    <a:lstStyle/>
                    <a:p>
                      <a:pPr marL="0" lvl="0" indent="0" algn="l" rtl="0">
                        <a:spcBef>
                          <a:spcPts val="0"/>
                        </a:spcBef>
                        <a:spcAft>
                          <a:spcPts val="0"/>
                        </a:spcAft>
                        <a:buNone/>
                      </a:pPr>
                      <a:r>
                        <a:rPr lang="fr-FR" sz="1100" b="1" noProof="0" dirty="0"/>
                        <a:t>Algorithme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noProof="0" dirty="0"/>
                        <a:t>Principe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noProof="0" dirty="0"/>
                        <a:t>Limite / Avantage</a:t>
                      </a:r>
                      <a:endParaRPr lang="fr-FR" sz="1100" b="1" u="sng" noProof="0" dirty="0">
                        <a:solidFill>
                          <a:schemeClr val="dk1"/>
                        </a:solidFill>
                        <a:latin typeface="Mulish"/>
                        <a:ea typeface="Mulish"/>
                        <a:cs typeface="Mulish"/>
                        <a:sym typeface="Mulish"/>
                      </a:endParaRPr>
                    </a:p>
                  </a:txBody>
                  <a:tcPr marL="91425" marR="91425" marT="0" marB="0" anchor="ctr"/>
                </a:tc>
                <a:extLst>
                  <a:ext uri="{0D108BD9-81ED-4DB2-BD59-A6C34878D82A}">
                    <a16:rowId xmlns:a16="http://schemas.microsoft.com/office/drawing/2014/main" val="10000"/>
                  </a:ext>
                </a:extLst>
              </a:tr>
              <a:tr h="514688">
                <a:tc>
                  <a:txBody>
                    <a:bodyPr/>
                    <a:lstStyle/>
                    <a:p>
                      <a:pPr marL="0" lvl="0" indent="0" algn="l" rtl="0">
                        <a:spcBef>
                          <a:spcPts val="0"/>
                        </a:spcBef>
                        <a:spcAft>
                          <a:spcPts val="0"/>
                        </a:spcAft>
                        <a:buNone/>
                      </a:pPr>
                      <a:r>
                        <a:rPr lang="fr-FR" sz="1000" b="0" u="none" noProof="0" dirty="0">
                          <a:solidFill>
                            <a:schemeClr val="dk1"/>
                          </a:solidFill>
                          <a:latin typeface="Mulish"/>
                          <a:ea typeface="Mulish"/>
                          <a:cs typeface="Mulish"/>
                          <a:sym typeface="Mulish"/>
                        </a:rPr>
                        <a:t>Spin Glass (Reichardt &amp; Bornholdt)</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Approche inspirée de la physique utilisant l'optimisation par recuit simulé pour détecter les communautés.</a:t>
                      </a:r>
                    </a:p>
                  </a:txBody>
                  <a:tcPr marL="91425" marR="91425" marT="0" marB="0" anchor="ctr"/>
                </a:tc>
                <a:tc>
                  <a:txBody>
                    <a:bodyPr/>
                    <a:lstStyle/>
                    <a:p>
                      <a:pPr marL="0" marR="0" lvl="0" indent="0" algn="l" rtl="0">
                        <a:lnSpc>
                          <a:spcPct val="100000"/>
                        </a:lnSpc>
                        <a:spcBef>
                          <a:spcPts val="0"/>
                        </a:spcBef>
                        <a:spcAft>
                          <a:spcPts val="1600"/>
                        </a:spcAft>
                        <a:buNone/>
                      </a:pPr>
                      <a:r>
                        <a:rPr lang="fr-FR" sz="1000" noProof="0" dirty="0">
                          <a:solidFill>
                            <a:schemeClr val="dk1"/>
                          </a:solidFill>
                          <a:latin typeface="Mulish"/>
                          <a:ea typeface="Mulish"/>
                          <a:cs typeface="Mulish"/>
                          <a:sym typeface="Mulish"/>
                        </a:rPr>
                        <a:t>Complexité élevée, peu adaptée aux réseaux de grande taille (&gt; 10 000 nœuds).</a:t>
                      </a:r>
                    </a:p>
                  </a:txBody>
                  <a:tcPr marL="91425" marR="91425" marT="0" marB="0" anchor="ctr"/>
                </a:tc>
                <a:extLst>
                  <a:ext uri="{0D108BD9-81ED-4DB2-BD59-A6C34878D82A}">
                    <a16:rowId xmlns:a16="http://schemas.microsoft.com/office/drawing/2014/main" val="10001"/>
                  </a:ext>
                </a:extLst>
              </a:tr>
            </a:tbl>
          </a:graphicData>
        </a:graphic>
      </p:graphicFrame>
      <p:sp>
        <p:nvSpPr>
          <p:cNvPr id="6" name="Google Shape;1481;p29">
            <a:extLst>
              <a:ext uri="{FF2B5EF4-FFF2-40B4-BE49-F238E27FC236}">
                <a16:creationId xmlns:a16="http://schemas.microsoft.com/office/drawing/2014/main" id="{3494A031-24CD-A356-439F-3241E4E9DE76}"/>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11</a:t>
            </a:r>
          </a:p>
        </p:txBody>
      </p:sp>
    </p:spTree>
    <p:extLst>
      <p:ext uri="{BB962C8B-B14F-4D97-AF65-F5344CB8AC3E}">
        <p14:creationId xmlns:p14="http://schemas.microsoft.com/office/powerpoint/2010/main" val="19374559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999D75F7-4D68-6F76-C466-A0B03EDC74C5}"/>
            </a:ext>
          </a:extLst>
        </p:cNvPr>
        <p:cNvGrpSpPr/>
        <p:nvPr/>
      </p:nvGrpSpPr>
      <p:grpSpPr>
        <a:xfrm>
          <a:off x="0" y="0"/>
          <a:ext cx="0" cy="0"/>
          <a:chOff x="0" y="0"/>
          <a:chExt cx="0" cy="0"/>
        </a:xfrm>
      </p:grpSpPr>
      <p:graphicFrame>
        <p:nvGraphicFramePr>
          <p:cNvPr id="1472" name="Google Shape;1472;p28">
            <a:extLst>
              <a:ext uri="{FF2B5EF4-FFF2-40B4-BE49-F238E27FC236}">
                <a16:creationId xmlns:a16="http://schemas.microsoft.com/office/drawing/2014/main" id="{1CDC9EAE-47F6-EEB7-E9B8-75DBBE645FE9}"/>
              </a:ext>
            </a:extLst>
          </p:cNvPr>
          <p:cNvGraphicFramePr/>
          <p:nvPr>
            <p:extLst>
              <p:ext uri="{D42A27DB-BD31-4B8C-83A1-F6EECF244321}">
                <p14:modId xmlns:p14="http://schemas.microsoft.com/office/powerpoint/2010/main" val="2973621119"/>
              </p:ext>
            </p:extLst>
          </p:nvPr>
        </p:nvGraphicFramePr>
        <p:xfrm>
          <a:off x="913221" y="1389320"/>
          <a:ext cx="7317558" cy="2990425"/>
        </p:xfrm>
        <a:graphic>
          <a:graphicData uri="http://schemas.openxmlformats.org/drawingml/2006/table">
            <a:tbl>
              <a:tblPr>
                <a:tableStyleId>{B6F588F0-DA45-466C-91A0-1F1EBF44E27B}</a:tableStyleId>
              </a:tblPr>
              <a:tblGrid>
                <a:gridCol w="1865046">
                  <a:extLst>
                    <a:ext uri="{9D8B030D-6E8A-4147-A177-3AD203B41FA5}">
                      <a16:colId xmlns:a16="http://schemas.microsoft.com/office/drawing/2014/main" val="20000"/>
                    </a:ext>
                  </a:extLst>
                </a:gridCol>
                <a:gridCol w="2726256">
                  <a:extLst>
                    <a:ext uri="{9D8B030D-6E8A-4147-A177-3AD203B41FA5}">
                      <a16:colId xmlns:a16="http://schemas.microsoft.com/office/drawing/2014/main" val="20001"/>
                    </a:ext>
                  </a:extLst>
                </a:gridCol>
                <a:gridCol w="2726256">
                  <a:extLst>
                    <a:ext uri="{9D8B030D-6E8A-4147-A177-3AD203B41FA5}">
                      <a16:colId xmlns:a16="http://schemas.microsoft.com/office/drawing/2014/main" val="41523287"/>
                    </a:ext>
                  </a:extLst>
                </a:gridCol>
              </a:tblGrid>
              <a:tr h="361525">
                <a:tc>
                  <a:txBody>
                    <a:bodyPr/>
                    <a:lstStyle/>
                    <a:p>
                      <a:pPr marL="0" lvl="0" indent="0" algn="l" rtl="0">
                        <a:spcBef>
                          <a:spcPts val="0"/>
                        </a:spcBef>
                        <a:spcAft>
                          <a:spcPts val="0"/>
                        </a:spcAft>
                        <a:buNone/>
                      </a:pPr>
                      <a:r>
                        <a:rPr lang="fr-FR" sz="1100" b="1" noProof="0" dirty="0"/>
                        <a:t>Algorithme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noProof="0" dirty="0"/>
                        <a:t>Principe</a:t>
                      </a:r>
                      <a:endParaRPr lang="fr-FR" sz="1100" b="1" u="sng" noProof="0" dirty="0">
                        <a:solidFill>
                          <a:schemeClr val="dk1"/>
                        </a:solidFill>
                        <a:latin typeface="Mulish"/>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noProof="0" dirty="0"/>
                        <a:t>Limite / Avantage</a:t>
                      </a:r>
                      <a:endParaRPr lang="fr-FR" sz="1100" b="1" u="sng" noProof="0" dirty="0">
                        <a:solidFill>
                          <a:schemeClr val="dk1"/>
                        </a:solidFill>
                        <a:latin typeface="Mulish"/>
                        <a:ea typeface="Mulish"/>
                        <a:cs typeface="Mulish"/>
                        <a:sym typeface="Mulish"/>
                      </a:endParaRPr>
                    </a:p>
                  </a:txBody>
                  <a:tcPr marL="91425" marR="91425" marT="0" marB="0" anchor="ctr"/>
                </a:tc>
                <a:extLst>
                  <a:ext uri="{0D108BD9-81ED-4DB2-BD59-A6C34878D82A}">
                    <a16:rowId xmlns:a16="http://schemas.microsoft.com/office/drawing/2014/main" val="10000"/>
                  </a:ext>
                </a:extLst>
              </a:tr>
              <a:tr h="346762">
                <a:tc>
                  <a:txBody>
                    <a:bodyPr/>
                    <a:lstStyle/>
                    <a:p>
                      <a:pPr>
                        <a:lnSpc>
                          <a:spcPct val="100000"/>
                        </a:lnSpc>
                        <a:buNone/>
                      </a:pPr>
                      <a:r>
                        <a:rPr lang="fr-FR" sz="1000" b="1" noProof="0" dirty="0">
                          <a:effectLst/>
                          <a:latin typeface="Mulish" panose="020B0604020202020204" charset="0"/>
                        </a:rPr>
                        <a:t>LPA</a:t>
                      </a:r>
                      <a:r>
                        <a:rPr lang="fr-FR" sz="1000" b="0" noProof="0" dirty="0">
                          <a:effectLst/>
                          <a:latin typeface="Mulish" panose="020B0604020202020204" charset="0"/>
                        </a:rPr>
                        <a:t> (Raghavan et al.)</a:t>
                      </a:r>
                    </a:p>
                  </a:txBody>
                  <a:tcPr marR="152400" marT="95250" marB="95250" anchor="ctr"/>
                </a:tc>
                <a:tc>
                  <a:txBody>
                    <a:bodyPr/>
                    <a:lstStyle/>
                    <a:p>
                      <a:pPr>
                        <a:lnSpc>
                          <a:spcPct val="100000"/>
                        </a:lnSpc>
                        <a:buNone/>
                      </a:pPr>
                      <a:r>
                        <a:rPr lang="fr-FR" sz="1000" b="0" noProof="0" dirty="0">
                          <a:effectLst/>
                          <a:latin typeface="Mulish" panose="020B0604020202020204" charset="0"/>
                        </a:rPr>
                        <a:t>Les nœuds adoptent l'étiquette la plus fréquente parmi leurs voisins.</a:t>
                      </a:r>
                    </a:p>
                  </a:txBody>
                  <a:tcPr marL="152400" marR="152400" marT="95250" marB="95250" anchor="ctr"/>
                </a:tc>
                <a:tc>
                  <a:txBody>
                    <a:bodyPr/>
                    <a:lstStyle/>
                    <a:p>
                      <a:pPr algn="l">
                        <a:lnSpc>
                          <a:spcPct val="100000"/>
                        </a:lnSpc>
                        <a:buNone/>
                      </a:pPr>
                      <a:r>
                        <a:rPr lang="fr-FR" sz="1000" b="0" noProof="0" dirty="0">
                          <a:effectLst/>
                          <a:latin typeface="Mulish" panose="020B0604020202020204" charset="0"/>
                        </a:rPr>
                        <a:t>Gates et al. : algorithme fondamentalement instable.</a:t>
                      </a:r>
                    </a:p>
                  </a:txBody>
                  <a:tcPr marL="152400" marT="95250" marB="95250" anchor="ctr"/>
                </a:tc>
                <a:extLst>
                  <a:ext uri="{0D108BD9-81ED-4DB2-BD59-A6C34878D82A}">
                    <a16:rowId xmlns:a16="http://schemas.microsoft.com/office/drawing/2014/main" val="10001"/>
                  </a:ext>
                </a:extLst>
              </a:tr>
              <a:tr h="361525">
                <a:tc>
                  <a:txBody>
                    <a:bodyPr/>
                    <a:lstStyle/>
                    <a:p>
                      <a:pPr>
                        <a:lnSpc>
                          <a:spcPct val="100000"/>
                        </a:lnSpc>
                        <a:buNone/>
                      </a:pPr>
                      <a:r>
                        <a:rPr lang="fr-FR" sz="1000" b="1" noProof="0" dirty="0">
                          <a:effectLst/>
                          <a:latin typeface="Mulish" panose="020B0604020202020204" charset="0"/>
                        </a:rPr>
                        <a:t>FLPA</a:t>
                      </a:r>
                      <a:endParaRPr lang="fr-FR" sz="1000" b="0" noProof="0" dirty="0">
                        <a:effectLst/>
                        <a:latin typeface="Mulish" panose="020B0604020202020204" charset="0"/>
                      </a:endParaRPr>
                    </a:p>
                  </a:txBody>
                  <a:tcPr marR="152400" marT="95250" marB="95250" anchor="ctr"/>
                </a:tc>
                <a:tc>
                  <a:txBody>
                    <a:bodyPr/>
                    <a:lstStyle/>
                    <a:p>
                      <a:pPr>
                        <a:lnSpc>
                          <a:spcPct val="100000"/>
                        </a:lnSpc>
                        <a:buNone/>
                      </a:pPr>
                      <a:r>
                        <a:rPr lang="fr-FR" sz="1000" b="0" noProof="0" dirty="0">
                          <a:effectLst/>
                          <a:latin typeface="Mulish" panose="020B0604020202020204" charset="0"/>
                        </a:rPr>
                        <a:t>Mises à jour asynchrones avec mécanisme de mémoire.</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Yang et al. : surpasse le LPA pour un paramètre de mélange μ ∈ [0,5 ; 0,7].</a:t>
                      </a:r>
                    </a:p>
                  </a:txBody>
                  <a:tcPr marL="152400" marT="95250" marB="95250" anchor="ctr"/>
                </a:tc>
                <a:extLst>
                  <a:ext uri="{0D108BD9-81ED-4DB2-BD59-A6C34878D82A}">
                    <a16:rowId xmlns:a16="http://schemas.microsoft.com/office/drawing/2014/main" val="10002"/>
                  </a:ext>
                </a:extLst>
              </a:tr>
              <a:tr h="361525">
                <a:tc>
                  <a:txBody>
                    <a:bodyPr/>
                    <a:lstStyle/>
                    <a:p>
                      <a:pPr>
                        <a:lnSpc>
                          <a:spcPct val="100000"/>
                        </a:lnSpc>
                        <a:buNone/>
                      </a:pPr>
                      <a:r>
                        <a:rPr lang="fr-FR" sz="1000" b="1" noProof="0" dirty="0">
                          <a:effectLst/>
                          <a:latin typeface="Mulish" panose="020B0604020202020204" charset="0"/>
                        </a:rPr>
                        <a:t>LPA-MNI</a:t>
                      </a:r>
                      <a:r>
                        <a:rPr lang="fr-FR" sz="1000" b="0" noProof="0" dirty="0">
                          <a:effectLst/>
                          <a:latin typeface="Mulish" panose="020B0604020202020204" charset="0"/>
                        </a:rPr>
                        <a:t> (Li et al.)</a:t>
                      </a:r>
                    </a:p>
                  </a:txBody>
                  <a:tcPr marR="152400" marT="95250" marB="95250" anchor="ctr"/>
                </a:tc>
                <a:tc>
                  <a:txBody>
                    <a:bodyPr/>
                    <a:lstStyle/>
                    <a:p>
                      <a:pPr>
                        <a:lnSpc>
                          <a:spcPct val="100000"/>
                        </a:lnSpc>
                        <a:buNone/>
                      </a:pPr>
                      <a:r>
                        <a:rPr lang="fr-FR" sz="1000" b="0" noProof="0" dirty="0">
                          <a:effectLst/>
                          <a:latin typeface="Mulish" panose="020B0604020202020204" charset="0"/>
                        </a:rPr>
                        <a:t>Combine la modularité et l'importance des nœuds.</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Améliore la précision et la robustesse.</a:t>
                      </a:r>
                    </a:p>
                  </a:txBody>
                  <a:tcPr marL="152400" marT="95250" marB="95250" anchor="ctr"/>
                </a:tc>
                <a:extLst>
                  <a:ext uri="{0D108BD9-81ED-4DB2-BD59-A6C34878D82A}">
                    <a16:rowId xmlns:a16="http://schemas.microsoft.com/office/drawing/2014/main" val="1339010347"/>
                  </a:ext>
                </a:extLst>
              </a:tr>
              <a:tr h="361525">
                <a:tc>
                  <a:txBody>
                    <a:bodyPr/>
                    <a:lstStyle/>
                    <a:p>
                      <a:pPr>
                        <a:lnSpc>
                          <a:spcPct val="100000"/>
                        </a:lnSpc>
                        <a:buNone/>
                      </a:pPr>
                      <a:r>
                        <a:rPr lang="fr-FR" sz="1000" b="1" noProof="0" dirty="0">
                          <a:effectLst/>
                          <a:latin typeface="Mulish" panose="020B0604020202020204" charset="0"/>
                        </a:rPr>
                        <a:t>CLPA</a:t>
                      </a:r>
                      <a:r>
                        <a:rPr lang="fr-FR" sz="1000" b="0" noProof="0" dirty="0">
                          <a:effectLst/>
                          <a:latin typeface="Mulish" panose="020B0604020202020204" charset="0"/>
                        </a:rPr>
                        <a:t> (Li et al.)</a:t>
                      </a:r>
                    </a:p>
                  </a:txBody>
                  <a:tcPr marR="152400" marT="95250" marB="95250" anchor="ctr"/>
                </a:tc>
                <a:tc>
                  <a:txBody>
                    <a:bodyPr/>
                    <a:lstStyle/>
                    <a:p>
                      <a:pPr>
                        <a:lnSpc>
                          <a:spcPct val="100000"/>
                        </a:lnSpc>
                        <a:buNone/>
                      </a:pPr>
                      <a:r>
                        <a:rPr lang="fr-FR" sz="1000" b="0" noProof="0" dirty="0">
                          <a:effectLst/>
                          <a:latin typeface="Mulish" panose="020B0604020202020204" charset="0"/>
                        </a:rPr>
                        <a:t>Basé sur une optimisation sous contraintes.</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Polyvalent et adapté à différents types de réseaux.</a:t>
                      </a:r>
                    </a:p>
                  </a:txBody>
                  <a:tcPr marL="152400" marT="95250" marB="95250" anchor="ctr"/>
                </a:tc>
                <a:extLst>
                  <a:ext uri="{0D108BD9-81ED-4DB2-BD59-A6C34878D82A}">
                    <a16:rowId xmlns:a16="http://schemas.microsoft.com/office/drawing/2014/main" val="3298635651"/>
                  </a:ext>
                </a:extLst>
              </a:tr>
              <a:tr h="361525">
                <a:tc>
                  <a:txBody>
                    <a:bodyPr/>
                    <a:lstStyle/>
                    <a:p>
                      <a:pPr>
                        <a:lnSpc>
                          <a:spcPct val="100000"/>
                        </a:lnSpc>
                        <a:buNone/>
                      </a:pPr>
                      <a:r>
                        <a:rPr lang="fr-FR" sz="1000" b="1" noProof="0" dirty="0" err="1">
                          <a:effectLst/>
                          <a:latin typeface="Mulish" panose="020B0604020202020204" charset="0"/>
                        </a:rPr>
                        <a:t>FluidC</a:t>
                      </a:r>
                      <a:r>
                        <a:rPr lang="fr-FR" sz="1000" b="0" noProof="0" dirty="0">
                          <a:effectLst/>
                          <a:latin typeface="Mulish" panose="020B0604020202020204" charset="0"/>
                        </a:rPr>
                        <a:t> (Parés et al.)</a:t>
                      </a:r>
                    </a:p>
                  </a:txBody>
                  <a:tcPr marR="152400" marT="95250" marB="95250" anchor="ctr"/>
                </a:tc>
                <a:tc>
                  <a:txBody>
                    <a:bodyPr/>
                    <a:lstStyle/>
                    <a:p>
                      <a:pPr>
                        <a:lnSpc>
                          <a:spcPct val="100000"/>
                        </a:lnSpc>
                        <a:buNone/>
                      </a:pPr>
                      <a:r>
                        <a:rPr lang="fr-FR" sz="1000" b="0" noProof="0" dirty="0">
                          <a:effectLst/>
                          <a:latin typeface="Mulish" panose="020B0604020202020204" charset="0"/>
                        </a:rPr>
                        <a:t>Les communautés sont modélisées comme des fluides qui s'étendent progressivement dans le réseau.</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obtient un ARI d'environ 0,9 sur un réseau de 500 000 nœuds.</a:t>
                      </a:r>
                    </a:p>
                  </a:txBody>
                  <a:tcPr marL="152400" marT="95250" marB="95250" anchor="ctr"/>
                </a:tc>
                <a:extLst>
                  <a:ext uri="{0D108BD9-81ED-4DB2-BD59-A6C34878D82A}">
                    <a16:rowId xmlns:a16="http://schemas.microsoft.com/office/drawing/2014/main" val="1977022067"/>
                  </a:ext>
                </a:extLst>
              </a:tr>
            </a:tbl>
          </a:graphicData>
        </a:graphic>
      </p:graphicFrame>
      <p:sp>
        <p:nvSpPr>
          <p:cNvPr id="8" name="TextBox 7">
            <a:extLst>
              <a:ext uri="{FF2B5EF4-FFF2-40B4-BE49-F238E27FC236}">
                <a16:creationId xmlns:a16="http://schemas.microsoft.com/office/drawing/2014/main" id="{970AA51E-0519-4406-6B43-DA66EAED4FA5}"/>
              </a:ext>
            </a:extLst>
          </p:cNvPr>
          <p:cNvSpPr txBox="1"/>
          <p:nvPr/>
        </p:nvSpPr>
        <p:spPr>
          <a:xfrm>
            <a:off x="671794" y="893398"/>
            <a:ext cx="4789206" cy="307777"/>
          </a:xfrm>
          <a:prstGeom prst="rect">
            <a:avLst/>
          </a:prstGeom>
          <a:noFill/>
        </p:spPr>
        <p:txBody>
          <a:bodyPr wrap="square" rtlCol="0">
            <a:spAutoFit/>
          </a:bodyPr>
          <a:lstStyle/>
          <a:p>
            <a:r>
              <a:rPr lang="fr-FR" b="1" noProof="0" dirty="0"/>
              <a:t>Approches basées sur la propagation d'étiquettes</a:t>
            </a:r>
            <a:endParaRPr lang="fr-FR" noProof="0" dirty="0"/>
          </a:p>
        </p:txBody>
      </p:sp>
      <p:sp>
        <p:nvSpPr>
          <p:cNvPr id="4" name="Google Shape;1704;p38">
            <a:extLst>
              <a:ext uri="{FF2B5EF4-FFF2-40B4-BE49-F238E27FC236}">
                <a16:creationId xmlns:a16="http://schemas.microsoft.com/office/drawing/2014/main" id="{B732F4AF-1253-85B6-534D-52BBF2ABF677}"/>
              </a:ext>
            </a:extLst>
          </p:cNvPr>
          <p:cNvSpPr txBox="1">
            <a:spLocks/>
          </p:cNvSpPr>
          <p:nvPr/>
        </p:nvSpPr>
        <p:spPr>
          <a:xfrm>
            <a:off x="524792" y="288525"/>
            <a:ext cx="8211374"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1pPr>
            <a:lvl2pPr marR="0" lvl="1"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2pPr>
            <a:lvl3pPr marR="0" lvl="2"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3pPr>
            <a:lvl4pPr marR="0" lvl="3"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4pPr>
            <a:lvl5pPr marR="0" lvl="4"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5pPr>
            <a:lvl6pPr marR="0" lvl="5"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6pPr>
            <a:lvl7pPr marR="0" lvl="6"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7pPr>
            <a:lvl8pPr marR="0" lvl="7"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8pPr>
            <a:lvl9pPr marR="0" lvl="8" algn="l" rtl="0">
              <a:lnSpc>
                <a:spcPct val="100000"/>
              </a:lnSpc>
              <a:spcBef>
                <a:spcPts val="0"/>
              </a:spcBef>
              <a:spcAft>
                <a:spcPts val="0"/>
              </a:spcAft>
              <a:buClr>
                <a:schemeClr val="dk1"/>
              </a:buClr>
              <a:buSzPts val="3000"/>
              <a:buFont typeface="Albert Sans"/>
              <a:buNone/>
              <a:defRPr sz="3000" b="1" i="0" u="none" strike="noStrike" cap="none">
                <a:solidFill>
                  <a:schemeClr val="dk1"/>
                </a:solidFill>
                <a:latin typeface="Albert Sans"/>
                <a:ea typeface="Albert Sans"/>
                <a:cs typeface="Albert Sans"/>
                <a:sym typeface="Albert Sans"/>
              </a:defRPr>
            </a:lvl9pPr>
          </a:lstStyle>
          <a:p>
            <a:r>
              <a:rPr lang="fr-FR" sz="2400" noProof="0" dirty="0"/>
              <a:t>État de l'art – Algorithmes classiques</a:t>
            </a:r>
          </a:p>
        </p:txBody>
      </p:sp>
      <p:sp>
        <p:nvSpPr>
          <p:cNvPr id="6" name="Google Shape;1481;p29">
            <a:extLst>
              <a:ext uri="{FF2B5EF4-FFF2-40B4-BE49-F238E27FC236}">
                <a16:creationId xmlns:a16="http://schemas.microsoft.com/office/drawing/2014/main" id="{3E0765D4-EDFB-CE28-14A4-8461E1F168C8}"/>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12</a:t>
            </a:r>
          </a:p>
        </p:txBody>
      </p:sp>
    </p:spTree>
    <p:extLst>
      <p:ext uri="{BB962C8B-B14F-4D97-AF65-F5344CB8AC3E}">
        <p14:creationId xmlns:p14="http://schemas.microsoft.com/office/powerpoint/2010/main" val="3024997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5B1AB9D8-2D16-45D5-1233-0047DFB01B40}"/>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A3B62CD1-C4F4-BEC6-D102-391375AC6F78}"/>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État de l'art – Algorithmes modernes </a:t>
            </a:r>
          </a:p>
        </p:txBody>
      </p:sp>
      <p:sp>
        <p:nvSpPr>
          <p:cNvPr id="6" name="TextBox 5">
            <a:extLst>
              <a:ext uri="{FF2B5EF4-FFF2-40B4-BE49-F238E27FC236}">
                <a16:creationId xmlns:a16="http://schemas.microsoft.com/office/drawing/2014/main" id="{7C3F25B4-C9AD-8ACB-78AF-9582F592BD61}"/>
              </a:ext>
            </a:extLst>
          </p:cNvPr>
          <p:cNvSpPr txBox="1"/>
          <p:nvPr/>
        </p:nvSpPr>
        <p:spPr>
          <a:xfrm>
            <a:off x="671794" y="893398"/>
            <a:ext cx="4967006" cy="307777"/>
          </a:xfrm>
          <a:prstGeom prst="rect">
            <a:avLst/>
          </a:prstGeom>
          <a:noFill/>
        </p:spPr>
        <p:txBody>
          <a:bodyPr wrap="square" rtlCol="0">
            <a:spAutoFit/>
          </a:bodyPr>
          <a:lstStyle/>
          <a:p>
            <a:r>
              <a:rPr lang="fr-FR" b="1" noProof="0" dirty="0"/>
              <a:t>Graph Neural Networks (GCN-GAT-VGAE-AE)</a:t>
            </a:r>
            <a:endParaRPr lang="fr-FR" noProof="0" dirty="0"/>
          </a:p>
        </p:txBody>
      </p:sp>
      <p:sp>
        <p:nvSpPr>
          <p:cNvPr id="8" name="Google Shape;1481;p29">
            <a:extLst>
              <a:ext uri="{FF2B5EF4-FFF2-40B4-BE49-F238E27FC236}">
                <a16:creationId xmlns:a16="http://schemas.microsoft.com/office/drawing/2014/main" id="{0BA90213-90F7-3A51-320D-64DCC03CC745}"/>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13</a:t>
            </a:r>
          </a:p>
        </p:txBody>
      </p:sp>
      <p:pic>
        <p:nvPicPr>
          <p:cNvPr id="9" name="Picture 8">
            <a:extLst>
              <a:ext uri="{FF2B5EF4-FFF2-40B4-BE49-F238E27FC236}">
                <a16:creationId xmlns:a16="http://schemas.microsoft.com/office/drawing/2014/main" id="{C1811A3C-AE97-2530-DA72-2E9F1BF18C56}"/>
              </a:ext>
            </a:extLst>
          </p:cNvPr>
          <p:cNvPicPr>
            <a:picLocks noChangeAspect="1"/>
          </p:cNvPicPr>
          <p:nvPr/>
        </p:nvPicPr>
        <p:blipFill>
          <a:blip r:embed="rId3"/>
          <a:stretch>
            <a:fillRect/>
          </a:stretch>
        </p:blipFill>
        <p:spPr>
          <a:xfrm>
            <a:off x="212905" y="1397239"/>
            <a:ext cx="8718190" cy="2852863"/>
          </a:xfrm>
          <a:prstGeom prst="rect">
            <a:avLst/>
          </a:prstGeom>
        </p:spPr>
      </p:pic>
    </p:spTree>
    <p:extLst>
      <p:ext uri="{BB962C8B-B14F-4D97-AF65-F5344CB8AC3E}">
        <p14:creationId xmlns:p14="http://schemas.microsoft.com/office/powerpoint/2010/main" val="41334809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E792794C-9EAC-CD5C-F5F9-8CDF425C5550}"/>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B3D6EE7B-1F9E-1D7A-7365-1EC151579431}"/>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État de l'art - Applications</a:t>
            </a:r>
          </a:p>
        </p:txBody>
      </p:sp>
      <p:pic>
        <p:nvPicPr>
          <p:cNvPr id="4" name="Picture 3">
            <a:extLst>
              <a:ext uri="{FF2B5EF4-FFF2-40B4-BE49-F238E27FC236}">
                <a16:creationId xmlns:a16="http://schemas.microsoft.com/office/drawing/2014/main" id="{A3C79A1F-417A-09D3-E974-B79F62574621}"/>
              </a:ext>
            </a:extLst>
          </p:cNvPr>
          <p:cNvPicPr>
            <a:picLocks noChangeAspect="1"/>
          </p:cNvPicPr>
          <p:nvPr/>
        </p:nvPicPr>
        <p:blipFill>
          <a:blip r:embed="rId3"/>
          <a:stretch>
            <a:fillRect/>
          </a:stretch>
        </p:blipFill>
        <p:spPr>
          <a:xfrm>
            <a:off x="1797894" y="1100864"/>
            <a:ext cx="5548212" cy="2941772"/>
          </a:xfrm>
          <a:prstGeom prst="rect">
            <a:avLst/>
          </a:prstGeom>
        </p:spPr>
      </p:pic>
      <p:sp>
        <p:nvSpPr>
          <p:cNvPr id="6" name="Google Shape;1481;p29">
            <a:extLst>
              <a:ext uri="{FF2B5EF4-FFF2-40B4-BE49-F238E27FC236}">
                <a16:creationId xmlns:a16="http://schemas.microsoft.com/office/drawing/2014/main" id="{FF560D59-F302-FAE4-E8E4-00D219D57EC6}"/>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14</a:t>
            </a:r>
          </a:p>
        </p:txBody>
      </p:sp>
    </p:spTree>
    <p:extLst>
      <p:ext uri="{BB962C8B-B14F-4D97-AF65-F5344CB8AC3E}">
        <p14:creationId xmlns:p14="http://schemas.microsoft.com/office/powerpoint/2010/main" val="21775985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0509D351-6F44-8E02-3863-FA2D6859F308}"/>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DCE0D523-9353-13A6-6E4A-A50E6CE88CDD}"/>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Méthodologie</a:t>
            </a:r>
          </a:p>
        </p:txBody>
      </p:sp>
      <p:sp>
        <p:nvSpPr>
          <p:cNvPr id="5" name="TextBox 4">
            <a:extLst>
              <a:ext uri="{FF2B5EF4-FFF2-40B4-BE49-F238E27FC236}">
                <a16:creationId xmlns:a16="http://schemas.microsoft.com/office/drawing/2014/main" id="{BB67DFAE-27AF-C953-3F85-D8BFF5039A8F}"/>
              </a:ext>
            </a:extLst>
          </p:cNvPr>
          <p:cNvSpPr txBox="1"/>
          <p:nvPr/>
        </p:nvSpPr>
        <p:spPr>
          <a:xfrm>
            <a:off x="524792" y="800931"/>
            <a:ext cx="6130008" cy="523220"/>
          </a:xfrm>
          <a:prstGeom prst="rect">
            <a:avLst/>
          </a:prstGeom>
          <a:noFill/>
        </p:spPr>
        <p:txBody>
          <a:bodyPr wrap="square" rtlCol="0">
            <a:spAutoFit/>
          </a:bodyPr>
          <a:lstStyle/>
          <a:p>
            <a:r>
              <a:rPr lang="fr-FR" b="1" noProof="0" dirty="0"/>
              <a:t>Phase 1: Évaluation des algorithmes de détection de communautés</a:t>
            </a:r>
            <a:br>
              <a:rPr lang="fr-FR" noProof="0" dirty="0"/>
            </a:br>
            <a:endParaRPr lang="fr-FR" b="1" noProof="0" dirty="0"/>
          </a:p>
        </p:txBody>
      </p:sp>
      <p:graphicFrame>
        <p:nvGraphicFramePr>
          <p:cNvPr id="3" name="Google Shape;1472;p28">
            <a:extLst>
              <a:ext uri="{FF2B5EF4-FFF2-40B4-BE49-F238E27FC236}">
                <a16:creationId xmlns:a16="http://schemas.microsoft.com/office/drawing/2014/main" id="{66749852-8379-C3E0-57CC-AD1161444ACD}"/>
              </a:ext>
            </a:extLst>
          </p:cNvPr>
          <p:cNvGraphicFramePr/>
          <p:nvPr>
            <p:extLst>
              <p:ext uri="{D42A27DB-BD31-4B8C-83A1-F6EECF244321}">
                <p14:modId xmlns:p14="http://schemas.microsoft.com/office/powerpoint/2010/main" val="2559232608"/>
              </p:ext>
            </p:extLst>
          </p:nvPr>
        </p:nvGraphicFramePr>
        <p:xfrm>
          <a:off x="580288" y="1170263"/>
          <a:ext cx="8100381" cy="1647781"/>
        </p:xfrm>
        <a:graphic>
          <a:graphicData uri="http://schemas.openxmlformats.org/drawingml/2006/table">
            <a:tbl>
              <a:tblPr>
                <a:tableStyleId>{B6F588F0-DA45-466C-91A0-1F1EBF44E27B}</a:tableStyleId>
              </a:tblPr>
              <a:tblGrid>
                <a:gridCol w="1358805">
                  <a:extLst>
                    <a:ext uri="{9D8B030D-6E8A-4147-A177-3AD203B41FA5}">
                      <a16:colId xmlns:a16="http://schemas.microsoft.com/office/drawing/2014/main" val="20000"/>
                    </a:ext>
                  </a:extLst>
                </a:gridCol>
                <a:gridCol w="2808529">
                  <a:extLst>
                    <a:ext uri="{9D8B030D-6E8A-4147-A177-3AD203B41FA5}">
                      <a16:colId xmlns:a16="http://schemas.microsoft.com/office/drawing/2014/main" val="20001"/>
                    </a:ext>
                  </a:extLst>
                </a:gridCol>
                <a:gridCol w="1813404">
                  <a:extLst>
                    <a:ext uri="{9D8B030D-6E8A-4147-A177-3AD203B41FA5}">
                      <a16:colId xmlns:a16="http://schemas.microsoft.com/office/drawing/2014/main" val="41523287"/>
                    </a:ext>
                  </a:extLst>
                </a:gridCol>
                <a:gridCol w="2119643">
                  <a:extLst>
                    <a:ext uri="{9D8B030D-6E8A-4147-A177-3AD203B41FA5}">
                      <a16:colId xmlns:a16="http://schemas.microsoft.com/office/drawing/2014/main" val="1122031089"/>
                    </a:ext>
                  </a:extLst>
                </a:gridCol>
              </a:tblGrid>
              <a:tr h="361525">
                <a:tc>
                  <a:txBody>
                    <a:bodyPr/>
                    <a:lstStyle/>
                    <a:p>
                      <a:pPr marL="0" lvl="0" indent="0" algn="l" rtl="0">
                        <a:spcBef>
                          <a:spcPts val="0"/>
                        </a:spcBef>
                        <a:spcAft>
                          <a:spcPts val="0"/>
                        </a:spcAft>
                        <a:buNone/>
                      </a:pPr>
                      <a:r>
                        <a:rPr lang="fr-FR" sz="1100" b="1" u="none" noProof="0" dirty="0">
                          <a:latin typeface="+mj-lt"/>
                        </a:rPr>
                        <a:t>Catégorie</a:t>
                      </a:r>
                      <a:endParaRPr lang="fr-FR" sz="1100" b="1" u="none" noProof="0" dirty="0">
                        <a:solidFill>
                          <a:schemeClr val="dk1"/>
                        </a:solidFill>
                        <a:latin typeface="+mj-lt"/>
                        <a:ea typeface="Mulish"/>
                        <a:cs typeface="Mulish"/>
                        <a:sym typeface="Mulish"/>
                      </a:endParaRPr>
                    </a:p>
                  </a:txBody>
                  <a:tcPr marL="91425" marR="91425" marT="0" marB="0" anchor="ctr"/>
                </a:tc>
                <a:tc>
                  <a:txBody>
                    <a:bodyPr/>
                    <a:lstStyle/>
                    <a:p>
                      <a:pPr marL="0" lvl="0" indent="0" algn="l" rtl="0">
                        <a:spcBef>
                          <a:spcPts val="0"/>
                        </a:spcBef>
                        <a:spcAft>
                          <a:spcPts val="0"/>
                        </a:spcAft>
                        <a:buNone/>
                      </a:pPr>
                      <a:r>
                        <a:rPr lang="fr-FR" sz="1100" b="1" u="none" noProof="0" dirty="0">
                          <a:solidFill>
                            <a:schemeClr val="dk1"/>
                          </a:solidFill>
                          <a:latin typeface="+mj-lt"/>
                          <a:sym typeface="Mulish"/>
                        </a:rPr>
                        <a:t>Algorithmes</a:t>
                      </a:r>
                      <a:endParaRPr lang="fr-FR" sz="1100" b="1" u="none" noProof="0" dirty="0">
                        <a:solidFill>
                          <a:schemeClr val="dk1"/>
                        </a:solidFill>
                        <a:latin typeface="+mj-lt"/>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u="none" noProof="0" dirty="0" err="1">
                          <a:solidFill>
                            <a:schemeClr val="dk1"/>
                          </a:solidFill>
                          <a:latin typeface="+mj-lt"/>
                          <a:sym typeface="Mulish"/>
                        </a:rPr>
                        <a:t>Datasets</a:t>
                      </a:r>
                      <a:endParaRPr lang="fr-FR" sz="1100" b="1" u="none" noProof="0" dirty="0">
                        <a:solidFill>
                          <a:schemeClr val="dk1"/>
                        </a:solidFill>
                        <a:latin typeface="+mj-lt"/>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u="none" noProof="0" dirty="0">
                          <a:latin typeface="+mj-lt"/>
                        </a:rPr>
                        <a:t>Métriques</a:t>
                      </a:r>
                      <a:endParaRPr lang="fr-FR" sz="1100" b="1" u="none" noProof="0" dirty="0">
                        <a:solidFill>
                          <a:schemeClr val="dk1"/>
                        </a:solidFill>
                        <a:latin typeface="+mj-lt"/>
                        <a:ea typeface="Mulish"/>
                        <a:cs typeface="Mulish"/>
                        <a:sym typeface="Mulish"/>
                      </a:endParaRPr>
                    </a:p>
                  </a:txBody>
                  <a:tcPr marL="91425" marR="91425" marT="0" marB="0" anchor="ctr"/>
                </a:tc>
                <a:extLst>
                  <a:ext uri="{0D108BD9-81ED-4DB2-BD59-A6C34878D82A}">
                    <a16:rowId xmlns:a16="http://schemas.microsoft.com/office/drawing/2014/main" val="10000"/>
                  </a:ext>
                </a:extLst>
              </a:tr>
              <a:tr h="346762">
                <a:tc>
                  <a:txBody>
                    <a:bodyPr/>
                    <a:lstStyle/>
                    <a:p>
                      <a:pPr>
                        <a:lnSpc>
                          <a:spcPts val="1875"/>
                        </a:lnSpc>
                        <a:buNone/>
                      </a:pPr>
                      <a:r>
                        <a:rPr lang="fr-FR" sz="1000" b="1" noProof="0" dirty="0">
                          <a:effectLst/>
                          <a:latin typeface="Mulish" panose="020B0604020202020204" charset="0"/>
                        </a:rPr>
                        <a:t>Classiques (13)</a:t>
                      </a:r>
                      <a:endParaRPr lang="fr-FR" sz="1000" b="0" noProof="0" dirty="0">
                        <a:effectLst/>
                        <a:latin typeface="Mulish" panose="020B0604020202020204" charset="0"/>
                      </a:endParaRPr>
                    </a:p>
                  </a:txBody>
                  <a:tcPr marR="152400" marT="95250" marB="95250" anchor="ctr"/>
                </a:tc>
                <a:tc>
                  <a:txBody>
                    <a:bodyPr/>
                    <a:lstStyle/>
                    <a:p>
                      <a:pPr>
                        <a:lnSpc>
                          <a:spcPts val="1875"/>
                        </a:lnSpc>
                        <a:buNone/>
                      </a:pPr>
                      <a:r>
                        <a:rPr lang="fr-FR" sz="1000" b="0" noProof="0" dirty="0">
                          <a:effectLst/>
                          <a:latin typeface="Mulish" panose="020B0604020202020204" charset="0"/>
                        </a:rPr>
                        <a:t>Louvain, Leiden, </a:t>
                      </a:r>
                      <a:r>
                        <a:rPr lang="fr-FR" sz="1000" b="0" noProof="0" dirty="0" err="1">
                          <a:effectLst/>
                          <a:latin typeface="Mulish" panose="020B0604020202020204" charset="0"/>
                        </a:rPr>
                        <a:t>Walktrap</a:t>
                      </a:r>
                      <a:r>
                        <a:rPr lang="fr-FR" sz="1000" b="0" noProof="0" dirty="0">
                          <a:effectLst/>
                          <a:latin typeface="Mulish" panose="020B0604020202020204" charset="0"/>
                        </a:rPr>
                        <a:t>, </a:t>
                      </a:r>
                      <a:r>
                        <a:rPr lang="fr-FR" sz="1000" b="0" noProof="0" dirty="0" err="1">
                          <a:effectLst/>
                          <a:latin typeface="Mulish" panose="020B0604020202020204" charset="0"/>
                        </a:rPr>
                        <a:t>Infomap</a:t>
                      </a:r>
                      <a:r>
                        <a:rPr lang="fr-FR" sz="1000" b="0" noProof="0" dirty="0">
                          <a:effectLst/>
                          <a:latin typeface="Mulish" panose="020B0604020202020204" charset="0"/>
                        </a:rPr>
                        <a:t>, LPA, FLPA, LPA-MNI, CLPA, </a:t>
                      </a:r>
                      <a:r>
                        <a:rPr lang="fr-FR" sz="1000" b="0" noProof="0" dirty="0" err="1">
                          <a:effectLst/>
                          <a:latin typeface="Mulish" panose="020B0604020202020204" charset="0"/>
                        </a:rPr>
                        <a:t>FluidC</a:t>
                      </a:r>
                      <a:r>
                        <a:rPr lang="fr-FR" sz="1000" b="0" noProof="0" dirty="0">
                          <a:effectLst/>
                          <a:latin typeface="Mulish" panose="020B0604020202020204" charset="0"/>
                        </a:rPr>
                        <a:t>, Girvan-Newman, Kernighan-Lin, </a:t>
                      </a:r>
                      <a:r>
                        <a:rPr lang="fr-FR" sz="1000" b="0" noProof="0" dirty="0" err="1">
                          <a:effectLst/>
                          <a:latin typeface="Mulish" panose="020B0604020202020204" charset="0"/>
                        </a:rPr>
                        <a:t>SpinGlass</a:t>
                      </a:r>
                      <a:r>
                        <a:rPr lang="fr-FR" sz="1000" b="0" noProof="0" dirty="0">
                          <a:effectLst/>
                          <a:latin typeface="Mulish" panose="020B0604020202020204" charset="0"/>
                        </a:rPr>
                        <a:t>, MCL</a:t>
                      </a:r>
                    </a:p>
                  </a:txBody>
                  <a:tcPr marL="152400" marR="152400" marT="95250" marB="95250" anchor="ctr"/>
                </a:tc>
                <a:tc rowSpan="2">
                  <a:txBody>
                    <a:bodyPr/>
                    <a:lstStyle/>
                    <a:p>
                      <a:pPr>
                        <a:lnSpc>
                          <a:spcPts val="1875"/>
                        </a:lnSpc>
                        <a:buNone/>
                      </a:pPr>
                      <a:r>
                        <a:rPr lang="fr-FR" sz="1000" b="0" noProof="0" dirty="0">
                          <a:effectLst/>
                          <a:latin typeface="Mulish" panose="020B0604020202020204" charset="0"/>
                        </a:rPr>
                        <a:t>7 real-world + LFR synthétiques</a:t>
                      </a:r>
                    </a:p>
                  </a:txBody>
                  <a:tcPr marL="152400" marR="152400" marT="95250" marB="95250" anchor="ctr"/>
                </a:tc>
                <a:tc rowSpan="2">
                  <a:txBody>
                    <a:bodyPr/>
                    <a:lstStyle/>
                    <a:p>
                      <a:pPr>
                        <a:lnSpc>
                          <a:spcPts val="1875"/>
                        </a:lnSpc>
                        <a:buNone/>
                      </a:pPr>
                      <a:r>
                        <a:rPr lang="fr-FR" sz="1000" b="0" noProof="0" dirty="0">
                          <a:effectLst/>
                          <a:latin typeface="Mulish" panose="020B0604020202020204" charset="0"/>
                        </a:rPr>
                        <a:t>NMI, ARI, Modularité</a:t>
                      </a:r>
                    </a:p>
                  </a:txBody>
                  <a:tcPr marL="152400" marT="95250" marB="95250" anchor="ctr"/>
                </a:tc>
                <a:extLst>
                  <a:ext uri="{0D108BD9-81ED-4DB2-BD59-A6C34878D82A}">
                    <a16:rowId xmlns:a16="http://schemas.microsoft.com/office/drawing/2014/main" val="10001"/>
                  </a:ext>
                </a:extLst>
              </a:tr>
              <a:tr h="361525">
                <a:tc>
                  <a:txBody>
                    <a:bodyPr/>
                    <a:lstStyle/>
                    <a:p>
                      <a:pPr>
                        <a:lnSpc>
                          <a:spcPts val="1875"/>
                        </a:lnSpc>
                        <a:buNone/>
                      </a:pPr>
                      <a:r>
                        <a:rPr lang="fr-FR" sz="1000" b="1" noProof="0" dirty="0">
                          <a:effectLst/>
                          <a:latin typeface="Mulish" panose="020B0604020202020204" charset="0"/>
                        </a:rPr>
                        <a:t>Deep Learning (4)</a:t>
                      </a:r>
                      <a:endParaRPr lang="fr-FR" sz="1000" b="0" noProof="0" dirty="0">
                        <a:effectLst/>
                        <a:latin typeface="Mulish" panose="020B0604020202020204" charset="0"/>
                      </a:endParaRPr>
                    </a:p>
                  </a:txBody>
                  <a:tcPr marR="152400" marT="95250" marB="95250" anchor="ctr"/>
                </a:tc>
                <a:tc>
                  <a:txBody>
                    <a:bodyPr/>
                    <a:lstStyle/>
                    <a:p>
                      <a:pPr>
                        <a:lnSpc>
                          <a:spcPts val="1875"/>
                        </a:lnSpc>
                        <a:buNone/>
                      </a:pPr>
                      <a:r>
                        <a:rPr lang="fr-FR" sz="1000" b="0" noProof="0" dirty="0">
                          <a:effectLst/>
                          <a:latin typeface="Mulish" panose="020B0604020202020204" charset="0"/>
                        </a:rPr>
                        <a:t>GCN, GAT, VGAE, </a:t>
                      </a:r>
                      <a:r>
                        <a:rPr lang="fr-FR" sz="1000" b="0" noProof="0" dirty="0" err="1">
                          <a:effectLst/>
                          <a:latin typeface="Mulish" panose="020B0604020202020204" charset="0"/>
                        </a:rPr>
                        <a:t>Autoencoder</a:t>
                      </a:r>
                      <a:endParaRPr lang="fr-FR" sz="1000" b="0" noProof="0" dirty="0">
                        <a:effectLst/>
                        <a:latin typeface="Mulish" panose="020B0604020202020204" charset="0"/>
                      </a:endParaRPr>
                    </a:p>
                  </a:txBody>
                  <a:tcPr marL="152400" marR="152400" marT="95250" marB="95250" anchor="ctr"/>
                </a:tc>
                <a:tc vMerge="1">
                  <a:txBody>
                    <a:bodyPr/>
                    <a:lstStyle/>
                    <a:p>
                      <a:pPr>
                        <a:lnSpc>
                          <a:spcPts val="1875"/>
                        </a:lnSpc>
                        <a:buNone/>
                      </a:pPr>
                      <a:endParaRPr lang="fr-FR" sz="1000" b="0" noProof="0" dirty="0">
                        <a:effectLst/>
                        <a:latin typeface="Mulish" panose="020B0604020202020204" charset="0"/>
                      </a:endParaRPr>
                    </a:p>
                  </a:txBody>
                  <a:tcPr marL="152400" marR="152400" marT="95250" marB="95250" anchor="ctr"/>
                </a:tc>
                <a:tc vMerge="1">
                  <a:txBody>
                    <a:bodyPr/>
                    <a:lstStyle/>
                    <a:p>
                      <a:pPr>
                        <a:lnSpc>
                          <a:spcPts val="1875"/>
                        </a:lnSpc>
                        <a:buNone/>
                      </a:pPr>
                      <a:endParaRPr lang="fr-FR" sz="1000" b="0" noProof="0" dirty="0">
                        <a:effectLst/>
                        <a:latin typeface="Mulish" panose="020B0604020202020204" charset="0"/>
                      </a:endParaRPr>
                    </a:p>
                  </a:txBody>
                  <a:tcPr marL="152400" marT="95250" marB="95250" anchor="ctr"/>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B47289AC-93AF-40FE-1B08-9F08F906AC3F}"/>
              </a:ext>
            </a:extLst>
          </p:cNvPr>
          <p:cNvSpPr txBox="1"/>
          <p:nvPr/>
        </p:nvSpPr>
        <p:spPr>
          <a:xfrm>
            <a:off x="524792" y="3121637"/>
            <a:ext cx="5164808" cy="523220"/>
          </a:xfrm>
          <a:prstGeom prst="rect">
            <a:avLst/>
          </a:prstGeom>
          <a:noFill/>
        </p:spPr>
        <p:txBody>
          <a:bodyPr wrap="square" rtlCol="0">
            <a:spAutoFit/>
          </a:bodyPr>
          <a:lstStyle/>
          <a:p>
            <a:r>
              <a:rPr lang="fr-FR" b="1" noProof="0" dirty="0"/>
              <a:t>Phase 2: Intégration au système de recommandation</a:t>
            </a:r>
            <a:br>
              <a:rPr lang="fr-FR" noProof="0" dirty="0"/>
            </a:br>
            <a:endParaRPr lang="fr-FR" b="1" noProof="0" dirty="0"/>
          </a:p>
        </p:txBody>
      </p:sp>
      <p:sp>
        <p:nvSpPr>
          <p:cNvPr id="14" name="TextBox 13">
            <a:extLst>
              <a:ext uri="{FF2B5EF4-FFF2-40B4-BE49-F238E27FC236}">
                <a16:creationId xmlns:a16="http://schemas.microsoft.com/office/drawing/2014/main" id="{4079A1B7-C887-8263-D14E-BE22405031FF}"/>
              </a:ext>
            </a:extLst>
          </p:cNvPr>
          <p:cNvSpPr txBox="1"/>
          <p:nvPr/>
        </p:nvSpPr>
        <p:spPr>
          <a:xfrm>
            <a:off x="580287" y="3469980"/>
            <a:ext cx="8038921" cy="1169551"/>
          </a:xfrm>
          <a:prstGeom prst="rect">
            <a:avLst/>
          </a:prstGeom>
          <a:noFill/>
        </p:spPr>
        <p:txBody>
          <a:bodyPr wrap="square">
            <a:spAutoFit/>
          </a:bodyPr>
          <a:lstStyle/>
          <a:p>
            <a:pPr marL="285750" indent="-285750">
              <a:buFont typeface="Arial" panose="020B0604020202020204" pitchFamily="34" charset="0"/>
              <a:buChar char="•"/>
            </a:pPr>
            <a:r>
              <a:rPr lang="fr-FR" noProof="0" dirty="0"/>
              <a:t>Approches de recommandation : User-Based, Item-Based, </a:t>
            </a:r>
            <a:r>
              <a:rPr lang="fr-FR" noProof="0" dirty="0" err="1"/>
              <a:t>SVD+Community</a:t>
            </a:r>
            <a:r>
              <a:rPr lang="fr-FR" noProof="0" dirty="0"/>
              <a:t>, </a:t>
            </a:r>
            <a:r>
              <a:rPr lang="fr-FR" noProof="0" dirty="0" err="1"/>
              <a:t>ALS+Community</a:t>
            </a:r>
            <a:r>
              <a:rPr lang="fr-FR" noProof="0" dirty="0"/>
              <a:t>, BM25+Community. </a:t>
            </a:r>
          </a:p>
          <a:p>
            <a:pPr marL="285750" indent="-285750">
              <a:buFont typeface="Arial" panose="020B0604020202020204" pitchFamily="34" charset="0"/>
              <a:buChar char="•"/>
            </a:pPr>
            <a:r>
              <a:rPr lang="fr-FR" noProof="0" dirty="0" err="1"/>
              <a:t>Dataset</a:t>
            </a:r>
            <a:r>
              <a:rPr lang="fr-FR" noProof="0" dirty="0"/>
              <a:t>: UCI Online </a:t>
            </a:r>
            <a:r>
              <a:rPr lang="fr-FR" noProof="0" dirty="0" err="1"/>
              <a:t>Retail</a:t>
            </a:r>
            <a:r>
              <a:rPr lang="fr-FR" noProof="0" dirty="0"/>
              <a:t> (541,909 transactions)</a:t>
            </a:r>
          </a:p>
          <a:p>
            <a:pPr marL="285750" indent="-285750">
              <a:buFont typeface="Arial" panose="020B0604020202020204" pitchFamily="34" charset="0"/>
              <a:buChar char="•"/>
            </a:pPr>
            <a:r>
              <a:rPr lang="fr-FR" noProof="0" dirty="0"/>
              <a:t>Métriques d'évaluation : F1@10 – Recall@10</a:t>
            </a:r>
            <a:br>
              <a:rPr lang="fr-FR" noProof="0" dirty="0"/>
            </a:br>
            <a:endParaRPr lang="fr-FR" noProof="0" dirty="0"/>
          </a:p>
        </p:txBody>
      </p:sp>
      <p:sp>
        <p:nvSpPr>
          <p:cNvPr id="16" name="TextBox 15">
            <a:extLst>
              <a:ext uri="{FF2B5EF4-FFF2-40B4-BE49-F238E27FC236}">
                <a16:creationId xmlns:a16="http://schemas.microsoft.com/office/drawing/2014/main" id="{6583DD7C-9085-CBE8-E8C7-C1BBAD9DD5BB}"/>
              </a:ext>
            </a:extLst>
          </p:cNvPr>
          <p:cNvSpPr txBox="1"/>
          <p:nvPr/>
        </p:nvSpPr>
        <p:spPr>
          <a:xfrm>
            <a:off x="583270" y="4476518"/>
            <a:ext cx="4047208" cy="523220"/>
          </a:xfrm>
          <a:prstGeom prst="rect">
            <a:avLst/>
          </a:prstGeom>
          <a:noFill/>
        </p:spPr>
        <p:txBody>
          <a:bodyPr wrap="square" rtlCol="0">
            <a:spAutoFit/>
          </a:bodyPr>
          <a:lstStyle/>
          <a:p>
            <a:r>
              <a:rPr lang="fr-FR" b="1" noProof="0" dirty="0"/>
              <a:t>Phase 3: Développement de l'application Web</a:t>
            </a:r>
            <a:br>
              <a:rPr lang="fr-FR" noProof="0" dirty="0"/>
            </a:br>
            <a:endParaRPr lang="fr-FR" b="1" noProof="0" dirty="0"/>
          </a:p>
        </p:txBody>
      </p:sp>
      <p:sp>
        <p:nvSpPr>
          <p:cNvPr id="9" name="Google Shape;1481;p29">
            <a:extLst>
              <a:ext uri="{FF2B5EF4-FFF2-40B4-BE49-F238E27FC236}">
                <a16:creationId xmlns:a16="http://schemas.microsoft.com/office/drawing/2014/main" id="{32E926EE-3849-7A57-716B-C185DCF94EE1}"/>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15</a:t>
            </a:r>
          </a:p>
        </p:txBody>
      </p:sp>
    </p:spTree>
    <p:extLst>
      <p:ext uri="{BB962C8B-B14F-4D97-AF65-F5344CB8AC3E}">
        <p14:creationId xmlns:p14="http://schemas.microsoft.com/office/powerpoint/2010/main" val="282254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4">
                                            <p:txEl>
                                              <p:pRg st="0" end="0"/>
                                            </p:txEl>
                                          </p:spTgt>
                                        </p:tgtEl>
                                        <p:attrNameLst>
                                          <p:attrName>style.visibility</p:attrName>
                                        </p:attrNameLst>
                                      </p:cBhvr>
                                      <p:to>
                                        <p:strVal val="visible"/>
                                      </p:to>
                                    </p:set>
                                    <p:anim calcmode="lin" valueType="num">
                                      <p:cBhvr additive="base">
                                        <p:cTn id="11" dur="500" fill="hold"/>
                                        <p:tgtEl>
                                          <p:spTgt spid="14">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4">
                                            <p:txEl>
                                              <p:pRg st="0" end="0"/>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4">
                                            <p:txEl>
                                              <p:pRg st="1" end="1"/>
                                            </p:txEl>
                                          </p:spTgt>
                                        </p:tgtEl>
                                        <p:attrNameLst>
                                          <p:attrName>style.visibility</p:attrName>
                                        </p:attrNameLst>
                                      </p:cBhvr>
                                      <p:to>
                                        <p:strVal val="visible"/>
                                      </p:to>
                                    </p:set>
                                    <p:anim calcmode="lin" valueType="num">
                                      <p:cBhvr additive="base">
                                        <p:cTn id="15" dur="500" fill="hold"/>
                                        <p:tgtEl>
                                          <p:spTgt spid="14">
                                            <p:txEl>
                                              <p:pRg st="1" end="1"/>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14">
                                            <p:txEl>
                                              <p:pRg st="1" end="1"/>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4">
                                            <p:txEl>
                                              <p:pRg st="2" end="2"/>
                                            </p:txEl>
                                          </p:spTgt>
                                        </p:tgtEl>
                                        <p:attrNameLst>
                                          <p:attrName>style.visibility</p:attrName>
                                        </p:attrNameLst>
                                      </p:cBhvr>
                                      <p:to>
                                        <p:strVal val="visible"/>
                                      </p:to>
                                    </p:set>
                                    <p:anim calcmode="lin" valueType="num">
                                      <p:cBhvr additive="base">
                                        <p:cTn id="19" dur="500" fill="hold"/>
                                        <p:tgtEl>
                                          <p:spTgt spid="14">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animEffect transition="in" filter="fade">
                                      <p:cBhvr>
                                        <p:cTn id="25" dur="500"/>
                                        <p:tgtEl>
                                          <p:spTgt spid="1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9D1E95A5-2D11-8AEC-B51D-89FC164B60F3}"/>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7844B5E0-0524-B578-AF66-DD11CF273815}"/>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Méthodologie – </a:t>
            </a:r>
            <a:r>
              <a:rPr lang="fr-FR" sz="2400" noProof="0" dirty="0" err="1"/>
              <a:t>Datasets</a:t>
            </a:r>
            <a:r>
              <a:rPr lang="fr-FR" sz="2400" noProof="0" dirty="0"/>
              <a:t> Utilisées</a:t>
            </a:r>
          </a:p>
        </p:txBody>
      </p:sp>
      <p:graphicFrame>
        <p:nvGraphicFramePr>
          <p:cNvPr id="10" name="Table 9">
            <a:extLst>
              <a:ext uri="{FF2B5EF4-FFF2-40B4-BE49-F238E27FC236}">
                <a16:creationId xmlns:a16="http://schemas.microsoft.com/office/drawing/2014/main" id="{A414DDEC-7ABA-7F21-783A-D0BC873587C0}"/>
              </a:ext>
            </a:extLst>
          </p:cNvPr>
          <p:cNvGraphicFramePr>
            <a:graphicFrameLocks noGrp="1"/>
          </p:cNvGraphicFramePr>
          <p:nvPr>
            <p:extLst>
              <p:ext uri="{D42A27DB-BD31-4B8C-83A1-F6EECF244321}">
                <p14:modId xmlns:p14="http://schemas.microsoft.com/office/powerpoint/2010/main" val="2577847556"/>
              </p:ext>
            </p:extLst>
          </p:nvPr>
        </p:nvGraphicFramePr>
        <p:xfrm>
          <a:off x="1066800" y="1195341"/>
          <a:ext cx="7010400" cy="636270"/>
        </p:xfrm>
        <a:graphic>
          <a:graphicData uri="http://schemas.openxmlformats.org/drawingml/2006/table">
            <a:tbl>
              <a:tblPr>
                <a:tableStyleId>{B6F588F0-DA45-466C-91A0-1F1EBF44E27B}</a:tableStyleId>
              </a:tblPr>
              <a:tblGrid>
                <a:gridCol w="800100">
                  <a:extLst>
                    <a:ext uri="{9D8B030D-6E8A-4147-A177-3AD203B41FA5}">
                      <a16:colId xmlns:a16="http://schemas.microsoft.com/office/drawing/2014/main" val="2839884540"/>
                    </a:ext>
                  </a:extLst>
                </a:gridCol>
                <a:gridCol w="1003300">
                  <a:extLst>
                    <a:ext uri="{9D8B030D-6E8A-4147-A177-3AD203B41FA5}">
                      <a16:colId xmlns:a16="http://schemas.microsoft.com/office/drawing/2014/main" val="3025901541"/>
                    </a:ext>
                  </a:extLst>
                </a:gridCol>
                <a:gridCol w="800100">
                  <a:extLst>
                    <a:ext uri="{9D8B030D-6E8A-4147-A177-3AD203B41FA5}">
                      <a16:colId xmlns:a16="http://schemas.microsoft.com/office/drawing/2014/main" val="380084311"/>
                    </a:ext>
                  </a:extLst>
                </a:gridCol>
                <a:gridCol w="800100">
                  <a:extLst>
                    <a:ext uri="{9D8B030D-6E8A-4147-A177-3AD203B41FA5}">
                      <a16:colId xmlns:a16="http://schemas.microsoft.com/office/drawing/2014/main" val="159509958"/>
                    </a:ext>
                  </a:extLst>
                </a:gridCol>
                <a:gridCol w="800100">
                  <a:extLst>
                    <a:ext uri="{9D8B030D-6E8A-4147-A177-3AD203B41FA5}">
                      <a16:colId xmlns:a16="http://schemas.microsoft.com/office/drawing/2014/main" val="1423680240"/>
                    </a:ext>
                  </a:extLst>
                </a:gridCol>
                <a:gridCol w="1206500">
                  <a:extLst>
                    <a:ext uri="{9D8B030D-6E8A-4147-A177-3AD203B41FA5}">
                      <a16:colId xmlns:a16="http://schemas.microsoft.com/office/drawing/2014/main" val="2893014334"/>
                    </a:ext>
                  </a:extLst>
                </a:gridCol>
                <a:gridCol w="800100">
                  <a:extLst>
                    <a:ext uri="{9D8B030D-6E8A-4147-A177-3AD203B41FA5}">
                      <a16:colId xmlns:a16="http://schemas.microsoft.com/office/drawing/2014/main" val="1434717720"/>
                    </a:ext>
                  </a:extLst>
                </a:gridCol>
                <a:gridCol w="800100">
                  <a:extLst>
                    <a:ext uri="{9D8B030D-6E8A-4147-A177-3AD203B41FA5}">
                      <a16:colId xmlns:a16="http://schemas.microsoft.com/office/drawing/2014/main" val="3241167648"/>
                    </a:ext>
                  </a:extLst>
                </a:gridCol>
              </a:tblGrid>
              <a:tr h="331470">
                <a:tc>
                  <a:txBody>
                    <a:bodyPr/>
                    <a:lstStyle/>
                    <a:p>
                      <a:pPr algn="ctr" fontAlgn="ctr">
                        <a:buNone/>
                      </a:pPr>
                      <a:r>
                        <a:rPr lang="fr-FR" sz="1100" b="1" u="none" strike="noStrike" noProof="0" dirty="0" err="1">
                          <a:solidFill>
                            <a:schemeClr val="tx1"/>
                          </a:solidFill>
                          <a:effectLst/>
                          <a:latin typeface="Mulish" panose="020B0604020202020204" charset="0"/>
                        </a:rPr>
                        <a:t>Dataset</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err="1">
                          <a:solidFill>
                            <a:schemeClr val="tx1"/>
                          </a:solidFill>
                          <a:effectLst/>
                          <a:latin typeface="Mulish" panose="020B0604020202020204" charset="0"/>
                        </a:rPr>
                        <a:t>Karate</a:t>
                      </a:r>
                      <a:r>
                        <a:rPr lang="fr-FR" sz="1100" b="1" u="none" strike="noStrike" noProof="0" dirty="0">
                          <a:solidFill>
                            <a:schemeClr val="tx1"/>
                          </a:solidFill>
                          <a:effectLst/>
                          <a:latin typeface="Mulish" panose="020B0604020202020204" charset="0"/>
                        </a:rPr>
                        <a:t> Club</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a:solidFill>
                            <a:schemeClr val="tx1"/>
                          </a:solidFill>
                          <a:effectLst/>
                          <a:latin typeface="Mulish" panose="020B0604020202020204" charset="0"/>
                        </a:rPr>
                        <a:t>Dolphins</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a:solidFill>
                            <a:schemeClr val="tx1"/>
                          </a:solidFill>
                          <a:effectLst/>
                          <a:latin typeface="Mulish" panose="020B0604020202020204" charset="0"/>
                        </a:rPr>
                        <a:t>Football</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err="1">
                          <a:solidFill>
                            <a:schemeClr val="tx1"/>
                          </a:solidFill>
                          <a:effectLst/>
                          <a:latin typeface="Mulish" panose="020B0604020202020204" charset="0"/>
                        </a:rPr>
                        <a:t>Polbooks</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err="1">
                          <a:solidFill>
                            <a:schemeClr val="tx1"/>
                          </a:solidFill>
                          <a:effectLst/>
                          <a:latin typeface="Mulish" panose="020B0604020202020204" charset="0"/>
                        </a:rPr>
                        <a:t>Primary</a:t>
                      </a:r>
                      <a:r>
                        <a:rPr lang="fr-FR" sz="1100" b="1" u="none" strike="noStrike" noProof="0" dirty="0">
                          <a:solidFill>
                            <a:schemeClr val="tx1"/>
                          </a:solidFill>
                          <a:effectLst/>
                          <a:latin typeface="Mulish" panose="020B0604020202020204" charset="0"/>
                        </a:rPr>
                        <a:t> School</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a:solidFill>
                            <a:schemeClr val="tx1"/>
                          </a:solidFill>
                          <a:effectLst/>
                          <a:latin typeface="Mulish" panose="020B0604020202020204" charset="0"/>
                        </a:rPr>
                        <a:t>Facebook</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1" u="none" strike="noStrike" noProof="0" dirty="0" err="1">
                          <a:solidFill>
                            <a:schemeClr val="tx1"/>
                          </a:solidFill>
                          <a:effectLst/>
                          <a:latin typeface="Mulish" panose="020B0604020202020204" charset="0"/>
                        </a:rPr>
                        <a:t>LastFM</a:t>
                      </a:r>
                      <a:endParaRPr lang="fr-FR" sz="1100" b="1" i="0" u="none" strike="noStrike" noProof="0" dirty="0">
                        <a:solidFill>
                          <a:schemeClr val="tx1"/>
                        </a:solidFill>
                        <a:effectLst/>
                        <a:latin typeface="Mulish" panose="020B0604020202020204" charset="0"/>
                      </a:endParaRPr>
                    </a:p>
                  </a:txBody>
                  <a:tcPr marL="9525" marR="9525" marT="9525" marB="0" anchor="ctr"/>
                </a:tc>
                <a:extLst>
                  <a:ext uri="{0D108BD9-81ED-4DB2-BD59-A6C34878D82A}">
                    <a16:rowId xmlns:a16="http://schemas.microsoft.com/office/drawing/2014/main" val="936101450"/>
                  </a:ext>
                </a:extLst>
              </a:tr>
              <a:tr h="304800">
                <a:tc>
                  <a:txBody>
                    <a:bodyPr/>
                    <a:lstStyle/>
                    <a:p>
                      <a:pPr algn="ctr" fontAlgn="ctr">
                        <a:buNone/>
                      </a:pPr>
                      <a:r>
                        <a:rPr lang="fr-FR" sz="1100" b="1" u="none" strike="noStrike" noProof="0" dirty="0">
                          <a:solidFill>
                            <a:schemeClr val="tx1"/>
                          </a:solidFill>
                          <a:effectLst/>
                          <a:latin typeface="Mulish" panose="020B0604020202020204" charset="0"/>
                        </a:rPr>
                        <a:t> Nodes</a:t>
                      </a:r>
                      <a:endParaRPr lang="fr-FR" sz="1100" b="1" i="0" u="none" strike="noStrike" noProof="0" dirty="0">
                        <a:solidFill>
                          <a:schemeClr val="tx1"/>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34</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62</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115</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105</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236</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4,039</a:t>
                      </a:r>
                      <a:endParaRPr lang="fr-FR" sz="1100" b="0" i="0" u="none" strike="noStrike" noProof="0" dirty="0">
                        <a:solidFill>
                          <a:srgbClr val="333333"/>
                        </a:solidFill>
                        <a:effectLst/>
                        <a:latin typeface="Mulish" panose="020B0604020202020204" charset="0"/>
                      </a:endParaRPr>
                    </a:p>
                  </a:txBody>
                  <a:tcPr marL="9525" marR="9525" marT="9525" marB="0" anchor="ctr"/>
                </a:tc>
                <a:tc>
                  <a:txBody>
                    <a:bodyPr/>
                    <a:lstStyle/>
                    <a:p>
                      <a:pPr algn="ctr" fontAlgn="ctr">
                        <a:buNone/>
                      </a:pPr>
                      <a:r>
                        <a:rPr lang="fr-FR" sz="1100" b="0" u="none" strike="noStrike" noProof="0" dirty="0">
                          <a:solidFill>
                            <a:srgbClr val="333333"/>
                          </a:solidFill>
                          <a:effectLst/>
                          <a:latin typeface="Mulish" panose="020B0604020202020204" charset="0"/>
                        </a:rPr>
                        <a:t>28,281</a:t>
                      </a:r>
                      <a:endParaRPr lang="fr-FR" sz="1100" b="0" i="0" u="none" strike="noStrike" noProof="0" dirty="0">
                        <a:solidFill>
                          <a:srgbClr val="333333"/>
                        </a:solidFill>
                        <a:effectLst/>
                        <a:latin typeface="Mulish" panose="020B0604020202020204" charset="0"/>
                      </a:endParaRPr>
                    </a:p>
                  </a:txBody>
                  <a:tcPr marL="9525" marR="9525" marT="9525" marB="0" anchor="ctr"/>
                </a:tc>
                <a:extLst>
                  <a:ext uri="{0D108BD9-81ED-4DB2-BD59-A6C34878D82A}">
                    <a16:rowId xmlns:a16="http://schemas.microsoft.com/office/drawing/2014/main" val="4118622572"/>
                  </a:ext>
                </a:extLst>
              </a:tr>
            </a:tbl>
          </a:graphicData>
        </a:graphic>
      </p:graphicFrame>
      <p:sp>
        <p:nvSpPr>
          <p:cNvPr id="12" name="TextBox 11">
            <a:extLst>
              <a:ext uri="{FF2B5EF4-FFF2-40B4-BE49-F238E27FC236}">
                <a16:creationId xmlns:a16="http://schemas.microsoft.com/office/drawing/2014/main" id="{BA97A939-13F5-3BA5-765E-9AA6206CBA52}"/>
              </a:ext>
            </a:extLst>
          </p:cNvPr>
          <p:cNvSpPr txBox="1"/>
          <p:nvPr/>
        </p:nvSpPr>
        <p:spPr>
          <a:xfrm>
            <a:off x="524792" y="734847"/>
            <a:ext cx="3766642" cy="307777"/>
          </a:xfrm>
          <a:prstGeom prst="rect">
            <a:avLst/>
          </a:prstGeom>
          <a:noFill/>
        </p:spPr>
        <p:txBody>
          <a:bodyPr wrap="square" rtlCol="0">
            <a:spAutoFit/>
          </a:bodyPr>
          <a:lstStyle/>
          <a:p>
            <a:r>
              <a:rPr lang="fr-FR" b="1" noProof="0" dirty="0" err="1"/>
              <a:t>Datasets</a:t>
            </a:r>
            <a:endParaRPr lang="fr-FR" noProof="0" dirty="0"/>
          </a:p>
        </p:txBody>
      </p:sp>
      <p:sp>
        <p:nvSpPr>
          <p:cNvPr id="14" name="TextBox 13">
            <a:extLst>
              <a:ext uri="{FF2B5EF4-FFF2-40B4-BE49-F238E27FC236}">
                <a16:creationId xmlns:a16="http://schemas.microsoft.com/office/drawing/2014/main" id="{FBFBC31F-6A6D-E3C7-C920-C0739D01CCD6}"/>
              </a:ext>
            </a:extLst>
          </p:cNvPr>
          <p:cNvSpPr txBox="1"/>
          <p:nvPr/>
        </p:nvSpPr>
        <p:spPr>
          <a:xfrm>
            <a:off x="524792" y="1984328"/>
            <a:ext cx="3766642" cy="307777"/>
          </a:xfrm>
          <a:prstGeom prst="rect">
            <a:avLst/>
          </a:prstGeom>
          <a:noFill/>
        </p:spPr>
        <p:txBody>
          <a:bodyPr wrap="square" rtlCol="0">
            <a:spAutoFit/>
          </a:bodyPr>
          <a:lstStyle/>
          <a:p>
            <a:r>
              <a:rPr lang="fr-FR" b="1" noProof="0" dirty="0"/>
              <a:t>Réseaux synthétiques LFR</a:t>
            </a:r>
            <a:endParaRPr lang="fr-FR" noProof="0" dirty="0"/>
          </a:p>
        </p:txBody>
      </p:sp>
      <p:graphicFrame>
        <p:nvGraphicFramePr>
          <p:cNvPr id="16" name="Table 15">
            <a:extLst>
              <a:ext uri="{FF2B5EF4-FFF2-40B4-BE49-F238E27FC236}">
                <a16:creationId xmlns:a16="http://schemas.microsoft.com/office/drawing/2014/main" id="{93A0F4AC-F3BA-2C1F-FAC5-66D26559C1CE}"/>
              </a:ext>
            </a:extLst>
          </p:cNvPr>
          <p:cNvGraphicFramePr>
            <a:graphicFrameLocks noGrp="1"/>
          </p:cNvGraphicFramePr>
          <p:nvPr>
            <p:extLst>
              <p:ext uri="{D42A27DB-BD31-4B8C-83A1-F6EECF244321}">
                <p14:modId xmlns:p14="http://schemas.microsoft.com/office/powerpoint/2010/main" val="400022683"/>
              </p:ext>
            </p:extLst>
          </p:nvPr>
        </p:nvGraphicFramePr>
        <p:xfrm>
          <a:off x="914400" y="2400372"/>
          <a:ext cx="7162800" cy="1214628"/>
        </p:xfrm>
        <a:graphic>
          <a:graphicData uri="http://schemas.openxmlformats.org/drawingml/2006/table">
            <a:tbl>
              <a:tblPr>
                <a:tableStyleId>{B6F588F0-DA45-466C-91A0-1F1EBF44E27B}</a:tableStyleId>
              </a:tblPr>
              <a:tblGrid>
                <a:gridCol w="3581400">
                  <a:extLst>
                    <a:ext uri="{9D8B030D-6E8A-4147-A177-3AD203B41FA5}">
                      <a16:colId xmlns:a16="http://schemas.microsoft.com/office/drawing/2014/main" val="3019148236"/>
                    </a:ext>
                  </a:extLst>
                </a:gridCol>
                <a:gridCol w="3581400">
                  <a:extLst>
                    <a:ext uri="{9D8B030D-6E8A-4147-A177-3AD203B41FA5}">
                      <a16:colId xmlns:a16="http://schemas.microsoft.com/office/drawing/2014/main" val="2423108395"/>
                    </a:ext>
                  </a:extLst>
                </a:gridCol>
              </a:tblGrid>
              <a:tr h="303839">
                <a:tc>
                  <a:txBody>
                    <a:bodyPr/>
                    <a:lstStyle/>
                    <a:p>
                      <a:pPr algn="l">
                        <a:lnSpc>
                          <a:spcPts val="1875"/>
                        </a:lnSpc>
                        <a:buNone/>
                      </a:pPr>
                      <a:r>
                        <a:rPr lang="fr-FR" sz="1100" b="0" noProof="0" dirty="0" err="1">
                          <a:effectLst/>
                          <a:latin typeface="Mulish" panose="020B0604020202020204" charset="0"/>
                        </a:rPr>
                        <a:t>Parameter</a:t>
                      </a:r>
                      <a:endParaRPr lang="fr-FR" sz="1100" b="0" noProof="0" dirty="0">
                        <a:effectLst/>
                        <a:latin typeface="Mulish" panose="020B0604020202020204" charset="0"/>
                      </a:endParaRPr>
                    </a:p>
                  </a:txBody>
                  <a:tcPr marR="152400" marT="95250" marB="95250" anchor="ctr"/>
                </a:tc>
                <a:tc>
                  <a:txBody>
                    <a:bodyPr/>
                    <a:lstStyle/>
                    <a:p>
                      <a:pPr algn="l">
                        <a:lnSpc>
                          <a:spcPts val="1875"/>
                        </a:lnSpc>
                        <a:buNone/>
                      </a:pPr>
                      <a:r>
                        <a:rPr lang="fr-FR" sz="1100" b="0" noProof="0" dirty="0">
                          <a:effectLst/>
                          <a:latin typeface="Mulish" panose="020B0604020202020204" charset="0"/>
                        </a:rPr>
                        <a:t>Values</a:t>
                      </a:r>
                    </a:p>
                  </a:txBody>
                  <a:tcPr marL="152400" marR="152400" marT="95250" marB="95250" anchor="ctr"/>
                </a:tc>
                <a:extLst>
                  <a:ext uri="{0D108BD9-81ED-4DB2-BD59-A6C34878D82A}">
                    <a16:rowId xmlns:a16="http://schemas.microsoft.com/office/drawing/2014/main" val="1315215352"/>
                  </a:ext>
                </a:extLst>
              </a:tr>
              <a:tr h="303839">
                <a:tc>
                  <a:txBody>
                    <a:bodyPr/>
                    <a:lstStyle/>
                    <a:p>
                      <a:pPr>
                        <a:lnSpc>
                          <a:spcPts val="1875"/>
                        </a:lnSpc>
                        <a:buNone/>
                      </a:pPr>
                      <a:r>
                        <a:rPr lang="fr-FR" sz="1100" b="0" noProof="0" dirty="0">
                          <a:effectLst/>
                          <a:latin typeface="Mulish" panose="020B0604020202020204" charset="0"/>
                        </a:rPr>
                        <a:t>Network Size (n)</a:t>
                      </a:r>
                    </a:p>
                  </a:txBody>
                  <a:tcPr marR="152400" marT="95250" marB="95250" anchor="ctr"/>
                </a:tc>
                <a:tc>
                  <a:txBody>
                    <a:bodyPr/>
                    <a:lstStyle/>
                    <a:p>
                      <a:pPr>
                        <a:lnSpc>
                          <a:spcPts val="1875"/>
                        </a:lnSpc>
                        <a:buNone/>
                      </a:pPr>
                      <a:r>
                        <a:rPr lang="fr-FR" sz="1100" b="0" noProof="0" dirty="0">
                          <a:effectLst/>
                          <a:latin typeface="Mulish" panose="020B0604020202020204" charset="0"/>
                        </a:rPr>
                        <a:t>500, 1,000, 5,000, 10,000, 50,000, 100,000</a:t>
                      </a:r>
                    </a:p>
                  </a:txBody>
                  <a:tcPr marL="152400" marT="95250" marB="95250" anchor="ctr"/>
                </a:tc>
                <a:extLst>
                  <a:ext uri="{0D108BD9-81ED-4DB2-BD59-A6C34878D82A}">
                    <a16:rowId xmlns:a16="http://schemas.microsoft.com/office/drawing/2014/main" val="3410522634"/>
                  </a:ext>
                </a:extLst>
              </a:tr>
              <a:tr h="303839">
                <a:tc>
                  <a:txBody>
                    <a:bodyPr/>
                    <a:lstStyle/>
                    <a:p>
                      <a:pPr>
                        <a:lnSpc>
                          <a:spcPts val="1875"/>
                        </a:lnSpc>
                        <a:buNone/>
                      </a:pPr>
                      <a:r>
                        <a:rPr lang="fr-FR" sz="1100" b="0" noProof="0" dirty="0" err="1">
                          <a:effectLst/>
                          <a:latin typeface="Mulish" panose="020B0604020202020204" charset="0"/>
                        </a:rPr>
                        <a:t>Mixing</a:t>
                      </a:r>
                      <a:r>
                        <a:rPr lang="fr-FR" sz="1100" b="0" noProof="0" dirty="0">
                          <a:effectLst/>
                          <a:latin typeface="Mulish" panose="020B0604020202020204" charset="0"/>
                        </a:rPr>
                        <a:t> </a:t>
                      </a:r>
                      <a:r>
                        <a:rPr lang="fr-FR" sz="1100" b="0" noProof="0" dirty="0" err="1">
                          <a:effectLst/>
                          <a:latin typeface="Mulish" panose="020B0604020202020204" charset="0"/>
                        </a:rPr>
                        <a:t>Parameter</a:t>
                      </a:r>
                      <a:r>
                        <a:rPr lang="fr-FR" sz="1100" b="0" noProof="0" dirty="0">
                          <a:effectLst/>
                          <a:latin typeface="Mulish" panose="020B0604020202020204" charset="0"/>
                        </a:rPr>
                        <a:t> (μ)</a:t>
                      </a:r>
                    </a:p>
                  </a:txBody>
                  <a:tcPr marR="152400" marT="95250" marB="95250" anchor="ctr"/>
                </a:tc>
                <a:tc>
                  <a:txBody>
                    <a:bodyPr/>
                    <a:lstStyle/>
                    <a:p>
                      <a:pPr>
                        <a:lnSpc>
                          <a:spcPts val="1875"/>
                        </a:lnSpc>
                        <a:buNone/>
                      </a:pPr>
                      <a:r>
                        <a:rPr lang="fr-FR" sz="1100" b="0" noProof="0" dirty="0">
                          <a:effectLst/>
                          <a:latin typeface="Mulish" panose="020B0604020202020204" charset="0"/>
                        </a:rPr>
                        <a:t>0.3, 0.5, 0.7</a:t>
                      </a:r>
                    </a:p>
                  </a:txBody>
                  <a:tcPr marL="152400" marT="95250" marB="95250" anchor="ctr"/>
                </a:tc>
                <a:extLst>
                  <a:ext uri="{0D108BD9-81ED-4DB2-BD59-A6C34878D82A}">
                    <a16:rowId xmlns:a16="http://schemas.microsoft.com/office/drawing/2014/main" val="843515204"/>
                  </a:ext>
                </a:extLst>
              </a:tr>
            </a:tbl>
          </a:graphicData>
        </a:graphic>
      </p:graphicFrame>
      <p:pic>
        <p:nvPicPr>
          <p:cNvPr id="5" name="Picture 4">
            <a:extLst>
              <a:ext uri="{FF2B5EF4-FFF2-40B4-BE49-F238E27FC236}">
                <a16:creationId xmlns:a16="http://schemas.microsoft.com/office/drawing/2014/main" id="{615200A3-4356-2292-4C50-B94F527C96AA}"/>
              </a:ext>
            </a:extLst>
          </p:cNvPr>
          <p:cNvPicPr>
            <a:picLocks noChangeAspect="1"/>
          </p:cNvPicPr>
          <p:nvPr/>
        </p:nvPicPr>
        <p:blipFill>
          <a:blip r:embed="rId3"/>
          <a:srcRect l="5187" r="5394"/>
          <a:stretch>
            <a:fillRect/>
          </a:stretch>
        </p:blipFill>
        <p:spPr>
          <a:xfrm>
            <a:off x="1541884" y="3739211"/>
            <a:ext cx="5499100" cy="1338884"/>
          </a:xfrm>
          <a:prstGeom prst="rect">
            <a:avLst/>
          </a:prstGeom>
        </p:spPr>
      </p:pic>
      <p:sp>
        <p:nvSpPr>
          <p:cNvPr id="6" name="Google Shape;1481;p29">
            <a:extLst>
              <a:ext uri="{FF2B5EF4-FFF2-40B4-BE49-F238E27FC236}">
                <a16:creationId xmlns:a16="http://schemas.microsoft.com/office/drawing/2014/main" id="{8C2C7C13-43AD-4872-0C4C-911F4744EF9F}"/>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16</a:t>
            </a:r>
          </a:p>
        </p:txBody>
      </p:sp>
    </p:spTree>
    <p:extLst>
      <p:ext uri="{BB962C8B-B14F-4D97-AF65-F5344CB8AC3E}">
        <p14:creationId xmlns:p14="http://schemas.microsoft.com/office/powerpoint/2010/main" val="2455215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44D39BA6-11D7-32DA-FB06-463415BA48D5}"/>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0DF7DA1D-E7F5-8082-6D85-8D7E185FFAF7}"/>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Méthodologie – Métriques d’évaluation</a:t>
            </a:r>
          </a:p>
        </p:txBody>
      </p:sp>
      <p:sp>
        <p:nvSpPr>
          <p:cNvPr id="5" name="TextBox 4">
            <a:extLst>
              <a:ext uri="{FF2B5EF4-FFF2-40B4-BE49-F238E27FC236}">
                <a16:creationId xmlns:a16="http://schemas.microsoft.com/office/drawing/2014/main" id="{495FF8D9-3F32-57E3-3950-CD475CAA63E7}"/>
              </a:ext>
            </a:extLst>
          </p:cNvPr>
          <p:cNvSpPr txBox="1"/>
          <p:nvPr/>
        </p:nvSpPr>
        <p:spPr>
          <a:xfrm>
            <a:off x="524792" y="800931"/>
            <a:ext cx="5279108" cy="307777"/>
          </a:xfrm>
          <a:prstGeom prst="rect">
            <a:avLst/>
          </a:prstGeom>
          <a:noFill/>
        </p:spPr>
        <p:txBody>
          <a:bodyPr wrap="square" rtlCol="0">
            <a:spAutoFit/>
          </a:bodyPr>
          <a:lstStyle/>
          <a:p>
            <a:r>
              <a:rPr lang="fr-FR" b="1" noProof="0" dirty="0"/>
              <a:t>Métriques d'évaluation de la détection de communautés</a:t>
            </a:r>
          </a:p>
        </p:txBody>
      </p:sp>
      <p:graphicFrame>
        <p:nvGraphicFramePr>
          <p:cNvPr id="3" name="Google Shape;1472;p28">
            <a:extLst>
              <a:ext uri="{FF2B5EF4-FFF2-40B4-BE49-F238E27FC236}">
                <a16:creationId xmlns:a16="http://schemas.microsoft.com/office/drawing/2014/main" id="{0E41DD02-7A2B-B2D4-E2BC-BBED12D49854}"/>
              </a:ext>
            </a:extLst>
          </p:cNvPr>
          <p:cNvGraphicFramePr/>
          <p:nvPr>
            <p:extLst>
              <p:ext uri="{D42A27DB-BD31-4B8C-83A1-F6EECF244321}">
                <p14:modId xmlns:p14="http://schemas.microsoft.com/office/powerpoint/2010/main" val="3937052494"/>
              </p:ext>
            </p:extLst>
          </p:nvPr>
        </p:nvGraphicFramePr>
        <p:xfrm>
          <a:off x="580287" y="1170263"/>
          <a:ext cx="7834247" cy="1567009"/>
        </p:xfrm>
        <a:graphic>
          <a:graphicData uri="http://schemas.openxmlformats.org/drawingml/2006/table">
            <a:tbl>
              <a:tblPr>
                <a:tableStyleId>{B6F588F0-DA45-466C-91A0-1F1EBF44E27B}</a:tableStyleId>
              </a:tblPr>
              <a:tblGrid>
                <a:gridCol w="1779916">
                  <a:extLst>
                    <a:ext uri="{9D8B030D-6E8A-4147-A177-3AD203B41FA5}">
                      <a16:colId xmlns:a16="http://schemas.microsoft.com/office/drawing/2014/main" val="20000"/>
                    </a:ext>
                  </a:extLst>
                </a:gridCol>
                <a:gridCol w="3678929">
                  <a:extLst>
                    <a:ext uri="{9D8B030D-6E8A-4147-A177-3AD203B41FA5}">
                      <a16:colId xmlns:a16="http://schemas.microsoft.com/office/drawing/2014/main" val="20001"/>
                    </a:ext>
                  </a:extLst>
                </a:gridCol>
                <a:gridCol w="2375402">
                  <a:extLst>
                    <a:ext uri="{9D8B030D-6E8A-4147-A177-3AD203B41FA5}">
                      <a16:colId xmlns:a16="http://schemas.microsoft.com/office/drawing/2014/main" val="41523287"/>
                    </a:ext>
                  </a:extLst>
                </a:gridCol>
              </a:tblGrid>
              <a:tr h="361525">
                <a:tc>
                  <a:txBody>
                    <a:bodyPr/>
                    <a:lstStyle/>
                    <a:p>
                      <a:pPr marL="0" lvl="0" indent="0" algn="l" rtl="0">
                        <a:spcBef>
                          <a:spcPts val="0"/>
                        </a:spcBef>
                        <a:spcAft>
                          <a:spcPts val="0"/>
                        </a:spcAft>
                        <a:buNone/>
                      </a:pPr>
                      <a:r>
                        <a:rPr lang="fr-FR" sz="1100" b="1" u="none" noProof="0" dirty="0">
                          <a:solidFill>
                            <a:schemeClr val="dk1"/>
                          </a:solidFill>
                          <a:latin typeface="+mj-lt"/>
                          <a:ea typeface="Mulish"/>
                          <a:cs typeface="Mulish"/>
                          <a:sym typeface="Mulish"/>
                        </a:rPr>
                        <a:t>Métrique</a:t>
                      </a:r>
                    </a:p>
                  </a:txBody>
                  <a:tcPr marL="91425" marR="91425" marT="0" marB="0" anchor="ctr"/>
                </a:tc>
                <a:tc>
                  <a:txBody>
                    <a:bodyPr/>
                    <a:lstStyle/>
                    <a:p>
                      <a:pPr marL="0" lvl="0" indent="0" algn="l" rtl="0">
                        <a:spcBef>
                          <a:spcPts val="0"/>
                        </a:spcBef>
                        <a:spcAft>
                          <a:spcPts val="0"/>
                        </a:spcAft>
                        <a:buNone/>
                      </a:pPr>
                      <a:r>
                        <a:rPr lang="fr-FR" sz="1100" b="1" u="none" noProof="0" dirty="0">
                          <a:solidFill>
                            <a:schemeClr val="dk1"/>
                          </a:solidFill>
                          <a:latin typeface="+mj-lt"/>
                          <a:sym typeface="Mulish"/>
                        </a:rPr>
                        <a:t>Objectif</a:t>
                      </a:r>
                      <a:endParaRPr lang="fr-FR" sz="1100" b="1" u="none" noProof="0" dirty="0">
                        <a:solidFill>
                          <a:schemeClr val="dk1"/>
                        </a:solidFill>
                        <a:latin typeface="+mj-lt"/>
                        <a:ea typeface="Mulish"/>
                        <a:cs typeface="Mulish"/>
                        <a:sym typeface="Mulish"/>
                      </a:endParaRPr>
                    </a:p>
                  </a:txBody>
                  <a:tcPr marL="91425" marR="91425" marT="0" marB="0" anchor="ctr"/>
                </a:tc>
                <a:tc>
                  <a:txBody>
                    <a:bodyPr/>
                    <a:lstStyle/>
                    <a:p>
                      <a:pPr marL="0" marR="0" lvl="0" indent="0" algn="l" defTabSz="914400" rtl="0" eaLnBrk="1" fontAlgn="auto" latinLnBrk="0" hangingPunct="1">
                        <a:lnSpc>
                          <a:spcPct val="100000"/>
                        </a:lnSpc>
                        <a:spcBef>
                          <a:spcPts val="0"/>
                        </a:spcBef>
                        <a:spcAft>
                          <a:spcPts val="1600"/>
                        </a:spcAft>
                        <a:buClr>
                          <a:srgbClr val="000000"/>
                        </a:buClr>
                        <a:buSzTx/>
                        <a:buFont typeface="Arial"/>
                        <a:buNone/>
                        <a:tabLst/>
                        <a:defRPr/>
                      </a:pPr>
                      <a:r>
                        <a:rPr lang="fr-FR" sz="1100" b="1" u="none" noProof="0" dirty="0">
                          <a:solidFill>
                            <a:schemeClr val="dk1"/>
                          </a:solidFill>
                          <a:latin typeface="+mj-lt"/>
                          <a:sym typeface="Mulish"/>
                        </a:rPr>
                        <a:t>Intervalle</a:t>
                      </a:r>
                      <a:endParaRPr lang="fr-FR" sz="1100" b="1" u="none" noProof="0" dirty="0">
                        <a:solidFill>
                          <a:schemeClr val="dk1"/>
                        </a:solidFill>
                        <a:latin typeface="+mj-lt"/>
                        <a:ea typeface="Mulish"/>
                        <a:cs typeface="Mulish"/>
                        <a:sym typeface="Mulish"/>
                      </a:endParaRPr>
                    </a:p>
                  </a:txBody>
                  <a:tcPr marL="91425" marR="91425" marT="0" marB="0" anchor="ctr"/>
                </a:tc>
                <a:extLst>
                  <a:ext uri="{0D108BD9-81ED-4DB2-BD59-A6C34878D82A}">
                    <a16:rowId xmlns:a16="http://schemas.microsoft.com/office/drawing/2014/main" val="10000"/>
                  </a:ext>
                </a:extLst>
              </a:tr>
              <a:tr h="346762">
                <a:tc>
                  <a:txBody>
                    <a:bodyPr/>
                    <a:lstStyle/>
                    <a:p>
                      <a:pPr>
                        <a:lnSpc>
                          <a:spcPts val="1875"/>
                        </a:lnSpc>
                        <a:buNone/>
                      </a:pPr>
                      <a:r>
                        <a:rPr lang="fr-FR" sz="1000" b="1" noProof="0" dirty="0">
                          <a:effectLst/>
                          <a:latin typeface="Mulish" panose="020B0604020202020204" charset="0"/>
                        </a:rPr>
                        <a:t>Modularité (Q)</a:t>
                      </a:r>
                      <a:endParaRPr lang="fr-FR" sz="1000" b="0" noProof="0" dirty="0">
                        <a:effectLst/>
                        <a:latin typeface="Mulish" panose="020B0604020202020204" charset="0"/>
                      </a:endParaRPr>
                    </a:p>
                  </a:txBody>
                  <a:tcPr marR="152400" marT="95250" marB="95250" anchor="ctr"/>
                </a:tc>
                <a:tc>
                  <a:txBody>
                    <a:bodyPr/>
                    <a:lstStyle/>
                    <a:p>
                      <a:pPr>
                        <a:lnSpc>
                          <a:spcPts val="1875"/>
                        </a:lnSpc>
                        <a:buNone/>
                      </a:pPr>
                      <a:r>
                        <a:rPr lang="fr-FR" sz="1000" b="0" noProof="0" dirty="0">
                          <a:effectLst/>
                          <a:latin typeface="Mulish" panose="020B0604020202020204" charset="0"/>
                        </a:rPr>
                        <a:t>Évalue la qualité de la partition sans </a:t>
                      </a:r>
                      <a:r>
                        <a:rPr lang="fr-FR" sz="1000" b="0" noProof="0" dirty="0" err="1">
                          <a:effectLst/>
                          <a:latin typeface="Mulish" panose="020B0604020202020204" charset="0"/>
                        </a:rPr>
                        <a:t>ground</a:t>
                      </a:r>
                      <a:r>
                        <a:rPr lang="fr-FR" sz="1000" b="0" noProof="0" dirty="0">
                          <a:effectLst/>
                          <a:latin typeface="Mulish" panose="020B0604020202020204" charset="0"/>
                        </a:rPr>
                        <a:t> </a:t>
                      </a:r>
                      <a:r>
                        <a:rPr lang="fr-FR" sz="1000" b="0" noProof="0" dirty="0" err="1">
                          <a:effectLst/>
                          <a:latin typeface="Mulish" panose="020B0604020202020204" charset="0"/>
                        </a:rPr>
                        <a:t>truth</a:t>
                      </a:r>
                      <a:r>
                        <a:rPr lang="fr-FR" sz="1000" b="0" noProof="0" dirty="0">
                          <a:effectLst/>
                          <a:latin typeface="Mulish" panose="020B0604020202020204" charset="0"/>
                        </a:rPr>
                        <a:t>.</a:t>
                      </a:r>
                    </a:p>
                  </a:txBody>
                  <a:tcPr marL="152400" marR="152400" marT="95250" marB="95250" anchor="ctr"/>
                </a:tc>
                <a:tc>
                  <a:txBody>
                    <a:bodyPr/>
                    <a:lstStyle/>
                    <a:p>
                      <a:pPr>
                        <a:lnSpc>
                          <a:spcPts val="1875"/>
                        </a:lnSpc>
                        <a:buNone/>
                      </a:pPr>
                      <a:r>
                        <a:rPr lang="fr-FR" sz="1000" b="0" noProof="0" dirty="0">
                          <a:effectLst/>
                          <a:latin typeface="Mulish" panose="020B0604020202020204" charset="0"/>
                        </a:rPr>
                        <a:t>[-1, 1]</a:t>
                      </a:r>
                    </a:p>
                  </a:txBody>
                  <a:tcPr marL="152400" marT="95250" marB="95250" anchor="ctr"/>
                </a:tc>
                <a:extLst>
                  <a:ext uri="{0D108BD9-81ED-4DB2-BD59-A6C34878D82A}">
                    <a16:rowId xmlns:a16="http://schemas.microsoft.com/office/drawing/2014/main" val="10001"/>
                  </a:ext>
                </a:extLst>
              </a:tr>
              <a:tr h="361525">
                <a:tc>
                  <a:txBody>
                    <a:bodyPr/>
                    <a:lstStyle/>
                    <a:p>
                      <a:pPr>
                        <a:lnSpc>
                          <a:spcPts val="1875"/>
                        </a:lnSpc>
                        <a:buNone/>
                      </a:pPr>
                      <a:r>
                        <a:rPr lang="fr-FR" sz="1000" b="1" noProof="0" dirty="0">
                          <a:effectLst/>
                          <a:latin typeface="Mulish" panose="020B0604020202020204" charset="0"/>
                        </a:rPr>
                        <a:t>NMI</a:t>
                      </a:r>
                      <a:endParaRPr lang="fr-FR" sz="1000" b="0" noProof="0" dirty="0">
                        <a:effectLst/>
                        <a:latin typeface="Mulish" panose="020B0604020202020204" charset="0"/>
                      </a:endParaRPr>
                    </a:p>
                  </a:txBody>
                  <a:tcPr marR="152400" marT="95250" marB="95250" anchor="ctr"/>
                </a:tc>
                <a:tc>
                  <a:txBody>
                    <a:bodyPr/>
                    <a:lstStyle/>
                    <a:p>
                      <a:pPr>
                        <a:lnSpc>
                          <a:spcPts val="1875"/>
                        </a:lnSpc>
                        <a:buNone/>
                      </a:pPr>
                      <a:r>
                        <a:rPr lang="fr-FR" sz="1000" b="0" noProof="0" dirty="0">
                          <a:effectLst/>
                          <a:latin typeface="Mulish" panose="020B0604020202020204" charset="0"/>
                        </a:rPr>
                        <a:t>Mesure la similarité avec </a:t>
                      </a:r>
                      <a:r>
                        <a:rPr lang="fr-FR" sz="1000" b="0" noProof="0" dirty="0" err="1">
                          <a:effectLst/>
                          <a:latin typeface="Mulish" panose="020B0604020202020204" charset="0"/>
                        </a:rPr>
                        <a:t>ground</a:t>
                      </a:r>
                      <a:r>
                        <a:rPr lang="fr-FR" sz="1000" b="0" noProof="0" dirty="0">
                          <a:effectLst/>
                          <a:latin typeface="Mulish" panose="020B0604020202020204" charset="0"/>
                        </a:rPr>
                        <a:t> </a:t>
                      </a:r>
                      <a:r>
                        <a:rPr lang="fr-FR" sz="1000" b="0" noProof="0" dirty="0" err="1">
                          <a:effectLst/>
                          <a:latin typeface="Mulish" panose="020B0604020202020204" charset="0"/>
                        </a:rPr>
                        <a:t>truth</a:t>
                      </a:r>
                      <a:r>
                        <a:rPr lang="fr-FR" sz="1000" b="0" noProof="0" dirty="0">
                          <a:effectLst/>
                          <a:latin typeface="Mulish" panose="020B0604020202020204" charset="0"/>
                        </a:rPr>
                        <a:t>.</a:t>
                      </a:r>
                    </a:p>
                  </a:txBody>
                  <a:tcPr marL="152400" marR="152400" marT="95250" marB="95250" anchor="ctr"/>
                </a:tc>
                <a:tc>
                  <a:txBody>
                    <a:bodyPr/>
                    <a:lstStyle/>
                    <a:p>
                      <a:pPr>
                        <a:lnSpc>
                          <a:spcPts val="1875"/>
                        </a:lnSpc>
                        <a:buNone/>
                      </a:pPr>
                      <a:r>
                        <a:rPr lang="fr-FR" sz="1000" b="0" noProof="0" dirty="0">
                          <a:effectLst/>
                          <a:latin typeface="Mulish" panose="020B0604020202020204" charset="0"/>
                        </a:rPr>
                        <a:t>[0, 1]</a:t>
                      </a:r>
                    </a:p>
                  </a:txBody>
                  <a:tcPr marL="152400" marT="95250" marB="95250" anchor="ctr"/>
                </a:tc>
                <a:extLst>
                  <a:ext uri="{0D108BD9-81ED-4DB2-BD59-A6C34878D82A}">
                    <a16:rowId xmlns:a16="http://schemas.microsoft.com/office/drawing/2014/main" val="10002"/>
                  </a:ext>
                </a:extLst>
              </a:tr>
              <a:tr h="361525">
                <a:tc>
                  <a:txBody>
                    <a:bodyPr/>
                    <a:lstStyle/>
                    <a:p>
                      <a:pPr>
                        <a:lnSpc>
                          <a:spcPts val="1875"/>
                        </a:lnSpc>
                        <a:buNone/>
                      </a:pPr>
                      <a:r>
                        <a:rPr lang="fr-FR" sz="1000" b="1" noProof="0" dirty="0">
                          <a:effectLst/>
                          <a:latin typeface="Mulish" panose="020B0604020202020204" charset="0"/>
                        </a:rPr>
                        <a:t>ARI</a:t>
                      </a:r>
                      <a:endParaRPr lang="fr-FR" sz="1000" b="0" noProof="0" dirty="0">
                        <a:effectLst/>
                        <a:latin typeface="Mulish" panose="020B0604020202020204" charset="0"/>
                      </a:endParaRPr>
                    </a:p>
                  </a:txBody>
                  <a:tcPr marR="152400" marT="95250" marB="95250" anchor="ctr"/>
                </a:tc>
                <a:tc>
                  <a:txBody>
                    <a:bodyPr/>
                    <a:lstStyle/>
                    <a:p>
                      <a:pPr>
                        <a:lnSpc>
                          <a:spcPts val="1875"/>
                        </a:lnSpc>
                        <a:buNone/>
                      </a:pPr>
                      <a:r>
                        <a:rPr lang="fr-FR" sz="1000" b="0" noProof="0" dirty="0">
                          <a:effectLst/>
                          <a:latin typeface="Mulish" panose="020B0604020202020204" charset="0"/>
                        </a:rPr>
                        <a:t>Mesure la similarité corrigée de l'effet du hasard.</a:t>
                      </a:r>
                    </a:p>
                  </a:txBody>
                  <a:tcPr marL="152400" marR="152400" marT="95250" marB="95250" anchor="ctr"/>
                </a:tc>
                <a:tc>
                  <a:txBody>
                    <a:bodyPr/>
                    <a:lstStyle/>
                    <a:p>
                      <a:pPr>
                        <a:lnSpc>
                          <a:spcPts val="1875"/>
                        </a:lnSpc>
                        <a:buNone/>
                      </a:pPr>
                      <a:r>
                        <a:rPr lang="fr-FR" sz="1000" b="0" noProof="0" dirty="0">
                          <a:effectLst/>
                          <a:latin typeface="Mulish" panose="020B0604020202020204" charset="0"/>
                        </a:rPr>
                        <a:t>[-1, 1]</a:t>
                      </a:r>
                    </a:p>
                  </a:txBody>
                  <a:tcPr marL="152400" marT="95250" marB="95250" anchor="ctr"/>
                </a:tc>
                <a:extLst>
                  <a:ext uri="{0D108BD9-81ED-4DB2-BD59-A6C34878D82A}">
                    <a16:rowId xmlns:a16="http://schemas.microsoft.com/office/drawing/2014/main" val="761550922"/>
                  </a:ext>
                </a:extLst>
              </a:tr>
            </a:tbl>
          </a:graphicData>
        </a:graphic>
      </p:graphicFrame>
      <p:sp>
        <p:nvSpPr>
          <p:cNvPr id="8" name="TextBox 7">
            <a:extLst>
              <a:ext uri="{FF2B5EF4-FFF2-40B4-BE49-F238E27FC236}">
                <a16:creationId xmlns:a16="http://schemas.microsoft.com/office/drawing/2014/main" id="{CA6B56E7-8B26-F34A-A5A3-0AE6D85D763D}"/>
              </a:ext>
            </a:extLst>
          </p:cNvPr>
          <p:cNvSpPr txBox="1"/>
          <p:nvPr/>
        </p:nvSpPr>
        <p:spPr>
          <a:xfrm>
            <a:off x="524792" y="2842016"/>
            <a:ext cx="5736308" cy="307777"/>
          </a:xfrm>
          <a:prstGeom prst="rect">
            <a:avLst/>
          </a:prstGeom>
          <a:noFill/>
        </p:spPr>
        <p:txBody>
          <a:bodyPr wrap="square" rtlCol="0">
            <a:spAutoFit/>
          </a:bodyPr>
          <a:lstStyle/>
          <a:p>
            <a:r>
              <a:rPr lang="fr-FR" b="1" noProof="0" dirty="0"/>
              <a:t>Métriques d'évaluation du système de recommandation (@K)</a:t>
            </a:r>
            <a:endParaRPr lang="fr-FR" noProof="0" dirty="0"/>
          </a:p>
        </p:txBody>
      </p:sp>
      <p:sp>
        <p:nvSpPr>
          <p:cNvPr id="14" name="TextBox 13">
            <a:extLst>
              <a:ext uri="{FF2B5EF4-FFF2-40B4-BE49-F238E27FC236}">
                <a16:creationId xmlns:a16="http://schemas.microsoft.com/office/drawing/2014/main" id="{ABDFE5D3-ED74-7020-B375-059D44063BF1}"/>
              </a:ext>
            </a:extLst>
          </p:cNvPr>
          <p:cNvSpPr txBox="1"/>
          <p:nvPr/>
        </p:nvSpPr>
        <p:spPr>
          <a:xfrm>
            <a:off x="524792" y="3083033"/>
            <a:ext cx="8038921" cy="102188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fr-FR" noProof="0" dirty="0" err="1"/>
              <a:t>Precision@K</a:t>
            </a:r>
            <a:r>
              <a:rPr lang="fr-FR" noProof="0" dirty="0"/>
              <a:t> : Relevant items in top-K / K</a:t>
            </a:r>
          </a:p>
          <a:p>
            <a:pPr marL="285750" indent="-285750">
              <a:lnSpc>
                <a:spcPct val="150000"/>
              </a:lnSpc>
              <a:buFont typeface="Arial" panose="020B0604020202020204" pitchFamily="34" charset="0"/>
              <a:buChar char="•"/>
            </a:pPr>
            <a:r>
              <a:rPr lang="fr-FR" noProof="0" dirty="0" err="1"/>
              <a:t>Recall@K</a:t>
            </a:r>
            <a:r>
              <a:rPr lang="fr-FR" noProof="0" dirty="0"/>
              <a:t> : Relevant in top-K / Total relevant</a:t>
            </a:r>
          </a:p>
          <a:p>
            <a:pPr marL="285750" indent="-285750">
              <a:lnSpc>
                <a:spcPct val="150000"/>
              </a:lnSpc>
              <a:buFont typeface="Arial" panose="020B0604020202020204" pitchFamily="34" charset="0"/>
              <a:buChar char="•"/>
            </a:pPr>
            <a:r>
              <a:rPr lang="fr-FR" noProof="0" dirty="0"/>
              <a:t>F1@K : 2 × (</a:t>
            </a:r>
            <a:r>
              <a:rPr lang="fr-FR" noProof="0" dirty="0" err="1"/>
              <a:t>Precision</a:t>
            </a:r>
            <a:r>
              <a:rPr lang="fr-FR" noProof="0" dirty="0"/>
              <a:t> × </a:t>
            </a:r>
            <a:r>
              <a:rPr lang="fr-FR" noProof="0" dirty="0" err="1"/>
              <a:t>Recall</a:t>
            </a:r>
            <a:r>
              <a:rPr lang="fr-FR" noProof="0" dirty="0"/>
              <a:t>) / (</a:t>
            </a:r>
            <a:r>
              <a:rPr lang="fr-FR" noProof="0" dirty="0" err="1"/>
              <a:t>Precision</a:t>
            </a:r>
            <a:r>
              <a:rPr lang="fr-FR" noProof="0" dirty="0"/>
              <a:t> + </a:t>
            </a:r>
            <a:r>
              <a:rPr lang="fr-FR" noProof="0" dirty="0" err="1"/>
              <a:t>Recall</a:t>
            </a:r>
            <a:r>
              <a:rPr lang="fr-FR" noProof="0" dirty="0"/>
              <a:t>)</a:t>
            </a:r>
          </a:p>
        </p:txBody>
      </p:sp>
      <p:sp>
        <p:nvSpPr>
          <p:cNvPr id="9" name="Google Shape;1481;p29">
            <a:extLst>
              <a:ext uri="{FF2B5EF4-FFF2-40B4-BE49-F238E27FC236}">
                <a16:creationId xmlns:a16="http://schemas.microsoft.com/office/drawing/2014/main" id="{1593C556-CB2C-227D-79B3-8C6C280BDC4A}"/>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17</a:t>
            </a:r>
          </a:p>
        </p:txBody>
      </p:sp>
    </p:spTree>
    <p:extLst>
      <p:ext uri="{BB962C8B-B14F-4D97-AF65-F5344CB8AC3E}">
        <p14:creationId xmlns:p14="http://schemas.microsoft.com/office/powerpoint/2010/main" val="3170959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14">
                                            <p:txEl>
                                              <p:pRg st="0" end="0"/>
                                            </p:txEl>
                                          </p:spTgt>
                                        </p:tgtEl>
                                        <p:attrNameLst>
                                          <p:attrName>style.visibility</p:attrName>
                                        </p:attrNameLst>
                                      </p:cBhvr>
                                      <p:to>
                                        <p:strVal val="visible"/>
                                      </p:to>
                                    </p:set>
                                    <p:anim calcmode="lin" valueType="num">
                                      <p:cBhvr additive="base">
                                        <p:cTn id="9" dur="500" fill="hold"/>
                                        <p:tgtEl>
                                          <p:spTgt spid="1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14">
                                            <p:txEl>
                                              <p:pRg st="0" end="0"/>
                                            </p:txEl>
                                          </p:spTgt>
                                        </p:tgtEl>
                                        <p:attrNameLst>
                                          <p:attrName>ppt_y</p:attrName>
                                        </p:attrNameLst>
                                      </p:cBhvr>
                                      <p:tavLst>
                                        <p:tav tm="0">
                                          <p:val>
                                            <p:strVal val="1+#ppt_h/2"/>
                                          </p:val>
                                        </p:tav>
                                        <p:tav tm="100000">
                                          <p:val>
                                            <p:strVal val="#ppt_y"/>
                                          </p:val>
                                        </p:tav>
                                      </p:tavLst>
                                    </p:anim>
                                  </p:childTnLst>
                                </p:cTn>
                              </p:par>
                              <p:par>
                                <p:cTn id="11" presetID="2" presetClass="entr" presetSubtype="4" fill="hold" nodeType="withEffect">
                                  <p:stCondLst>
                                    <p:cond delay="0"/>
                                  </p:stCondLst>
                                  <p:childTnLst>
                                    <p:set>
                                      <p:cBhvr>
                                        <p:cTn id="12" dur="1" fill="hold">
                                          <p:stCondLst>
                                            <p:cond delay="0"/>
                                          </p:stCondLst>
                                        </p:cTn>
                                        <p:tgtEl>
                                          <p:spTgt spid="14">
                                            <p:txEl>
                                              <p:pRg st="1" end="1"/>
                                            </p:txEl>
                                          </p:spTgt>
                                        </p:tgtEl>
                                        <p:attrNameLst>
                                          <p:attrName>style.visibility</p:attrName>
                                        </p:attrNameLst>
                                      </p:cBhvr>
                                      <p:to>
                                        <p:strVal val="visible"/>
                                      </p:to>
                                    </p:set>
                                    <p:anim calcmode="lin" valueType="num">
                                      <p:cBhvr additive="base">
                                        <p:cTn id="13" dur="500" fill="hold"/>
                                        <p:tgtEl>
                                          <p:spTgt spid="14">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4">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4">
                                            <p:txEl>
                                              <p:pRg st="2" end="2"/>
                                            </p:txEl>
                                          </p:spTgt>
                                        </p:tgtEl>
                                        <p:attrNameLst>
                                          <p:attrName>style.visibility</p:attrName>
                                        </p:attrNameLst>
                                      </p:cBhvr>
                                      <p:to>
                                        <p:strVal val="visible"/>
                                      </p:to>
                                    </p:set>
                                    <p:anim calcmode="lin" valueType="num">
                                      <p:cBhvr additive="base">
                                        <p:cTn id="17" dur="500" fill="hold"/>
                                        <p:tgtEl>
                                          <p:spTgt spid="14">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D6964F16-FACE-A775-7FD5-8641F7B3BB7D}"/>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7D66ABEB-E8C2-021D-73C4-437069066AA5}"/>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dirty="0"/>
              <a:t>Résultats – </a:t>
            </a:r>
            <a:r>
              <a:rPr lang="fr-FR" sz="2400" dirty="0" err="1"/>
              <a:t>Datasets</a:t>
            </a:r>
            <a:r>
              <a:rPr lang="fr-FR" sz="2400" dirty="0"/>
              <a:t> Réels</a:t>
            </a:r>
            <a:endParaRPr lang="fr-FR" sz="2400" noProof="0" dirty="0"/>
          </a:p>
        </p:txBody>
      </p:sp>
      <p:sp>
        <p:nvSpPr>
          <p:cNvPr id="5" name="TextBox 4">
            <a:extLst>
              <a:ext uri="{FF2B5EF4-FFF2-40B4-BE49-F238E27FC236}">
                <a16:creationId xmlns:a16="http://schemas.microsoft.com/office/drawing/2014/main" id="{43C544C1-4CFF-F9F4-6BF6-7610D052D28E}"/>
              </a:ext>
            </a:extLst>
          </p:cNvPr>
          <p:cNvSpPr txBox="1"/>
          <p:nvPr/>
        </p:nvSpPr>
        <p:spPr>
          <a:xfrm>
            <a:off x="524792" y="800931"/>
            <a:ext cx="4948908" cy="307777"/>
          </a:xfrm>
          <a:prstGeom prst="rect">
            <a:avLst/>
          </a:prstGeom>
          <a:noFill/>
        </p:spPr>
        <p:txBody>
          <a:bodyPr wrap="square" rtlCol="0">
            <a:spAutoFit/>
          </a:bodyPr>
          <a:lstStyle/>
          <a:p>
            <a:r>
              <a:rPr lang="fr-FR" b="1" noProof="0" dirty="0"/>
              <a:t>Métriques de détection de communautés – Modularité</a:t>
            </a:r>
            <a:endParaRPr lang="fr-FR" noProof="0" dirty="0"/>
          </a:p>
        </p:txBody>
      </p:sp>
      <p:sp>
        <p:nvSpPr>
          <p:cNvPr id="6" name="Google Shape;1481;p29">
            <a:extLst>
              <a:ext uri="{FF2B5EF4-FFF2-40B4-BE49-F238E27FC236}">
                <a16:creationId xmlns:a16="http://schemas.microsoft.com/office/drawing/2014/main" id="{4285FD78-65E9-C462-39CE-593910F4C6DF}"/>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18</a:t>
            </a:r>
          </a:p>
        </p:txBody>
      </p:sp>
      <p:pic>
        <p:nvPicPr>
          <p:cNvPr id="3" name="Picture 2">
            <a:extLst>
              <a:ext uri="{FF2B5EF4-FFF2-40B4-BE49-F238E27FC236}">
                <a16:creationId xmlns:a16="http://schemas.microsoft.com/office/drawing/2014/main" id="{DC7F4934-C209-440B-9BDF-F98666DEBA8E}"/>
              </a:ext>
            </a:extLst>
          </p:cNvPr>
          <p:cNvPicPr>
            <a:picLocks noChangeAspect="1"/>
          </p:cNvPicPr>
          <p:nvPr/>
        </p:nvPicPr>
        <p:blipFill>
          <a:blip r:embed="rId3"/>
          <a:stretch>
            <a:fillRect/>
          </a:stretch>
        </p:blipFill>
        <p:spPr>
          <a:xfrm>
            <a:off x="1304194" y="1231842"/>
            <a:ext cx="6535612" cy="3522386"/>
          </a:xfrm>
          <a:prstGeom prst="rect">
            <a:avLst/>
          </a:prstGeom>
        </p:spPr>
      </p:pic>
    </p:spTree>
    <p:extLst>
      <p:ext uri="{BB962C8B-B14F-4D97-AF65-F5344CB8AC3E}">
        <p14:creationId xmlns:p14="http://schemas.microsoft.com/office/powerpoint/2010/main" val="1467193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3B114360-2622-11DD-DEF4-AAA9D6FCD5F4}"/>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957DA193-A11C-2583-CA58-3C56995DB2CC}"/>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dirty="0"/>
              <a:t>Résultats – </a:t>
            </a:r>
            <a:r>
              <a:rPr lang="fr-FR" sz="2400" dirty="0" err="1"/>
              <a:t>Datasets</a:t>
            </a:r>
            <a:r>
              <a:rPr lang="fr-FR" sz="2400" dirty="0"/>
              <a:t> Réels</a:t>
            </a:r>
            <a:endParaRPr lang="fr-FR" sz="2400" noProof="0" dirty="0"/>
          </a:p>
        </p:txBody>
      </p:sp>
      <p:sp>
        <p:nvSpPr>
          <p:cNvPr id="5" name="TextBox 4">
            <a:extLst>
              <a:ext uri="{FF2B5EF4-FFF2-40B4-BE49-F238E27FC236}">
                <a16:creationId xmlns:a16="http://schemas.microsoft.com/office/drawing/2014/main" id="{8CB80FCA-BA52-2AD0-298B-DCAAE4E48131}"/>
              </a:ext>
            </a:extLst>
          </p:cNvPr>
          <p:cNvSpPr txBox="1"/>
          <p:nvPr/>
        </p:nvSpPr>
        <p:spPr>
          <a:xfrm>
            <a:off x="524792" y="800931"/>
            <a:ext cx="4733008" cy="307777"/>
          </a:xfrm>
          <a:prstGeom prst="rect">
            <a:avLst/>
          </a:prstGeom>
          <a:noFill/>
        </p:spPr>
        <p:txBody>
          <a:bodyPr wrap="square" rtlCol="0">
            <a:spAutoFit/>
          </a:bodyPr>
          <a:lstStyle/>
          <a:p>
            <a:r>
              <a:rPr lang="fr-FR" b="1" noProof="0" dirty="0"/>
              <a:t>Métriques de détection de communautés – NMI</a:t>
            </a:r>
            <a:r>
              <a:rPr lang="fr-FR" b="1" dirty="0"/>
              <a:t> et ARI</a:t>
            </a:r>
            <a:endParaRPr lang="fr-FR" noProof="0" dirty="0"/>
          </a:p>
        </p:txBody>
      </p:sp>
      <p:sp>
        <p:nvSpPr>
          <p:cNvPr id="6" name="Google Shape;1481;p29">
            <a:extLst>
              <a:ext uri="{FF2B5EF4-FFF2-40B4-BE49-F238E27FC236}">
                <a16:creationId xmlns:a16="http://schemas.microsoft.com/office/drawing/2014/main" id="{044BCC8F-7E59-38C0-FC24-DBECEB2CC10D}"/>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19</a:t>
            </a:r>
          </a:p>
        </p:txBody>
      </p:sp>
      <p:pic>
        <p:nvPicPr>
          <p:cNvPr id="3" name="Picture 2">
            <a:extLst>
              <a:ext uri="{FF2B5EF4-FFF2-40B4-BE49-F238E27FC236}">
                <a16:creationId xmlns:a16="http://schemas.microsoft.com/office/drawing/2014/main" id="{90480905-9826-28F3-1F09-6338DA165C4E}"/>
              </a:ext>
            </a:extLst>
          </p:cNvPr>
          <p:cNvPicPr>
            <a:picLocks noChangeAspect="1"/>
          </p:cNvPicPr>
          <p:nvPr/>
        </p:nvPicPr>
        <p:blipFill>
          <a:blip r:embed="rId3"/>
          <a:srcRect r="24863"/>
          <a:stretch>
            <a:fillRect/>
          </a:stretch>
        </p:blipFill>
        <p:spPr>
          <a:xfrm>
            <a:off x="351082" y="1222877"/>
            <a:ext cx="4017718" cy="3189323"/>
          </a:xfrm>
          <a:prstGeom prst="rect">
            <a:avLst/>
          </a:prstGeom>
        </p:spPr>
      </p:pic>
      <p:pic>
        <p:nvPicPr>
          <p:cNvPr id="8" name="Picture 7">
            <a:extLst>
              <a:ext uri="{FF2B5EF4-FFF2-40B4-BE49-F238E27FC236}">
                <a16:creationId xmlns:a16="http://schemas.microsoft.com/office/drawing/2014/main" id="{A6108F21-4794-27AE-931E-70DBA3F636D5}"/>
              </a:ext>
            </a:extLst>
          </p:cNvPr>
          <p:cNvPicPr>
            <a:picLocks noChangeAspect="1"/>
          </p:cNvPicPr>
          <p:nvPr/>
        </p:nvPicPr>
        <p:blipFill>
          <a:blip r:embed="rId4"/>
          <a:srcRect l="-576"/>
          <a:stretch>
            <a:fillRect/>
          </a:stretch>
        </p:blipFill>
        <p:spPr>
          <a:xfrm>
            <a:off x="4368800" y="1250469"/>
            <a:ext cx="4040859" cy="3092100"/>
          </a:xfrm>
          <a:prstGeom prst="rect">
            <a:avLst/>
          </a:prstGeom>
        </p:spPr>
      </p:pic>
      <p:pic>
        <p:nvPicPr>
          <p:cNvPr id="11" name="Picture 10">
            <a:extLst>
              <a:ext uri="{FF2B5EF4-FFF2-40B4-BE49-F238E27FC236}">
                <a16:creationId xmlns:a16="http://schemas.microsoft.com/office/drawing/2014/main" id="{51AB3C4B-079F-DB39-E177-208F58104CF5}"/>
              </a:ext>
            </a:extLst>
          </p:cNvPr>
          <p:cNvPicPr>
            <a:picLocks noChangeAspect="1"/>
          </p:cNvPicPr>
          <p:nvPr/>
        </p:nvPicPr>
        <p:blipFill>
          <a:blip r:embed="rId5"/>
          <a:stretch>
            <a:fillRect/>
          </a:stretch>
        </p:blipFill>
        <p:spPr>
          <a:xfrm>
            <a:off x="4252310" y="4403685"/>
            <a:ext cx="639379" cy="370167"/>
          </a:xfrm>
          <a:prstGeom prst="rect">
            <a:avLst/>
          </a:prstGeom>
        </p:spPr>
      </p:pic>
    </p:spTree>
    <p:extLst>
      <p:ext uri="{BB962C8B-B14F-4D97-AF65-F5344CB8AC3E}">
        <p14:creationId xmlns:p14="http://schemas.microsoft.com/office/powerpoint/2010/main" val="1863674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67113C64-DD84-EDF1-5F59-99C59192DCFE}"/>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0815C798-64A9-314A-93D9-40013F881B11}"/>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Résultats - D</a:t>
            </a:r>
            <a:r>
              <a:rPr lang="fr-FR" sz="2400" dirty="0" err="1"/>
              <a:t>atasets</a:t>
            </a:r>
            <a:r>
              <a:rPr lang="fr-FR" sz="2400" dirty="0"/>
              <a:t> Synthétiques LFR </a:t>
            </a:r>
            <a:endParaRPr lang="fr-FR" sz="2400" noProof="0" dirty="0"/>
          </a:p>
        </p:txBody>
      </p:sp>
      <p:sp>
        <p:nvSpPr>
          <p:cNvPr id="5" name="TextBox 4">
            <a:extLst>
              <a:ext uri="{FF2B5EF4-FFF2-40B4-BE49-F238E27FC236}">
                <a16:creationId xmlns:a16="http://schemas.microsoft.com/office/drawing/2014/main" id="{758798D0-DC89-E461-4640-8ADBE0DDCDF8}"/>
              </a:ext>
            </a:extLst>
          </p:cNvPr>
          <p:cNvSpPr txBox="1"/>
          <p:nvPr/>
        </p:nvSpPr>
        <p:spPr>
          <a:xfrm>
            <a:off x="524792" y="800931"/>
            <a:ext cx="4326608" cy="307777"/>
          </a:xfrm>
          <a:prstGeom prst="rect">
            <a:avLst/>
          </a:prstGeom>
          <a:noFill/>
        </p:spPr>
        <p:txBody>
          <a:bodyPr wrap="square" rtlCol="0">
            <a:spAutoFit/>
          </a:bodyPr>
          <a:lstStyle/>
          <a:p>
            <a:r>
              <a:rPr lang="fr-FR" b="1" noProof="0" dirty="0"/>
              <a:t>Métriques de détection de communautés – NMI</a:t>
            </a:r>
            <a:endParaRPr lang="fr-FR" noProof="0" dirty="0"/>
          </a:p>
        </p:txBody>
      </p:sp>
      <p:pic>
        <p:nvPicPr>
          <p:cNvPr id="3" name="Picture 2">
            <a:extLst>
              <a:ext uri="{FF2B5EF4-FFF2-40B4-BE49-F238E27FC236}">
                <a16:creationId xmlns:a16="http://schemas.microsoft.com/office/drawing/2014/main" id="{DFE40C0A-5E0C-29FD-A158-DB51965E5977}"/>
              </a:ext>
            </a:extLst>
          </p:cNvPr>
          <p:cNvPicPr>
            <a:picLocks noChangeAspect="1"/>
          </p:cNvPicPr>
          <p:nvPr/>
        </p:nvPicPr>
        <p:blipFill>
          <a:blip r:embed="rId3"/>
          <a:stretch>
            <a:fillRect/>
          </a:stretch>
        </p:blipFill>
        <p:spPr>
          <a:xfrm>
            <a:off x="206062" y="1267198"/>
            <a:ext cx="6217254" cy="3038899"/>
          </a:xfrm>
          <a:prstGeom prst="rect">
            <a:avLst/>
          </a:prstGeom>
        </p:spPr>
      </p:pic>
      <p:pic>
        <p:nvPicPr>
          <p:cNvPr id="4" name="Picture 3">
            <a:extLst>
              <a:ext uri="{FF2B5EF4-FFF2-40B4-BE49-F238E27FC236}">
                <a16:creationId xmlns:a16="http://schemas.microsoft.com/office/drawing/2014/main" id="{CACDE43E-B4AB-D86E-B30C-9DED5500005D}"/>
              </a:ext>
            </a:extLst>
          </p:cNvPr>
          <p:cNvPicPr>
            <a:picLocks noChangeAspect="1"/>
          </p:cNvPicPr>
          <p:nvPr/>
        </p:nvPicPr>
        <p:blipFill>
          <a:blip r:embed="rId4"/>
          <a:stretch>
            <a:fillRect/>
          </a:stretch>
        </p:blipFill>
        <p:spPr>
          <a:xfrm>
            <a:off x="6349284" y="1230730"/>
            <a:ext cx="2228045" cy="3111837"/>
          </a:xfrm>
          <a:prstGeom prst="rect">
            <a:avLst/>
          </a:prstGeom>
        </p:spPr>
      </p:pic>
      <p:sp>
        <p:nvSpPr>
          <p:cNvPr id="9" name="Google Shape;1481;p29">
            <a:extLst>
              <a:ext uri="{FF2B5EF4-FFF2-40B4-BE49-F238E27FC236}">
                <a16:creationId xmlns:a16="http://schemas.microsoft.com/office/drawing/2014/main" id="{135DFF4D-B640-FE58-DE6C-D4109B60A418}"/>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20</a:t>
            </a:r>
          </a:p>
        </p:txBody>
      </p:sp>
    </p:spTree>
    <p:extLst>
      <p:ext uri="{BB962C8B-B14F-4D97-AF65-F5344CB8AC3E}">
        <p14:creationId xmlns:p14="http://schemas.microsoft.com/office/powerpoint/2010/main" val="31970042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F1ED6611-B925-2646-B0E0-722FBB3A86E4}"/>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DE573BBD-D3FA-130C-93D3-9F7F2B8FC990}"/>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dirty="0"/>
              <a:t>Résultats - </a:t>
            </a:r>
            <a:r>
              <a:rPr lang="fr-FR" sz="2400" dirty="0" err="1"/>
              <a:t>Datasets</a:t>
            </a:r>
            <a:r>
              <a:rPr lang="fr-FR" sz="2400" dirty="0"/>
              <a:t> Synthétiques LFR </a:t>
            </a:r>
            <a:endParaRPr lang="fr-FR" sz="2400" noProof="0" dirty="0"/>
          </a:p>
        </p:txBody>
      </p:sp>
      <p:pic>
        <p:nvPicPr>
          <p:cNvPr id="3" name="Picture 2">
            <a:extLst>
              <a:ext uri="{FF2B5EF4-FFF2-40B4-BE49-F238E27FC236}">
                <a16:creationId xmlns:a16="http://schemas.microsoft.com/office/drawing/2014/main" id="{BD30B2DF-5426-4913-2428-6338B2F0311C}"/>
              </a:ext>
            </a:extLst>
          </p:cNvPr>
          <p:cNvPicPr>
            <a:picLocks noChangeAspect="1"/>
          </p:cNvPicPr>
          <p:nvPr/>
        </p:nvPicPr>
        <p:blipFill>
          <a:blip r:embed="rId3"/>
          <a:stretch>
            <a:fillRect/>
          </a:stretch>
        </p:blipFill>
        <p:spPr>
          <a:xfrm>
            <a:off x="1292941" y="1108708"/>
            <a:ext cx="6675076" cy="3746267"/>
          </a:xfrm>
          <a:prstGeom prst="rect">
            <a:avLst/>
          </a:prstGeom>
        </p:spPr>
      </p:pic>
      <p:sp>
        <p:nvSpPr>
          <p:cNvPr id="4" name="TextBox 3">
            <a:extLst>
              <a:ext uri="{FF2B5EF4-FFF2-40B4-BE49-F238E27FC236}">
                <a16:creationId xmlns:a16="http://schemas.microsoft.com/office/drawing/2014/main" id="{D7505953-9975-E123-DBD2-7BB059AC70E9}"/>
              </a:ext>
            </a:extLst>
          </p:cNvPr>
          <p:cNvSpPr txBox="1"/>
          <p:nvPr/>
        </p:nvSpPr>
        <p:spPr>
          <a:xfrm>
            <a:off x="524792" y="800931"/>
            <a:ext cx="4326608" cy="307777"/>
          </a:xfrm>
          <a:prstGeom prst="rect">
            <a:avLst/>
          </a:prstGeom>
          <a:noFill/>
        </p:spPr>
        <p:txBody>
          <a:bodyPr wrap="square" rtlCol="0">
            <a:spAutoFit/>
          </a:bodyPr>
          <a:lstStyle/>
          <a:p>
            <a:r>
              <a:rPr lang="fr-FR" b="1" noProof="0" dirty="0"/>
              <a:t>Métriques de détection de communautés – NMI</a:t>
            </a:r>
            <a:endParaRPr lang="fr-FR" noProof="0" dirty="0"/>
          </a:p>
        </p:txBody>
      </p:sp>
      <p:sp>
        <p:nvSpPr>
          <p:cNvPr id="8" name="Google Shape;1481;p29">
            <a:extLst>
              <a:ext uri="{FF2B5EF4-FFF2-40B4-BE49-F238E27FC236}">
                <a16:creationId xmlns:a16="http://schemas.microsoft.com/office/drawing/2014/main" id="{90932ED1-1244-9713-188C-F338D8401B43}"/>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21</a:t>
            </a:r>
          </a:p>
        </p:txBody>
      </p:sp>
    </p:spTree>
    <p:extLst>
      <p:ext uri="{BB962C8B-B14F-4D97-AF65-F5344CB8AC3E}">
        <p14:creationId xmlns:p14="http://schemas.microsoft.com/office/powerpoint/2010/main" val="23134293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C13386E3-C290-85D0-B3C4-B3FA7C8D3BE4}"/>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1EDB7142-792A-767E-721F-C034A10C1AAA}"/>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dirty="0"/>
              <a:t>Résultats - </a:t>
            </a:r>
            <a:r>
              <a:rPr lang="fr-FR" sz="2400" dirty="0" err="1"/>
              <a:t>Datasets</a:t>
            </a:r>
            <a:r>
              <a:rPr lang="fr-FR" sz="2400" dirty="0"/>
              <a:t> Synthétiques LFR </a:t>
            </a:r>
            <a:endParaRPr lang="fr-FR" sz="2400" noProof="0" dirty="0"/>
          </a:p>
        </p:txBody>
      </p:sp>
      <p:pic>
        <p:nvPicPr>
          <p:cNvPr id="3" name="Picture 2">
            <a:extLst>
              <a:ext uri="{FF2B5EF4-FFF2-40B4-BE49-F238E27FC236}">
                <a16:creationId xmlns:a16="http://schemas.microsoft.com/office/drawing/2014/main" id="{E05173C9-DD53-9391-B41E-2A328757F014}"/>
              </a:ext>
            </a:extLst>
          </p:cNvPr>
          <p:cNvPicPr>
            <a:picLocks noChangeAspect="1"/>
          </p:cNvPicPr>
          <p:nvPr/>
        </p:nvPicPr>
        <p:blipFill>
          <a:blip r:embed="rId3"/>
          <a:stretch>
            <a:fillRect/>
          </a:stretch>
        </p:blipFill>
        <p:spPr>
          <a:xfrm>
            <a:off x="1414022" y="1276169"/>
            <a:ext cx="6315956" cy="2591162"/>
          </a:xfrm>
          <a:prstGeom prst="rect">
            <a:avLst/>
          </a:prstGeom>
        </p:spPr>
      </p:pic>
      <p:sp>
        <p:nvSpPr>
          <p:cNvPr id="4" name="TextBox 3">
            <a:extLst>
              <a:ext uri="{FF2B5EF4-FFF2-40B4-BE49-F238E27FC236}">
                <a16:creationId xmlns:a16="http://schemas.microsoft.com/office/drawing/2014/main" id="{2C0DCC6A-F474-E194-2B4B-E69CD0CDD120}"/>
              </a:ext>
            </a:extLst>
          </p:cNvPr>
          <p:cNvSpPr txBox="1"/>
          <p:nvPr/>
        </p:nvSpPr>
        <p:spPr>
          <a:xfrm>
            <a:off x="524792" y="800931"/>
            <a:ext cx="4326608" cy="307777"/>
          </a:xfrm>
          <a:prstGeom prst="rect">
            <a:avLst/>
          </a:prstGeom>
          <a:noFill/>
        </p:spPr>
        <p:txBody>
          <a:bodyPr wrap="square" rtlCol="0">
            <a:spAutoFit/>
          </a:bodyPr>
          <a:lstStyle/>
          <a:p>
            <a:r>
              <a:rPr lang="fr-FR" b="1" noProof="0" dirty="0"/>
              <a:t>Métriques de détection de communautés – NMI</a:t>
            </a:r>
            <a:endParaRPr lang="fr-FR" noProof="0" dirty="0"/>
          </a:p>
        </p:txBody>
      </p:sp>
      <p:sp>
        <p:nvSpPr>
          <p:cNvPr id="8" name="Google Shape;1481;p29">
            <a:extLst>
              <a:ext uri="{FF2B5EF4-FFF2-40B4-BE49-F238E27FC236}">
                <a16:creationId xmlns:a16="http://schemas.microsoft.com/office/drawing/2014/main" id="{C18A3362-CF81-CAA3-C5F5-33ED2FF80BD1}"/>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22</a:t>
            </a:r>
          </a:p>
        </p:txBody>
      </p:sp>
    </p:spTree>
    <p:extLst>
      <p:ext uri="{BB962C8B-B14F-4D97-AF65-F5344CB8AC3E}">
        <p14:creationId xmlns:p14="http://schemas.microsoft.com/office/powerpoint/2010/main" val="5341346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7267403B-BCC4-13CC-98E2-69BD5E317AA2}"/>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8FC45F93-D7AF-915A-3A14-4F422A01B0F6}"/>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Résultats - Intégration du système de recommandation</a:t>
            </a:r>
          </a:p>
        </p:txBody>
      </p:sp>
      <p:sp>
        <p:nvSpPr>
          <p:cNvPr id="5" name="TextBox 4">
            <a:extLst>
              <a:ext uri="{FF2B5EF4-FFF2-40B4-BE49-F238E27FC236}">
                <a16:creationId xmlns:a16="http://schemas.microsoft.com/office/drawing/2014/main" id="{AF9A60D3-B908-DF68-2B50-5415AA525A43}"/>
              </a:ext>
            </a:extLst>
          </p:cNvPr>
          <p:cNvSpPr txBox="1"/>
          <p:nvPr/>
        </p:nvSpPr>
        <p:spPr>
          <a:xfrm>
            <a:off x="524792" y="1012597"/>
            <a:ext cx="4174208" cy="307777"/>
          </a:xfrm>
          <a:prstGeom prst="rect">
            <a:avLst/>
          </a:prstGeom>
          <a:noFill/>
        </p:spPr>
        <p:txBody>
          <a:bodyPr wrap="square" rtlCol="0">
            <a:spAutoFit/>
          </a:bodyPr>
          <a:lstStyle/>
          <a:p>
            <a:r>
              <a:rPr lang="fr-FR" b="1" noProof="0" dirty="0"/>
              <a:t>Résultats du réglage des hyperparamètres</a:t>
            </a:r>
            <a:endParaRPr lang="fr-FR" noProof="0" dirty="0"/>
          </a:p>
        </p:txBody>
      </p:sp>
      <p:graphicFrame>
        <p:nvGraphicFramePr>
          <p:cNvPr id="2" name="Table 1">
            <a:extLst>
              <a:ext uri="{FF2B5EF4-FFF2-40B4-BE49-F238E27FC236}">
                <a16:creationId xmlns:a16="http://schemas.microsoft.com/office/drawing/2014/main" id="{1E8CCB06-D633-E3C8-C56D-E4E0355CA239}"/>
              </a:ext>
            </a:extLst>
          </p:cNvPr>
          <p:cNvGraphicFramePr>
            <a:graphicFrameLocks noGrp="1"/>
          </p:cNvGraphicFramePr>
          <p:nvPr>
            <p:extLst>
              <p:ext uri="{D42A27DB-BD31-4B8C-83A1-F6EECF244321}">
                <p14:modId xmlns:p14="http://schemas.microsoft.com/office/powerpoint/2010/main" val="3800845954"/>
              </p:ext>
            </p:extLst>
          </p:nvPr>
        </p:nvGraphicFramePr>
        <p:xfrm>
          <a:off x="618788" y="1779524"/>
          <a:ext cx="7906423" cy="1433259"/>
        </p:xfrm>
        <a:graphic>
          <a:graphicData uri="http://schemas.openxmlformats.org/drawingml/2006/table">
            <a:tbl>
              <a:tblPr>
                <a:tableStyleId>{B6F588F0-DA45-466C-91A0-1F1EBF44E27B}</a:tableStyleId>
              </a:tblPr>
              <a:tblGrid>
                <a:gridCol w="994112">
                  <a:extLst>
                    <a:ext uri="{9D8B030D-6E8A-4147-A177-3AD203B41FA5}">
                      <a16:colId xmlns:a16="http://schemas.microsoft.com/office/drawing/2014/main" val="1829000799"/>
                    </a:ext>
                  </a:extLst>
                </a:gridCol>
                <a:gridCol w="2209800">
                  <a:extLst>
                    <a:ext uri="{9D8B030D-6E8A-4147-A177-3AD203B41FA5}">
                      <a16:colId xmlns:a16="http://schemas.microsoft.com/office/drawing/2014/main" val="1143085909"/>
                    </a:ext>
                  </a:extLst>
                </a:gridCol>
                <a:gridCol w="1257300">
                  <a:extLst>
                    <a:ext uri="{9D8B030D-6E8A-4147-A177-3AD203B41FA5}">
                      <a16:colId xmlns:a16="http://schemas.microsoft.com/office/drawing/2014/main" val="1394736056"/>
                    </a:ext>
                  </a:extLst>
                </a:gridCol>
                <a:gridCol w="1977623">
                  <a:extLst>
                    <a:ext uri="{9D8B030D-6E8A-4147-A177-3AD203B41FA5}">
                      <a16:colId xmlns:a16="http://schemas.microsoft.com/office/drawing/2014/main" val="2202461204"/>
                    </a:ext>
                  </a:extLst>
                </a:gridCol>
                <a:gridCol w="1467588">
                  <a:extLst>
                    <a:ext uri="{9D8B030D-6E8A-4147-A177-3AD203B41FA5}">
                      <a16:colId xmlns:a16="http://schemas.microsoft.com/office/drawing/2014/main" val="3244480532"/>
                    </a:ext>
                  </a:extLst>
                </a:gridCol>
              </a:tblGrid>
              <a:tr h="0">
                <a:tc>
                  <a:txBody>
                    <a:bodyPr/>
                    <a:lstStyle/>
                    <a:p>
                      <a:pPr algn="l">
                        <a:lnSpc>
                          <a:spcPts val="1875"/>
                        </a:lnSpc>
                        <a:buNone/>
                      </a:pPr>
                      <a:r>
                        <a:rPr lang="fr-FR" sz="1100" b="1" noProof="0" dirty="0"/>
                        <a:t>Modèle</a:t>
                      </a:r>
                      <a:endParaRPr lang="fr-FR" sz="1100" b="1" u="sng" noProof="0" dirty="0">
                        <a:effectLst/>
                        <a:latin typeface="Mulish" panose="020B0604020202020204" charset="0"/>
                      </a:endParaRPr>
                    </a:p>
                  </a:txBody>
                  <a:tcPr marR="152400" marT="95250" marB="95250" anchor="ctr"/>
                </a:tc>
                <a:tc>
                  <a:txBody>
                    <a:bodyPr/>
                    <a:lstStyle/>
                    <a:p>
                      <a:pPr algn="l">
                        <a:lnSpc>
                          <a:spcPts val="1875"/>
                        </a:lnSpc>
                        <a:buNone/>
                      </a:pPr>
                      <a:r>
                        <a:rPr lang="fr-FR" sz="1100" b="1" noProof="0" dirty="0"/>
                        <a:t>Configuration par défaut</a:t>
                      </a:r>
                      <a:endParaRPr lang="fr-FR" sz="1100" b="1" u="sng" noProof="0" dirty="0">
                        <a:effectLst/>
                        <a:latin typeface="Mulish" panose="020B0604020202020204" charset="0"/>
                      </a:endParaRPr>
                    </a:p>
                  </a:txBody>
                  <a:tcPr marL="152400" marR="152400" marT="95250" marB="95250" anchor="ctr"/>
                </a:tc>
                <a:tc>
                  <a:txBody>
                    <a:bodyPr/>
                    <a:lstStyle/>
                    <a:p>
                      <a:pPr algn="l">
                        <a:lnSpc>
                          <a:spcPts val="1875"/>
                        </a:lnSpc>
                        <a:buNone/>
                      </a:pPr>
                      <a:r>
                        <a:rPr lang="fr-FR" sz="1100" b="1" noProof="0" dirty="0"/>
                        <a:t>F1@5 (défaut)</a:t>
                      </a:r>
                      <a:endParaRPr lang="fr-FR" sz="1100" b="1" u="sng" noProof="0" dirty="0">
                        <a:effectLst/>
                        <a:latin typeface="Mulish" panose="020B0604020202020204" charset="0"/>
                      </a:endParaRPr>
                    </a:p>
                  </a:txBody>
                  <a:tcPr marL="152400" marR="152400" marT="95250" marB="95250" anchor="ctr"/>
                </a:tc>
                <a:tc>
                  <a:txBody>
                    <a:bodyPr/>
                    <a:lstStyle/>
                    <a:p>
                      <a:pPr algn="l">
                        <a:lnSpc>
                          <a:spcPts val="1875"/>
                        </a:lnSpc>
                        <a:buNone/>
                      </a:pPr>
                      <a:r>
                        <a:rPr lang="fr-FR" sz="1100" b="1" noProof="0" dirty="0"/>
                        <a:t>Configuration optimisée</a:t>
                      </a:r>
                      <a:endParaRPr lang="fr-FR" sz="1100" b="1" u="sng" noProof="0" dirty="0">
                        <a:effectLst/>
                        <a:latin typeface="Mulish" panose="020B0604020202020204" charset="0"/>
                      </a:endParaRPr>
                    </a:p>
                  </a:txBody>
                  <a:tcPr marL="152400" marR="152400" marT="95250" marB="95250" anchor="ctr"/>
                </a:tc>
                <a:tc>
                  <a:txBody>
                    <a:bodyPr/>
                    <a:lstStyle/>
                    <a:p>
                      <a:pPr algn="l">
                        <a:lnSpc>
                          <a:spcPts val="1875"/>
                        </a:lnSpc>
                        <a:buNone/>
                      </a:pPr>
                      <a:r>
                        <a:rPr lang="fr-FR" sz="1100" b="1" noProof="0" dirty="0"/>
                        <a:t>F1@5 (optimisé)</a:t>
                      </a:r>
                      <a:endParaRPr lang="fr-FR" sz="1100" b="1" u="sng" noProof="0" dirty="0">
                        <a:effectLst/>
                        <a:latin typeface="Mulish" panose="020B0604020202020204" charset="0"/>
                      </a:endParaRPr>
                    </a:p>
                  </a:txBody>
                  <a:tcPr marL="152400" marR="152400" marT="95250" marB="95250" anchor="ctr"/>
                </a:tc>
                <a:extLst>
                  <a:ext uri="{0D108BD9-81ED-4DB2-BD59-A6C34878D82A}">
                    <a16:rowId xmlns:a16="http://schemas.microsoft.com/office/drawing/2014/main" val="428300342"/>
                  </a:ext>
                </a:extLst>
              </a:tr>
              <a:tr h="0">
                <a:tc>
                  <a:txBody>
                    <a:bodyPr/>
                    <a:lstStyle/>
                    <a:p>
                      <a:pPr>
                        <a:lnSpc>
                          <a:spcPct val="100000"/>
                        </a:lnSpc>
                        <a:buNone/>
                      </a:pPr>
                      <a:r>
                        <a:rPr lang="fr-FR" sz="1000" b="1" noProof="0" dirty="0">
                          <a:effectLst/>
                          <a:latin typeface="Mulish" panose="020B0604020202020204" charset="0"/>
                        </a:rPr>
                        <a:t>ALS</a:t>
                      </a:r>
                      <a:endParaRPr lang="fr-FR" sz="1000" b="0" noProof="0" dirty="0">
                        <a:effectLst/>
                        <a:latin typeface="Mulish" panose="020B0604020202020204" charset="0"/>
                      </a:endParaRPr>
                    </a:p>
                  </a:txBody>
                  <a:tcPr marR="152400" marT="95250" marB="95250" anchor="ctr"/>
                </a:tc>
                <a:tc>
                  <a:txBody>
                    <a:bodyPr/>
                    <a:lstStyle/>
                    <a:p>
                      <a:pPr>
                        <a:lnSpc>
                          <a:spcPct val="100000"/>
                        </a:lnSpc>
                        <a:buNone/>
                      </a:pPr>
                      <a:r>
                        <a:rPr lang="fr-FR" sz="1000" b="0" noProof="0" dirty="0" err="1">
                          <a:effectLst/>
                          <a:latin typeface="Mulish" panose="020B0604020202020204" charset="0"/>
                        </a:rPr>
                        <a:t>factors</a:t>
                      </a:r>
                      <a:r>
                        <a:rPr lang="fr-FR" sz="1000" b="0" noProof="0" dirty="0">
                          <a:effectLst/>
                          <a:latin typeface="Mulish" panose="020B0604020202020204" charset="0"/>
                        </a:rPr>
                        <a:t>=20, reg=0.1, α=40</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0.149</a:t>
                      </a:r>
                    </a:p>
                  </a:txBody>
                  <a:tcPr marL="152400" marR="152400" marT="95250" marB="95250" anchor="ctr"/>
                </a:tc>
                <a:tc>
                  <a:txBody>
                    <a:bodyPr/>
                    <a:lstStyle/>
                    <a:p>
                      <a:pPr>
                        <a:lnSpc>
                          <a:spcPct val="100000"/>
                        </a:lnSpc>
                        <a:buNone/>
                      </a:pPr>
                      <a:r>
                        <a:rPr lang="fr-FR" sz="1000" b="0" noProof="0" dirty="0" err="1">
                          <a:effectLst/>
                          <a:latin typeface="Mulish" panose="020B0604020202020204" charset="0"/>
                        </a:rPr>
                        <a:t>factors</a:t>
                      </a:r>
                      <a:r>
                        <a:rPr lang="fr-FR" sz="1000" b="0" noProof="0" dirty="0">
                          <a:effectLst/>
                          <a:latin typeface="Mulish" panose="020B0604020202020204" charset="0"/>
                        </a:rPr>
                        <a:t>=100, reg=0.1, α=10</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0.371</a:t>
                      </a:r>
                    </a:p>
                  </a:txBody>
                  <a:tcPr marL="152400" marT="95250" marB="95250" anchor="ctr"/>
                </a:tc>
                <a:extLst>
                  <a:ext uri="{0D108BD9-81ED-4DB2-BD59-A6C34878D82A}">
                    <a16:rowId xmlns:a16="http://schemas.microsoft.com/office/drawing/2014/main" val="183307710"/>
                  </a:ext>
                </a:extLst>
              </a:tr>
              <a:tr h="0">
                <a:tc>
                  <a:txBody>
                    <a:bodyPr/>
                    <a:lstStyle/>
                    <a:p>
                      <a:pPr>
                        <a:lnSpc>
                          <a:spcPct val="100000"/>
                        </a:lnSpc>
                        <a:buNone/>
                      </a:pPr>
                      <a:r>
                        <a:rPr lang="fr-FR" sz="1000" b="1" noProof="0" dirty="0">
                          <a:effectLst/>
                          <a:latin typeface="Mulish" panose="020B0604020202020204" charset="0"/>
                        </a:rPr>
                        <a:t>BM25</a:t>
                      </a:r>
                      <a:endParaRPr lang="fr-FR" sz="1000" b="0" noProof="0" dirty="0">
                        <a:effectLst/>
                        <a:latin typeface="Mulish" panose="020B0604020202020204" charset="0"/>
                      </a:endParaRPr>
                    </a:p>
                  </a:txBody>
                  <a:tcPr marR="152400" marT="95250" marB="95250" anchor="ctr"/>
                </a:tc>
                <a:tc>
                  <a:txBody>
                    <a:bodyPr/>
                    <a:lstStyle/>
                    <a:p>
                      <a:pPr>
                        <a:lnSpc>
                          <a:spcPct val="100000"/>
                        </a:lnSpc>
                        <a:buNone/>
                      </a:pPr>
                      <a:r>
                        <a:rPr lang="fr-FR" sz="1000" b="0" noProof="0" dirty="0">
                          <a:effectLst/>
                          <a:latin typeface="Mulish" panose="020B0604020202020204" charset="0"/>
                        </a:rPr>
                        <a:t>k1=1.5, b=0.75</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0.178</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k1=3.0, b=1.0</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0.211</a:t>
                      </a:r>
                    </a:p>
                  </a:txBody>
                  <a:tcPr marL="152400" marT="95250" marB="95250" anchor="ctr"/>
                </a:tc>
                <a:extLst>
                  <a:ext uri="{0D108BD9-81ED-4DB2-BD59-A6C34878D82A}">
                    <a16:rowId xmlns:a16="http://schemas.microsoft.com/office/drawing/2014/main" val="2517509115"/>
                  </a:ext>
                </a:extLst>
              </a:tr>
              <a:tr h="0">
                <a:tc>
                  <a:txBody>
                    <a:bodyPr/>
                    <a:lstStyle/>
                    <a:p>
                      <a:pPr>
                        <a:lnSpc>
                          <a:spcPct val="100000"/>
                        </a:lnSpc>
                        <a:buNone/>
                      </a:pPr>
                      <a:r>
                        <a:rPr lang="fr-FR" sz="1000" b="1" noProof="0" dirty="0">
                          <a:effectLst/>
                          <a:latin typeface="Mulish" panose="020B0604020202020204" charset="0"/>
                        </a:rPr>
                        <a:t>SVD</a:t>
                      </a:r>
                      <a:endParaRPr lang="fr-FR" sz="1000" b="0" noProof="0" dirty="0">
                        <a:effectLst/>
                        <a:latin typeface="Mulish" panose="020B0604020202020204" charset="0"/>
                      </a:endParaRPr>
                    </a:p>
                  </a:txBody>
                  <a:tcPr marR="152400" marT="95250" marB="95250" anchor="ctr"/>
                </a:tc>
                <a:tc>
                  <a:txBody>
                    <a:bodyPr/>
                    <a:lstStyle/>
                    <a:p>
                      <a:pPr>
                        <a:lnSpc>
                          <a:spcPct val="100000"/>
                        </a:lnSpc>
                        <a:buNone/>
                      </a:pPr>
                      <a:r>
                        <a:rPr lang="fr-FR" sz="1000" b="0" noProof="0" dirty="0" err="1">
                          <a:effectLst/>
                          <a:latin typeface="Mulish" panose="020B0604020202020204" charset="0"/>
                        </a:rPr>
                        <a:t>n_components</a:t>
                      </a:r>
                      <a:r>
                        <a:rPr lang="fr-FR" sz="1000" b="0" noProof="0" dirty="0">
                          <a:effectLst/>
                          <a:latin typeface="Mulish" panose="020B0604020202020204" charset="0"/>
                        </a:rPr>
                        <a:t>=50</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0.277</a:t>
                      </a:r>
                    </a:p>
                  </a:txBody>
                  <a:tcPr marL="152400" marR="152400" marT="95250" marB="95250" anchor="ctr"/>
                </a:tc>
                <a:tc>
                  <a:txBody>
                    <a:bodyPr/>
                    <a:lstStyle/>
                    <a:p>
                      <a:pPr>
                        <a:lnSpc>
                          <a:spcPct val="100000"/>
                        </a:lnSpc>
                        <a:buNone/>
                      </a:pPr>
                      <a:r>
                        <a:rPr lang="fr-FR" sz="1000" b="0" noProof="0" dirty="0" err="1">
                          <a:effectLst/>
                          <a:latin typeface="Mulish" panose="020B0604020202020204" charset="0"/>
                        </a:rPr>
                        <a:t>n_components</a:t>
                      </a:r>
                      <a:r>
                        <a:rPr lang="fr-FR" sz="1000" b="0" noProof="0" dirty="0">
                          <a:effectLst/>
                          <a:latin typeface="Mulish" panose="020B0604020202020204" charset="0"/>
                        </a:rPr>
                        <a:t>=50</a:t>
                      </a:r>
                    </a:p>
                  </a:txBody>
                  <a:tcPr marL="152400" marR="152400" marT="95250" marB="95250" anchor="ctr"/>
                </a:tc>
                <a:tc>
                  <a:txBody>
                    <a:bodyPr/>
                    <a:lstStyle/>
                    <a:p>
                      <a:pPr>
                        <a:lnSpc>
                          <a:spcPct val="100000"/>
                        </a:lnSpc>
                        <a:buNone/>
                      </a:pPr>
                      <a:r>
                        <a:rPr lang="fr-FR" sz="1000" b="0" noProof="0" dirty="0">
                          <a:effectLst/>
                          <a:latin typeface="Mulish" panose="020B0604020202020204" charset="0"/>
                        </a:rPr>
                        <a:t>0.277</a:t>
                      </a:r>
                    </a:p>
                  </a:txBody>
                  <a:tcPr marL="152400" marT="95250" marB="95250" anchor="ctr"/>
                </a:tc>
                <a:extLst>
                  <a:ext uri="{0D108BD9-81ED-4DB2-BD59-A6C34878D82A}">
                    <a16:rowId xmlns:a16="http://schemas.microsoft.com/office/drawing/2014/main" val="2351261406"/>
                  </a:ext>
                </a:extLst>
              </a:tr>
            </a:tbl>
          </a:graphicData>
        </a:graphic>
      </p:graphicFrame>
      <p:sp>
        <p:nvSpPr>
          <p:cNvPr id="8" name="Google Shape;1481;p29">
            <a:extLst>
              <a:ext uri="{FF2B5EF4-FFF2-40B4-BE49-F238E27FC236}">
                <a16:creationId xmlns:a16="http://schemas.microsoft.com/office/drawing/2014/main" id="{891B0437-9682-4FB6-026E-7D2CA042DE2A}"/>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23</a:t>
            </a:r>
          </a:p>
        </p:txBody>
      </p:sp>
    </p:spTree>
    <p:extLst>
      <p:ext uri="{BB962C8B-B14F-4D97-AF65-F5344CB8AC3E}">
        <p14:creationId xmlns:p14="http://schemas.microsoft.com/office/powerpoint/2010/main" val="4962288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F9003DFF-C6BF-4710-AAE4-32A1C7461EF5}"/>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C02207D6-B671-9CA1-46D4-A7679B5D11AB}"/>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Résultats - Intégration du système de recommandation</a:t>
            </a:r>
          </a:p>
        </p:txBody>
      </p:sp>
      <p:sp>
        <p:nvSpPr>
          <p:cNvPr id="5" name="TextBox 4">
            <a:extLst>
              <a:ext uri="{FF2B5EF4-FFF2-40B4-BE49-F238E27FC236}">
                <a16:creationId xmlns:a16="http://schemas.microsoft.com/office/drawing/2014/main" id="{3E339749-D715-4BFD-60B7-FC19968FCE67}"/>
              </a:ext>
            </a:extLst>
          </p:cNvPr>
          <p:cNvSpPr txBox="1"/>
          <p:nvPr/>
        </p:nvSpPr>
        <p:spPr>
          <a:xfrm>
            <a:off x="524792" y="783022"/>
            <a:ext cx="3766642" cy="307777"/>
          </a:xfrm>
          <a:prstGeom prst="rect">
            <a:avLst/>
          </a:prstGeom>
          <a:noFill/>
        </p:spPr>
        <p:txBody>
          <a:bodyPr wrap="square" rtlCol="0">
            <a:spAutoFit/>
          </a:bodyPr>
          <a:lstStyle/>
          <a:p>
            <a:r>
              <a:rPr lang="fr-FR" b="1" noProof="0" dirty="0"/>
              <a:t>Résumé des performances</a:t>
            </a:r>
            <a:endParaRPr lang="fr-FR" noProof="0" dirty="0"/>
          </a:p>
        </p:txBody>
      </p:sp>
      <p:pic>
        <p:nvPicPr>
          <p:cNvPr id="10" name="Picture 9">
            <a:extLst>
              <a:ext uri="{FF2B5EF4-FFF2-40B4-BE49-F238E27FC236}">
                <a16:creationId xmlns:a16="http://schemas.microsoft.com/office/drawing/2014/main" id="{23EEF4F9-E35D-6CA9-CC11-687DC7260DFC}"/>
              </a:ext>
            </a:extLst>
          </p:cNvPr>
          <p:cNvPicPr>
            <a:picLocks noChangeAspect="1"/>
          </p:cNvPicPr>
          <p:nvPr/>
        </p:nvPicPr>
        <p:blipFill>
          <a:blip r:embed="rId3"/>
          <a:stretch>
            <a:fillRect/>
          </a:stretch>
        </p:blipFill>
        <p:spPr>
          <a:xfrm>
            <a:off x="271216" y="1090800"/>
            <a:ext cx="8212930" cy="3269678"/>
          </a:xfrm>
          <a:prstGeom prst="rect">
            <a:avLst/>
          </a:prstGeom>
        </p:spPr>
      </p:pic>
      <p:sp>
        <p:nvSpPr>
          <p:cNvPr id="6" name="Google Shape;1481;p29">
            <a:extLst>
              <a:ext uri="{FF2B5EF4-FFF2-40B4-BE49-F238E27FC236}">
                <a16:creationId xmlns:a16="http://schemas.microsoft.com/office/drawing/2014/main" id="{4B1999C0-FF86-8584-B800-4C56BE4636AF}"/>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24</a:t>
            </a:r>
          </a:p>
        </p:txBody>
      </p:sp>
    </p:spTree>
    <p:extLst>
      <p:ext uri="{BB962C8B-B14F-4D97-AF65-F5344CB8AC3E}">
        <p14:creationId xmlns:p14="http://schemas.microsoft.com/office/powerpoint/2010/main" val="7517350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09BFE3BD-AAAC-77ED-FF08-109F87A6A8AD}"/>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D0A7E519-280B-DDB1-F8BB-396EC2CE3280}"/>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Résultats - Intégration du système de recommandation</a:t>
            </a:r>
          </a:p>
        </p:txBody>
      </p:sp>
      <p:sp>
        <p:nvSpPr>
          <p:cNvPr id="5" name="TextBox 4">
            <a:extLst>
              <a:ext uri="{FF2B5EF4-FFF2-40B4-BE49-F238E27FC236}">
                <a16:creationId xmlns:a16="http://schemas.microsoft.com/office/drawing/2014/main" id="{E67FFFC0-B17B-673E-CABE-DAC7344906CC}"/>
              </a:ext>
            </a:extLst>
          </p:cNvPr>
          <p:cNvSpPr txBox="1"/>
          <p:nvPr/>
        </p:nvSpPr>
        <p:spPr>
          <a:xfrm>
            <a:off x="524792" y="783022"/>
            <a:ext cx="3766642" cy="307777"/>
          </a:xfrm>
          <a:prstGeom prst="rect">
            <a:avLst/>
          </a:prstGeom>
          <a:noFill/>
        </p:spPr>
        <p:txBody>
          <a:bodyPr wrap="square" rtlCol="0">
            <a:spAutoFit/>
          </a:bodyPr>
          <a:lstStyle/>
          <a:p>
            <a:r>
              <a:rPr lang="fr-FR" b="1" noProof="0" dirty="0"/>
              <a:t>Résumé des performances</a:t>
            </a:r>
            <a:endParaRPr lang="fr-FR" noProof="0" dirty="0"/>
          </a:p>
        </p:txBody>
      </p:sp>
      <p:pic>
        <p:nvPicPr>
          <p:cNvPr id="6" name="Picture 5">
            <a:extLst>
              <a:ext uri="{FF2B5EF4-FFF2-40B4-BE49-F238E27FC236}">
                <a16:creationId xmlns:a16="http://schemas.microsoft.com/office/drawing/2014/main" id="{69C95ABC-45F6-CEDC-8195-39D884B76A38}"/>
              </a:ext>
            </a:extLst>
          </p:cNvPr>
          <p:cNvPicPr>
            <a:picLocks noChangeAspect="1"/>
          </p:cNvPicPr>
          <p:nvPr/>
        </p:nvPicPr>
        <p:blipFill>
          <a:blip r:embed="rId3"/>
          <a:stretch>
            <a:fillRect/>
          </a:stretch>
        </p:blipFill>
        <p:spPr>
          <a:xfrm>
            <a:off x="272772" y="1090800"/>
            <a:ext cx="8211374" cy="3269678"/>
          </a:xfrm>
          <a:prstGeom prst="rect">
            <a:avLst/>
          </a:prstGeom>
        </p:spPr>
      </p:pic>
      <p:sp>
        <p:nvSpPr>
          <p:cNvPr id="8" name="Google Shape;1481;p29">
            <a:extLst>
              <a:ext uri="{FF2B5EF4-FFF2-40B4-BE49-F238E27FC236}">
                <a16:creationId xmlns:a16="http://schemas.microsoft.com/office/drawing/2014/main" id="{BE1D3C3B-A8D4-3C5B-5C02-D509A22E3690}"/>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25</a:t>
            </a:r>
          </a:p>
        </p:txBody>
      </p:sp>
    </p:spTree>
    <p:extLst>
      <p:ext uri="{BB962C8B-B14F-4D97-AF65-F5344CB8AC3E}">
        <p14:creationId xmlns:p14="http://schemas.microsoft.com/office/powerpoint/2010/main" val="828109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503"/>
        <p:cNvGrpSpPr/>
        <p:nvPr/>
      </p:nvGrpSpPr>
      <p:grpSpPr>
        <a:xfrm>
          <a:off x="0" y="0"/>
          <a:ext cx="0" cy="0"/>
          <a:chOff x="0" y="0"/>
          <a:chExt cx="0" cy="0"/>
        </a:xfrm>
      </p:grpSpPr>
      <p:sp>
        <p:nvSpPr>
          <p:cNvPr id="1504" name="Google Shape;1504;p31"/>
          <p:cNvSpPr txBox="1">
            <a:spLocks noGrp="1"/>
          </p:cNvSpPr>
          <p:nvPr>
            <p:ph type="title"/>
          </p:nvPr>
        </p:nvSpPr>
        <p:spPr>
          <a:xfrm>
            <a:off x="1463100" y="2113794"/>
            <a:ext cx="6217800" cy="915912"/>
          </a:xfrm>
          <a:prstGeom prst="rect">
            <a:avLst/>
          </a:prstGeom>
        </p:spPr>
        <p:txBody>
          <a:bodyPr spcFirstLastPara="1" wrap="square" lIns="91425" tIns="91425" rIns="91425" bIns="91425" anchor="b" anchorCtr="0">
            <a:noAutofit/>
          </a:bodyPr>
          <a:lstStyle/>
          <a:p>
            <a:pPr lvl="0"/>
            <a:r>
              <a:rPr lang="fr-FR" noProof="0" dirty="0"/>
              <a:t>Démonstration</a:t>
            </a:r>
          </a:p>
        </p:txBody>
      </p:sp>
      <p:grpSp>
        <p:nvGrpSpPr>
          <p:cNvPr id="1507" name="Google Shape;1507;p31"/>
          <p:cNvGrpSpPr/>
          <p:nvPr/>
        </p:nvGrpSpPr>
        <p:grpSpPr>
          <a:xfrm rot="6922716">
            <a:off x="7561124" y="746898"/>
            <a:ext cx="435969" cy="322677"/>
            <a:chOff x="8529533" y="681525"/>
            <a:chExt cx="435967" cy="322675"/>
          </a:xfrm>
        </p:grpSpPr>
        <p:sp>
          <p:nvSpPr>
            <p:cNvPr id="1508" name="Google Shape;1508;p31"/>
            <p:cNvSpPr/>
            <p:nvPr/>
          </p:nvSpPr>
          <p:spPr>
            <a:xfrm rot="10800000">
              <a:off x="8529533" y="886943"/>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sp>
          <p:nvSpPr>
            <p:cNvPr id="1509" name="Google Shape;1509;p31"/>
            <p:cNvSpPr/>
            <p:nvPr/>
          </p:nvSpPr>
          <p:spPr>
            <a:xfrm rot="10800000">
              <a:off x="8825400" y="681525"/>
              <a:ext cx="140100" cy="1401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sp>
          <p:nvSpPr>
            <p:cNvPr id="1510" name="Google Shape;1510;p31"/>
            <p:cNvSpPr/>
            <p:nvPr/>
          </p:nvSpPr>
          <p:spPr>
            <a:xfrm rot="10800000">
              <a:off x="8869800" y="95290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grpSp>
      <p:grpSp>
        <p:nvGrpSpPr>
          <p:cNvPr id="1511" name="Google Shape;1511;p31"/>
          <p:cNvGrpSpPr/>
          <p:nvPr/>
        </p:nvGrpSpPr>
        <p:grpSpPr>
          <a:xfrm>
            <a:off x="970225" y="3797250"/>
            <a:ext cx="406275" cy="563575"/>
            <a:chOff x="140150" y="4340075"/>
            <a:chExt cx="406275" cy="563575"/>
          </a:xfrm>
        </p:grpSpPr>
        <p:sp>
          <p:nvSpPr>
            <p:cNvPr id="1512" name="Google Shape;1512;p31"/>
            <p:cNvSpPr/>
            <p:nvPr/>
          </p:nvSpPr>
          <p:spPr>
            <a:xfrm rot="10800000">
              <a:off x="140150" y="4340075"/>
              <a:ext cx="86700" cy="867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sp>
          <p:nvSpPr>
            <p:cNvPr id="1513" name="Google Shape;1513;p31"/>
            <p:cNvSpPr/>
            <p:nvPr/>
          </p:nvSpPr>
          <p:spPr>
            <a:xfrm rot="10800000">
              <a:off x="298325" y="4657175"/>
              <a:ext cx="140100" cy="1401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sp>
          <p:nvSpPr>
            <p:cNvPr id="1514" name="Google Shape;1514;p31"/>
            <p:cNvSpPr/>
            <p:nvPr/>
          </p:nvSpPr>
          <p:spPr>
            <a:xfrm rot="10800000">
              <a:off x="495125" y="4852350"/>
              <a:ext cx="51300" cy="51300"/>
            </a:xfrm>
            <a:prstGeom prst="ellips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sp>
          <p:nvSpPr>
            <p:cNvPr id="1515" name="Google Shape;1515;p31"/>
            <p:cNvSpPr/>
            <p:nvPr/>
          </p:nvSpPr>
          <p:spPr>
            <a:xfrm rot="10800000">
              <a:off x="165050" y="4657175"/>
              <a:ext cx="51300" cy="51300"/>
            </a:xfrm>
            <a:prstGeom prst="ellips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fr-FR" noProof="0" dirty="0">
                <a:latin typeface="Lato"/>
                <a:ea typeface="Lato"/>
                <a:cs typeface="Lato"/>
                <a:sym typeface="Lato"/>
              </a:endParaRPr>
            </a:p>
          </p:txBody>
        </p:sp>
      </p:grpSp>
      <p:sp>
        <p:nvSpPr>
          <p:cNvPr id="5" name="Google Shape;1481;p29">
            <a:extLst>
              <a:ext uri="{FF2B5EF4-FFF2-40B4-BE49-F238E27FC236}">
                <a16:creationId xmlns:a16="http://schemas.microsoft.com/office/drawing/2014/main" id="{0215B8FC-3901-2E3E-CF68-1028058A0EC7}"/>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3E0F71EF-2C0D-C19C-0855-9AB6EC08F3D9}"/>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FBECB050-3114-BDE7-1FA5-4715E7380D3C}"/>
              </a:ext>
            </a:extLst>
          </p:cNvPr>
          <p:cNvSpPr txBox="1">
            <a:spLocks noGrp="1"/>
          </p:cNvSpPr>
          <p:nvPr>
            <p:ph type="title"/>
          </p:nvPr>
        </p:nvSpPr>
        <p:spPr>
          <a:xfrm>
            <a:off x="524792" y="288525"/>
            <a:ext cx="8211374" cy="572700"/>
          </a:xfrm>
          <a:prstGeom prst="rect">
            <a:avLst/>
          </a:prstGeom>
        </p:spPr>
        <p:txBody>
          <a:bodyPr spcFirstLastPara="1" wrap="square" lIns="91425" tIns="91425" rIns="91425" bIns="91425" anchor="t" anchorCtr="0">
            <a:noAutofit/>
          </a:bodyPr>
          <a:lstStyle/>
          <a:p>
            <a:r>
              <a:rPr lang="fr-FR" sz="2400" noProof="0" dirty="0"/>
              <a:t>Conclusion et perspectives</a:t>
            </a:r>
          </a:p>
        </p:txBody>
      </p:sp>
      <p:graphicFrame>
        <p:nvGraphicFramePr>
          <p:cNvPr id="11" name="Table 10">
            <a:extLst>
              <a:ext uri="{FF2B5EF4-FFF2-40B4-BE49-F238E27FC236}">
                <a16:creationId xmlns:a16="http://schemas.microsoft.com/office/drawing/2014/main" id="{80EE1730-23A6-5CD6-C59D-DB15C0A26619}"/>
              </a:ext>
            </a:extLst>
          </p:cNvPr>
          <p:cNvGraphicFramePr>
            <a:graphicFrameLocks noGrp="1"/>
          </p:cNvGraphicFramePr>
          <p:nvPr>
            <p:extLst>
              <p:ext uri="{D42A27DB-BD31-4B8C-83A1-F6EECF244321}">
                <p14:modId xmlns:p14="http://schemas.microsoft.com/office/powerpoint/2010/main" val="2909239343"/>
              </p:ext>
            </p:extLst>
          </p:nvPr>
        </p:nvGraphicFramePr>
        <p:xfrm>
          <a:off x="760343" y="1404608"/>
          <a:ext cx="7623314" cy="2350644"/>
        </p:xfrm>
        <a:graphic>
          <a:graphicData uri="http://schemas.openxmlformats.org/drawingml/2006/table">
            <a:tbl>
              <a:tblPr>
                <a:tableStyleId>{B6F588F0-DA45-466C-91A0-1F1EBF44E27B}</a:tableStyleId>
              </a:tblPr>
              <a:tblGrid>
                <a:gridCol w="3382618">
                  <a:extLst>
                    <a:ext uri="{9D8B030D-6E8A-4147-A177-3AD203B41FA5}">
                      <a16:colId xmlns:a16="http://schemas.microsoft.com/office/drawing/2014/main" val="253224325"/>
                    </a:ext>
                  </a:extLst>
                </a:gridCol>
                <a:gridCol w="4240696">
                  <a:extLst>
                    <a:ext uri="{9D8B030D-6E8A-4147-A177-3AD203B41FA5}">
                      <a16:colId xmlns:a16="http://schemas.microsoft.com/office/drawing/2014/main" val="3200457109"/>
                    </a:ext>
                  </a:extLst>
                </a:gridCol>
              </a:tblGrid>
              <a:tr h="0">
                <a:tc>
                  <a:txBody>
                    <a:bodyPr/>
                    <a:lstStyle/>
                    <a:p>
                      <a:pPr algn="l">
                        <a:lnSpc>
                          <a:spcPts val="1875"/>
                        </a:lnSpc>
                        <a:buNone/>
                      </a:pPr>
                      <a:r>
                        <a:rPr lang="fr-FR" sz="1100" b="1" noProof="0" dirty="0">
                          <a:solidFill>
                            <a:schemeClr val="tx1"/>
                          </a:solidFill>
                          <a:effectLst/>
                          <a:latin typeface="+mj-lt"/>
                        </a:rPr>
                        <a:t>Orientation</a:t>
                      </a:r>
                      <a:endParaRPr lang="fr-FR" sz="1100" b="1" i="0" noProof="0" dirty="0">
                        <a:solidFill>
                          <a:schemeClr val="tx1"/>
                        </a:solidFill>
                        <a:effectLst/>
                        <a:latin typeface="+mj-lt"/>
                      </a:endParaRPr>
                    </a:p>
                  </a:txBody>
                  <a:tcPr marR="152400" marT="95250" marB="95250" anchor="ctr"/>
                </a:tc>
                <a:tc>
                  <a:txBody>
                    <a:bodyPr/>
                    <a:lstStyle/>
                    <a:p>
                      <a:pPr algn="l">
                        <a:lnSpc>
                          <a:spcPts val="1875"/>
                        </a:lnSpc>
                        <a:buNone/>
                      </a:pPr>
                      <a:r>
                        <a:rPr lang="fr-FR" sz="1100" b="1" noProof="0" dirty="0">
                          <a:solidFill>
                            <a:schemeClr val="tx1"/>
                          </a:solidFill>
                          <a:effectLst/>
                          <a:latin typeface="+mj-lt"/>
                        </a:rPr>
                        <a:t>Objectif</a:t>
                      </a:r>
                      <a:endParaRPr lang="fr-FR" sz="1100" b="1" i="0" noProof="0" dirty="0">
                        <a:solidFill>
                          <a:schemeClr val="tx1"/>
                        </a:solidFill>
                        <a:effectLst/>
                        <a:latin typeface="+mj-lt"/>
                      </a:endParaRPr>
                    </a:p>
                  </a:txBody>
                  <a:tcPr marL="152400" marR="152400" marT="95250" marB="95250" anchor="ctr"/>
                </a:tc>
                <a:extLst>
                  <a:ext uri="{0D108BD9-81ED-4DB2-BD59-A6C34878D82A}">
                    <a16:rowId xmlns:a16="http://schemas.microsoft.com/office/drawing/2014/main" val="2370418667"/>
                  </a:ext>
                </a:extLst>
              </a:tr>
              <a:tr h="0">
                <a:tc>
                  <a:txBody>
                    <a:bodyPr/>
                    <a:lstStyle/>
                    <a:p>
                      <a:pPr algn="l">
                        <a:lnSpc>
                          <a:spcPts val="1875"/>
                        </a:lnSpc>
                        <a:buNone/>
                      </a:pPr>
                      <a:r>
                        <a:rPr lang="fr-FR" sz="1200" b="1" noProof="0" dirty="0">
                          <a:solidFill>
                            <a:schemeClr val="tx1"/>
                          </a:solidFill>
                          <a:effectLst/>
                          <a:latin typeface="Mulish" panose="020B0604020202020204" charset="0"/>
                        </a:rPr>
                        <a:t>Détection dynamique</a:t>
                      </a:r>
                      <a:endParaRPr lang="fr-FR" sz="1200" b="0" i="0" noProof="0" dirty="0">
                        <a:solidFill>
                          <a:schemeClr val="tx1"/>
                        </a:solidFill>
                        <a:effectLst/>
                        <a:latin typeface="Mulish" panose="020B0604020202020204" charset="0"/>
                      </a:endParaRPr>
                    </a:p>
                  </a:txBody>
                  <a:tcPr marR="152400" marT="95250" marB="95250" anchor="ctr"/>
                </a:tc>
                <a:tc>
                  <a:txBody>
                    <a:bodyPr/>
                    <a:lstStyle/>
                    <a:p>
                      <a:pPr algn="l">
                        <a:lnSpc>
                          <a:spcPts val="1875"/>
                        </a:lnSpc>
                        <a:buNone/>
                      </a:pPr>
                      <a:r>
                        <a:rPr lang="fr-FR" sz="1200" b="0" noProof="0" dirty="0">
                          <a:solidFill>
                            <a:schemeClr val="tx1"/>
                          </a:solidFill>
                          <a:effectLst/>
                          <a:latin typeface="Mulish" panose="020B0604020202020204" charset="0"/>
                        </a:rPr>
                        <a:t>Mettre à jour les communautés en temps réel de manière incrémentale.</a:t>
                      </a:r>
                      <a:endParaRPr lang="fr-FR" sz="1200" b="0" i="0" noProof="0" dirty="0">
                        <a:solidFill>
                          <a:schemeClr val="tx1"/>
                        </a:solidFill>
                        <a:effectLst/>
                        <a:latin typeface="Mulish" panose="020B0604020202020204" charset="0"/>
                      </a:endParaRPr>
                    </a:p>
                  </a:txBody>
                  <a:tcPr marL="152400" marT="95250" marB="95250" anchor="ctr"/>
                </a:tc>
                <a:extLst>
                  <a:ext uri="{0D108BD9-81ED-4DB2-BD59-A6C34878D82A}">
                    <a16:rowId xmlns:a16="http://schemas.microsoft.com/office/drawing/2014/main" val="2967948659"/>
                  </a:ext>
                </a:extLst>
              </a:tr>
              <a:tr h="0">
                <a:tc>
                  <a:txBody>
                    <a:bodyPr/>
                    <a:lstStyle/>
                    <a:p>
                      <a:pPr algn="l">
                        <a:lnSpc>
                          <a:spcPts val="1875"/>
                        </a:lnSpc>
                        <a:buNone/>
                      </a:pPr>
                      <a:r>
                        <a:rPr lang="fr-FR" sz="1200" noProof="0" dirty="0"/>
                        <a:t>Approche inter-domaines</a:t>
                      </a:r>
                      <a:endParaRPr lang="fr-FR" sz="1200" b="0" i="0" noProof="0" dirty="0">
                        <a:solidFill>
                          <a:schemeClr val="tx1"/>
                        </a:solidFill>
                        <a:effectLst/>
                        <a:latin typeface="Mulish" panose="020B0604020202020204" charset="0"/>
                      </a:endParaRPr>
                    </a:p>
                  </a:txBody>
                  <a:tcPr marR="152400" marT="95250" marB="95250" anchor="ctr"/>
                </a:tc>
                <a:tc>
                  <a:txBody>
                    <a:bodyPr/>
                    <a:lstStyle/>
                    <a:p>
                      <a:pPr algn="l">
                        <a:lnSpc>
                          <a:spcPts val="1875"/>
                        </a:lnSpc>
                        <a:buNone/>
                      </a:pPr>
                      <a:r>
                        <a:rPr lang="fr-FR" sz="1200" b="0" noProof="0" dirty="0">
                          <a:solidFill>
                            <a:schemeClr val="tx1"/>
                          </a:solidFill>
                          <a:effectLst/>
                          <a:latin typeface="Mulish" panose="020B0604020202020204" charset="0"/>
                        </a:rPr>
                        <a:t>Valider la méthode sur des jeux de données de films, de musique et de réseaux sociaux.</a:t>
                      </a:r>
                      <a:endParaRPr lang="fr-FR" sz="1200" b="0" i="0" noProof="0" dirty="0">
                        <a:solidFill>
                          <a:schemeClr val="tx1"/>
                        </a:solidFill>
                        <a:effectLst/>
                        <a:latin typeface="Mulish" panose="020B0604020202020204" charset="0"/>
                      </a:endParaRPr>
                    </a:p>
                  </a:txBody>
                  <a:tcPr marL="152400" marT="95250" marB="95250" anchor="ctr"/>
                </a:tc>
                <a:extLst>
                  <a:ext uri="{0D108BD9-81ED-4DB2-BD59-A6C34878D82A}">
                    <a16:rowId xmlns:a16="http://schemas.microsoft.com/office/drawing/2014/main" val="2606477272"/>
                  </a:ext>
                </a:extLst>
              </a:tr>
              <a:tr h="0">
                <a:tc>
                  <a:txBody>
                    <a:bodyPr/>
                    <a:lstStyle/>
                    <a:p>
                      <a:pPr algn="l">
                        <a:lnSpc>
                          <a:spcPts val="1875"/>
                        </a:lnSpc>
                        <a:buNone/>
                      </a:pPr>
                      <a:r>
                        <a:rPr lang="fr-FR" sz="1200" noProof="0" dirty="0"/>
                        <a:t>Explicabilité</a:t>
                      </a:r>
                      <a:endParaRPr lang="fr-FR" sz="1200" b="0" i="0" noProof="0" dirty="0">
                        <a:solidFill>
                          <a:schemeClr val="tx1"/>
                        </a:solidFill>
                        <a:effectLst/>
                        <a:latin typeface="Mulish" panose="020B0604020202020204" charset="0"/>
                      </a:endParaRPr>
                    </a:p>
                  </a:txBody>
                  <a:tcPr marR="152400" marT="95250" marB="95250" anchor="ctr"/>
                </a:tc>
                <a:tc>
                  <a:txBody>
                    <a:bodyPr/>
                    <a:lstStyle/>
                    <a:p>
                      <a:pPr algn="l">
                        <a:lnSpc>
                          <a:spcPts val="1875"/>
                        </a:lnSpc>
                        <a:buNone/>
                      </a:pPr>
                      <a:r>
                        <a:rPr lang="fr-FR" sz="1200" noProof="0" dirty="0"/>
                        <a:t>Renforcer la confiance des utilisateurs grâce à des explications basées sur les communautés.</a:t>
                      </a:r>
                      <a:endParaRPr lang="fr-FR" sz="1200" b="0" i="0" noProof="0" dirty="0">
                        <a:solidFill>
                          <a:schemeClr val="tx1"/>
                        </a:solidFill>
                        <a:effectLst/>
                        <a:latin typeface="Mulish" panose="020B0604020202020204" charset="0"/>
                      </a:endParaRPr>
                    </a:p>
                  </a:txBody>
                  <a:tcPr marL="152400" marT="95250" marB="95250" anchor="ctr"/>
                </a:tc>
                <a:extLst>
                  <a:ext uri="{0D108BD9-81ED-4DB2-BD59-A6C34878D82A}">
                    <a16:rowId xmlns:a16="http://schemas.microsoft.com/office/drawing/2014/main" val="4014426703"/>
                  </a:ext>
                </a:extLst>
              </a:tr>
            </a:tbl>
          </a:graphicData>
        </a:graphic>
      </p:graphicFrame>
      <p:sp>
        <p:nvSpPr>
          <p:cNvPr id="13" name="TextBox 12">
            <a:extLst>
              <a:ext uri="{FF2B5EF4-FFF2-40B4-BE49-F238E27FC236}">
                <a16:creationId xmlns:a16="http://schemas.microsoft.com/office/drawing/2014/main" id="{0A6A85B6-6A1D-87EF-C311-31404E36172A}"/>
              </a:ext>
            </a:extLst>
          </p:cNvPr>
          <p:cNvSpPr txBox="1"/>
          <p:nvPr/>
        </p:nvSpPr>
        <p:spPr>
          <a:xfrm>
            <a:off x="524792" y="911278"/>
            <a:ext cx="3766642" cy="307777"/>
          </a:xfrm>
          <a:prstGeom prst="rect">
            <a:avLst/>
          </a:prstGeom>
          <a:noFill/>
        </p:spPr>
        <p:txBody>
          <a:bodyPr wrap="square" rtlCol="0">
            <a:spAutoFit/>
          </a:bodyPr>
          <a:lstStyle/>
          <a:p>
            <a:r>
              <a:rPr lang="fr-FR" b="1" noProof="0" dirty="0"/>
              <a:t>Perspectives futures</a:t>
            </a:r>
            <a:endParaRPr lang="fr-FR" noProof="0" dirty="0"/>
          </a:p>
        </p:txBody>
      </p:sp>
      <p:sp>
        <p:nvSpPr>
          <p:cNvPr id="5" name="Google Shape;1481;p29">
            <a:extLst>
              <a:ext uri="{FF2B5EF4-FFF2-40B4-BE49-F238E27FC236}">
                <a16:creationId xmlns:a16="http://schemas.microsoft.com/office/drawing/2014/main" id="{8267A33A-6283-534F-8277-DC61117979A0}"/>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27</a:t>
            </a:r>
          </a:p>
        </p:txBody>
      </p:sp>
    </p:spTree>
    <p:extLst>
      <p:ext uri="{BB962C8B-B14F-4D97-AF65-F5344CB8AC3E}">
        <p14:creationId xmlns:p14="http://schemas.microsoft.com/office/powerpoint/2010/main" val="994313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70">
          <a:extLst>
            <a:ext uri="{FF2B5EF4-FFF2-40B4-BE49-F238E27FC236}">
              <a16:creationId xmlns:a16="http://schemas.microsoft.com/office/drawing/2014/main" id="{56053F4E-462E-C3CF-87F8-2E2BE57052FC}"/>
            </a:ext>
          </a:extLst>
        </p:cNvPr>
        <p:cNvGrpSpPr/>
        <p:nvPr/>
      </p:nvGrpSpPr>
      <p:grpSpPr>
        <a:xfrm>
          <a:off x="0" y="0"/>
          <a:ext cx="0" cy="0"/>
          <a:chOff x="0" y="0"/>
          <a:chExt cx="0" cy="0"/>
        </a:xfrm>
      </p:grpSpPr>
      <p:sp>
        <p:nvSpPr>
          <p:cNvPr id="7" name="Google Shape;1704;p38">
            <a:extLst>
              <a:ext uri="{FF2B5EF4-FFF2-40B4-BE49-F238E27FC236}">
                <a16:creationId xmlns:a16="http://schemas.microsoft.com/office/drawing/2014/main" id="{1D68F57F-E34D-E233-2B7B-7F0265246BE5}"/>
              </a:ext>
            </a:extLst>
          </p:cNvPr>
          <p:cNvSpPr txBox="1">
            <a:spLocks noGrp="1"/>
          </p:cNvSpPr>
          <p:nvPr>
            <p:ph type="title"/>
          </p:nvPr>
        </p:nvSpPr>
        <p:spPr>
          <a:xfrm>
            <a:off x="1398888" y="1658136"/>
            <a:ext cx="6346223" cy="1827227"/>
          </a:xfrm>
          <a:prstGeom prst="rect">
            <a:avLst/>
          </a:prstGeom>
        </p:spPr>
        <p:txBody>
          <a:bodyPr spcFirstLastPara="1" wrap="square" lIns="91425" tIns="91425" rIns="91425" bIns="91425" anchor="t" anchorCtr="0">
            <a:noAutofit/>
          </a:bodyPr>
          <a:lstStyle/>
          <a:p>
            <a:pPr algn="ctr"/>
            <a:r>
              <a:rPr lang="fr-FR" sz="5400" noProof="0" dirty="0"/>
              <a:t>Merci pour votre attention</a:t>
            </a:r>
            <a:endParaRPr lang="fr-FR" sz="5000" noProof="0" dirty="0"/>
          </a:p>
        </p:txBody>
      </p:sp>
      <p:sp>
        <p:nvSpPr>
          <p:cNvPr id="5" name="Google Shape;1481;p29">
            <a:extLst>
              <a:ext uri="{FF2B5EF4-FFF2-40B4-BE49-F238E27FC236}">
                <a16:creationId xmlns:a16="http://schemas.microsoft.com/office/drawing/2014/main" id="{A148DBAF-0514-BD64-C223-93B296A0EFC5}"/>
              </a:ext>
            </a:extLst>
          </p:cNvPr>
          <p:cNvSpPr txBox="1">
            <a:spLocks/>
          </p:cNvSpPr>
          <p:nvPr/>
        </p:nvSpPr>
        <p:spPr>
          <a:xfrm>
            <a:off x="8432800" y="4412200"/>
            <a:ext cx="559418" cy="342028"/>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r>
              <a:rPr lang="fr-FR" sz="2000" dirty="0"/>
              <a:t>28</a:t>
            </a:r>
          </a:p>
        </p:txBody>
      </p:sp>
    </p:spTree>
    <p:extLst>
      <p:ext uri="{BB962C8B-B14F-4D97-AF65-F5344CB8AC3E}">
        <p14:creationId xmlns:p14="http://schemas.microsoft.com/office/powerpoint/2010/main" val="2304006932"/>
      </p:ext>
    </p:extLst>
  </p:cSld>
  <p:clrMapOvr>
    <a:masterClrMapping/>
  </p:clrMapOvr>
</p:sld>
</file>

<file path=ppt/theme/theme1.xml><?xml version="1.0" encoding="utf-8"?>
<a:theme xmlns:a="http://schemas.openxmlformats.org/drawingml/2006/main" name="Discrete Mathematics: Graph Theory and Networks - 12th Grade by Slidesgo">
  <a:themeElements>
    <a:clrScheme name="Simple Light">
      <a:dk1>
        <a:srgbClr val="1A1A1A"/>
      </a:dk1>
      <a:lt1>
        <a:srgbClr val="FEFDFA"/>
      </a:lt1>
      <a:dk2>
        <a:srgbClr val="434343"/>
      </a:dk2>
      <a:lt2>
        <a:srgbClr val="FF2E20"/>
      </a:lt2>
      <a:accent1>
        <a:srgbClr val="FFD966"/>
      </a:accent1>
      <a:accent2>
        <a:srgbClr val="86CF64"/>
      </a:accent2>
      <a:accent3>
        <a:srgbClr val="04B4D8"/>
      </a:accent3>
      <a:accent4>
        <a:srgbClr val="FFFFFF"/>
      </a:accent4>
      <a:accent5>
        <a:srgbClr val="FFFFFF"/>
      </a:accent5>
      <a:accent6>
        <a:srgbClr val="FFFFFF"/>
      </a:accent6>
      <a:hlink>
        <a:srgbClr val="1A1A1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2451</TotalTime>
  <Words>3062</Words>
  <Application>Microsoft Office PowerPoint</Application>
  <PresentationFormat>On-screen Show (16:9)</PresentationFormat>
  <Paragraphs>299</Paragraphs>
  <Slides>28</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Lato</vt:lpstr>
      <vt:lpstr>DM Sans</vt:lpstr>
      <vt:lpstr>Times New Roman</vt:lpstr>
      <vt:lpstr>Mulish</vt:lpstr>
      <vt:lpstr>quote-cjk-patch</vt:lpstr>
      <vt:lpstr>Arial</vt:lpstr>
      <vt:lpstr>Albert Sans</vt:lpstr>
      <vt:lpstr>Discrete Mathematics: Graph Theory and Networks - 12th Grade by Slidesgo</vt:lpstr>
      <vt:lpstr>PowerPoint Presentation</vt:lpstr>
      <vt:lpstr>01</vt:lpstr>
      <vt:lpstr>Introduction</vt:lpstr>
      <vt:lpstr>Contexte</vt:lpstr>
      <vt:lpstr>Contexte</vt:lpstr>
      <vt:lpstr>Motivation</vt:lpstr>
      <vt:lpstr>Problématique</vt:lpstr>
      <vt:lpstr>Objectifs de recherche</vt:lpstr>
      <vt:lpstr>État de l'art – Méthodologie</vt:lpstr>
      <vt:lpstr>État de l'art – Algorithmes classiques</vt:lpstr>
      <vt:lpstr>État de l'art – Algorithmes classiques</vt:lpstr>
      <vt:lpstr>PowerPoint Presentation</vt:lpstr>
      <vt:lpstr>État de l'art – Algorithmes modernes </vt:lpstr>
      <vt:lpstr>État de l'art - Applications</vt:lpstr>
      <vt:lpstr>Méthodologie</vt:lpstr>
      <vt:lpstr>Méthodologie – Datasets Utilisées</vt:lpstr>
      <vt:lpstr>Méthodologie – Métriques d’évaluation</vt:lpstr>
      <vt:lpstr>Résultats – Datasets Réels</vt:lpstr>
      <vt:lpstr>Résultats – Datasets Réels</vt:lpstr>
      <vt:lpstr>Résultats - Datasets Synthétiques LFR </vt:lpstr>
      <vt:lpstr>Résultats - Datasets Synthétiques LFR </vt:lpstr>
      <vt:lpstr>Résultats - Datasets Synthétiques LFR </vt:lpstr>
      <vt:lpstr>Résultats - Intégration du système de recommandation</vt:lpstr>
      <vt:lpstr>Résultats - Intégration du système de recommandation</vt:lpstr>
      <vt:lpstr>Résultats - Intégration du système de recommandation</vt:lpstr>
      <vt:lpstr>Démonstration</vt:lpstr>
      <vt:lpstr>Conclusion et perspectives</vt:lpstr>
      <vt:lpstr>Merci pour votre attention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hamza moudden</dc:creator>
  <cp:lastModifiedBy>moudden hamza</cp:lastModifiedBy>
  <cp:revision>45</cp:revision>
  <dcterms:modified xsi:type="dcterms:W3CDTF">2026-07-17T23:09:02Z</dcterms:modified>
</cp:coreProperties>
</file>